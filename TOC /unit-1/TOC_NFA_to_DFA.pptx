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14B1"/>
    <a:srgbClr val="8A0000"/>
    <a:srgbClr val="660033"/>
    <a:srgbClr val="B80000"/>
    <a:srgbClr val="A20000"/>
    <a:srgbClr val="1B0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1" autoAdjust="0"/>
    <p:restoredTop sz="94660"/>
  </p:normalViewPr>
  <p:slideViewPr>
    <p:cSldViewPr>
      <p:cViewPr varScale="1">
        <p:scale>
          <a:sx n="63" d="100"/>
          <a:sy n="63" d="100"/>
        </p:scale>
        <p:origin x="84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5CBBC-3936-4A88-BFB1-A536A2BF3D8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53531-9196-46F7-90D5-9137A7AB7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85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9763B-3379-4A91-8054-B84252BBF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87CF4-E6A2-42AB-8EBD-D698F0F56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33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87CF4-E6A2-42AB-8EBD-D698F0F564E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6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 bwMode="auto">
          <a:xfrm>
            <a:off x="0" y="6597352"/>
            <a:ext cx="12192000" cy="260648"/>
          </a:xfrm>
          <a:prstGeom prst="rect">
            <a:avLst/>
          </a:prstGeom>
          <a:solidFill>
            <a:srgbClr val="B8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ahoma" pitchFamily="34" charset="0"/>
            </a:endParaRPr>
          </a:p>
        </p:txBody>
      </p:sp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430742" y="2420889"/>
            <a:ext cx="11330517" cy="1052513"/>
            <a:chOff x="141" y="1644"/>
            <a:chExt cx="5353" cy="663"/>
          </a:xfrm>
        </p:grpSpPr>
        <p:grpSp>
          <p:nvGrpSpPr>
            <p:cNvPr id="81923" name="Group 3"/>
            <p:cNvGrpSpPr>
              <a:grpSpLocks/>
            </p:cNvGrpSpPr>
            <p:nvPr/>
          </p:nvGrpSpPr>
          <p:grpSpPr bwMode="auto">
            <a:xfrm>
              <a:off x="231" y="1899"/>
              <a:ext cx="447" cy="300"/>
              <a:chOff x="789" y="761"/>
              <a:chExt cx="624" cy="432"/>
            </a:xfrm>
          </p:grpSpPr>
          <p:sp>
            <p:nvSpPr>
              <p:cNvPr id="81924" name="Rectangle 4"/>
              <p:cNvSpPr>
                <a:spLocks noChangeArrowheads="1"/>
              </p:cNvSpPr>
              <p:nvPr/>
            </p:nvSpPr>
            <p:spPr bwMode="auto">
              <a:xfrm>
                <a:off x="789" y="761"/>
                <a:ext cx="384" cy="43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1925" name="Rectangle 5"/>
              <p:cNvSpPr>
                <a:spLocks noChangeArrowheads="1"/>
              </p:cNvSpPr>
              <p:nvPr/>
            </p:nvSpPr>
            <p:spPr bwMode="auto">
              <a:xfrm>
                <a:off x="1125" y="761"/>
                <a:ext cx="288" cy="432"/>
              </a:xfrm>
              <a:prstGeom prst="rect">
                <a:avLst/>
              </a:prstGeom>
              <a:gradFill>
                <a:gsLst>
                  <a:gs pos="17000">
                    <a:srgbClr val="C00000"/>
                  </a:gs>
                  <a:gs pos="100000">
                    <a:srgbClr val="FFEBFA"/>
                  </a:gs>
                </a:gsLst>
                <a:lin ang="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81930" name="Rectangle 10"/>
            <p:cNvSpPr>
              <a:spLocks noChangeArrowheads="1"/>
            </p:cNvSpPr>
            <p:nvPr/>
          </p:nvSpPr>
          <p:spPr bwMode="auto">
            <a:xfrm>
              <a:off x="413" y="164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1" name="Rectangle 11"/>
            <p:cNvSpPr>
              <a:spLocks noChangeArrowheads="1"/>
            </p:cNvSpPr>
            <p:nvPr/>
          </p:nvSpPr>
          <p:spPr bwMode="auto">
            <a:xfrm flipV="1">
              <a:off x="141" y="2054"/>
              <a:ext cx="5353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819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877942" y="3340090"/>
            <a:ext cx="10415244" cy="3123951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IN" noProof="0" dirty="0"/>
              <a:t>Click to edit Master subtitle style</a:t>
            </a:r>
          </a:p>
        </p:txBody>
      </p:sp>
      <p:sp>
        <p:nvSpPr>
          <p:cNvPr id="18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98206" y="6597352"/>
            <a:ext cx="1961357" cy="260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1"/>
                </a:solidFill>
              </a:defRPr>
            </a:lvl1pPr>
          </a:lstStyle>
          <a:p>
            <a:fld id="{51ED6C3E-501B-4560-BC0E-E66AAB6D0E5D}" type="datetime1">
              <a:rPr lang="en-US" smtClean="0"/>
              <a:t>1/12/2026</a:t>
            </a:fld>
            <a:endParaRPr lang="en-IN" dirty="0"/>
          </a:p>
        </p:txBody>
      </p:sp>
      <p:sp>
        <p:nvSpPr>
          <p:cNvPr id="19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35200" y="6597352"/>
            <a:ext cx="7701227" cy="260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20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2437" y="6597352"/>
            <a:ext cx="189709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1"/>
                </a:solidFill>
              </a:defRPr>
            </a:lvl1pPr>
          </a:lstStyle>
          <a:p>
            <a:fld id="{85EF346C-83F2-40B7-8ECA-B556A839B9F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05E03-7E72-2332-21A8-B8C2B3ED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3" y="44624"/>
            <a:ext cx="11234175" cy="115212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IN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484784"/>
            <a:ext cx="11227296" cy="4824536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defRPr sz="3000"/>
            </a:lvl1pPr>
            <a:lvl2pPr>
              <a:lnSpc>
                <a:spcPts val="3000"/>
              </a:lnSpc>
              <a:defRPr sz="2600"/>
            </a:lvl2pPr>
            <a:lvl3pPr>
              <a:lnSpc>
                <a:spcPts val="2880"/>
              </a:lnSpc>
              <a:defRPr sz="2300"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 sz="1800"/>
            </a:lvl5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CFDB2A-29F8-4B15-AF86-FA23907D6058}" type="datetime1">
              <a:rPr lang="en-US" smtClean="0"/>
              <a:t>1/12/2026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117AF29-B1D1-4F28-8D89-89FA7809DA4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70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IN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91683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B7F8BD-2FBC-4249-9ACB-18E66A1408B0}" type="datetime1">
              <a:rPr lang="en-US" smtClean="0"/>
              <a:t>1/12/2026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PDEU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A3125-4CE4-495C-81E1-50F2B2892A7F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9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556793"/>
            <a:ext cx="5280587" cy="45757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9989" y="1556793"/>
            <a:ext cx="5280587" cy="45757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D2901D-8644-423B-985C-0EB625C4D3E2}" type="datetime1">
              <a:rPr lang="en-US" smtClean="0"/>
              <a:t>1/12/2026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26B4EF-B9AB-4661-8F08-74A244B89EE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06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184" y="0"/>
            <a:ext cx="1097921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IN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IN"/>
              <a:t>Click to edit Master text styles</a:t>
            </a:r>
          </a:p>
          <a:p>
            <a:pPr lvl="1"/>
            <a:r>
              <a:rPr lang="en-IN"/>
              <a:t>Second level</a:t>
            </a:r>
          </a:p>
          <a:p>
            <a:pPr lvl="2"/>
            <a:r>
              <a:rPr lang="en-IN"/>
              <a:t>Third level</a:t>
            </a:r>
          </a:p>
          <a:p>
            <a:pPr lvl="3"/>
            <a:r>
              <a:rPr lang="en-IN"/>
              <a:t>Fourth level</a:t>
            </a:r>
          </a:p>
          <a:p>
            <a:pPr lvl="4"/>
            <a:r>
              <a:rPr lang="en-IN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IN"/>
              <a:t>Click to edit Master text styles</a:t>
            </a:r>
          </a:p>
          <a:p>
            <a:pPr lvl="1"/>
            <a:r>
              <a:rPr lang="en-IN"/>
              <a:t>Second level</a:t>
            </a:r>
          </a:p>
          <a:p>
            <a:pPr lvl="2"/>
            <a:r>
              <a:rPr lang="en-IN"/>
              <a:t>Third level</a:t>
            </a:r>
          </a:p>
          <a:p>
            <a:pPr lvl="3"/>
            <a:r>
              <a:rPr lang="en-IN"/>
              <a:t>Fourth level</a:t>
            </a:r>
          </a:p>
          <a:p>
            <a:pPr lvl="4"/>
            <a:r>
              <a:rPr lang="en-IN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A0094F-B002-4C47-B8B3-492DD6B7D3E6}" type="datetime1">
              <a:rPr lang="en-US" smtClean="0"/>
              <a:t>1/12/2026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550262-3B25-4719-A1F8-2A2B3EF1945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90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1761F3-92DC-4F26-BBD4-36119582628F}" type="datetime1">
              <a:rPr lang="en-US" smtClean="0"/>
              <a:t>1/12/2026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1E70B6-3084-445A-B911-F2E7794F5BB1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6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1E3B5E-9D13-4FF8-BC9F-4E592FE16B8F}" type="datetime1">
              <a:rPr lang="en-US" smtClean="0"/>
              <a:t>1/12/2026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FCF56-2FA5-4EB3-9020-B9336035516D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05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 bwMode="auto">
          <a:xfrm>
            <a:off x="0" y="6624736"/>
            <a:ext cx="12192000" cy="260648"/>
          </a:xfrm>
          <a:prstGeom prst="rect">
            <a:avLst/>
          </a:prstGeom>
          <a:solidFill>
            <a:srgbClr val="B8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ahoma" pitchFamily="34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auto">
          <a:xfrm>
            <a:off x="665784" y="1080542"/>
            <a:ext cx="437661" cy="476250"/>
          </a:xfrm>
          <a:prstGeom prst="rect">
            <a:avLst/>
          </a:prstGeom>
          <a:gradFill>
            <a:gsLst>
              <a:gs pos="17000">
                <a:srgbClr val="C00000"/>
              </a:gs>
              <a:gs pos="100000">
                <a:srgbClr val="FFEBFA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Rectangle 4"/>
          <p:cNvSpPr>
            <a:spLocks noChangeArrowheads="1"/>
          </p:cNvSpPr>
          <p:nvPr userDrawn="1"/>
        </p:nvSpPr>
        <p:spPr bwMode="auto">
          <a:xfrm>
            <a:off x="155179" y="1080542"/>
            <a:ext cx="583549" cy="4762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gray">
          <a:xfrm>
            <a:off x="389315" y="648296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gray">
          <a:xfrm>
            <a:off x="2" y="1268761"/>
            <a:ext cx="11760629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809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75735" y="116633"/>
            <a:ext cx="11184896" cy="982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IN" dirty="0"/>
              <a:t>Click to edit Master title style</a:t>
            </a:r>
          </a:p>
        </p:txBody>
      </p:sp>
      <p:sp>
        <p:nvSpPr>
          <p:cNvPr id="809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733" y="1484784"/>
            <a:ext cx="11184896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809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8667" y="6644704"/>
            <a:ext cx="2040896" cy="24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EA43E24-B595-4AE6-9DE7-09CD83FEDF8C}" type="datetime1">
              <a:rPr lang="en-US" smtClean="0"/>
              <a:t>1/12/2026</a:t>
            </a:fld>
            <a:endParaRPr lang="en-IN" dirty="0"/>
          </a:p>
        </p:txBody>
      </p:sp>
      <p:sp>
        <p:nvSpPr>
          <p:cNvPr id="809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51584" y="6669360"/>
            <a:ext cx="7488832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809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2437" y="6669360"/>
            <a:ext cx="196393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latin typeface="+mn-lt"/>
              </a:defRPr>
            </a:lvl1pPr>
          </a:lstStyle>
          <a:p>
            <a:fld id="{85EF346C-83F2-40B7-8ECA-B556A839B9F7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66003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lnSpc>
          <a:spcPts val="3400"/>
        </a:lnSpc>
        <a:spcBef>
          <a:spcPct val="20000"/>
        </a:spcBef>
        <a:spcAft>
          <a:spcPct val="0"/>
        </a:spcAft>
        <a:buClr>
          <a:srgbClr val="660033"/>
        </a:buClr>
        <a:buSzPct val="60000"/>
        <a:buFont typeface="Wingdings" pitchFamily="2" charset="2"/>
        <a:buChar char="q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71550" indent="-514350" algn="l" rtl="0" eaLnBrk="1" fontAlgn="base" hangingPunct="1">
        <a:lnSpc>
          <a:spcPts val="3400"/>
        </a:lnSpc>
        <a:spcBef>
          <a:spcPct val="20000"/>
        </a:spcBef>
        <a:spcAft>
          <a:spcPct val="0"/>
        </a:spcAft>
        <a:buClr>
          <a:srgbClr val="660033"/>
        </a:buClr>
        <a:buSzPct val="62000"/>
        <a:buFont typeface="Wingdings" pitchFamily="2" charset="2"/>
        <a:buChar char="Ø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ts val="2880"/>
        </a:lnSpc>
        <a:spcBef>
          <a:spcPct val="20000"/>
        </a:spcBef>
        <a:spcAft>
          <a:spcPct val="0"/>
        </a:spcAft>
        <a:buClr>
          <a:srgbClr val="8A0000"/>
        </a:buClr>
        <a:buSzPct val="50000"/>
        <a:buFont typeface="Wingdings" pitchFamily="2" charset="2"/>
        <a:buChar char="v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rgbClr val="8A0000"/>
        </a:buClr>
        <a:buSzPct val="5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rgbClr val="8A0000"/>
        </a:buClr>
        <a:buSzPct val="50000"/>
        <a:buFont typeface="Courier New" pitchFamily="49" charset="0"/>
        <a:buChar char="o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964" y="1440938"/>
            <a:ext cx="10363200" cy="1255551"/>
          </a:xfrm>
        </p:spPr>
        <p:txBody>
          <a:bodyPr/>
          <a:lstStyle/>
          <a:p>
            <a:pPr algn="ctr"/>
            <a:r>
              <a:rPr lang="en-IN" dirty="0"/>
              <a:t>Theory of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113361"/>
            <a:ext cx="6728792" cy="322857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200" b="1" dirty="0" err="1"/>
              <a:t>Dr.</a:t>
            </a:r>
            <a:r>
              <a:rPr lang="en-IN" sz="2200" b="1" dirty="0"/>
              <a:t> Sujit Kumar Das</a:t>
            </a:r>
            <a:br>
              <a:rPr lang="en-IN" sz="2200" b="1" dirty="0"/>
            </a:br>
            <a:endParaRPr lang="en-IN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 dirty="0"/>
              <a:t>PDEU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B4942D-1B42-41EB-82AE-AA6C668D7991}" type="datetime1">
              <a:rPr lang="en-US" smtClean="0"/>
              <a:t>1/12/2026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EF346C-83F2-40B7-8ECA-B556A839B9F7}" type="slidenum">
              <a:rPr lang="en-IN" smtClean="0">
                <a:solidFill>
                  <a:schemeClr val="bg1"/>
                </a:solidFill>
              </a:rPr>
              <a:pPr/>
              <a:t>1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33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AD04-556B-52F8-3415-67375002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to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E765-0B52-000F-E609-83A94FB3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Non-Deterministic Finite Automata,</a:t>
            </a:r>
          </a:p>
          <a:p>
            <a:pPr lvl="1"/>
            <a:r>
              <a:rPr lang="en-US" dirty="0"/>
              <a:t>For some current state and input symbol, there exists more than one next output states.</a:t>
            </a:r>
          </a:p>
          <a:p>
            <a:pPr lvl="1"/>
            <a:r>
              <a:rPr lang="en-US" dirty="0"/>
              <a:t>A string is accepted only if there exists at least one transition path starting at initial state and ending at final state.</a:t>
            </a:r>
          </a:p>
          <a:p>
            <a:r>
              <a:rPr lang="en-US" dirty="0"/>
              <a:t>The following steps are followed to convert a given NFA to a DFA-</a:t>
            </a:r>
          </a:p>
          <a:p>
            <a:r>
              <a:rPr lang="en-US" b="1" u="sng" dirty="0"/>
              <a:t>Step-01:</a:t>
            </a:r>
            <a:endParaRPr lang="en-US" b="1" dirty="0"/>
          </a:p>
          <a:p>
            <a:pPr lvl="1"/>
            <a:r>
              <a:rPr lang="en-US" dirty="0"/>
              <a:t>Let Q’ be a new set of states of the DFA. Q’ is null in the starting.</a:t>
            </a:r>
          </a:p>
          <a:p>
            <a:pPr lvl="1"/>
            <a:r>
              <a:rPr lang="en-US" dirty="0"/>
              <a:t>Let T’ be a new transition table of the DFA.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CA0C0-770F-4483-114B-3A4E7338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8583C-A7BB-6EF5-BD23-130A4970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E6A89-620D-4025-EE81-8B55602F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10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C744-F7A7-A250-74FE-D1D9E447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BC0D1-DD1F-0C26-BEFC-88779EC7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Step-02:</a:t>
            </a:r>
            <a:endParaRPr lang="en-US" b="1" dirty="0"/>
          </a:p>
          <a:p>
            <a:pPr lvl="1"/>
            <a:r>
              <a:rPr lang="en-US" dirty="0"/>
              <a:t>Add start state of the NFA to Q’.</a:t>
            </a:r>
          </a:p>
          <a:p>
            <a:pPr lvl="1"/>
            <a:r>
              <a:rPr lang="en-US" dirty="0"/>
              <a:t>Add transitions of the start state to the transition table T’.</a:t>
            </a:r>
          </a:p>
          <a:p>
            <a:pPr lvl="1"/>
            <a:r>
              <a:rPr lang="en-US" dirty="0"/>
              <a:t>If start state makes transition to multiple states for some input alphabet, then treat those multiple states as a single state in the DFA.</a:t>
            </a:r>
          </a:p>
          <a:p>
            <a:r>
              <a:rPr lang="en-US" dirty="0"/>
              <a:t>In NFA, if the transition of start state over some input alphabet is null, then perform the transition of start state over that input alphabet to a dead state in the DFA.</a:t>
            </a:r>
          </a:p>
          <a:p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74BF-24FB-3557-7598-4A4D76F6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CBDF-25DD-CF00-C3D3-0925E861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F8505-F2F9-609F-C2B9-615CE415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79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87385-30C4-188C-3021-C5C94C83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E600-CEEF-C40E-7CD3-0655D7644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Step-03:</a:t>
            </a:r>
            <a:endParaRPr lang="en-US" b="1" dirty="0"/>
          </a:p>
          <a:p>
            <a:pPr lvl="1"/>
            <a:r>
              <a:rPr lang="en-US" dirty="0"/>
              <a:t>If any new state is present in the transition table T’,</a:t>
            </a:r>
          </a:p>
          <a:p>
            <a:pPr lvl="1"/>
            <a:r>
              <a:rPr lang="en-US" dirty="0"/>
              <a:t>Add the new state in Q’.</a:t>
            </a:r>
          </a:p>
          <a:p>
            <a:pPr lvl="1"/>
            <a:r>
              <a:rPr lang="en-US" dirty="0"/>
              <a:t>Add transitions of that state in the transition table T’.</a:t>
            </a:r>
          </a:p>
          <a:p>
            <a:r>
              <a:rPr lang="en-US" b="1" u="sng" dirty="0"/>
              <a:t>Step-04:</a:t>
            </a:r>
            <a:endParaRPr lang="en-US" b="1" dirty="0"/>
          </a:p>
          <a:p>
            <a:pPr lvl="1"/>
            <a:r>
              <a:rPr lang="en-US" dirty="0"/>
              <a:t>Keep repeating Step-03 until no new state is present in the transition table T’.</a:t>
            </a:r>
          </a:p>
          <a:p>
            <a:pPr lvl="1"/>
            <a:r>
              <a:rPr lang="en-US" dirty="0"/>
              <a:t>Finally, the transition table T’ so obtained is the complete transition table of the required DFA.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66E0B-7385-1D8A-A1FB-46523B44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0B41E-E25D-3072-47A8-33F4D9BF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7137D-711A-5A9E-EAFD-1F8EE4E6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36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03C3-0006-F8A8-75B7-B64DC22C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90C6D1E-1DAA-6675-9A12-D174EE4BA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1745343"/>
              </p:ext>
            </p:extLst>
          </p:nvPr>
        </p:nvGraphicFramePr>
        <p:xfrm>
          <a:off x="911424" y="1556792"/>
          <a:ext cx="4824535" cy="3356330"/>
        </p:xfrm>
        <a:graphic>
          <a:graphicData uri="http://schemas.openxmlformats.org/drawingml/2006/table">
            <a:tbl>
              <a:tblPr/>
              <a:tblGrid>
                <a:gridCol w="1737955">
                  <a:extLst>
                    <a:ext uri="{9D8B030D-6E8A-4147-A177-3AD203B41FA5}">
                      <a16:colId xmlns:a16="http://schemas.microsoft.com/office/drawing/2014/main" val="3284531650"/>
                    </a:ext>
                  </a:extLst>
                </a:gridCol>
                <a:gridCol w="1420236">
                  <a:extLst>
                    <a:ext uri="{9D8B030D-6E8A-4147-A177-3AD203B41FA5}">
                      <a16:colId xmlns:a16="http://schemas.microsoft.com/office/drawing/2014/main" val="3730236272"/>
                    </a:ext>
                  </a:extLst>
                </a:gridCol>
                <a:gridCol w="1666344">
                  <a:extLst>
                    <a:ext uri="{9D8B030D-6E8A-4147-A177-3AD203B41FA5}">
                      <a16:colId xmlns:a16="http://schemas.microsoft.com/office/drawing/2014/main" val="1297802037"/>
                    </a:ext>
                  </a:extLst>
                </a:gridCol>
              </a:tblGrid>
              <a:tr h="667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State / Alphabet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490356"/>
                  </a:ext>
                </a:extLst>
              </a:tr>
              <a:tr h="881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→</a:t>
                      </a:r>
                      <a:r>
                        <a:rPr lang="en-US" sz="2000" b="1" dirty="0">
                          <a:effectLst/>
                        </a:rPr>
                        <a:t>q0</a:t>
                      </a:r>
                      <a:endParaRPr lang="en-US" sz="2000" dirty="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q0, 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839511"/>
                  </a:ext>
                </a:extLst>
              </a:tr>
              <a:tr h="881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</a:rPr>
                        <a:t>q1</a:t>
                      </a:r>
                      <a:endParaRPr lang="en-US" sz="2000" dirty="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–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*q2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305745"/>
                  </a:ext>
                </a:extLst>
              </a:tr>
              <a:tr h="881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*q2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–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–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82132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D05F1-DEB6-99E6-21DC-CE35E591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B9C61-FACF-9F40-9868-DD43AA7A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98AD-0A71-9411-28F1-A5497480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5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5A6E5-AC3F-BC1A-F3FE-E7315AE83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60848"/>
            <a:ext cx="5472608" cy="203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4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22BA-9752-C078-13CF-E5F8E3EA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0DD41-124A-C788-17C6-8EB3045CA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Step-01:</a:t>
            </a:r>
            <a:endParaRPr lang="en-US" b="1" dirty="0"/>
          </a:p>
          <a:p>
            <a:pPr lvl="1"/>
            <a:r>
              <a:rPr lang="en-US" dirty="0"/>
              <a:t> Let Q’ be a new set of states of the Deterministic Finite Automata (DFA).</a:t>
            </a:r>
          </a:p>
          <a:p>
            <a:pPr lvl="1"/>
            <a:r>
              <a:rPr lang="en-US" dirty="0"/>
              <a:t>Let T’ be a new transition table of the DFA.</a:t>
            </a:r>
          </a:p>
          <a:p>
            <a:r>
              <a:rPr lang="en-US" b="1" u="sng" dirty="0"/>
              <a:t>Step-02:</a:t>
            </a:r>
            <a:endParaRPr lang="en-US" b="1" dirty="0"/>
          </a:p>
          <a:p>
            <a:pPr lvl="1"/>
            <a:r>
              <a:rPr lang="en-US" dirty="0"/>
              <a:t> Add transitions of start state q0 to the transition table T’.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0FA4-DA1B-46AA-4D7C-BFE67D949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62DC-0792-E84E-7299-781F7FE4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D36C1-9B3E-1F3C-F6FF-5D40EE0E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6</a:t>
            </a:fld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E95C48-5839-AFD3-FD35-19F162503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49988"/>
              </p:ext>
            </p:extLst>
          </p:nvPr>
        </p:nvGraphicFramePr>
        <p:xfrm>
          <a:off x="2783632" y="4077072"/>
          <a:ext cx="5472608" cy="1008112"/>
        </p:xfrm>
        <a:graphic>
          <a:graphicData uri="http://schemas.openxmlformats.org/drawingml/2006/table">
            <a:tbl>
              <a:tblPr/>
              <a:tblGrid>
                <a:gridCol w="1971413">
                  <a:extLst>
                    <a:ext uri="{9D8B030D-6E8A-4147-A177-3AD203B41FA5}">
                      <a16:colId xmlns:a16="http://schemas.microsoft.com/office/drawing/2014/main" val="923271385"/>
                    </a:ext>
                  </a:extLst>
                </a:gridCol>
                <a:gridCol w="1748057">
                  <a:extLst>
                    <a:ext uri="{9D8B030D-6E8A-4147-A177-3AD203B41FA5}">
                      <a16:colId xmlns:a16="http://schemas.microsoft.com/office/drawing/2014/main" val="2930184141"/>
                    </a:ext>
                  </a:extLst>
                </a:gridCol>
                <a:gridCol w="1753138">
                  <a:extLst>
                    <a:ext uri="{9D8B030D-6E8A-4147-A177-3AD203B41FA5}">
                      <a16:colId xmlns:a16="http://schemas.microsoft.com/office/drawing/2014/main" val="2357449935"/>
                    </a:ext>
                  </a:extLst>
                </a:gridCol>
              </a:tblGrid>
              <a:tr h="4342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State / Alphabet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583114"/>
                  </a:ext>
                </a:extLst>
              </a:tr>
              <a:tr h="5738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→</a:t>
                      </a:r>
                      <a:r>
                        <a:rPr lang="en-US" sz="2000" b="1">
                          <a:effectLst/>
                        </a:rPr>
                        <a:t>q0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{q0, q1}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770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97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35FD-3BD1-F27F-68FD-D10B351BE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B233-49F4-2D0E-98B3-D621E49E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Step-03:</a:t>
            </a:r>
            <a:endParaRPr lang="en-US" b="1" dirty="0"/>
          </a:p>
          <a:p>
            <a:pPr lvl="1"/>
            <a:r>
              <a:rPr lang="en-US" dirty="0"/>
              <a:t> New state present in state Q’ is {q0, q1}.</a:t>
            </a:r>
          </a:p>
          <a:p>
            <a:pPr lvl="1"/>
            <a:r>
              <a:rPr lang="en-US" dirty="0"/>
              <a:t>Add transitions for set of states {q0, q1} to the transition table T’.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D474-68BE-5CE9-05E0-BA2B4399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FBB80-87E7-48A3-C21E-5166C636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67B00-D537-ED6C-DFCF-1CA0FC4D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7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3C547A-FDD4-266D-8C28-54E690D71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430554"/>
              </p:ext>
            </p:extLst>
          </p:nvPr>
        </p:nvGraphicFramePr>
        <p:xfrm>
          <a:off x="3359696" y="3068960"/>
          <a:ext cx="6672740" cy="2304255"/>
        </p:xfrm>
        <a:graphic>
          <a:graphicData uri="http://schemas.openxmlformats.org/drawingml/2006/table">
            <a:tbl>
              <a:tblPr/>
              <a:tblGrid>
                <a:gridCol w="2403740">
                  <a:extLst>
                    <a:ext uri="{9D8B030D-6E8A-4147-A177-3AD203B41FA5}">
                      <a16:colId xmlns:a16="http://schemas.microsoft.com/office/drawing/2014/main" val="857447945"/>
                    </a:ext>
                  </a:extLst>
                </a:gridCol>
                <a:gridCol w="2131403">
                  <a:extLst>
                    <a:ext uri="{9D8B030D-6E8A-4147-A177-3AD203B41FA5}">
                      <a16:colId xmlns:a16="http://schemas.microsoft.com/office/drawing/2014/main" val="3245638055"/>
                    </a:ext>
                  </a:extLst>
                </a:gridCol>
                <a:gridCol w="2137597">
                  <a:extLst>
                    <a:ext uri="{9D8B030D-6E8A-4147-A177-3AD203B41FA5}">
                      <a16:colId xmlns:a16="http://schemas.microsoft.com/office/drawing/2014/main" val="2053329567"/>
                    </a:ext>
                  </a:extLst>
                </a:gridCol>
              </a:tblGrid>
              <a:tr h="5001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State / Alphabet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688743"/>
                  </a:ext>
                </a:extLst>
              </a:tr>
              <a:tr h="6609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→</a:t>
                      </a:r>
                      <a:r>
                        <a:rPr lang="en-US" sz="2000" b="1">
                          <a:effectLst/>
                        </a:rPr>
                        <a:t>q0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{q0, q1}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869402"/>
                  </a:ext>
                </a:extLst>
              </a:tr>
              <a:tr h="1143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{q0, q1}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{q0, q1, q2}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85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6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2482-37C8-2198-84E1-D7FD141E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693A6-4785-F2B1-9103-AF2ACAD8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Step-04:</a:t>
            </a:r>
            <a:endParaRPr lang="en-US" b="1" dirty="0"/>
          </a:p>
          <a:p>
            <a:pPr lvl="1"/>
            <a:r>
              <a:rPr lang="en-US" dirty="0"/>
              <a:t>New state present in state Q’ is {q0, q1, q2}.</a:t>
            </a:r>
          </a:p>
          <a:p>
            <a:pPr lvl="1"/>
            <a:r>
              <a:rPr lang="en-US" dirty="0"/>
              <a:t>Add transitions for set of states {q0, q1, q2} to the transition table T’.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60F2-E2F6-BD91-2E12-BEB36456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22F18-5E94-0722-AB39-60975806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548C5-4033-0A57-762D-CCDC6A134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8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7633CA-D7D0-FD64-5537-67B7797BE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704410"/>
              </p:ext>
            </p:extLst>
          </p:nvPr>
        </p:nvGraphicFramePr>
        <p:xfrm>
          <a:off x="3503712" y="3140968"/>
          <a:ext cx="5184575" cy="3024337"/>
        </p:xfrm>
        <a:graphic>
          <a:graphicData uri="http://schemas.openxmlformats.org/drawingml/2006/table">
            <a:tbl>
              <a:tblPr/>
              <a:tblGrid>
                <a:gridCol w="1867654">
                  <a:extLst>
                    <a:ext uri="{9D8B030D-6E8A-4147-A177-3AD203B41FA5}">
                      <a16:colId xmlns:a16="http://schemas.microsoft.com/office/drawing/2014/main" val="1206475820"/>
                    </a:ext>
                  </a:extLst>
                </a:gridCol>
                <a:gridCol w="1656054">
                  <a:extLst>
                    <a:ext uri="{9D8B030D-6E8A-4147-A177-3AD203B41FA5}">
                      <a16:colId xmlns:a16="http://schemas.microsoft.com/office/drawing/2014/main" val="1376774045"/>
                    </a:ext>
                  </a:extLst>
                </a:gridCol>
                <a:gridCol w="1660867">
                  <a:extLst>
                    <a:ext uri="{9D8B030D-6E8A-4147-A177-3AD203B41FA5}">
                      <a16:colId xmlns:a16="http://schemas.microsoft.com/office/drawing/2014/main" val="125863894"/>
                    </a:ext>
                  </a:extLst>
                </a:gridCol>
              </a:tblGrid>
              <a:tr h="438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State / Alphabet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571441"/>
                  </a:ext>
                </a:extLst>
              </a:tr>
              <a:tr h="579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→</a:t>
                      </a:r>
                      <a:r>
                        <a:rPr lang="en-US" sz="2000" b="1">
                          <a:effectLst/>
                        </a:rPr>
                        <a:t>q0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{q0, q1}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765350"/>
                  </a:ext>
                </a:extLst>
              </a:tr>
              <a:tr h="1002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{q0, q1}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{q0, q1, q2}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398971"/>
                  </a:ext>
                </a:extLst>
              </a:tr>
              <a:tr h="1002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{q0, q1, q2}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{q0, q1, q2}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85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900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7ABC-6CA0-2823-6BF6-45350451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A2CE-2DCF-B47F-CAF5-C831679BB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Step-05:</a:t>
            </a:r>
            <a:endParaRPr lang="en-US" b="1" dirty="0"/>
          </a:p>
          <a:p>
            <a:pPr lvl="1"/>
            <a:r>
              <a:rPr lang="en-US" dirty="0"/>
              <a:t>Since no new states are left to be added in the transition table T’, so we stop.</a:t>
            </a:r>
          </a:p>
          <a:p>
            <a:pPr lvl="1"/>
            <a:r>
              <a:rPr lang="en-US" dirty="0"/>
              <a:t>States containing q2 as its component are treated as final states of the DFA. </a:t>
            </a:r>
          </a:p>
          <a:p>
            <a:pPr lvl="1"/>
            <a:r>
              <a:rPr lang="en-US" dirty="0"/>
              <a:t>Finally, Transition table for Deterministic Finite Automata (DFA) is-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33A7C-2F25-9942-940D-FF87717F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1FDA1-DAB5-90E1-70C6-4C9A31F0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3E4C-E640-F2B0-BBD6-74A8063F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9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56C00A-631E-CABB-57AD-97687BEE2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08075"/>
              </p:ext>
            </p:extLst>
          </p:nvPr>
        </p:nvGraphicFramePr>
        <p:xfrm>
          <a:off x="2927648" y="4005064"/>
          <a:ext cx="5472608" cy="2314798"/>
        </p:xfrm>
        <a:graphic>
          <a:graphicData uri="http://schemas.openxmlformats.org/drawingml/2006/table">
            <a:tbl>
              <a:tblPr/>
              <a:tblGrid>
                <a:gridCol w="1971413">
                  <a:extLst>
                    <a:ext uri="{9D8B030D-6E8A-4147-A177-3AD203B41FA5}">
                      <a16:colId xmlns:a16="http://schemas.microsoft.com/office/drawing/2014/main" val="2945761661"/>
                    </a:ext>
                  </a:extLst>
                </a:gridCol>
                <a:gridCol w="1748057">
                  <a:extLst>
                    <a:ext uri="{9D8B030D-6E8A-4147-A177-3AD203B41FA5}">
                      <a16:colId xmlns:a16="http://schemas.microsoft.com/office/drawing/2014/main" val="2748061819"/>
                    </a:ext>
                  </a:extLst>
                </a:gridCol>
                <a:gridCol w="1753138">
                  <a:extLst>
                    <a:ext uri="{9D8B030D-6E8A-4147-A177-3AD203B41FA5}">
                      <a16:colId xmlns:a16="http://schemas.microsoft.com/office/drawing/2014/main" val="2024851554"/>
                    </a:ext>
                  </a:extLst>
                </a:gridCol>
              </a:tblGrid>
              <a:tr h="3238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State / Alphabet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216929"/>
                  </a:ext>
                </a:extLst>
              </a:tr>
              <a:tr h="427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→</a:t>
                      </a:r>
                      <a:r>
                        <a:rPr lang="en-US" sz="2000" b="1">
                          <a:effectLst/>
                        </a:rPr>
                        <a:t>q0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{q0, q1}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374766"/>
                  </a:ext>
                </a:extLst>
              </a:tr>
              <a:tr h="740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{q0, q1}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*{q0, q1, q2}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909610"/>
                  </a:ext>
                </a:extLst>
              </a:tr>
              <a:tr h="740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</a:rPr>
                        <a:t>*{q0, q1, q2}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*{q0, q1, q2}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591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6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54A0-291B-ED77-56B8-A4021B1A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8AF84-03B4-4A9E-5F44-1F864E9B8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02D0A-7E5A-175D-51E5-071F1B12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55873-FA77-834F-F93F-A09C73FA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2430-80BA-C945-01A2-6AAA5781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10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BCABD0-2B98-9C9F-64E2-79755D0E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655515"/>
            <a:ext cx="8453097" cy="371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0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698B-1841-6D86-F5A6-6B4E2DFA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860996-D8E7-0108-1C9A-EE48FEB76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11424" y="1772816"/>
            <a:ext cx="3854648" cy="2343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6F250-828F-AD49-02B9-B56B23D45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3350B-FF83-2EFD-4792-5C5A4976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949CF-41B1-B7AE-1C60-F673E4BE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73382A-20B5-E8CD-3A4B-43E907C65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197" y="1641981"/>
            <a:ext cx="3702240" cy="2597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417F87-83B3-93FA-C9AA-7D21875A4AA0}"/>
              </a:ext>
            </a:extLst>
          </p:cNvPr>
          <p:cNvSpPr txBox="1"/>
          <p:nvPr/>
        </p:nvSpPr>
        <p:spPr>
          <a:xfrm>
            <a:off x="2647830" y="468449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BDF2B-898E-5C02-142A-1242C188E080}"/>
              </a:ext>
            </a:extLst>
          </p:cNvPr>
          <p:cNvSpPr txBox="1"/>
          <p:nvPr/>
        </p:nvSpPr>
        <p:spPr>
          <a:xfrm>
            <a:off x="7990399" y="468449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59707178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 design template">
  <a:themeElements>
    <a:clrScheme name="Office Theme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ffice T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652D626EF27418F127E2176372956" ma:contentTypeVersion="0" ma:contentTypeDescription="Create a new document." ma:contentTypeScope="" ma:versionID="d16676a917884333940fadcd7011fb4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A5F89E-8547-48EF-943A-B7C451EC9449}"/>
</file>

<file path=customXml/itemProps2.xml><?xml version="1.0" encoding="utf-8"?>
<ds:datastoreItem xmlns:ds="http://schemas.openxmlformats.org/officeDocument/2006/customXml" ds:itemID="{0792411A-F3F7-4829-958F-224FCC6D96B6}"/>
</file>

<file path=customXml/itemProps3.xml><?xml version="1.0" encoding="utf-8"?>
<ds:datastoreItem xmlns:ds="http://schemas.openxmlformats.org/officeDocument/2006/customXml" ds:itemID="{A8D1669F-79C5-432B-9BAA-2B8A17FC33C2}"/>
</file>

<file path=docProps/app.xml><?xml version="1.0" encoding="utf-8"?>
<Properties xmlns="http://schemas.openxmlformats.org/officeDocument/2006/extended-properties" xmlns:vt="http://schemas.openxmlformats.org/officeDocument/2006/docPropsVTypes">
  <Template>Blends design template</Template>
  <TotalTime>46966</TotalTime>
  <Words>674</Words>
  <Application>Microsoft Office PowerPoint</Application>
  <PresentationFormat>Widescreen</PresentationFormat>
  <Paragraphs>130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Tahoma</vt:lpstr>
      <vt:lpstr>Times New Roman</vt:lpstr>
      <vt:lpstr>Wingdings</vt:lpstr>
      <vt:lpstr>Blends design template</vt:lpstr>
      <vt:lpstr>Theory of Computation</vt:lpstr>
      <vt:lpstr>NFA to DFA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DFA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</dc:creator>
  <cp:lastModifiedBy>Sujit Das</cp:lastModifiedBy>
  <cp:revision>806</cp:revision>
  <cp:lastPrinted>1601-01-01T00:00:00Z</cp:lastPrinted>
  <dcterms:created xsi:type="dcterms:W3CDTF">2021-03-13T17:54:44Z</dcterms:created>
  <dcterms:modified xsi:type="dcterms:W3CDTF">2026-01-13T05:28:03Z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TC102037591033</vt:lpwstr>
  </property>
  <property fmtid="{D5CDD505-2E9C-101B-9397-08002B2CF9AE}" pid="3" name="ContentTypeId">
    <vt:lpwstr>0x010100954652D626EF27418F127E2176372956</vt:lpwstr>
  </property>
</Properties>
</file>