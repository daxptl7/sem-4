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59" r:id="rId10"/>
    <p:sldId id="260" r:id="rId11"/>
    <p:sldId id="261" r:id="rId12"/>
    <p:sldId id="270" r:id="rId13"/>
    <p:sldId id="271" r:id="rId14"/>
  </p:sldIdLst>
  <p:sldSz cx="12192000" cy="6858000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14B1"/>
    <a:srgbClr val="8A0000"/>
    <a:srgbClr val="660033"/>
    <a:srgbClr val="B80000"/>
    <a:srgbClr val="A20000"/>
    <a:srgbClr val="1B09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11" autoAdjust="0"/>
    <p:restoredTop sz="94660"/>
  </p:normalViewPr>
  <p:slideViewPr>
    <p:cSldViewPr>
      <p:cViewPr varScale="1">
        <p:scale>
          <a:sx n="63" d="100"/>
          <a:sy n="63" d="100"/>
        </p:scale>
        <p:origin x="84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2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95CBBC-3936-4A88-BFB1-A536A2BF3D80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53531-9196-46F7-90D5-9137A7AB77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85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E9763B-3379-4A91-8054-B84252BBF3DE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87CF4-E6A2-42AB-8EBD-D698F0F564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633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887CF4-E6A2-42AB-8EBD-D698F0F564E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96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 bwMode="auto">
          <a:xfrm>
            <a:off x="0" y="6597352"/>
            <a:ext cx="12192000" cy="260648"/>
          </a:xfrm>
          <a:prstGeom prst="rect">
            <a:avLst/>
          </a:prstGeom>
          <a:solidFill>
            <a:srgbClr val="B8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ahoma" pitchFamily="34" charset="0"/>
            </a:endParaRPr>
          </a:p>
        </p:txBody>
      </p:sp>
      <p:grpSp>
        <p:nvGrpSpPr>
          <p:cNvPr id="81922" name="Group 2"/>
          <p:cNvGrpSpPr>
            <a:grpSpLocks/>
          </p:cNvGrpSpPr>
          <p:nvPr/>
        </p:nvGrpSpPr>
        <p:grpSpPr bwMode="auto">
          <a:xfrm>
            <a:off x="430742" y="2420889"/>
            <a:ext cx="11330517" cy="1052513"/>
            <a:chOff x="141" y="1644"/>
            <a:chExt cx="5353" cy="663"/>
          </a:xfrm>
        </p:grpSpPr>
        <p:grpSp>
          <p:nvGrpSpPr>
            <p:cNvPr id="81923" name="Group 3"/>
            <p:cNvGrpSpPr>
              <a:grpSpLocks/>
            </p:cNvGrpSpPr>
            <p:nvPr/>
          </p:nvGrpSpPr>
          <p:grpSpPr bwMode="auto">
            <a:xfrm>
              <a:off x="231" y="1899"/>
              <a:ext cx="447" cy="300"/>
              <a:chOff x="789" y="761"/>
              <a:chExt cx="624" cy="432"/>
            </a:xfrm>
          </p:grpSpPr>
          <p:sp>
            <p:nvSpPr>
              <p:cNvPr id="81924" name="Rectangle 4"/>
              <p:cNvSpPr>
                <a:spLocks noChangeArrowheads="1"/>
              </p:cNvSpPr>
              <p:nvPr/>
            </p:nvSpPr>
            <p:spPr bwMode="auto">
              <a:xfrm>
                <a:off x="789" y="761"/>
                <a:ext cx="384" cy="432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1925" name="Rectangle 5"/>
              <p:cNvSpPr>
                <a:spLocks noChangeArrowheads="1"/>
              </p:cNvSpPr>
              <p:nvPr/>
            </p:nvSpPr>
            <p:spPr bwMode="auto">
              <a:xfrm>
                <a:off x="1125" y="761"/>
                <a:ext cx="288" cy="432"/>
              </a:xfrm>
              <a:prstGeom prst="rect">
                <a:avLst/>
              </a:prstGeom>
              <a:gradFill>
                <a:gsLst>
                  <a:gs pos="17000">
                    <a:srgbClr val="C00000"/>
                  </a:gs>
                  <a:gs pos="100000">
                    <a:srgbClr val="FFEBFA"/>
                  </a:gs>
                </a:gsLst>
                <a:lin ang="0" scaled="0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81930" name="Rectangle 10"/>
            <p:cNvSpPr>
              <a:spLocks noChangeArrowheads="1"/>
            </p:cNvSpPr>
            <p:nvPr/>
          </p:nvSpPr>
          <p:spPr bwMode="auto">
            <a:xfrm>
              <a:off x="413" y="164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1931" name="Rectangle 11"/>
            <p:cNvSpPr>
              <a:spLocks noChangeArrowheads="1"/>
            </p:cNvSpPr>
            <p:nvPr/>
          </p:nvSpPr>
          <p:spPr bwMode="auto">
            <a:xfrm flipV="1">
              <a:off x="141" y="2054"/>
              <a:ext cx="5353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819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877942" y="3340090"/>
            <a:ext cx="10415244" cy="3123951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IN" noProof="0" dirty="0"/>
              <a:t>Click to edit Master subtitle style</a:t>
            </a:r>
          </a:p>
        </p:txBody>
      </p:sp>
      <p:sp>
        <p:nvSpPr>
          <p:cNvPr id="18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98206" y="6597352"/>
            <a:ext cx="1961357" cy="260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1"/>
                </a:solidFill>
              </a:defRPr>
            </a:lvl1pPr>
          </a:lstStyle>
          <a:p>
            <a:fld id="{51ED6C3E-501B-4560-BC0E-E66AAB6D0E5D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19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35200" y="6597352"/>
            <a:ext cx="7701227" cy="260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20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2437" y="6597352"/>
            <a:ext cx="189709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1"/>
                </a:solidFill>
              </a:defRPr>
            </a:lvl1pPr>
          </a:lstStyle>
          <a:p>
            <a:fld id="{85EF346C-83F2-40B7-8ECA-B556A839B9F7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05E03-7E72-2332-21A8-B8C2B3ED9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3" y="44624"/>
            <a:ext cx="11234175" cy="115212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IN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484784"/>
            <a:ext cx="11227296" cy="4824536"/>
          </a:xfrm>
        </p:spPr>
        <p:txBody>
          <a:bodyPr>
            <a:noAutofit/>
          </a:bodyPr>
          <a:lstStyle>
            <a:lvl1pPr>
              <a:lnSpc>
                <a:spcPts val="3400"/>
              </a:lnSpc>
              <a:defRPr sz="3000"/>
            </a:lvl1pPr>
            <a:lvl2pPr>
              <a:lnSpc>
                <a:spcPts val="3000"/>
              </a:lnSpc>
              <a:defRPr sz="2600"/>
            </a:lvl2pPr>
            <a:lvl3pPr>
              <a:lnSpc>
                <a:spcPts val="2880"/>
              </a:lnSpc>
              <a:defRPr sz="2300"/>
            </a:lvl3pPr>
            <a:lvl4pPr>
              <a:lnSpc>
                <a:spcPts val="2400"/>
              </a:lnSpc>
              <a:defRPr/>
            </a:lvl4pPr>
            <a:lvl5pPr>
              <a:lnSpc>
                <a:spcPts val="2400"/>
              </a:lnSpc>
              <a:defRPr sz="1800"/>
            </a:lvl5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117AF29-B1D1-4F28-8D89-89FA7809DA4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270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IN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191683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1B7F8BD-2FBC-4249-9ACB-18E66A1408B0}" type="datetime1">
              <a:rPr lang="en-US" smtClean="0"/>
              <a:t>1/6/2026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PDEU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A3125-4CE4-495C-81E1-50F2B2892A7F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9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3392" y="1556793"/>
            <a:ext cx="5280587" cy="45757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99989" y="1556793"/>
            <a:ext cx="5280587" cy="457572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CD2901D-8644-423B-985C-0EB625C4D3E2}" type="datetime1">
              <a:rPr lang="en-US" smtClean="0"/>
              <a:t>1/6/2026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26B4EF-B9AB-4661-8F08-74A244B89EE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064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184" y="0"/>
            <a:ext cx="10979217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IN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IN"/>
              <a:t>Click to edit Master text styles</a:t>
            </a:r>
          </a:p>
          <a:p>
            <a:pPr lvl="1"/>
            <a:r>
              <a:rPr lang="en-IN"/>
              <a:t>Second level</a:t>
            </a:r>
          </a:p>
          <a:p>
            <a:pPr lvl="2"/>
            <a:r>
              <a:rPr lang="en-IN"/>
              <a:t>Third level</a:t>
            </a:r>
          </a:p>
          <a:p>
            <a:pPr lvl="3"/>
            <a:r>
              <a:rPr lang="en-IN"/>
              <a:t>Fourth level</a:t>
            </a:r>
          </a:p>
          <a:p>
            <a:pPr lvl="4"/>
            <a:r>
              <a:rPr lang="en-IN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I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IN"/>
              <a:t>Click to edit Master text styles</a:t>
            </a:r>
          </a:p>
          <a:p>
            <a:pPr lvl="1"/>
            <a:r>
              <a:rPr lang="en-IN"/>
              <a:t>Second level</a:t>
            </a:r>
          </a:p>
          <a:p>
            <a:pPr lvl="2"/>
            <a:r>
              <a:rPr lang="en-IN"/>
              <a:t>Third level</a:t>
            </a:r>
          </a:p>
          <a:p>
            <a:pPr lvl="3"/>
            <a:r>
              <a:rPr lang="en-IN"/>
              <a:t>Fourth level</a:t>
            </a:r>
          </a:p>
          <a:p>
            <a:pPr lvl="4"/>
            <a:r>
              <a:rPr lang="en-IN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5A0094F-B002-4C47-B8B3-492DD6B7D3E6}" type="datetime1">
              <a:rPr lang="en-US" smtClean="0"/>
              <a:t>1/6/2026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550262-3B25-4719-A1F8-2A2B3EF1945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907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61761F3-92DC-4F26-BBD4-36119582628F}" type="datetime1">
              <a:rPr lang="en-US" smtClean="0"/>
              <a:t>1/6/2026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1E70B6-3084-445A-B911-F2E7794F5BB1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362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21E3B5E-9D13-4FF8-BC9F-4E592FE16B8F}" type="datetime1">
              <a:rPr lang="en-US" smtClean="0"/>
              <a:t>1/6/2026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Sujit Kumar Das, Pandit Deendayal Energy University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7FCF56-2FA5-4EB3-9020-B9336035516D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05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 bwMode="auto">
          <a:xfrm>
            <a:off x="0" y="6624736"/>
            <a:ext cx="12192000" cy="260648"/>
          </a:xfrm>
          <a:prstGeom prst="rect">
            <a:avLst/>
          </a:prstGeom>
          <a:solidFill>
            <a:srgbClr val="B8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ahoma" pitchFamily="34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auto">
          <a:xfrm>
            <a:off x="665784" y="1080542"/>
            <a:ext cx="437661" cy="476250"/>
          </a:xfrm>
          <a:prstGeom prst="rect">
            <a:avLst/>
          </a:prstGeom>
          <a:gradFill>
            <a:gsLst>
              <a:gs pos="17000">
                <a:srgbClr val="C00000"/>
              </a:gs>
              <a:gs pos="100000">
                <a:srgbClr val="FFEBFA"/>
              </a:gs>
            </a:gsLst>
            <a:lin ang="0" scaled="0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6" name="Rectangle 4"/>
          <p:cNvSpPr>
            <a:spLocks noChangeArrowheads="1"/>
          </p:cNvSpPr>
          <p:nvPr userDrawn="1"/>
        </p:nvSpPr>
        <p:spPr bwMode="auto">
          <a:xfrm>
            <a:off x="155179" y="1080542"/>
            <a:ext cx="583549" cy="47625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0903" name="Rectangle 7"/>
          <p:cNvSpPr>
            <a:spLocks noChangeArrowheads="1"/>
          </p:cNvSpPr>
          <p:nvPr/>
        </p:nvSpPr>
        <p:spPr bwMode="gray">
          <a:xfrm>
            <a:off x="389315" y="648296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gray">
          <a:xfrm>
            <a:off x="2" y="1268761"/>
            <a:ext cx="11760629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/>
          </a:p>
        </p:txBody>
      </p:sp>
      <p:sp>
        <p:nvSpPr>
          <p:cNvPr id="80905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575735" y="116633"/>
            <a:ext cx="11184896" cy="982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IN" dirty="0"/>
              <a:t>Click to edit Master title style</a:t>
            </a:r>
          </a:p>
        </p:txBody>
      </p:sp>
      <p:sp>
        <p:nvSpPr>
          <p:cNvPr id="8090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5733" y="1484784"/>
            <a:ext cx="11184896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IN" dirty="0"/>
              <a:t>Click to edit Master text styles</a:t>
            </a:r>
          </a:p>
          <a:p>
            <a:pPr lvl="1"/>
            <a:r>
              <a:rPr lang="en-IN" dirty="0"/>
              <a:t>Second level</a:t>
            </a:r>
          </a:p>
          <a:p>
            <a:pPr lvl="2"/>
            <a:r>
              <a:rPr lang="en-IN" dirty="0"/>
              <a:t>Third level</a:t>
            </a:r>
          </a:p>
          <a:p>
            <a:pPr lvl="3"/>
            <a:r>
              <a:rPr lang="en-IN" dirty="0"/>
              <a:t>Fourth level</a:t>
            </a:r>
          </a:p>
          <a:p>
            <a:pPr lvl="4"/>
            <a:r>
              <a:rPr lang="en-IN" dirty="0"/>
              <a:t>Fifth level</a:t>
            </a:r>
          </a:p>
        </p:txBody>
      </p:sp>
      <p:sp>
        <p:nvSpPr>
          <p:cNvPr id="809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8667" y="6644704"/>
            <a:ext cx="2040896" cy="240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EA43E24-B595-4AE6-9DE7-09CD83FEDF8C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809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51584" y="6669360"/>
            <a:ext cx="7488832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809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032437" y="6669360"/>
            <a:ext cx="1963936" cy="216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latin typeface="+mn-lt"/>
              </a:defRPr>
            </a:lvl1pPr>
          </a:lstStyle>
          <a:p>
            <a:fld id="{85EF346C-83F2-40B7-8ECA-B556A839B9F7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00">
          <a:solidFill>
            <a:srgbClr val="660033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1" fontAlgn="base" hangingPunct="1">
        <a:lnSpc>
          <a:spcPts val="3400"/>
        </a:lnSpc>
        <a:spcBef>
          <a:spcPct val="20000"/>
        </a:spcBef>
        <a:spcAft>
          <a:spcPct val="0"/>
        </a:spcAft>
        <a:buClr>
          <a:srgbClr val="660033"/>
        </a:buClr>
        <a:buSzPct val="60000"/>
        <a:buFont typeface="Wingdings" pitchFamily="2" charset="2"/>
        <a:buChar char="q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71550" indent="-514350" algn="l" rtl="0" eaLnBrk="1" fontAlgn="base" hangingPunct="1">
        <a:lnSpc>
          <a:spcPts val="3400"/>
        </a:lnSpc>
        <a:spcBef>
          <a:spcPct val="20000"/>
        </a:spcBef>
        <a:spcAft>
          <a:spcPct val="0"/>
        </a:spcAft>
        <a:buClr>
          <a:srgbClr val="660033"/>
        </a:buClr>
        <a:buSzPct val="62000"/>
        <a:buFont typeface="Wingdings" pitchFamily="2" charset="2"/>
        <a:buChar char="Ø"/>
        <a:defRPr sz="26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ts val="2880"/>
        </a:lnSpc>
        <a:spcBef>
          <a:spcPct val="20000"/>
        </a:spcBef>
        <a:spcAft>
          <a:spcPct val="0"/>
        </a:spcAft>
        <a:buClr>
          <a:srgbClr val="8A0000"/>
        </a:buClr>
        <a:buSzPct val="50000"/>
        <a:buFont typeface="Wingdings" pitchFamily="2" charset="2"/>
        <a:buChar char="v"/>
        <a:defRPr sz="23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lr>
          <a:srgbClr val="8A0000"/>
        </a:buClr>
        <a:buSzPct val="5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ts val="2400"/>
        </a:lnSpc>
        <a:spcBef>
          <a:spcPct val="20000"/>
        </a:spcBef>
        <a:spcAft>
          <a:spcPct val="0"/>
        </a:spcAft>
        <a:buClr>
          <a:srgbClr val="8A0000"/>
        </a:buClr>
        <a:buSzPct val="50000"/>
        <a:buFont typeface="Courier New" pitchFamily="49" charset="0"/>
        <a:buChar char="o"/>
        <a:defRPr sz="18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3964" y="1440938"/>
            <a:ext cx="10363200" cy="1255551"/>
          </a:xfrm>
        </p:spPr>
        <p:txBody>
          <a:bodyPr/>
          <a:lstStyle/>
          <a:p>
            <a:pPr algn="ctr"/>
            <a:r>
              <a:rPr lang="en-IN" dirty="0"/>
              <a:t>Theory of Computation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113361"/>
            <a:ext cx="6728792" cy="322857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IN" sz="2200" b="1" dirty="0" err="1"/>
              <a:t>Dr.</a:t>
            </a:r>
            <a:r>
              <a:rPr lang="en-IN" sz="2200" b="1" dirty="0"/>
              <a:t> Sujit Kumar Das</a:t>
            </a:r>
            <a:br>
              <a:rPr lang="en-IN" sz="2200" b="1" dirty="0"/>
            </a:br>
            <a:endParaRPr lang="en-IN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IN" dirty="0"/>
              <a:t>PDEU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0B4942D-1B42-41EB-82AE-AA6C668D7991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5EF346C-83F2-40B7-8ECA-B556A839B9F7}" type="slidenum">
              <a:rPr lang="en-IN" smtClean="0">
                <a:solidFill>
                  <a:schemeClr val="bg1"/>
                </a:solidFill>
              </a:rPr>
              <a:pPr/>
              <a:t>1</a:t>
            </a:fld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338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877D3-9BBD-4B68-D8E4-D4E0066C3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Theory of Computation?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15ABA-C6AB-17FE-A85B-962E51741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 (simple):</a:t>
            </a:r>
          </a:p>
          <a:p>
            <a:pPr lvl="1"/>
            <a:r>
              <a:rPr lang="en-US" dirty="0"/>
              <a:t>Theory of Computation is the study of mathematical models of computation and their capabilities and limitations.</a:t>
            </a:r>
          </a:p>
          <a:p>
            <a:r>
              <a:rPr lang="en-US" dirty="0"/>
              <a:t>Definition (formal):</a:t>
            </a:r>
          </a:p>
          <a:p>
            <a:pPr lvl="1"/>
            <a:r>
              <a:rPr lang="en-US" dirty="0"/>
              <a:t>Theory of Computation analyzes abstract machines and formal languages to determine:</a:t>
            </a:r>
          </a:p>
          <a:p>
            <a:pPr lvl="2"/>
            <a:r>
              <a:rPr lang="en-US" dirty="0"/>
              <a:t>Computability (whether a problem can be solved)</a:t>
            </a:r>
          </a:p>
          <a:p>
            <a:pPr lvl="2"/>
            <a:r>
              <a:rPr lang="en-US" dirty="0"/>
              <a:t>Efficiency (how much time and memory are required)</a:t>
            </a:r>
          </a:p>
          <a:p>
            <a:pPr lvl="2"/>
            <a:r>
              <a:rPr lang="en-US" dirty="0"/>
              <a:t>Decidability (whether a problem can always be answered)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8C604-4F33-C574-130F-D007B238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95A37-3D50-5CA8-385E-1794E18E6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848DE-37BA-354C-8CC1-B7D82218E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5871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2B094-3407-13DC-7D41-F84A168A8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Study Theory of Computation?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56A9-F7AD-874E-18E7-A92CBDF35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Theory of Computation helps answer:</a:t>
            </a:r>
          </a:p>
          <a:p>
            <a:pPr lvl="1"/>
            <a:r>
              <a:rPr lang="en-US" dirty="0"/>
              <a:t>Can a problem be solved by any algorithm?</a:t>
            </a:r>
          </a:p>
          <a:p>
            <a:pPr lvl="1"/>
            <a:r>
              <a:rPr lang="en-US" dirty="0"/>
              <a:t>If yes, can it be solved efficiently?</a:t>
            </a:r>
          </a:p>
          <a:p>
            <a:pPr lvl="1"/>
            <a:r>
              <a:rPr lang="en-US" dirty="0"/>
              <a:t>If not, why not?</a:t>
            </a:r>
          </a:p>
          <a:p>
            <a:r>
              <a:rPr lang="en-US" dirty="0"/>
              <a:t>Theory of Computation is broadly divided into three interconnected parts:</a:t>
            </a:r>
          </a:p>
          <a:p>
            <a:pPr lvl="1"/>
            <a:r>
              <a:rPr lang="en-US" dirty="0"/>
              <a:t>Automata Theory</a:t>
            </a:r>
          </a:p>
          <a:p>
            <a:pPr lvl="2"/>
            <a:r>
              <a:rPr lang="en-US" dirty="0"/>
              <a:t>Studies abstract machines</a:t>
            </a:r>
          </a:p>
          <a:p>
            <a:pPr lvl="2"/>
            <a:r>
              <a:rPr lang="en-US" dirty="0"/>
              <a:t>Focuses on language recognition</a:t>
            </a: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C163E-FF0C-E17E-2B89-A174A80D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8498D-ABF2-74A2-473C-4016F427B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73D9B-73F5-2EBC-57D3-DE2762EE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691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F7D0-C0FC-8F04-926D-6990A818B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B772F-9A4F-440A-239A-3D56D5A1FC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196752"/>
            <a:ext cx="11227296" cy="4824536"/>
          </a:xfrm>
        </p:spPr>
        <p:txBody>
          <a:bodyPr/>
          <a:lstStyle/>
          <a:p>
            <a:r>
              <a:rPr lang="en-US" dirty="0"/>
              <a:t>Formal Language Theory</a:t>
            </a:r>
          </a:p>
          <a:p>
            <a:pPr lvl="1"/>
            <a:r>
              <a:rPr lang="en-US" dirty="0"/>
              <a:t>Studies sets of strings (languages)</a:t>
            </a:r>
          </a:p>
          <a:p>
            <a:pPr lvl="1"/>
            <a:r>
              <a:rPr lang="en-US" dirty="0"/>
              <a:t>Used in compiler design and syntax analysis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Regular Languages</a:t>
            </a:r>
          </a:p>
          <a:p>
            <a:pPr lvl="2"/>
            <a:r>
              <a:rPr lang="en-US" dirty="0"/>
              <a:t>Context-Free Languages</a:t>
            </a:r>
          </a:p>
          <a:p>
            <a:r>
              <a:rPr lang="en-US" dirty="0"/>
              <a:t>Computability &amp; Complexity Theory</a:t>
            </a:r>
          </a:p>
          <a:p>
            <a:pPr lvl="1"/>
            <a:r>
              <a:rPr lang="en-US" dirty="0"/>
              <a:t>Studies limitations of computation</a:t>
            </a:r>
          </a:p>
          <a:p>
            <a:pPr lvl="1"/>
            <a:r>
              <a:rPr lang="en-US" dirty="0"/>
              <a:t>Classifies problems based on difficulty</a:t>
            </a:r>
          </a:p>
          <a:p>
            <a:pPr lvl="1"/>
            <a:r>
              <a:rPr lang="en-US" dirty="0"/>
              <a:t>Examples:</a:t>
            </a:r>
          </a:p>
          <a:p>
            <a:pPr lvl="2"/>
            <a:r>
              <a:rPr lang="en-US" dirty="0"/>
              <a:t>Decidable vs Undecidable problems</a:t>
            </a:r>
          </a:p>
          <a:p>
            <a:pPr lvl="2"/>
            <a:r>
              <a:rPr lang="en-US" dirty="0"/>
              <a:t>P, NP, NP-Complete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4BF2B-0A0A-BEC7-01FC-35A93F074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28E3C-E457-391A-A7C3-4BBBD89C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5D9A0-C070-8843-4993-72E84B319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216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A844-24E2-A642-53AB-F51D4A54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Automaton?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AF0E6-155B-E90A-CA06-F5A353E83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definition:</a:t>
            </a:r>
          </a:p>
          <a:p>
            <a:pPr lvl="1"/>
            <a:r>
              <a:rPr lang="en-US" dirty="0"/>
              <a:t>An automaton is an abstract machine that reads an input string symbol by symbol, changes its state according to fixed rules, and finally accepts or rejects the input.</a:t>
            </a:r>
          </a:p>
          <a:p>
            <a:r>
              <a:rPr lang="en-US" dirty="0"/>
              <a:t>Formal idea:</a:t>
            </a:r>
          </a:p>
          <a:p>
            <a:pPr lvl="1"/>
            <a:r>
              <a:rPr lang="en-US" dirty="0"/>
              <a:t>An automaton is a mathematical model used to recognize languages.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59988-8490-9684-83F3-5965CAC8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5CA33-EE86-55E0-718D-68EA68EBB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549F3-865E-D9A5-728F-458D1202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0979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5D9D-B27B-3629-EAF9-3CED3E31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Automata?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99C3-8E30-02BB-55DE-65799546B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Understand What Computers Can and Cannot Do</a:t>
            </a:r>
          </a:p>
          <a:p>
            <a:r>
              <a:rPr lang="en-US" dirty="0"/>
              <a:t>To Model Computation in a Simple and Precise Way</a:t>
            </a:r>
          </a:p>
          <a:p>
            <a:pPr lvl="1"/>
            <a:r>
              <a:rPr lang="en-US" dirty="0"/>
              <a:t>Remove unnecessary hardware details</a:t>
            </a:r>
          </a:p>
          <a:p>
            <a:pPr lvl="1"/>
            <a:r>
              <a:rPr lang="en-US" dirty="0"/>
              <a:t>Focus only on input, memory, and control</a:t>
            </a:r>
          </a:p>
          <a:p>
            <a:r>
              <a:rPr lang="en-US" dirty="0"/>
              <a:t>To Study Different Levels of Computational Power</a:t>
            </a:r>
          </a:p>
          <a:p>
            <a:pPr lvl="1"/>
            <a:r>
              <a:rPr lang="en-US" dirty="0"/>
              <a:t>Different automata have different memory: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A6E9C-9AC2-E87A-2DEA-1C3CAB11A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6F11-53C6-2445-CF43-0CD256E50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FA39B-0B79-2867-CE0E-2DEAA30D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6</a:t>
            </a:fld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BF38419-E9DB-4326-71C8-8CFC884F25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200866"/>
              </p:ext>
            </p:extLst>
          </p:nvPr>
        </p:nvGraphicFramePr>
        <p:xfrm>
          <a:off x="1008063" y="4641696"/>
          <a:ext cx="11183937" cy="1828800"/>
        </p:xfrm>
        <a:graphic>
          <a:graphicData uri="http://schemas.openxmlformats.org/drawingml/2006/table">
            <a:tbl>
              <a:tblPr/>
              <a:tblGrid>
                <a:gridCol w="3727979">
                  <a:extLst>
                    <a:ext uri="{9D8B030D-6E8A-4147-A177-3AD203B41FA5}">
                      <a16:colId xmlns:a16="http://schemas.microsoft.com/office/drawing/2014/main" val="3218711066"/>
                    </a:ext>
                  </a:extLst>
                </a:gridCol>
                <a:gridCol w="3727979">
                  <a:extLst>
                    <a:ext uri="{9D8B030D-6E8A-4147-A177-3AD203B41FA5}">
                      <a16:colId xmlns:a16="http://schemas.microsoft.com/office/drawing/2014/main" val="1596302579"/>
                    </a:ext>
                  </a:extLst>
                </a:gridCol>
                <a:gridCol w="3727979">
                  <a:extLst>
                    <a:ext uri="{9D8B030D-6E8A-4147-A177-3AD203B41FA5}">
                      <a16:colId xmlns:a16="http://schemas.microsoft.com/office/drawing/2014/main" val="12608002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Automaton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928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Finite Automaton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Finite states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Least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055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Pushdown Automaton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593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Turing Machine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Infinite tape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Maximum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396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161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0ECBC-F4AB-96FE-6A7E-609E9802E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Automata?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FC707-6C69-F5D2-7AEA-2B06BCCB0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Recognize and Classify Languages</a:t>
            </a:r>
          </a:p>
          <a:p>
            <a:pPr lvl="1"/>
            <a:r>
              <a:rPr lang="en-US" dirty="0"/>
              <a:t>Decide whether a string belongs to a language</a:t>
            </a:r>
          </a:p>
          <a:p>
            <a:pPr lvl="1"/>
            <a:r>
              <a:rPr lang="en-US" dirty="0"/>
              <a:t>Classify languages into:</a:t>
            </a:r>
          </a:p>
          <a:p>
            <a:pPr lvl="2"/>
            <a:r>
              <a:rPr lang="en-US" dirty="0"/>
              <a:t>Regular</a:t>
            </a:r>
          </a:p>
          <a:p>
            <a:pPr lvl="2"/>
            <a:r>
              <a:rPr lang="en-US" dirty="0"/>
              <a:t>Context-Free</a:t>
            </a:r>
          </a:p>
          <a:p>
            <a:pPr lvl="2"/>
            <a:r>
              <a:rPr lang="en-US" dirty="0"/>
              <a:t>Recursively Enumerable</a:t>
            </a:r>
          </a:p>
          <a:p>
            <a:pPr lvl="1"/>
            <a:r>
              <a:rPr lang="en-US" dirty="0"/>
              <a:t>This classification is essential in:</a:t>
            </a:r>
          </a:p>
          <a:p>
            <a:pPr lvl="2"/>
            <a:r>
              <a:rPr lang="en-US" dirty="0"/>
              <a:t>Compiler design</a:t>
            </a:r>
          </a:p>
          <a:p>
            <a:pPr lvl="2"/>
            <a:r>
              <a:rPr lang="en-US" dirty="0"/>
              <a:t>Syntax analysis</a:t>
            </a:r>
          </a:p>
          <a:p>
            <a:pPr lvl="2"/>
            <a:r>
              <a:rPr lang="en-US" dirty="0"/>
              <a:t>Language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5ADF3-06B4-2A95-DBF6-CE64B3174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9A6B-A4AD-0FF1-D6CF-0D0FF714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6C4A0-B772-CD36-2CDD-CE21B94D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6069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D335-440A-9E12-2673-E21C9B8AE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Automata?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5F25B-B783-7741-18C2-CC3E71D6C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392" y="1340768"/>
            <a:ext cx="11227296" cy="4824536"/>
          </a:xfrm>
        </p:spPr>
        <p:txBody>
          <a:bodyPr/>
          <a:lstStyle/>
          <a:p>
            <a:r>
              <a:rPr lang="en-US" dirty="0"/>
              <a:t>To Design Real Systems Used in Practice</a:t>
            </a:r>
          </a:p>
          <a:p>
            <a:pPr lvl="1"/>
            <a:r>
              <a:rPr lang="en-US" dirty="0"/>
              <a:t>Finite Automata → Lexical analyzers, pattern matching</a:t>
            </a:r>
          </a:p>
          <a:p>
            <a:pPr lvl="1"/>
            <a:r>
              <a:rPr lang="en-US" dirty="0"/>
              <a:t>Pushdown Automata → Syntax parsers</a:t>
            </a:r>
          </a:p>
          <a:p>
            <a:pPr lvl="1"/>
            <a:r>
              <a:rPr lang="en-US" dirty="0"/>
              <a:t>Turing Machines → Model of general-purpose computers</a:t>
            </a:r>
          </a:p>
          <a:p>
            <a:pPr lvl="1"/>
            <a:r>
              <a:rPr lang="en-US" dirty="0"/>
              <a:t>Regular expressions → Text search, intrusion detection</a:t>
            </a:r>
          </a:p>
          <a:p>
            <a:r>
              <a:rPr lang="en-US" dirty="0"/>
              <a:t>To Prove Some Problems Are Impossible to Solve</a:t>
            </a:r>
          </a:p>
          <a:p>
            <a:pPr lvl="1"/>
            <a:r>
              <a:rPr lang="en-US" dirty="0"/>
              <a:t>Undecidable problems</a:t>
            </a:r>
          </a:p>
          <a:p>
            <a:pPr lvl="1"/>
            <a:r>
              <a:rPr lang="en-US" dirty="0"/>
              <a:t>Example: Halting Problem</a:t>
            </a:r>
          </a:p>
          <a:p>
            <a:r>
              <a:rPr lang="en-US" dirty="0"/>
              <a:t>To Analyze Efficiency and Complexity</a:t>
            </a:r>
          </a:p>
          <a:p>
            <a:pPr lvl="1"/>
            <a:r>
              <a:rPr lang="en-US" dirty="0"/>
              <a:t>Time complexity, Space complexity</a:t>
            </a:r>
          </a:p>
          <a:p>
            <a:pPr lvl="1"/>
            <a:r>
              <a:rPr lang="en-US" dirty="0"/>
              <a:t>Complexity classes (P, NP)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61A81-D028-33F9-1800-9AFD7B14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5D1B46-8677-AA32-9236-FADE3E3B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2C0CD-8812-0405-3A8C-4397B681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392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AF884-D819-B8FD-DD88-90E26E3B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Symbols and Alphabet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F9BCC5-542F-8934-814D-48A2FB33CB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a Symbol?</a:t>
                </a:r>
              </a:p>
              <a:p>
                <a:pPr lvl="1"/>
                <a:r>
                  <a:rPr lang="en-US" dirty="0"/>
                  <a:t>A symbol is an abstract entity or a single character that has no intrinsic meaning by itself. It is the smallest building block in automata theory.</a:t>
                </a:r>
              </a:p>
              <a:p>
                <a:pPr lvl="1"/>
                <a:r>
                  <a:rPr lang="en-US" dirty="0"/>
                  <a:t>Examples: Letters (a, b, c), digits (0, 1, 2), or even special characters (#, @, $).</a:t>
                </a:r>
              </a:p>
              <a:p>
                <a:r>
                  <a:rPr lang="en-US" dirty="0"/>
                  <a:t>What is Alphabet?</a:t>
                </a:r>
              </a:p>
              <a:p>
                <a:pPr lvl="1"/>
                <a:r>
                  <a:rPr lang="en-US" dirty="0"/>
                  <a:t>An alphabet is a finite, non-empty set of symbols.</a:t>
                </a:r>
              </a:p>
              <a:p>
                <a:pPr lvl="2"/>
                <a:r>
                  <a:rPr lang="en-US" dirty="0"/>
                  <a:t>Finite: It cannot have an infinite number of characters.</a:t>
                </a:r>
              </a:p>
              <a:p>
                <a:pPr lvl="2"/>
                <a:r>
                  <a:rPr lang="en-US" dirty="0"/>
                  <a:t>Non-empty: It must contain at least one symbol.</a:t>
                </a:r>
              </a:p>
              <a:p>
                <a:pPr lvl="2"/>
                <a:r>
                  <a:rPr lang="en-US" dirty="0"/>
                  <a:t>Notation: It is almost always denoted by the Greek uppercase letter Sigma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8F9BCC5-542F-8934-814D-48A2FB33CB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 r="-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1E270-68CD-CCDB-2693-39E26FBE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9AD23-59DA-2BCF-CEAE-5BC4B81AB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PDEU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5A29-1410-230E-680F-3A05CBE1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620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07E4-AB30-55CC-324A-468F98F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Alphabet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1BF12-7253-0D45-8356-FEB2AE668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Depending on what you are trying to compute, your alphabet might look very different:</a:t>
                </a:r>
              </a:p>
              <a:p>
                <a:pPr lvl="1"/>
                <a:r>
                  <a:rPr lang="en-US" dirty="0"/>
                  <a:t>Binary Alphabet: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0, 1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(Used for most computer logic).</a:t>
                </a:r>
              </a:p>
              <a:p>
                <a:pPr lvl="1"/>
                <a:r>
                  <a:rPr lang="en-US" dirty="0"/>
                  <a:t>English Alphabet: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Alphabet of Digits: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0, 1, 2, 3, 4, 5, 6, 7, 8, 9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Custom Alphabet: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$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(Common in machine problems).</a:t>
                </a:r>
              </a:p>
              <a:p>
                <a:r>
                  <a:rPr lang="en-US" dirty="0"/>
                  <a:t>Powers of an Alphabet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You can use an exponent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describe sets of strings based on their length: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Set of all strings of length 0 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𝜖</m:t>
                    </m:r>
                    <m:r>
                      <m:rPr>
                        <m:lit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Set of all strings of length 1  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0,1</m:t>
                    </m:r>
                    <m:r>
                      <m:rPr>
                        <m:lit/>
                      </m:rPr>
                      <a:rPr lang="en-US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11BF12-7253-0D45-8356-FEB2AE668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 b="-8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E2389-F82E-FAF8-EB3A-19395775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09695-0004-5DF6-E5BA-E25F3B952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32E12-0FDD-7B3C-E772-C4B20B980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854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4F989-DE89-7415-616F-22A85EF46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Alphabet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4B35A2-DEA1-60B9-9633-49AB4DB3FD3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"Star" and "Plus" Closures</a:t>
                </a:r>
              </a:p>
              <a:p>
                <a:pPr lvl="1"/>
                <a:r>
                  <a:rPr lang="en-US" dirty="0"/>
                  <a:t>These are two of the most important concepts you'll see in textbooks:</a:t>
                </a:r>
              </a:p>
              <a:p>
                <a:pPr lvl="1"/>
                <a:r>
                  <a:rPr lang="en-US" dirty="0"/>
                  <a:t>Kleene Star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): This is the set of all possible strings that can be formed using symbols from the alphabet, including the empty string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). It is an infinite set.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∪…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Kleene Plus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): This is exactly like the star closure, but it excludes the empty string.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∪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∪…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84B35A2-DEA1-60B9-9633-49AB4DB3FD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26" t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802A1-2C10-80F3-9199-B7DE10365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2DBC6-AFE7-E347-9165-9F6D8BE9A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F9B82-277C-A4EE-1BB9-63FE4F60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4909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D9CF-4BFC-045E-A563-55C550306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Strings: Sequence of Symbols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646C9-147C-B2DB-2FD1-6556E1BE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string is what you get when you combine symbols from an alphabet in a sequence</a:t>
            </a:r>
          </a:p>
          <a:p>
            <a:endParaRPr lang="en-US" dirty="0"/>
          </a:p>
          <a:p>
            <a:r>
              <a:rPr lang="en-US" dirty="0"/>
              <a:t>A string over an alphabet Σ is a finite sequence of symbols from Σ.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59FE1-37EC-B9AF-B923-CA056E9B1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9F1DB-7DDE-6C4D-8D30-9D2F09FE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3BB6B-7981-D743-F36B-66723F4B1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1453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69E75-3EF7-E0B2-92E7-D486D6A7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Languages: Set of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C1370-8D69-DA5A-7E34-7FA8271B1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 string is one input. A language is all valid </a:t>
            </a:r>
            <a:r>
              <a:rPr lang="en-US"/>
              <a:t>inputs together</a:t>
            </a:r>
          </a:p>
          <a:p>
            <a:endParaRPr lang="en-US" dirty="0"/>
          </a:p>
          <a:p>
            <a:r>
              <a:rPr lang="en-US" dirty="0"/>
              <a:t>A language over alphabet Σ is a set of strings formed from Σ.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F0307-8F62-93A0-4C32-3E9E4B2C6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DB2A-29F8-4B15-AF86-FA23907D6058}" type="datetime1">
              <a:rPr lang="en-US" smtClean="0"/>
              <a:t>1/6/2026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B6125-04BF-4898-9C4F-811E7B92C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Sujit Kumar Das, Pandit Deendayal Energy University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0DC63-0152-4525-2F8F-A7884E05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7AF29-B1D1-4F28-8D89-89FA7809DA46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359270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 design template">
  <a:themeElements>
    <a:clrScheme name="Office Theme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I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ffice T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4652D626EF27418F127E2176372956" ma:contentTypeVersion="0" ma:contentTypeDescription="Create a new document." ma:contentTypeScope="" ma:versionID="d16676a917884333940fadcd7011fb4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5F74A4-69CF-4A6C-9E74-F502D596D092}"/>
</file>

<file path=customXml/itemProps2.xml><?xml version="1.0" encoding="utf-8"?>
<ds:datastoreItem xmlns:ds="http://schemas.openxmlformats.org/officeDocument/2006/customXml" ds:itemID="{6F180D0E-84E9-4089-87E2-A0F7E2AD0C83}"/>
</file>

<file path=customXml/itemProps3.xml><?xml version="1.0" encoding="utf-8"?>
<ds:datastoreItem xmlns:ds="http://schemas.openxmlformats.org/officeDocument/2006/customXml" ds:itemID="{1AC56104-23E5-44BF-91D6-CC422498F05C}"/>
</file>

<file path=docProps/app.xml><?xml version="1.0" encoding="utf-8"?>
<Properties xmlns="http://schemas.openxmlformats.org/officeDocument/2006/extended-properties" xmlns:vt="http://schemas.openxmlformats.org/officeDocument/2006/docPropsVTypes">
  <Template>Blends design template</Template>
  <TotalTime>44059</TotalTime>
  <Words>950</Words>
  <Application>Microsoft Office PowerPoint</Application>
  <PresentationFormat>Widescreen</PresentationFormat>
  <Paragraphs>152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Cambria Math</vt:lpstr>
      <vt:lpstr>Courier New</vt:lpstr>
      <vt:lpstr>Tahoma</vt:lpstr>
      <vt:lpstr>Times New Roman</vt:lpstr>
      <vt:lpstr>Wingdings</vt:lpstr>
      <vt:lpstr>Blends design template</vt:lpstr>
      <vt:lpstr>Theory of Computation</vt:lpstr>
      <vt:lpstr>What is Theory of Computation?</vt:lpstr>
      <vt:lpstr>Why Do We Study Theory of Computation?</vt:lpstr>
      <vt:lpstr>PowerPoint Presentation</vt:lpstr>
      <vt:lpstr>What is an Automaton?</vt:lpstr>
      <vt:lpstr>Why Do We Need Automata?</vt:lpstr>
      <vt:lpstr>Why Do We Need Automata?</vt:lpstr>
      <vt:lpstr>Why Do We Need Automata?</vt:lpstr>
      <vt:lpstr>Symbols and Alphabet</vt:lpstr>
      <vt:lpstr>Alphabet</vt:lpstr>
      <vt:lpstr>Alphabet</vt:lpstr>
      <vt:lpstr>Strings: Sequence of Symbols</vt:lpstr>
      <vt:lpstr>Languages: Set of Strings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</dc:creator>
  <cp:lastModifiedBy>Sujit Das</cp:lastModifiedBy>
  <cp:revision>792</cp:revision>
  <cp:lastPrinted>1601-01-01T00:00:00Z</cp:lastPrinted>
  <dcterms:created xsi:type="dcterms:W3CDTF">2021-03-13T17:54:44Z</dcterms:created>
  <dcterms:modified xsi:type="dcterms:W3CDTF">2026-01-06T07:23:42Z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TC102037591033</vt:lpwstr>
  </property>
  <property fmtid="{D5CDD505-2E9C-101B-9397-08002B2CF9AE}" pid="3" name="ContentTypeId">
    <vt:lpwstr>0x010100954652D626EF27418F127E2176372956</vt:lpwstr>
  </property>
</Properties>
</file>