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5" r:id="rId4"/>
  </p:sldMasterIdLst>
  <p:notesMasterIdLst>
    <p:notesMasterId r:id="rId38"/>
  </p:notesMasterIdLst>
  <p:handoutMasterIdLst>
    <p:handoutMasterId r:id="rId39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8" r:id="rId22"/>
    <p:sldId id="273" r:id="rId23"/>
    <p:sldId id="274" r:id="rId24"/>
    <p:sldId id="275" r:id="rId25"/>
    <p:sldId id="276" r:id="rId26"/>
    <p:sldId id="277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</p:sldIdLst>
  <p:sldSz cx="12192000" cy="6858000"/>
  <p:notesSz cx="6858000" cy="9144000"/>
  <p:defaultTextStyle>
    <a:defPPr>
      <a:defRPr lang="en-I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014B1"/>
    <a:srgbClr val="8A0000"/>
    <a:srgbClr val="660033"/>
    <a:srgbClr val="B80000"/>
    <a:srgbClr val="A20000"/>
    <a:srgbClr val="1B09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134908A-7940-4728-9C3C-80C501986080}" v="14" dt="2026-01-18T17:14:34.71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911" autoAdjust="0"/>
    <p:restoredTop sz="94660"/>
  </p:normalViewPr>
  <p:slideViewPr>
    <p:cSldViewPr>
      <p:cViewPr varScale="1">
        <p:scale>
          <a:sx n="63" d="100"/>
          <a:sy n="63" d="100"/>
        </p:scale>
        <p:origin x="844" y="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56" d="100"/>
          <a:sy n="56" d="100"/>
        </p:scale>
        <p:origin x="-2826" y="-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notesMaster" Target="notesMasters/notesMaster1.xml"/><Relationship Id="rId20" Type="http://schemas.openxmlformats.org/officeDocument/2006/relationships/slide" Target="slides/slide16.xml"/><Relationship Id="rId4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24BCP311OmP" userId="S::24bcp311@pdpu.ac.in::d2c632bf-8529-494c-957c-4bc8436bb669" providerId="AD" clId="Web-{5134908A-7940-4728-9C3C-80C501986080}"/>
    <pc:docChg chg="modSld">
      <pc:chgData name="24BCP311OmP" userId="S::24bcp311@pdpu.ac.in::d2c632bf-8529-494c-957c-4bc8436bb669" providerId="AD" clId="Web-{5134908A-7940-4728-9C3C-80C501986080}" dt="2026-01-18T17:14:34.712" v="13" actId="1076"/>
      <pc:docMkLst>
        <pc:docMk/>
      </pc:docMkLst>
      <pc:sldChg chg="modSp">
        <pc:chgData name="24BCP311OmP" userId="S::24bcp311@pdpu.ac.in::d2c632bf-8529-494c-957c-4bc8436bb669" providerId="AD" clId="Web-{5134908A-7940-4728-9C3C-80C501986080}" dt="2026-01-18T17:14:34.712" v="13" actId="1076"/>
        <pc:sldMkLst>
          <pc:docMk/>
          <pc:sldMk cId="53123757" sldId="269"/>
        </pc:sldMkLst>
        <pc:spChg chg="mod">
          <ac:chgData name="24BCP311OmP" userId="S::24bcp311@pdpu.ac.in::d2c632bf-8529-494c-957c-4bc8436bb669" providerId="AD" clId="Web-{5134908A-7940-4728-9C3C-80C501986080}" dt="2026-01-18T17:13:38.977" v="11" actId="1076"/>
          <ac:spMkLst>
            <pc:docMk/>
            <pc:sldMk cId="53123757" sldId="269"/>
            <ac:spMk id="2" creationId="{F81EE6D0-4C16-BD1E-CFD1-8E8D3834471A}"/>
          </ac:spMkLst>
        </pc:spChg>
        <pc:spChg chg="mod">
          <ac:chgData name="24BCP311OmP" userId="S::24bcp311@pdpu.ac.in::d2c632bf-8529-494c-957c-4bc8436bb669" providerId="AD" clId="Web-{5134908A-7940-4728-9C3C-80C501986080}" dt="2026-01-18T17:14:34.712" v="13" actId="1076"/>
          <ac:spMkLst>
            <pc:docMk/>
            <pc:sldMk cId="53123757" sldId="269"/>
            <ac:spMk id="3" creationId="{41AB69EA-46B6-E0A8-99DF-9982732C5A13}"/>
          </ac:spMkLst>
        </pc:spChg>
        <pc:spChg chg="mod">
          <ac:chgData name="24BCP311OmP" userId="S::24bcp311@pdpu.ac.in::d2c632bf-8529-494c-957c-4bc8436bb669" providerId="AD" clId="Web-{5134908A-7940-4728-9C3C-80C501986080}" dt="2026-01-18T17:13:38.977" v="9" actId="1076"/>
          <ac:spMkLst>
            <pc:docMk/>
            <pc:sldMk cId="53123757" sldId="269"/>
            <ac:spMk id="5" creationId="{248E2B61-E0E2-0DD8-15D6-7C63BBF70CEE}"/>
          </ac:spMkLst>
        </pc:spChg>
        <pc:spChg chg="mod">
          <ac:chgData name="24BCP311OmP" userId="S::24bcp311@pdpu.ac.in::d2c632bf-8529-494c-957c-4bc8436bb669" providerId="AD" clId="Web-{5134908A-7940-4728-9C3C-80C501986080}" dt="2026-01-18T17:13:38.977" v="8" actId="1076"/>
          <ac:spMkLst>
            <pc:docMk/>
            <pc:sldMk cId="53123757" sldId="269"/>
            <ac:spMk id="6" creationId="{1BD35B4A-E05C-5A0D-527B-B7F50892D1E1}"/>
          </ac:spMkLst>
        </pc:spChg>
      </pc:sldChg>
      <pc:sldChg chg="modSp">
        <pc:chgData name="24BCP311OmP" userId="S::24bcp311@pdpu.ac.in::d2c632bf-8529-494c-957c-4bc8436bb669" providerId="AD" clId="Web-{5134908A-7940-4728-9C3C-80C501986080}" dt="2026-01-18T16:32:51.303" v="3" actId="1076"/>
        <pc:sldMkLst>
          <pc:docMk/>
          <pc:sldMk cId="162194443" sldId="272"/>
        </pc:sldMkLst>
        <pc:picChg chg="mod">
          <ac:chgData name="24BCP311OmP" userId="S::24bcp311@pdpu.ac.in::d2c632bf-8529-494c-957c-4bc8436bb669" providerId="AD" clId="Web-{5134908A-7940-4728-9C3C-80C501986080}" dt="2026-01-18T16:32:51.303" v="3" actId="1076"/>
          <ac:picMkLst>
            <pc:docMk/>
            <pc:sldMk cId="162194443" sldId="272"/>
            <ac:picMk id="8" creationId="{1EC59E35-D9EB-DDD4-094A-5B57D54432A4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95CBBC-3936-4A88-BFB1-A536A2BF3D80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153531-9196-46F7-90D5-9137A7AB77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58598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E9763B-3379-4A91-8054-B84252BBF3DE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887CF4-E6A2-42AB-8EBD-D698F0F564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36332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887CF4-E6A2-42AB-8EBD-D698F0F564EE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29625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 userDrawn="1"/>
        </p:nvSpPr>
        <p:spPr bwMode="auto">
          <a:xfrm>
            <a:off x="0" y="6597352"/>
            <a:ext cx="12192000" cy="260648"/>
          </a:xfrm>
          <a:prstGeom prst="rect">
            <a:avLst/>
          </a:prstGeom>
          <a:solidFill>
            <a:srgbClr val="B8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ahoma" pitchFamily="34" charset="0"/>
            </a:endParaRPr>
          </a:p>
        </p:txBody>
      </p:sp>
      <p:grpSp>
        <p:nvGrpSpPr>
          <p:cNvPr id="81922" name="Group 2"/>
          <p:cNvGrpSpPr>
            <a:grpSpLocks/>
          </p:cNvGrpSpPr>
          <p:nvPr/>
        </p:nvGrpSpPr>
        <p:grpSpPr bwMode="auto">
          <a:xfrm>
            <a:off x="430742" y="2420889"/>
            <a:ext cx="11330517" cy="1052513"/>
            <a:chOff x="141" y="1644"/>
            <a:chExt cx="5353" cy="663"/>
          </a:xfrm>
        </p:grpSpPr>
        <p:grpSp>
          <p:nvGrpSpPr>
            <p:cNvPr id="81923" name="Group 3"/>
            <p:cNvGrpSpPr>
              <a:grpSpLocks/>
            </p:cNvGrpSpPr>
            <p:nvPr/>
          </p:nvGrpSpPr>
          <p:grpSpPr bwMode="auto">
            <a:xfrm>
              <a:off x="231" y="1899"/>
              <a:ext cx="447" cy="300"/>
              <a:chOff x="789" y="761"/>
              <a:chExt cx="624" cy="432"/>
            </a:xfrm>
          </p:grpSpPr>
          <p:sp>
            <p:nvSpPr>
              <p:cNvPr id="81924" name="Rectangle 4"/>
              <p:cNvSpPr>
                <a:spLocks noChangeArrowheads="1"/>
              </p:cNvSpPr>
              <p:nvPr/>
            </p:nvSpPr>
            <p:spPr bwMode="auto">
              <a:xfrm>
                <a:off x="789" y="761"/>
                <a:ext cx="384" cy="432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81925" name="Rectangle 5"/>
              <p:cNvSpPr>
                <a:spLocks noChangeArrowheads="1"/>
              </p:cNvSpPr>
              <p:nvPr/>
            </p:nvSpPr>
            <p:spPr bwMode="auto">
              <a:xfrm>
                <a:off x="1125" y="761"/>
                <a:ext cx="288" cy="432"/>
              </a:xfrm>
              <a:prstGeom prst="rect">
                <a:avLst/>
              </a:prstGeom>
              <a:gradFill>
                <a:gsLst>
                  <a:gs pos="17000">
                    <a:srgbClr val="C00000"/>
                  </a:gs>
                  <a:gs pos="100000">
                    <a:srgbClr val="FFEBFA"/>
                  </a:gs>
                </a:gsLst>
                <a:lin ang="0" scaled="0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</p:grpSp>
        <p:sp>
          <p:nvSpPr>
            <p:cNvPr id="81930" name="Rectangle 10"/>
            <p:cNvSpPr>
              <a:spLocks noChangeArrowheads="1"/>
            </p:cNvSpPr>
            <p:nvPr/>
          </p:nvSpPr>
          <p:spPr bwMode="auto">
            <a:xfrm>
              <a:off x="413" y="1644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81931" name="Rectangle 11"/>
            <p:cNvSpPr>
              <a:spLocks noChangeArrowheads="1"/>
            </p:cNvSpPr>
            <p:nvPr/>
          </p:nvSpPr>
          <p:spPr bwMode="auto">
            <a:xfrm flipV="1">
              <a:off x="141" y="2054"/>
              <a:ext cx="5353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81933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877942" y="3340090"/>
            <a:ext cx="10415244" cy="3123951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en-IN" noProof="0" dirty="0"/>
              <a:t>Click to edit Master subtitle style</a:t>
            </a:r>
          </a:p>
        </p:txBody>
      </p:sp>
      <p:sp>
        <p:nvSpPr>
          <p:cNvPr id="18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98206" y="6597352"/>
            <a:ext cx="1961357" cy="2606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chemeClr val="bg1"/>
                </a:solidFill>
              </a:defRPr>
            </a:lvl1pPr>
          </a:lstStyle>
          <a:p>
            <a:fld id="{51ED6C3E-501B-4560-BC0E-E66AAB6D0E5D}" type="datetime1">
              <a:rPr lang="en-US" smtClean="0"/>
              <a:t>1/18/2026</a:t>
            </a:fld>
            <a:endParaRPr lang="en-IN" dirty="0"/>
          </a:p>
        </p:txBody>
      </p:sp>
      <p:sp>
        <p:nvSpPr>
          <p:cNvPr id="19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235200" y="6597352"/>
            <a:ext cx="7701227" cy="2606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IN" dirty="0"/>
              <a:t>Sujit Kumar Das, Pandit Deendayal Energy University</a:t>
            </a:r>
          </a:p>
        </p:txBody>
      </p:sp>
      <p:sp>
        <p:nvSpPr>
          <p:cNvPr id="20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032437" y="6597352"/>
            <a:ext cx="1897096" cy="2160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chemeClr val="bg1"/>
                </a:solidFill>
              </a:defRPr>
            </a:lvl1pPr>
          </a:lstStyle>
          <a:p>
            <a:fld id="{85EF346C-83F2-40B7-8ECA-B556A839B9F7}" type="slidenum">
              <a:rPr lang="en-IN" smtClean="0"/>
              <a:pPr/>
              <a:t>‹#›</a:t>
            </a:fld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505E03-7E72-2332-21A8-B8C2B3ED9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393" y="44624"/>
            <a:ext cx="11234175" cy="1152128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IN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3392" y="1484784"/>
            <a:ext cx="11227296" cy="4824536"/>
          </a:xfrm>
        </p:spPr>
        <p:txBody>
          <a:bodyPr>
            <a:noAutofit/>
          </a:bodyPr>
          <a:lstStyle>
            <a:lvl1pPr>
              <a:lnSpc>
                <a:spcPts val="3400"/>
              </a:lnSpc>
              <a:defRPr sz="3000"/>
            </a:lvl1pPr>
            <a:lvl2pPr>
              <a:lnSpc>
                <a:spcPts val="3000"/>
              </a:lnSpc>
              <a:defRPr sz="2600"/>
            </a:lvl2pPr>
            <a:lvl3pPr>
              <a:lnSpc>
                <a:spcPts val="2880"/>
              </a:lnSpc>
              <a:defRPr sz="2300"/>
            </a:lvl3pPr>
            <a:lvl4pPr>
              <a:lnSpc>
                <a:spcPts val="2400"/>
              </a:lnSpc>
              <a:defRPr/>
            </a:lvl4pPr>
            <a:lvl5pPr>
              <a:lnSpc>
                <a:spcPts val="2400"/>
              </a:lnSpc>
              <a:defRPr sz="1800"/>
            </a:lvl5pPr>
          </a:lstStyle>
          <a:p>
            <a:pPr lvl="0"/>
            <a:r>
              <a:rPr lang="en-IN" dirty="0"/>
              <a:t>Click to edit Master text styles</a:t>
            </a:r>
          </a:p>
          <a:p>
            <a:pPr lvl="1"/>
            <a:r>
              <a:rPr lang="en-IN" dirty="0"/>
              <a:t>Second level</a:t>
            </a:r>
          </a:p>
          <a:p>
            <a:pPr lvl="2"/>
            <a:r>
              <a:rPr lang="en-IN" dirty="0"/>
              <a:t>Third level</a:t>
            </a:r>
          </a:p>
          <a:p>
            <a:pPr lvl="3"/>
            <a:r>
              <a:rPr lang="en-IN" dirty="0"/>
              <a:t>Fourth level</a:t>
            </a:r>
          </a:p>
          <a:p>
            <a:pPr lvl="4"/>
            <a:r>
              <a:rPr lang="en-IN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8CFDB2A-29F8-4B15-AF86-FA23907D6058}" type="datetime1">
              <a:rPr lang="en-US" smtClean="0"/>
              <a:t>1/18/2026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IN" dirty="0"/>
              <a:t>Sujit Kumar Das, Pandit Deendayal Energy University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117AF29-B1D1-4F28-8D89-89FA7809DA46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22704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IN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191683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IN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1B7F8BD-2FBC-4249-9ACB-18E66A1408B0}" type="datetime1">
              <a:rPr lang="en-US" smtClean="0"/>
              <a:t>1/18/2026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IN" dirty="0"/>
              <a:t>PDEU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E3A3125-4CE4-495C-81E1-50F2B2892A7F}" type="slidenum">
              <a:rPr lang="en-IN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796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3392" y="1556793"/>
            <a:ext cx="5280587" cy="457572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IN" dirty="0"/>
              <a:t>Click to edit Master text styles</a:t>
            </a:r>
          </a:p>
          <a:p>
            <a:pPr lvl="1"/>
            <a:r>
              <a:rPr lang="en-IN" dirty="0"/>
              <a:t>Second level</a:t>
            </a:r>
          </a:p>
          <a:p>
            <a:pPr lvl="2"/>
            <a:r>
              <a:rPr lang="en-IN" dirty="0"/>
              <a:t>Third level</a:t>
            </a:r>
          </a:p>
          <a:p>
            <a:pPr lvl="3"/>
            <a:r>
              <a:rPr lang="en-IN" dirty="0"/>
              <a:t>Fourth level</a:t>
            </a:r>
          </a:p>
          <a:p>
            <a:pPr lvl="4"/>
            <a:r>
              <a:rPr lang="en-IN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99989" y="1556793"/>
            <a:ext cx="5280587" cy="457572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IN" dirty="0"/>
              <a:t>Click to edit Master text styles</a:t>
            </a:r>
          </a:p>
          <a:p>
            <a:pPr lvl="1"/>
            <a:r>
              <a:rPr lang="en-IN" dirty="0"/>
              <a:t>Second level</a:t>
            </a:r>
          </a:p>
          <a:p>
            <a:pPr lvl="2"/>
            <a:r>
              <a:rPr lang="en-IN" dirty="0"/>
              <a:t>Third level</a:t>
            </a:r>
          </a:p>
          <a:p>
            <a:pPr lvl="3"/>
            <a:r>
              <a:rPr lang="en-IN" dirty="0"/>
              <a:t>Fourth level</a:t>
            </a:r>
          </a:p>
          <a:p>
            <a:pPr lvl="4"/>
            <a:r>
              <a:rPr lang="en-IN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CD2901D-8644-423B-985C-0EB625C4D3E2}" type="datetime1">
              <a:rPr lang="en-US" smtClean="0"/>
              <a:t>1/18/2026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IN" dirty="0"/>
              <a:t>Sujit Kumar Das, Pandit Deendayal Energy University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D26B4EF-B9AB-4661-8F08-74A244B89EE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9064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184" y="0"/>
            <a:ext cx="10979217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IN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I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IN"/>
              <a:t>Click to edit Master text styles</a:t>
            </a:r>
          </a:p>
          <a:p>
            <a:pPr lvl="1"/>
            <a:r>
              <a:rPr lang="en-IN"/>
              <a:t>Second level</a:t>
            </a:r>
          </a:p>
          <a:p>
            <a:pPr lvl="2"/>
            <a:r>
              <a:rPr lang="en-IN"/>
              <a:t>Third level</a:t>
            </a:r>
          </a:p>
          <a:p>
            <a:pPr lvl="3"/>
            <a:r>
              <a:rPr lang="en-IN"/>
              <a:t>Fourth level</a:t>
            </a:r>
          </a:p>
          <a:p>
            <a:pPr lvl="4"/>
            <a:r>
              <a:rPr lang="en-IN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I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IN"/>
              <a:t>Click to edit Master text styles</a:t>
            </a:r>
          </a:p>
          <a:p>
            <a:pPr lvl="1"/>
            <a:r>
              <a:rPr lang="en-IN"/>
              <a:t>Second level</a:t>
            </a:r>
          </a:p>
          <a:p>
            <a:pPr lvl="2"/>
            <a:r>
              <a:rPr lang="en-IN"/>
              <a:t>Third level</a:t>
            </a:r>
          </a:p>
          <a:p>
            <a:pPr lvl="3"/>
            <a:r>
              <a:rPr lang="en-IN"/>
              <a:t>Fourth level</a:t>
            </a:r>
          </a:p>
          <a:p>
            <a:pPr lvl="4"/>
            <a:r>
              <a:rPr lang="en-IN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5A0094F-B002-4C47-B8B3-492DD6B7D3E6}" type="datetime1">
              <a:rPr lang="en-US" smtClean="0"/>
              <a:t>1/18/2026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IN" dirty="0"/>
              <a:t>Sujit Kumar Das, Pandit Deendayal Energy University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5550262-3B25-4719-A1F8-2A2B3EF1945F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09072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61761F3-92DC-4F26-BBD4-36119582628F}" type="datetime1">
              <a:rPr lang="en-US" smtClean="0"/>
              <a:t>1/18/2026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IN" dirty="0"/>
              <a:t>Sujit Kumar Das, Pandit Deendayal Energy University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1E70B6-3084-445A-B911-F2E7794F5BB1}" type="slidenum">
              <a:rPr lang="en-IN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33625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21E3B5E-9D13-4FF8-BC9F-4E592FE16B8F}" type="datetime1">
              <a:rPr lang="en-US" smtClean="0"/>
              <a:t>1/18/2026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IN" dirty="0"/>
              <a:t>Sujit Kumar Das, Pandit Deendayal Energy University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A7FCF56-2FA5-4EB3-9020-B9336035516D}" type="slidenum">
              <a:rPr lang="en-IN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30538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 userDrawn="1"/>
        </p:nvSpPr>
        <p:spPr bwMode="auto">
          <a:xfrm>
            <a:off x="0" y="6624736"/>
            <a:ext cx="12192000" cy="260648"/>
          </a:xfrm>
          <a:prstGeom prst="rect">
            <a:avLst/>
          </a:prstGeom>
          <a:solidFill>
            <a:srgbClr val="B8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ahoma" pitchFamily="34" charset="0"/>
            </a:endParaRPr>
          </a:p>
        </p:txBody>
      </p:sp>
      <p:sp>
        <p:nvSpPr>
          <p:cNvPr id="17" name="Rectangle 5"/>
          <p:cNvSpPr>
            <a:spLocks noChangeArrowheads="1"/>
          </p:cNvSpPr>
          <p:nvPr userDrawn="1"/>
        </p:nvSpPr>
        <p:spPr bwMode="auto">
          <a:xfrm>
            <a:off x="665784" y="1080542"/>
            <a:ext cx="437661" cy="476250"/>
          </a:xfrm>
          <a:prstGeom prst="rect">
            <a:avLst/>
          </a:prstGeom>
          <a:gradFill>
            <a:gsLst>
              <a:gs pos="17000">
                <a:srgbClr val="C00000"/>
              </a:gs>
              <a:gs pos="100000">
                <a:srgbClr val="FFEBFA"/>
              </a:gs>
            </a:gsLst>
            <a:lin ang="0" scaled="0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6" name="Rectangle 4"/>
          <p:cNvSpPr>
            <a:spLocks noChangeArrowheads="1"/>
          </p:cNvSpPr>
          <p:nvPr userDrawn="1"/>
        </p:nvSpPr>
        <p:spPr bwMode="auto">
          <a:xfrm>
            <a:off x="155179" y="1080542"/>
            <a:ext cx="583549" cy="47625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80903" name="Rectangle 7"/>
          <p:cNvSpPr>
            <a:spLocks noChangeArrowheads="1"/>
          </p:cNvSpPr>
          <p:nvPr/>
        </p:nvSpPr>
        <p:spPr bwMode="gray">
          <a:xfrm>
            <a:off x="389315" y="648296"/>
            <a:ext cx="42333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/>
          </a:p>
        </p:txBody>
      </p:sp>
      <p:sp>
        <p:nvSpPr>
          <p:cNvPr id="80904" name="Rectangle 8"/>
          <p:cNvSpPr>
            <a:spLocks noChangeArrowheads="1"/>
          </p:cNvSpPr>
          <p:nvPr/>
        </p:nvSpPr>
        <p:spPr bwMode="gray">
          <a:xfrm>
            <a:off x="2" y="1268761"/>
            <a:ext cx="11760629" cy="45719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/>
          </a:p>
        </p:txBody>
      </p:sp>
      <p:sp>
        <p:nvSpPr>
          <p:cNvPr id="80905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575735" y="116633"/>
            <a:ext cx="11184896" cy="982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IN" dirty="0"/>
              <a:t>Click to edit Master title style</a:t>
            </a:r>
          </a:p>
        </p:txBody>
      </p:sp>
      <p:sp>
        <p:nvSpPr>
          <p:cNvPr id="80906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575733" y="1484784"/>
            <a:ext cx="11184896" cy="48245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IN" dirty="0"/>
              <a:t>Click to edit Master text styles</a:t>
            </a:r>
          </a:p>
          <a:p>
            <a:pPr lvl="1"/>
            <a:r>
              <a:rPr lang="en-IN" dirty="0"/>
              <a:t>Second level</a:t>
            </a:r>
          </a:p>
          <a:p>
            <a:pPr lvl="2"/>
            <a:r>
              <a:rPr lang="en-IN" dirty="0"/>
              <a:t>Third level</a:t>
            </a:r>
          </a:p>
          <a:p>
            <a:pPr lvl="3"/>
            <a:r>
              <a:rPr lang="en-IN" dirty="0"/>
              <a:t>Fourth level</a:t>
            </a:r>
          </a:p>
          <a:p>
            <a:pPr lvl="4"/>
            <a:r>
              <a:rPr lang="en-IN" dirty="0"/>
              <a:t>Fifth level</a:t>
            </a:r>
          </a:p>
        </p:txBody>
      </p:sp>
      <p:sp>
        <p:nvSpPr>
          <p:cNvPr id="80907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8667" y="6644704"/>
            <a:ext cx="2040896" cy="2406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fld id="{4EA43E24-B595-4AE6-9DE7-09CD83FEDF8C}" type="datetime1">
              <a:rPr lang="en-US" smtClean="0"/>
              <a:t>1/18/2026</a:t>
            </a:fld>
            <a:endParaRPr lang="en-IN" dirty="0"/>
          </a:p>
        </p:txBody>
      </p:sp>
      <p:sp>
        <p:nvSpPr>
          <p:cNvPr id="80908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351584" y="6669360"/>
            <a:ext cx="7488832" cy="2160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IN"/>
              <a:t>Sujit Kumar Das, Pandit Deendayal Energy University</a:t>
            </a:r>
            <a:endParaRPr lang="en-IN" dirty="0"/>
          </a:p>
        </p:txBody>
      </p:sp>
      <p:sp>
        <p:nvSpPr>
          <p:cNvPr id="80909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032437" y="6669360"/>
            <a:ext cx="1963936" cy="2160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1">
                <a:latin typeface="+mn-lt"/>
              </a:defRPr>
            </a:lvl1pPr>
          </a:lstStyle>
          <a:p>
            <a:fld id="{85EF346C-83F2-40B7-8ECA-B556A839B9F7}" type="slidenum">
              <a:rPr lang="en-IN" smtClean="0"/>
              <a:pPr/>
              <a:t>‹#›</a:t>
            </a:fld>
            <a:endParaRPr lang="en-I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</p:sldLayoutIdLst>
  <p:hf hdr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000">
          <a:solidFill>
            <a:srgbClr val="660033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1" fontAlgn="base" hangingPunct="1">
        <a:lnSpc>
          <a:spcPts val="3400"/>
        </a:lnSpc>
        <a:spcBef>
          <a:spcPct val="20000"/>
        </a:spcBef>
        <a:spcAft>
          <a:spcPct val="0"/>
        </a:spcAft>
        <a:buClr>
          <a:srgbClr val="660033"/>
        </a:buClr>
        <a:buSzPct val="60000"/>
        <a:buFont typeface="Wingdings" pitchFamily="2" charset="2"/>
        <a:buChar char="q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971550" indent="-514350" algn="l" rtl="0" eaLnBrk="1" fontAlgn="base" hangingPunct="1">
        <a:lnSpc>
          <a:spcPts val="3400"/>
        </a:lnSpc>
        <a:spcBef>
          <a:spcPct val="20000"/>
        </a:spcBef>
        <a:spcAft>
          <a:spcPct val="0"/>
        </a:spcAft>
        <a:buClr>
          <a:srgbClr val="660033"/>
        </a:buClr>
        <a:buSzPct val="62000"/>
        <a:buFont typeface="Wingdings" pitchFamily="2" charset="2"/>
        <a:buChar char="Ø"/>
        <a:defRPr sz="26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lnSpc>
          <a:spcPts val="2880"/>
        </a:lnSpc>
        <a:spcBef>
          <a:spcPct val="20000"/>
        </a:spcBef>
        <a:spcAft>
          <a:spcPct val="0"/>
        </a:spcAft>
        <a:buClr>
          <a:srgbClr val="8A0000"/>
        </a:buClr>
        <a:buSzPct val="50000"/>
        <a:buFont typeface="Wingdings" pitchFamily="2" charset="2"/>
        <a:buChar char="v"/>
        <a:defRPr sz="23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lnSpc>
          <a:spcPts val="2400"/>
        </a:lnSpc>
        <a:spcBef>
          <a:spcPct val="20000"/>
        </a:spcBef>
        <a:spcAft>
          <a:spcPct val="0"/>
        </a:spcAft>
        <a:buClr>
          <a:srgbClr val="8A0000"/>
        </a:buClr>
        <a:buSzPct val="5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lnSpc>
          <a:spcPts val="2400"/>
        </a:lnSpc>
        <a:spcBef>
          <a:spcPct val="20000"/>
        </a:spcBef>
        <a:spcAft>
          <a:spcPct val="0"/>
        </a:spcAft>
        <a:buClr>
          <a:srgbClr val="8A0000"/>
        </a:buClr>
        <a:buSzPct val="50000"/>
        <a:buFont typeface="Courier New" pitchFamily="49" charset="0"/>
        <a:buChar char="o"/>
        <a:defRPr sz="18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03964" y="1440938"/>
            <a:ext cx="10363200" cy="1255551"/>
          </a:xfrm>
        </p:spPr>
        <p:txBody>
          <a:bodyPr/>
          <a:lstStyle/>
          <a:p>
            <a:pPr algn="ctr"/>
            <a:r>
              <a:rPr lang="en-IN" dirty="0"/>
              <a:t>Theory of Computation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95600" y="3113361"/>
            <a:ext cx="6728792" cy="3228576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IN" sz="2200" b="1" dirty="0" err="1"/>
              <a:t>Dr.</a:t>
            </a:r>
            <a:r>
              <a:rPr lang="en-IN" sz="2200" b="1" dirty="0"/>
              <a:t> Sujit Kumar Das</a:t>
            </a:r>
            <a:br>
              <a:rPr lang="en-IN" sz="2200" b="1" dirty="0"/>
            </a:br>
            <a:endParaRPr lang="en-IN" sz="2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N" dirty="0"/>
              <a:t>PDEU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B0B4942D-1B42-41EB-82AE-AA6C668D7991}" type="datetime1">
              <a:rPr lang="en-US" smtClean="0"/>
              <a:t>1/18/2026</a:t>
            </a:fld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5EF346C-83F2-40B7-8ECA-B556A839B9F7}" type="slidenum">
              <a:rPr lang="en-IN" smtClean="0">
                <a:solidFill>
                  <a:schemeClr val="bg1"/>
                </a:solidFill>
              </a:rPr>
              <a:pPr/>
              <a:t>1</a:t>
            </a:fld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83386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BFABB-A7B0-46D2-3FE4-CEEDB2483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Finite Automata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E2CBCF-DCF5-A4A6-DF97-EF652DF851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Components of an Automaton</a:t>
            </a:r>
          </a:p>
          <a:p>
            <a:pPr lvl="1"/>
            <a:r>
              <a:rPr lang="en-US" dirty="0"/>
              <a:t>Every automaton has:</a:t>
            </a:r>
          </a:p>
          <a:p>
            <a:pPr lvl="1"/>
            <a:r>
              <a:rPr lang="en-US" b="1" dirty="0"/>
              <a:t>Input alphabet (Σ)</a:t>
            </a:r>
            <a:r>
              <a:rPr lang="en-US" dirty="0"/>
              <a:t> – symbols allowed</a:t>
            </a:r>
          </a:p>
          <a:p>
            <a:pPr lvl="1"/>
            <a:r>
              <a:rPr lang="en-US" b="1" dirty="0"/>
              <a:t>States (Q)</a:t>
            </a:r>
            <a:r>
              <a:rPr lang="en-US" dirty="0"/>
              <a:t> – machine’s memory</a:t>
            </a:r>
          </a:p>
          <a:p>
            <a:pPr lvl="1"/>
            <a:r>
              <a:rPr lang="en-US" b="1" dirty="0"/>
              <a:t>Transition function (δ)</a:t>
            </a:r>
            <a:r>
              <a:rPr lang="en-US" dirty="0"/>
              <a:t> – rules to move between states</a:t>
            </a:r>
          </a:p>
          <a:p>
            <a:pPr lvl="1"/>
            <a:r>
              <a:rPr lang="en-US" b="1" dirty="0"/>
              <a:t>Initial state (q₀)</a:t>
            </a:r>
            <a:r>
              <a:rPr lang="en-US" dirty="0"/>
              <a:t> – starting point</a:t>
            </a:r>
          </a:p>
          <a:p>
            <a:pPr lvl="1"/>
            <a:r>
              <a:rPr lang="en-US" b="1" dirty="0"/>
              <a:t>Final/accepting states (F)</a:t>
            </a:r>
            <a:r>
              <a:rPr lang="en-US" dirty="0"/>
              <a:t> – successful termination</a:t>
            </a:r>
          </a:p>
          <a:p>
            <a:pPr lvl="1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59B815-3EDF-4C93-D2B9-0D705B082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FDB2A-29F8-4B15-AF86-FA23907D6058}" type="datetime1">
              <a:rPr lang="en-US" smtClean="0"/>
              <a:t>1/18/2026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AEA298-B227-60FB-810E-832DE843B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Sujit Kumar Das, Pandit Deendayal Energy University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326289-724E-052C-5EB0-E80790EF3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7AF29-B1D1-4F28-8D89-89FA7809DA46}" type="slidenum">
              <a:rPr lang="en-IN" smtClean="0"/>
              <a:pPr/>
              <a:t>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692500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C5972-F019-B9B6-0025-77F7637A2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an Automaton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5A82D2-F60C-36C7-334F-9EB66BBECF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Start at the </a:t>
            </a:r>
            <a:r>
              <a:rPr lang="en-US" b="1" dirty="0"/>
              <a:t>initial state</a:t>
            </a:r>
          </a:p>
          <a:p>
            <a:r>
              <a:rPr lang="en-US" dirty="0"/>
              <a:t>Read the input </a:t>
            </a:r>
            <a:r>
              <a:rPr lang="en-US" b="1" dirty="0"/>
              <a:t>left to right</a:t>
            </a:r>
          </a:p>
          <a:p>
            <a:r>
              <a:rPr lang="en-US" dirty="0"/>
              <a:t>For each symbol, follow the </a:t>
            </a:r>
            <a:r>
              <a:rPr lang="en-US" b="1" dirty="0"/>
              <a:t>transition rule</a:t>
            </a:r>
          </a:p>
          <a:p>
            <a:r>
              <a:rPr lang="en-US" dirty="0"/>
              <a:t>After the entire input is read:</a:t>
            </a:r>
          </a:p>
          <a:p>
            <a:pPr lvl="1"/>
            <a:r>
              <a:rPr lang="en-US" dirty="0"/>
              <a:t>If in an accepting state → </a:t>
            </a:r>
            <a:r>
              <a:rPr lang="en-US" b="1" dirty="0"/>
              <a:t>accept</a:t>
            </a:r>
          </a:p>
          <a:p>
            <a:pPr lvl="1"/>
            <a:r>
              <a:rPr lang="en-US" dirty="0"/>
              <a:t>Otherwise → </a:t>
            </a:r>
            <a:r>
              <a:rPr lang="en-US" b="1" dirty="0"/>
              <a:t>reject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37785A-183C-EBA5-5162-583788EBA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FDB2A-29F8-4B15-AF86-FA23907D6058}" type="datetime1">
              <a:rPr lang="en-US" smtClean="0"/>
              <a:t>1/18/2026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6B04C6-AB28-72E6-6713-8A3B07C4B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Sujit Kumar Das, Pandit Deendayal Energy University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EB2B8B-EF75-589E-2555-1BF95B788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7AF29-B1D1-4F28-8D89-89FA7809DA46}" type="slidenum">
              <a:rPr lang="en-IN" smtClean="0"/>
              <a:pPr/>
              <a:t>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419996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B4A1B-1275-D276-A53E-5A1417A15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Finite Automaton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A24B12-A7E1-133D-83B1-82E2316E45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Definition:</a:t>
            </a:r>
          </a:p>
          <a:p>
            <a:pPr lvl="1"/>
            <a:r>
              <a:rPr lang="en-US" dirty="0"/>
              <a:t>A </a:t>
            </a:r>
            <a:r>
              <a:rPr lang="en-US" b="1" dirty="0"/>
              <a:t>Finite Automaton</a:t>
            </a:r>
            <a:r>
              <a:rPr lang="en-US" dirty="0"/>
              <a:t> is an automaton with </a:t>
            </a:r>
            <a:r>
              <a:rPr lang="en-US" b="1" dirty="0"/>
              <a:t>finite memory</a:t>
            </a:r>
            <a:r>
              <a:rPr lang="en-US" dirty="0"/>
              <a:t>, represented only by states.</a:t>
            </a:r>
          </a:p>
          <a:p>
            <a:r>
              <a:rPr lang="en-US" dirty="0"/>
              <a:t>Two types finite automata</a:t>
            </a:r>
          </a:p>
          <a:p>
            <a:pPr lvl="1"/>
            <a:r>
              <a:rPr lang="en-US" b="1" dirty="0"/>
              <a:t>DFA</a:t>
            </a:r>
            <a:r>
              <a:rPr lang="en-US" dirty="0"/>
              <a:t> (Deterministic Finite Automata)</a:t>
            </a:r>
          </a:p>
          <a:p>
            <a:pPr lvl="1"/>
            <a:r>
              <a:rPr lang="en-US" b="1" dirty="0"/>
              <a:t>NFA</a:t>
            </a:r>
            <a:r>
              <a:rPr lang="en-US" dirty="0"/>
              <a:t> (Non-deterministic Finite Automata)</a:t>
            </a:r>
          </a:p>
          <a:p>
            <a:pPr lvl="1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10C9D6-D0E2-774F-DF27-A01B29026B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FDB2A-29F8-4B15-AF86-FA23907D6058}" type="datetime1">
              <a:rPr lang="en-US" smtClean="0"/>
              <a:t>1/18/2026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1B95AB-4D76-C697-8E1C-D961E5394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Sujit Kumar Das, Pandit Deendayal Energy University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66700-1089-CFDD-C0EE-056F2E11D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7AF29-B1D1-4F28-8D89-89FA7809DA46}" type="slidenum">
              <a:rPr lang="en-IN" smtClean="0"/>
              <a:pPr/>
              <a:t>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67545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E1A85-B401-24B1-C361-4CCA2B936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to Explain Automata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B92912-9612-22C9-D9EB-F8E0F46786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Language:</a:t>
            </a:r>
            <a:r>
              <a:rPr lang="en-US" dirty="0"/>
              <a:t> All binary strings ending with 1</a:t>
            </a:r>
          </a:p>
          <a:p>
            <a:r>
              <a:rPr lang="el-GR" dirty="0"/>
              <a:t>Σ = {0,1}</a:t>
            </a:r>
            <a:endParaRPr lang="en-US" dirty="0"/>
          </a:p>
          <a:p>
            <a:r>
              <a:rPr lang="en-US" dirty="0"/>
              <a:t>States:</a:t>
            </a:r>
          </a:p>
          <a:p>
            <a:pPr lvl="1"/>
            <a:r>
              <a:rPr lang="en-US" dirty="0"/>
              <a:t>q₀: last symbol was 0 or start</a:t>
            </a:r>
          </a:p>
          <a:p>
            <a:pPr lvl="1"/>
            <a:r>
              <a:rPr lang="en-US" dirty="0"/>
              <a:t>q₁: last symbol was 1 (accepting)</a:t>
            </a:r>
          </a:p>
          <a:p>
            <a:r>
              <a:rPr lang="en-US" dirty="0"/>
              <a:t>Transitions:</a:t>
            </a:r>
          </a:p>
          <a:p>
            <a:pPr lvl="1"/>
            <a:r>
              <a:rPr lang="en-US" dirty="0"/>
              <a:t>q₀ —1→ q₁</a:t>
            </a:r>
          </a:p>
          <a:p>
            <a:pPr lvl="1"/>
            <a:r>
              <a:rPr lang="en-US" dirty="0"/>
              <a:t>q₁ —0→ q₀</a:t>
            </a:r>
          </a:p>
          <a:p>
            <a:pPr lvl="1"/>
            <a:r>
              <a:rPr lang="en-US" dirty="0"/>
              <a:t>q₁ —1→ q₁</a:t>
            </a:r>
          </a:p>
          <a:p>
            <a:pPr lvl="1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66F17A-408D-1131-793E-3261EC0FA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FDB2A-29F8-4B15-AF86-FA23907D6058}" type="datetime1">
              <a:rPr lang="en-US" smtClean="0"/>
              <a:t>1/18/2026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CAEDC6-B0FB-72B8-E45E-94EF218E1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Sujit Kumar Das, Pandit Deendayal Energy University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50535D-6106-3F16-12FD-92A7E084D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7AF29-B1D1-4F28-8D89-89FA7809DA46}" type="slidenum">
              <a:rPr lang="en-IN" smtClean="0"/>
              <a:pPr/>
              <a:t>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425619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52F07-810A-F88A-8E83-96AD75856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points to remember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670BD7-8081-3E13-E437-6ECCB1AC4C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Automata </a:t>
            </a:r>
            <a:r>
              <a:rPr lang="en-US" b="1" dirty="0"/>
              <a:t>recognize languages</a:t>
            </a:r>
            <a:r>
              <a:rPr lang="en-US" dirty="0"/>
              <a:t>, not solve problems</a:t>
            </a:r>
          </a:p>
          <a:p>
            <a:r>
              <a:rPr lang="en-US" dirty="0"/>
              <a:t>They do </a:t>
            </a:r>
            <a:r>
              <a:rPr lang="en-US" b="1" dirty="0"/>
              <a:t>not store input</a:t>
            </a:r>
          </a:p>
          <a:p>
            <a:r>
              <a:rPr lang="en-US" dirty="0"/>
              <a:t>Memory is represented by </a:t>
            </a:r>
            <a:r>
              <a:rPr lang="en-US" b="1" dirty="0"/>
              <a:t>states</a:t>
            </a:r>
          </a:p>
          <a:p>
            <a:r>
              <a:rPr lang="en-US" dirty="0"/>
              <a:t>Acceptance depends on </a:t>
            </a:r>
            <a:r>
              <a:rPr lang="en-US" b="1" dirty="0"/>
              <a:t>final state</a:t>
            </a:r>
            <a:r>
              <a:rPr lang="en-US" dirty="0"/>
              <a:t>, not the path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8A9603-A623-3059-FC34-1C5DA2537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FDB2A-29F8-4B15-AF86-FA23907D6058}" type="datetime1">
              <a:rPr lang="en-US" smtClean="0"/>
              <a:t>1/18/2026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70A085-41D1-1E4B-53EB-B9ECB9392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Sujit Kumar Das, Pandit Deendayal Energy University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38F18F-1300-AA29-DAB8-2930953FC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7AF29-B1D1-4F28-8D89-89FA7809DA46}" type="slidenum">
              <a:rPr lang="en-IN" smtClean="0"/>
              <a:pPr/>
              <a:t>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24048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DE57A-0C23-09B6-12D4-BC4C19262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Transition Function (</a:t>
            </a:r>
            <a:r>
              <a:rPr lang="el-GR" dirty="0"/>
              <a:t>δ)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C82E6D-A7DE-D7BF-95D4-3AD9FAD515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a Transition Function?</a:t>
            </a:r>
          </a:p>
          <a:p>
            <a:pPr lvl="1"/>
            <a:r>
              <a:rPr lang="en-US" dirty="0"/>
              <a:t>A </a:t>
            </a:r>
            <a:r>
              <a:rPr lang="en-US" b="1" dirty="0"/>
              <a:t>transition function</a:t>
            </a:r>
            <a:r>
              <a:rPr lang="en-US" dirty="0"/>
              <a:t> defines </a:t>
            </a:r>
            <a:r>
              <a:rPr lang="en-US" b="1" dirty="0"/>
              <a:t>how an automaton moves from one state to another</a:t>
            </a:r>
            <a:r>
              <a:rPr lang="en-US" dirty="0"/>
              <a:t> when it reads an input symbol.</a:t>
            </a:r>
          </a:p>
          <a:p>
            <a:pPr lvl="1"/>
            <a:r>
              <a:rPr lang="en-US" dirty="0"/>
              <a:t>It is the </a:t>
            </a:r>
            <a:r>
              <a:rPr lang="en-US" b="1" dirty="0"/>
              <a:t>heart</a:t>
            </a:r>
            <a:r>
              <a:rPr lang="en-US" dirty="0"/>
              <a:t> of any automaton (DFA, NFA, PDA, TM).</a:t>
            </a:r>
          </a:p>
          <a:p>
            <a:r>
              <a:rPr lang="en-US" dirty="0"/>
              <a:t>Transition Function in DFA</a:t>
            </a:r>
          </a:p>
          <a:p>
            <a:pPr lvl="1"/>
            <a:r>
              <a:rPr lang="el-GR" dirty="0"/>
              <a:t>δ : </a:t>
            </a:r>
            <a:r>
              <a:rPr lang="en-US" dirty="0"/>
              <a:t>Q × </a:t>
            </a:r>
            <a:r>
              <a:rPr lang="el-GR" dirty="0"/>
              <a:t>Σ → </a:t>
            </a:r>
            <a:r>
              <a:rPr lang="en-US" dirty="0"/>
              <a:t>Q</a:t>
            </a:r>
          </a:p>
          <a:p>
            <a:pPr lvl="1"/>
            <a:r>
              <a:rPr lang="en-US" dirty="0"/>
              <a:t>Meaning:</a:t>
            </a:r>
          </a:p>
          <a:p>
            <a:pPr lvl="2"/>
            <a:r>
              <a:rPr lang="en-US" dirty="0"/>
              <a:t>Input to δ = (current state, input symbol)</a:t>
            </a:r>
          </a:p>
          <a:p>
            <a:pPr lvl="2"/>
            <a:r>
              <a:rPr lang="en-US" dirty="0"/>
              <a:t>Output of δ = next state</a:t>
            </a:r>
          </a:p>
          <a:p>
            <a:pPr lvl="1"/>
            <a:r>
              <a:rPr lang="en-US" dirty="0"/>
              <a:t>Example: </a:t>
            </a:r>
            <a:r>
              <a:rPr lang="el-GR" dirty="0"/>
              <a:t>δ(</a:t>
            </a:r>
            <a:r>
              <a:rPr lang="en-US" dirty="0"/>
              <a:t>q0, 1) = q1; If you are in q0 and read 1, move to q1.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A27571-F451-261A-A562-58D070150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FDB2A-29F8-4B15-AF86-FA23907D6058}" type="datetime1">
              <a:rPr lang="en-US" smtClean="0"/>
              <a:t>1/18/2026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BA8D36-7B7B-429E-7FEF-797264BE1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Sujit Kumar Das, Pandit Deendayal Energy University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F97BAE-3A13-7438-4AB4-F5755D2F1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7AF29-B1D1-4F28-8D89-89FA7809DA46}" type="slidenum">
              <a:rPr lang="en-IN" smtClean="0"/>
              <a:pPr/>
              <a:t>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059253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A93F1-7439-14DE-AB7F-B1A355CA5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DFA Transition Table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D209DE1D-DAED-307F-8588-BDC0F1AF2DF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94175267"/>
              </p:ext>
            </p:extLst>
          </p:nvPr>
        </p:nvGraphicFramePr>
        <p:xfrm>
          <a:off x="1271464" y="2060848"/>
          <a:ext cx="11183937" cy="1371600"/>
        </p:xfrm>
        <a:graphic>
          <a:graphicData uri="http://schemas.openxmlformats.org/drawingml/2006/table">
            <a:tbl>
              <a:tblPr/>
              <a:tblGrid>
                <a:gridCol w="3727979">
                  <a:extLst>
                    <a:ext uri="{9D8B030D-6E8A-4147-A177-3AD203B41FA5}">
                      <a16:colId xmlns:a16="http://schemas.microsoft.com/office/drawing/2014/main" val="793368996"/>
                    </a:ext>
                  </a:extLst>
                </a:gridCol>
                <a:gridCol w="3727979">
                  <a:extLst>
                    <a:ext uri="{9D8B030D-6E8A-4147-A177-3AD203B41FA5}">
                      <a16:colId xmlns:a16="http://schemas.microsoft.com/office/drawing/2014/main" val="2893293467"/>
                    </a:ext>
                  </a:extLst>
                </a:gridCol>
                <a:gridCol w="3727979">
                  <a:extLst>
                    <a:ext uri="{9D8B030D-6E8A-4147-A177-3AD203B41FA5}">
                      <a16:colId xmlns:a16="http://schemas.microsoft.com/office/drawing/2014/main" val="141797462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/>
                        <a:t>δ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12376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q0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q0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q1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02879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q1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q0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q1</a:t>
                      </a:r>
                    </a:p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4070395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2C028C-4147-8DBB-76E8-A72F893C4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FDB2A-29F8-4B15-AF86-FA23907D6058}" type="datetime1">
              <a:rPr lang="en-US" smtClean="0"/>
              <a:t>1/18/2026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ABEE4B-FAB1-D863-04EE-0E588AF34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Sujit Kumar Das, Pandit Deendayal Energy University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52AA04-1320-C313-EB33-B512A2BDD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7AF29-B1D1-4F28-8D89-89FA7809DA46}" type="slidenum">
              <a:rPr lang="en-IN" smtClean="0"/>
              <a:pPr/>
              <a:t>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223334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660B7-7B04-81F8-0AA1-DCA38F589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Grammar (English)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AB5AA7-97F1-F135-2187-BF5EDE9BB2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Grammar is a set rules that defines correctness (well  formedness)</a:t>
            </a:r>
          </a:p>
          <a:p>
            <a:r>
              <a:rPr lang="en-US" dirty="0"/>
              <a:t>Typical rules to form a sentence in English is</a:t>
            </a:r>
          </a:p>
          <a:p>
            <a:r>
              <a:rPr lang="en-US" dirty="0"/>
              <a:t>&lt;sentence&gt; </a:t>
            </a:r>
            <a:r>
              <a:rPr lang="en-US" dirty="0">
                <a:sym typeface="Wingdings" panose="05000000000000000000" pitchFamily="2" charset="2"/>
              </a:rPr>
              <a:t> &lt;</a:t>
            </a:r>
            <a:r>
              <a:rPr lang="en-US" dirty="0" err="1">
                <a:sym typeface="Wingdings" panose="05000000000000000000" pitchFamily="2" charset="2"/>
              </a:rPr>
              <a:t>noune</a:t>
            </a:r>
            <a:r>
              <a:rPr lang="en-US" dirty="0">
                <a:sym typeface="Wingdings" panose="05000000000000000000" pitchFamily="2" charset="2"/>
              </a:rPr>
              <a:t> phrase&gt; &lt;predicate&gt;</a:t>
            </a:r>
          </a:p>
          <a:p>
            <a:r>
              <a:rPr lang="en-US" dirty="0">
                <a:sym typeface="Wingdings" panose="05000000000000000000" pitchFamily="2" charset="2"/>
              </a:rPr>
              <a:t>&lt;</a:t>
            </a:r>
            <a:r>
              <a:rPr lang="en-US" dirty="0" err="1">
                <a:sym typeface="Wingdings" panose="05000000000000000000" pitchFamily="2" charset="2"/>
              </a:rPr>
              <a:t>nounphrase</a:t>
            </a:r>
            <a:r>
              <a:rPr lang="en-US" dirty="0">
                <a:sym typeface="Wingdings" panose="05000000000000000000" pitchFamily="2" charset="2"/>
              </a:rPr>
              <a:t>&gt;&lt;article&gt;&lt;noun&gt;</a:t>
            </a:r>
          </a:p>
          <a:p>
            <a:r>
              <a:rPr lang="en-US" dirty="0">
                <a:sym typeface="Wingdings" panose="05000000000000000000" pitchFamily="2" charset="2"/>
              </a:rPr>
              <a:t>&lt;predicate&gt;&lt;verb&gt;</a:t>
            </a:r>
          </a:p>
          <a:p>
            <a:r>
              <a:rPr lang="en-US" dirty="0">
                <a:sym typeface="Wingdings" panose="05000000000000000000" pitchFamily="2" charset="2"/>
              </a:rPr>
              <a:t>&lt;article&gt; a, an, the</a:t>
            </a:r>
          </a:p>
          <a:p>
            <a:r>
              <a:rPr lang="en-US" dirty="0">
                <a:sym typeface="Wingdings" panose="05000000000000000000" pitchFamily="2" charset="2"/>
              </a:rPr>
              <a:t>&lt;noun&gt; boy, dog, any name</a:t>
            </a:r>
          </a:p>
          <a:p>
            <a:r>
              <a:rPr lang="en-US" dirty="0">
                <a:sym typeface="Wingdings" panose="05000000000000000000" pitchFamily="2" charset="2"/>
              </a:rPr>
              <a:t>&lt;verb&gt; eat, run, sleep </a:t>
            </a:r>
            <a:r>
              <a:rPr lang="en-US" dirty="0" err="1">
                <a:sym typeface="Wingdings" panose="05000000000000000000" pitchFamily="2" charset="2"/>
              </a:rPr>
              <a:t>etc</a:t>
            </a:r>
            <a:endParaRPr lang="en-US" dirty="0">
              <a:sym typeface="Wingdings" panose="05000000000000000000" pitchFamily="2" charset="2"/>
            </a:endParaRP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C1A15A-2A58-09DA-C149-EE0728351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FDB2A-29F8-4B15-AF86-FA23907D6058}" type="datetime1">
              <a:rPr lang="en-US" smtClean="0"/>
              <a:t>1/18/2026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23D686-D219-D9EA-8039-B85321928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Sujit Kumar Das, Pandit Deendayal Energy University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CE1E93-60E6-92FB-94E3-B2F6E6384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7AF29-B1D1-4F28-8D89-89FA7809DA46}" type="slidenum">
              <a:rPr lang="en-IN" smtClean="0"/>
              <a:pPr/>
              <a:t>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37217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B0647-9B3C-9B51-7B3A-5D2F27948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Grammar (TOC)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E8204E-04E8-4F7F-8D71-25C2CA07E7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TOC it is a set of rules to defined language</a:t>
            </a:r>
          </a:p>
          <a:p>
            <a:r>
              <a:rPr lang="en-US" dirty="0"/>
              <a:t>It is defined as quadruple G=(V, T, S,P)</a:t>
            </a:r>
          </a:p>
          <a:p>
            <a:r>
              <a:rPr lang="en-US" dirty="0"/>
              <a:t>V is finite set of objects called variables</a:t>
            </a:r>
          </a:p>
          <a:p>
            <a:r>
              <a:rPr lang="en-US" dirty="0"/>
              <a:t>T is a finite set of objects called terminals</a:t>
            </a:r>
          </a:p>
          <a:p>
            <a:r>
              <a:rPr lang="en-US" dirty="0"/>
              <a:t>S is part of V. It is a special symbol called start variable</a:t>
            </a:r>
          </a:p>
          <a:p>
            <a:r>
              <a:rPr lang="en-US" dirty="0"/>
              <a:t>P is a finite set of production</a:t>
            </a:r>
          </a:p>
          <a:p>
            <a:r>
              <a:rPr lang="en-US" dirty="0"/>
              <a:t>Set V and T are disjoint and nonempty</a:t>
            </a:r>
          </a:p>
          <a:p>
            <a:r>
              <a:rPr lang="en-US" dirty="0"/>
              <a:t>Production rule is the heart of the grammar, specify how a string is converted to another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7AFA31-67FA-A6C7-35F8-DD560C9E6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FDB2A-29F8-4B15-AF86-FA23907D6058}" type="datetime1">
              <a:rPr lang="en-US" smtClean="0"/>
              <a:t>1/18/2026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C18287-6976-D6C7-19C3-81E092F18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Sujit Kumar Das, Pandit Deendayal Energy University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0B146A-2AB9-3F52-711E-E3CD2ABFB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7AF29-B1D1-4F28-8D89-89FA7809DA46}" type="slidenum">
              <a:rPr lang="en-IN" smtClean="0"/>
              <a:pPr/>
              <a:t>10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563363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C5E97-E09A-323B-4941-0D0D702A5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C17A05-744F-2263-70D2-F8E4295A3B6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 production rule are in form </a:t>
                </a:r>
                <a:r>
                  <a:rPr lang="en-US" dirty="0" err="1"/>
                  <a:t>x</a:t>
                </a:r>
                <a:r>
                  <a:rPr lang="en-US" dirty="0" err="1">
                    <a:sym typeface="Wingdings" panose="05000000000000000000" pitchFamily="2" charset="2"/>
                  </a:rPr>
                  <a:t>y</a:t>
                </a:r>
                <a:endParaRPr lang="en-US" dirty="0">
                  <a:sym typeface="Wingdings" panose="05000000000000000000" pitchFamily="2" charset="2"/>
                </a:endParaRPr>
              </a:p>
              <a:p>
                <a:r>
                  <a:rPr lang="en-US" dirty="0">
                    <a:sym typeface="Wingdings" panose="05000000000000000000" pitchFamily="2" charset="2"/>
                  </a:rPr>
                  <a:t>Where x is the element of (V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∪</m:t>
                    </m:r>
                  </m:oMath>
                </a14:m>
                <a:r>
                  <a:rPr lang="en-US" dirty="0"/>
                  <a:t> T)+ y is in </a:t>
                </a:r>
                <a:r>
                  <a:rPr lang="en-US" dirty="0">
                    <a:sym typeface="Wingdings" panose="05000000000000000000" pitchFamily="2" charset="2"/>
                  </a:rPr>
                  <a:t>(V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∪</m:t>
                    </m:r>
                  </m:oMath>
                </a14:m>
                <a:r>
                  <a:rPr lang="en-US" dirty="0"/>
                  <a:t> T)*</a:t>
                </a:r>
              </a:p>
              <a:p>
                <a:r>
                  <a:rPr lang="en-US" dirty="0"/>
                  <a:t>The production are applied in the following manner</a:t>
                </a:r>
              </a:p>
              <a:p>
                <a:pPr lvl="1"/>
                <a:r>
                  <a:rPr lang="en-US" dirty="0"/>
                  <a:t>Given a string w of the form</a:t>
                </a:r>
              </a:p>
              <a:p>
                <a:pPr lvl="1"/>
                <a:r>
                  <a:rPr lang="en-US" dirty="0" err="1"/>
                  <a:t>W</a:t>
                </a:r>
                <a:r>
                  <a:rPr lang="en-US" dirty="0" err="1">
                    <a:sym typeface="Wingdings" panose="05000000000000000000" pitchFamily="2" charset="2"/>
                  </a:rPr>
                  <a:t>uxv</a:t>
                </a:r>
                <a:endParaRPr lang="en-US" dirty="0">
                  <a:sym typeface="Wingdings" panose="05000000000000000000" pitchFamily="2" charset="2"/>
                </a:endParaRPr>
              </a:p>
              <a:p>
                <a:pPr lvl="1"/>
                <a:r>
                  <a:rPr lang="en-US" dirty="0">
                    <a:sym typeface="Wingdings" panose="05000000000000000000" pitchFamily="2" charset="2"/>
                  </a:rPr>
                  <a:t>We can the first production rule here and we get the result z=</a:t>
                </a:r>
                <a:r>
                  <a:rPr lang="en-US" dirty="0" err="1">
                    <a:sym typeface="Wingdings" panose="05000000000000000000" pitchFamily="2" charset="2"/>
                  </a:rPr>
                  <a:t>uyz</a:t>
                </a:r>
                <a:r>
                  <a:rPr lang="en-US" dirty="0">
                    <a:sym typeface="Wingdings" panose="05000000000000000000" pitchFamily="2" charset="2"/>
                  </a:rPr>
                  <a:t>. Here x is replaced by y.</a:t>
                </a:r>
              </a:p>
              <a:p>
                <a:pPr lvl="1"/>
                <a:r>
                  <a:rPr lang="en-US" dirty="0">
                    <a:sym typeface="Wingdings" panose="05000000000000000000" pitchFamily="2" charset="2"/>
                  </a:rPr>
                  <a:t>This can be written as w =&gt; z. That means z is derived from w.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C17A05-744F-2263-70D2-F8E4295A3B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26" t="-22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FEBDC3-6193-D1DC-5E94-2300E606A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FDB2A-29F8-4B15-AF86-FA23907D6058}" type="datetime1">
              <a:rPr lang="en-US" smtClean="0"/>
              <a:t>1/18/2026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31F6C5-47DC-BA38-8AB9-6D8F24643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Sujit Kumar Das, Pandit Deendayal Energy University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43E81-3C5E-9C1F-582C-ECF8ADFA9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7AF29-B1D1-4F28-8D89-89FA7809DA46}" type="slidenum">
              <a:rPr lang="en-IN" smtClean="0"/>
              <a:pPr/>
              <a:t>11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185571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E9FF5-8E2D-46F6-1E52-FD088BBBF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B03E27-1700-F0F6-E288-60B40F1466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Let G=(V, T, S,P) be a grammar . Then the set L</a:t>
                </a:r>
              </a:p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)={</m:t>
                    </m:r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w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l-GR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ϵ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: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⇒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}</m:t>
                    </m:r>
                  </m:oMath>
                </a14:m>
                <a:r>
                  <a:rPr lang="en-US" dirty="0"/>
                  <a:t> is the language generated by the G.</a:t>
                </a:r>
              </a:p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then the sequence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⋯⇒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dirty="0"/>
                  <a:t> is a derivation of the sentence w. the string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⋯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which contains as well  as terminals. These forms are called </a:t>
                </a:r>
                <a:r>
                  <a:rPr lang="en-US" b="1" dirty="0"/>
                  <a:t>sentential forms </a:t>
                </a:r>
                <a:r>
                  <a:rPr lang="en-US" dirty="0"/>
                  <a:t>of the derivation.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B03E27-1700-F0F6-E288-60B40F1466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26" t="-2149" r="-19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26AAFB-C7B9-E5E2-31D8-DDCFF56E4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FDB2A-29F8-4B15-AF86-FA23907D6058}" type="datetime1">
              <a:rPr lang="en-US" smtClean="0"/>
              <a:t>1/18/2026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766A4C-D316-C149-8B7D-3DC72FF39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Sujit Kumar Das, Pandit Deendayal Energy University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6CE3EA-E8A2-B24D-0984-A45AAEE4C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7AF29-B1D1-4F28-8D89-89FA7809DA46}" type="slidenum">
              <a:rPr lang="en-IN" smtClean="0"/>
              <a:pPr/>
              <a:t>12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8400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518CF-5F6A-2FFE-75CB-1CE7F7AE3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A0C1DB5-05C5-AE9A-6B7B-CD18EDB02D9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Suppose G=({S}, {</a:t>
                </a:r>
                <a:r>
                  <a:rPr lang="en-US" dirty="0" err="1"/>
                  <a:t>a,b</a:t>
                </a:r>
                <a:r>
                  <a:rPr lang="en-US" dirty="0"/>
                  <a:t>}, S, P)</a:t>
                </a:r>
              </a:p>
              <a:p>
                <a:r>
                  <a:rPr lang="en-US" dirty="0"/>
                  <a:t>P is given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𝑎𝑆𝑏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endParaRPr lang="en-US" dirty="0"/>
              </a:p>
              <a:p>
                <a:r>
                  <a:rPr lang="en-US" dirty="0"/>
                  <a:t>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𝑎𝑆𝑏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𝑎𝑎𝑆𝑏𝑏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𝑎𝑎𝑏𝑏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So we can write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𝑎𝑎𝑏𝑏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The string </a:t>
                </a:r>
                <a:r>
                  <a:rPr lang="en-US" dirty="0" err="1"/>
                  <a:t>aabb</a:t>
                </a:r>
                <a:r>
                  <a:rPr lang="en-US" dirty="0"/>
                  <a:t> is a sentence in the language generated by G, while </a:t>
                </a:r>
                <a:r>
                  <a:rPr lang="en-US" dirty="0" err="1"/>
                  <a:t>aaSbb</a:t>
                </a:r>
                <a:r>
                  <a:rPr lang="en-US" dirty="0"/>
                  <a:t> is the sentential form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A0C1DB5-05C5-AE9A-6B7B-CD18EDB02D9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26" t="-21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A4E44A-526E-879A-647A-74E3FA283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FDB2A-29F8-4B15-AF86-FA23907D6058}" type="datetime1">
              <a:rPr lang="en-US" smtClean="0"/>
              <a:t>1/18/2026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3F47D7-8EFE-DD2A-5B83-3010C9BCA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Sujit Kumar Das, Pandit Deendayal Energy University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166F3F-73A8-1E96-E606-6F12933F6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7AF29-B1D1-4F28-8D89-89FA7809DA46}" type="slidenum">
              <a:rPr lang="en-IN" smtClean="0"/>
              <a:pPr/>
              <a:t>13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809845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EE6D0-4C16-BD1E-CFD1-8E8D38344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 Grammar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AB69EA-46B6-E0A8-99DF-9982732C5A1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Find a grammar that generates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endParaRPr lang="en-US" dirty="0"/>
              </a:p>
              <a:p>
                <a:r>
                  <a:rPr lang="en-US" dirty="0"/>
                  <a:t>Let us try to find out the grammar</a:t>
                </a:r>
              </a:p>
              <a:p>
                <a:r>
                  <a:rPr lang="en-US" dirty="0"/>
                  <a:t>We observed in previous example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𝑎𝑆𝑏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endParaRPr lang="en-US" dirty="0"/>
              </a:p>
              <a:p>
                <a:r>
                  <a:rPr lang="en-US" dirty="0"/>
                  <a:t>So if S will be replaced by another variable B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AB69EA-46B6-E0A8-99DF-9982732C5A1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26" t="-214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CBFE4D-468E-38B8-A2D3-9DA26BC9D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FDB2A-29F8-4B15-AF86-FA23907D6058}" type="datetime1">
              <a:rPr lang="en-US" smtClean="0"/>
              <a:t>1/18/2026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8E2B61-E0E2-0DD8-15D6-7C63BBF70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Sujit Kumar Das, Pandit Deendayal Energy University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D35B4A-E05C-5A0D-527B-B7F50892D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7AF29-B1D1-4F28-8D89-89FA7809DA46}" type="slidenum">
              <a:rPr lang="en-IN" smtClean="0"/>
              <a:pPr/>
              <a:t>14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31237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CC97F-2368-2701-6C13-A406169EC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Language Generation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0CD9187-E8DA-FCF6-B204-786CA6C892D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Take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0" dirty="0" smtClean="0"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={</m:t>
                    </m:r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/>
                  <a:t>, and 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denote the number of a’s and b’s in the string w, respectively. Then the grammar G with productions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𝑆𝑆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l-G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𝑎𝑆𝑏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𝑏𝑆𝑏</m:t>
                    </m:r>
                  </m:oMath>
                </a14:m>
                <a:endParaRPr lang="en-US" dirty="0"/>
              </a:p>
              <a:p>
                <a:r>
                  <a:rPr lang="en-US" dirty="0"/>
                  <a:t>Generates the language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: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0CD9187-E8DA-FCF6-B204-786CA6C892D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26" t="-21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8364D7-EB7B-271F-35E1-1C68A2A14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FDB2A-29F8-4B15-AF86-FA23907D6058}" type="datetime1">
              <a:rPr lang="en-US" smtClean="0"/>
              <a:t>1/18/2026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FFB4AD-B36E-8335-DB39-5678EA6D2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Sujit Kumar Das, Pandit Deendayal Energy University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022F4E-460E-3CBA-CE2E-9D72B6616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7AF29-B1D1-4F28-8D89-89FA7809DA46}" type="slidenum">
              <a:rPr lang="en-IN" smtClean="0"/>
              <a:pPr/>
              <a:t>15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509265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6F9D0-7F45-2769-DF90-44FF8B1E1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EE636E-3C3D-1CD0-8845-0A19085BB1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Find grammars for ∑ = {a, b} that generate the sets of </a:t>
            </a:r>
          </a:p>
          <a:p>
            <a:r>
              <a:rPr lang="en-US" dirty="0"/>
              <a:t>(a) all strings with exactly one a. </a:t>
            </a:r>
          </a:p>
          <a:p>
            <a:r>
              <a:rPr lang="en-US" dirty="0"/>
              <a:t>(b) all strings with at least one a.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685A0C-6AF2-231B-D0E3-AB075CC03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FDB2A-29F8-4B15-AF86-FA23907D6058}" type="datetime1">
              <a:rPr lang="en-US" smtClean="0"/>
              <a:t>1/18/2026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378E97-D62A-161B-70DA-C1EF68A19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Sujit Kumar Das, Pandit Deendayal Energy University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18705A-F0F3-8947-DF6D-6B86F5E7A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7AF29-B1D1-4F28-8D89-89FA7809DA46}" type="slidenum">
              <a:rPr lang="en-IN" smtClean="0"/>
              <a:pPr/>
              <a:t>16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897786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9C044-5490-2B90-E29C-585B3BE0C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Draw State </a:t>
            </a:r>
            <a:r>
              <a:rPr lang="en-US" dirty="0" err="1"/>
              <a:t>Digram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25B84D-5D8E-9742-FD7D-56A189F957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43A7D9-B046-37C0-0966-BB67FB490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FDB2A-29F8-4B15-AF86-FA23907D6058}" type="datetime1">
              <a:rPr lang="en-US" smtClean="0"/>
              <a:t>1/18/2026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7F76F0-BAC2-9FFC-4DF5-38C93CC4C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Sujit Kumar Das, Pandit Deendayal Energy University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FF61C2-F7C3-D3BD-21E1-49A467553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7AF29-B1D1-4F28-8D89-89FA7809DA46}" type="slidenum">
              <a:rPr lang="en-IN" smtClean="0"/>
              <a:pPr/>
              <a:t>17</a:t>
            </a:fld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EC59E35-D9EB-DDD4-094A-5B57D54432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3473" y="1387342"/>
            <a:ext cx="9361040" cy="4021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1944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882B9-5C24-0809-E9AD-EF52A53B0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NON-Deterministic </a:t>
            </a:r>
            <a:r>
              <a:rPr lang="en-US" dirty="0"/>
              <a:t>Finite Automata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E2FD1EB-E43D-CEFF-B317-4788A0A5CC7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 deterministic finite automaton (DFA) is a 5-tuple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l-GR" dirty="0"/>
                      <m:t>Σ</m:t>
                    </m:r>
                    <m:r>
                      <m:rPr>
                        <m:nor/>
                      </m:rPr>
                      <a:rPr lang="en-US" dirty="0"/>
                      <m:t>, </m:t>
                    </m:r>
                    <m:r>
                      <m:rPr>
                        <m:sty m:val="p"/>
                      </m:rPr>
                      <a:rPr lang="el-GR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where</a:t>
                </a:r>
              </a:p>
              <a:p>
                <a:r>
                  <a:rPr lang="en-US" dirty="0"/>
                  <a:t>Q is a finite nonempty set of states;</a:t>
                </a:r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l-GR" dirty="0"/>
                      <m:t>Σ</m:t>
                    </m:r>
                  </m:oMath>
                </a14:m>
                <a:r>
                  <a:rPr lang="en-US" i="1" dirty="0"/>
                  <a:t> </a:t>
                </a:r>
                <a:r>
                  <a:rPr lang="en-US" dirty="0"/>
                  <a:t>is a finite nonempty set of inputs;</a:t>
                </a: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n-US" i="1" dirty="0"/>
                  <a:t> </a:t>
                </a:r>
                <a:r>
                  <a:rPr lang="en-US" dirty="0"/>
                  <a:t>is the transition function mapping from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m:rPr>
                        <m:nor/>
                      </m:rPr>
                      <a:rPr lang="el-GR" dirty="0"/>
                      <m:t>Σ</m:t>
                    </m:r>
                    <m:r>
                      <a:rPr lang="el-GR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into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𝑄</m:t>
                        </m:r>
                      </m:sup>
                    </m:sSup>
                  </m:oMath>
                </a14:m>
                <a:r>
                  <a:rPr lang="en-US" i="1" dirty="0"/>
                  <a:t> </a:t>
                </a:r>
                <a:r>
                  <a:rPr lang="en-US" dirty="0"/>
                  <a:t>which is the power set of Q, the set of all subsets of </a:t>
                </a:r>
                <a:r>
                  <a:rPr lang="en-US" i="1" dirty="0"/>
                  <a:t>Q;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dirty="0"/>
                  <a:t>is the initial state; and</a:t>
                </a:r>
              </a:p>
              <a:p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⊆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𝑄</m:t>
                        </m:r>
                      </m:sup>
                    </m:sSup>
                  </m:oMath>
                </a14:m>
                <a:r>
                  <a:rPr lang="en-US" dirty="0"/>
                  <a:t> is the set of final states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E2FD1EB-E43D-CEFF-B317-4788A0A5CC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26" t="-21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35ECA5-0351-DDE4-55B1-BB0DF5308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FDB2A-29F8-4B15-AF86-FA23907D6058}" type="datetime1">
              <a:rPr lang="en-US" smtClean="0"/>
              <a:t>1/18/2026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739839-F7C9-022A-B347-FC42A82A1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Sujit Kumar Das, Pandit Deendayal Energy University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1CC090-F21E-F5AD-2DF8-C031479CF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7AF29-B1D1-4F28-8D89-89FA7809DA46}" type="slidenum">
              <a:rPr lang="en-IN" smtClean="0"/>
              <a:pPr/>
              <a:t>18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502548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232442BE-286A-43C0-D135-C282A56618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3992" y="1700808"/>
            <a:ext cx="6175057" cy="280831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0DEE63A-1131-7923-D2AE-E4672F509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NONDETERMINISTIC FINITE STATE MACHINES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08EA423-7321-1D2F-EA0A-1F3B8954C7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3392" y="1484784"/>
                <a:ext cx="6192688" cy="4824536"/>
              </a:xfrm>
            </p:spPr>
            <p:txBody>
              <a:bodyPr/>
              <a:lstStyle/>
              <a:p>
                <a:r>
                  <a:rPr lang="en-US" dirty="0"/>
                  <a:t>If the automaton is in a state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} </m:t>
                    </m:r>
                  </m:oMath>
                </a14:m>
                <a:r>
                  <a:rPr lang="en-US" dirty="0"/>
                  <a:t>and the input symbol is 0, what will be the next state? </a:t>
                </a:r>
              </a:p>
              <a:p>
                <a:r>
                  <a:rPr lang="en-US" dirty="0"/>
                  <a:t>From the figure it is clear that the next state will be either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} </m:t>
                    </m:r>
                  </m:oMath>
                </a14:m>
                <a:r>
                  <a:rPr lang="en-US" dirty="0"/>
                  <a:t>or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} </m:t>
                    </m:r>
                  </m:oMath>
                </a14:m>
                <a:r>
                  <a:rPr lang="en-US" dirty="0"/>
                  <a:t>. </a:t>
                </a:r>
              </a:p>
              <a:p>
                <a:r>
                  <a:rPr lang="en-US" dirty="0"/>
                  <a:t>Thus some moves of the machine cannot be determined uniquely </a:t>
                </a:r>
                <a:r>
                  <a:rPr lang="en-US" dirty="0" err="1"/>
                  <a:t>bythe</a:t>
                </a:r>
                <a:r>
                  <a:rPr lang="en-US" dirty="0"/>
                  <a:t> input symbol and the present state. </a:t>
                </a:r>
              </a:p>
              <a:p>
                <a:r>
                  <a:rPr lang="en-US" dirty="0"/>
                  <a:t>Such machines are called nondeterministic automata.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08EA423-7321-1D2F-EA0A-1F3B8954C7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3392" y="1484784"/>
                <a:ext cx="6192688" cy="4824536"/>
              </a:xfrm>
              <a:blipFill>
                <a:blip r:embed="rId3"/>
                <a:stretch>
                  <a:fillRect l="-591" t="-2149" r="-3839" b="-11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E28234-F9B1-DD65-0940-38B912C63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FDB2A-29F8-4B15-AF86-FA23907D6058}" type="datetime1">
              <a:rPr lang="en-US" smtClean="0"/>
              <a:t>1/18/2026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A5C8D8-E905-47DD-A109-903DF47D7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Sujit Kumar Das, Pandit Deendayal Energy University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D70A86-E7E5-D66E-EAD6-2858D9993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7AF29-B1D1-4F28-8D89-89FA7809DA46}" type="slidenum">
              <a:rPr lang="en-IN" smtClean="0"/>
              <a:pPr/>
              <a:t>19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133778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33271-5432-77A2-22DC-682E783DD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NDFA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35A87CE-7B48-1576-4223-278872AF2D6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 nondeterministic finite automaton (NDFA) is a 5-tuple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l-GR" dirty="0"/>
                      <m:t>Σ</m:t>
                    </m:r>
                    <m:r>
                      <m:rPr>
                        <m:nor/>
                      </m:rPr>
                      <a:rPr lang="en-US" b="0" i="0" dirty="0" smtClean="0"/>
                      <m:t>, </m:t>
                    </m:r>
                    <m:r>
                      <m:rPr>
                        <m:sty m:val="p"/>
                      </m:rPr>
                      <a:rPr lang="el-GR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where</a:t>
                </a:r>
              </a:p>
              <a:p>
                <a:r>
                  <a:rPr lang="en-US" dirty="0"/>
                  <a:t>Q is a finite nonempty set of states;</a:t>
                </a:r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l-GR" dirty="0"/>
                      <m:t>Σ</m:t>
                    </m:r>
                  </m:oMath>
                </a14:m>
                <a:r>
                  <a:rPr lang="en-US" i="1" dirty="0"/>
                  <a:t> </a:t>
                </a:r>
                <a:r>
                  <a:rPr lang="en-US" dirty="0"/>
                  <a:t>is a finite nonempty set of inputs;</a:t>
                </a: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n-US" i="1" dirty="0"/>
                  <a:t> </a:t>
                </a:r>
                <a:r>
                  <a:rPr lang="en-US" dirty="0"/>
                  <a:t>is the transition function mapping from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m:rPr>
                        <m:nor/>
                      </m:rPr>
                      <a:rPr lang="el-GR" dirty="0"/>
                      <m:t>Σ</m:t>
                    </m:r>
                    <m:r>
                      <a:rPr lang="el-GR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into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𝑄</m:t>
                        </m:r>
                      </m:sup>
                    </m:sSup>
                  </m:oMath>
                </a14:m>
                <a:r>
                  <a:rPr lang="en-US" i="1" dirty="0"/>
                  <a:t> </a:t>
                </a:r>
                <a:r>
                  <a:rPr lang="en-US" dirty="0"/>
                  <a:t>which is the power set of Q, the set of all subsets of </a:t>
                </a:r>
                <a:r>
                  <a:rPr lang="en-US" i="1" dirty="0"/>
                  <a:t>Q;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dirty="0"/>
                  <a:t>is the initial state; and</a:t>
                </a:r>
              </a:p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⊆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dirty="0"/>
                  <a:t> is the set of final states.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35A87CE-7B48-1576-4223-278872AF2D6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26" t="-21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C8C0C5-C7FF-2C23-CBC1-BED6ED925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FDB2A-29F8-4B15-AF86-FA23907D6058}" type="datetime1">
              <a:rPr lang="en-US" smtClean="0"/>
              <a:t>1/18/2026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17B467-BD68-4CCF-59E1-0E9B77C5D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Sujit Kumar Das, Pandit Deendayal Energy University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0F830A-5B91-00FF-E19D-F6B6DDD19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7AF29-B1D1-4F28-8D89-89FA7809DA46}" type="slidenum">
              <a:rPr lang="en-IN" smtClean="0"/>
              <a:pPr/>
              <a:t>20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789450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39D35-BCC5-354B-E7CE-AFA7EEE4F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DFA vs NDFA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2D4D3F5-6C42-2CA4-4FE4-7CE5FBA76BA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 difference between the deterministic and nondeterministic</a:t>
                </a:r>
              </a:p>
              <a:p>
                <a:r>
                  <a:rPr lang="en-US" dirty="0"/>
                  <a:t>automata is only in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i="1" dirty="0"/>
                  <a:t>. </a:t>
                </a:r>
                <a:r>
                  <a:rPr lang="en-US" dirty="0"/>
                  <a:t>For deterministic automaton (DFA), the outcome is a state, i.e. an element of </a:t>
                </a:r>
                <a:r>
                  <a:rPr lang="en-US" i="1" dirty="0"/>
                  <a:t>Q; </a:t>
                </a:r>
              </a:p>
              <a:p>
                <a:r>
                  <a:rPr lang="en-US" dirty="0"/>
                  <a:t>for nondeterministic automaton the outcome is a subset of </a:t>
                </a:r>
                <a:r>
                  <a:rPr lang="en-US" i="1" dirty="0"/>
                  <a:t>Q.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2D4D3F5-6C42-2CA4-4FE4-7CE5FBA76B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26" t="-21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52D809-D96A-7C44-1468-78CBE9EED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FDB2A-29F8-4B15-AF86-FA23907D6058}" type="datetime1">
              <a:rPr lang="en-US" smtClean="0"/>
              <a:t>1/18/2026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01E02C-830D-D242-FCDF-B755FCD58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Sujit Kumar Das, Pandit Deendayal Energy University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925E8C-4E7F-27D8-1B19-248373F07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7AF29-B1D1-4F28-8D89-89FA7809DA46}" type="slidenum">
              <a:rPr lang="en-IN" smtClean="0"/>
              <a:pPr/>
              <a:t>21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114960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11C9C-347A-B7BF-FDB6-4549033D7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String processing by NDFA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9C8263-DEC9-FF1A-50D5-5C0F03FE28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B125F9-3FF4-0D29-F6CE-BE3D39217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FDB2A-29F8-4B15-AF86-FA23907D6058}" type="datetime1">
              <a:rPr lang="en-US" smtClean="0"/>
              <a:t>1/18/2026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AA41E9-1727-8394-ACAB-004CAD15F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Sujit Kumar Das, Pandit Deendayal Energy University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D86474-4F27-63ED-AB48-5A6CA9BCE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7AF29-B1D1-4F28-8D89-89FA7809DA46}" type="slidenum">
              <a:rPr lang="en-IN" smtClean="0"/>
              <a:pPr/>
              <a:t>22</a:t>
            </a:fld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59BBE09-C3DB-551F-C1AE-003A4E7FAA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92" y="2233868"/>
            <a:ext cx="5688632" cy="254270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66E286A-613F-1AD3-3675-09987BD138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4014" y="2427804"/>
            <a:ext cx="5290071" cy="233708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56C8E13-6AF3-9305-1FF3-10A430784B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7857" y="4986352"/>
            <a:ext cx="4432951" cy="412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0651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6D221-5CE4-A4A6-346D-643CCE165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FA53C9-76F0-4B7E-A5FF-BB0C1A671A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Σ= {</a:t>
            </a:r>
            <a:r>
              <a:rPr lang="en-US" dirty="0" err="1"/>
              <a:t>a,b</a:t>
            </a:r>
            <a:r>
              <a:rPr lang="en-US" dirty="0"/>
              <a:t>}, </a:t>
            </a:r>
            <a:r>
              <a:rPr lang="en-US" dirty="0" err="1"/>
              <a:t>onstruct</a:t>
            </a:r>
            <a:r>
              <a:rPr lang="en-US" dirty="0"/>
              <a:t> </a:t>
            </a:r>
            <a:r>
              <a:rPr lang="en-US" dirty="0" err="1"/>
              <a:t>dfa's</a:t>
            </a:r>
            <a:r>
              <a:rPr lang="en-US" dirty="0"/>
              <a:t> that accept the sets consisting of </a:t>
            </a:r>
          </a:p>
          <a:p>
            <a:r>
              <a:rPr lang="en-US" dirty="0"/>
              <a:t>(a) all strings with exactly one a, </a:t>
            </a:r>
          </a:p>
          <a:p>
            <a:r>
              <a:rPr lang="en-US" dirty="0"/>
              <a:t>(b) all strings with at least one a, </a:t>
            </a:r>
          </a:p>
          <a:p>
            <a:r>
              <a:rPr lang="en-US" dirty="0"/>
              <a:t>(c) all strings with no more than three a’s, </a:t>
            </a:r>
          </a:p>
          <a:p>
            <a:r>
              <a:rPr lang="en-US" dirty="0"/>
              <a:t>(d) all strings with at least one a and exactly two b’s, </a:t>
            </a:r>
          </a:p>
          <a:p>
            <a:r>
              <a:rPr lang="en-US" dirty="0"/>
              <a:t>(e) all the strings with exactly two a’s and more than two b’s.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756D8-21F5-0706-7086-267094E16C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FDB2A-29F8-4B15-AF86-FA23907D6058}" type="datetime1">
              <a:rPr lang="en-US" smtClean="0"/>
              <a:t>1/18/2026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D12B8A-4502-9AD2-410B-F37D119F7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Sujit Kumar Das, Pandit Deendayal Energy University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5E40E0-E935-4FD4-A832-D5AAFEF4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7AF29-B1D1-4F28-8D89-89FA7809DA46}" type="slidenum">
              <a:rPr lang="en-IN" smtClean="0"/>
              <a:pPr/>
              <a:t>23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871273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B0248-5130-733E-1BC2-B7D2A312E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Minimization of DFA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AAB70E-C536-3E62-D0CA-B14DC87070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Minimization of DFA Using Equivalence Theorem</a:t>
            </a:r>
          </a:p>
          <a:p>
            <a:r>
              <a:rPr lang="en-US" b="1" dirty="0"/>
              <a:t>Step-01: </a:t>
            </a:r>
          </a:p>
          <a:p>
            <a:pPr lvl="1"/>
            <a:r>
              <a:rPr lang="en-US" dirty="0"/>
              <a:t>Eliminate all the dead states and inaccessible states from the given DFA (if any).</a:t>
            </a:r>
          </a:p>
          <a:p>
            <a:r>
              <a:rPr lang="en-US" u="sng" dirty="0"/>
              <a:t>Dead State: </a:t>
            </a:r>
            <a:r>
              <a:rPr lang="en-US" dirty="0"/>
              <a:t>All those non-final states which transit to itself for all input symbols in ∑ are called as dead states.</a:t>
            </a:r>
          </a:p>
          <a:p>
            <a:r>
              <a:rPr lang="en-US" u="sng" dirty="0"/>
              <a:t>Inaccessible State: </a:t>
            </a:r>
            <a:r>
              <a:rPr lang="en-US" dirty="0"/>
              <a:t>All those states which can never be reached from the initial state are called as inaccessible states.</a:t>
            </a:r>
          </a:p>
          <a:p>
            <a:r>
              <a:rPr lang="en-US" b="1" u="sng" dirty="0"/>
              <a:t>Step-02: </a:t>
            </a:r>
          </a:p>
          <a:p>
            <a:pPr lvl="1"/>
            <a:r>
              <a:rPr lang="en-US" dirty="0"/>
              <a:t>Draw a state transition table for the given DFA.</a:t>
            </a:r>
          </a:p>
          <a:p>
            <a:pPr lvl="1"/>
            <a:r>
              <a:rPr lang="en-US" dirty="0"/>
              <a:t>Transition table shows the transition of all states on all input symbols in Σ.</a:t>
            </a:r>
          </a:p>
          <a:p>
            <a:endParaRPr lang="en-US" dirty="0"/>
          </a:p>
          <a:p>
            <a:endParaRPr lang="en-US" dirty="0"/>
          </a:p>
          <a:p>
            <a:endParaRPr lang="en-US" b="1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3E0C20-B4F0-8C19-EC7B-5CA3E0820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FDB2A-29F8-4B15-AF86-FA23907D6058}" type="datetime1">
              <a:rPr lang="en-US" smtClean="0"/>
              <a:t>1/18/2026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1EBA30-C7AD-8BB2-0698-659C2C845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Sujit Kumar Das, Pandit Deendayal Energy University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F7085-7F41-7B38-D446-C9CE038A6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7AF29-B1D1-4F28-8D89-89FA7809DA46}" type="slidenum">
              <a:rPr lang="en-IN" smtClean="0"/>
              <a:pPr/>
              <a:t>24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13662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E7359-C86D-8BBF-9BBF-F483B3857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916795-5A9E-0111-E22B-6E01DB4F71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u="sng" dirty="0"/>
              <a:t>Step-03:</a:t>
            </a:r>
            <a:endParaRPr lang="en-US" b="1" dirty="0"/>
          </a:p>
          <a:p>
            <a:r>
              <a:rPr lang="en-US" dirty="0"/>
              <a:t>Now, start applying equivalence theorem.</a:t>
            </a:r>
          </a:p>
          <a:p>
            <a:pPr lvl="1"/>
            <a:r>
              <a:rPr lang="en-US" dirty="0"/>
              <a:t>Take a counter variable k and initialize it with value 0.</a:t>
            </a:r>
          </a:p>
          <a:p>
            <a:pPr lvl="1"/>
            <a:r>
              <a:rPr lang="en-US" dirty="0"/>
              <a:t>Divide Q (set of states) into two sets such that one set contains all the non-final states and other set contains all the final states.</a:t>
            </a:r>
          </a:p>
          <a:p>
            <a:pPr lvl="1"/>
            <a:r>
              <a:rPr lang="en-US" dirty="0"/>
              <a:t>This partition is called P</a:t>
            </a:r>
            <a:r>
              <a:rPr lang="en-US" baseline="-25000" dirty="0"/>
              <a:t>0</a:t>
            </a:r>
            <a:r>
              <a:rPr lang="en-US" dirty="0"/>
              <a:t>.</a:t>
            </a:r>
          </a:p>
          <a:p>
            <a:r>
              <a:rPr lang="en-US" b="1" u="sng" dirty="0"/>
              <a:t>Step-04:</a:t>
            </a:r>
            <a:endParaRPr lang="en-US" b="1" dirty="0"/>
          </a:p>
          <a:p>
            <a:r>
              <a:rPr lang="en-US" dirty="0"/>
              <a:t>Increment k by 1.</a:t>
            </a:r>
          </a:p>
          <a:p>
            <a:r>
              <a:rPr lang="en-US" dirty="0"/>
              <a:t>Find P</a:t>
            </a:r>
            <a:r>
              <a:rPr lang="en-US" baseline="-25000" dirty="0"/>
              <a:t>k</a:t>
            </a:r>
            <a:r>
              <a:rPr lang="en-US" dirty="0"/>
              <a:t> by partitioning the different sets of P</a:t>
            </a:r>
            <a:r>
              <a:rPr lang="en-US" baseline="-25000" dirty="0"/>
              <a:t>k-1</a:t>
            </a:r>
            <a:r>
              <a:rPr lang="en-US" dirty="0"/>
              <a:t> .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665A02-CCDB-4E2D-56A5-66B086AE9A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FDB2A-29F8-4B15-AF86-FA23907D6058}" type="datetime1">
              <a:rPr lang="en-US" smtClean="0"/>
              <a:t>1/18/2026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EEB89E-6C50-DA4A-F96E-D02334792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Sujit Kumar Das, Pandit Deendayal Energy University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19CF18-AE8F-3C5F-4430-43CDF365E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7AF29-B1D1-4F28-8D89-89FA7809DA46}" type="slidenum">
              <a:rPr lang="en-IN" smtClean="0"/>
              <a:pPr/>
              <a:t>25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261133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59718-16C2-9D9A-AFD2-9C75405A1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36EDE-6B25-BAC0-53E0-D5DACA4739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dirty="0"/>
              <a:t>In each set of P</a:t>
            </a:r>
            <a:r>
              <a:rPr lang="en-US" baseline="-25000" dirty="0"/>
              <a:t>k-1</a:t>
            </a:r>
            <a:r>
              <a:rPr lang="en-US" dirty="0"/>
              <a:t> , consider all the possible pair of states within each set and if the two states are distinguishable, partition the set into different sets in P</a:t>
            </a:r>
            <a:r>
              <a:rPr lang="en-US" baseline="-25000" dirty="0"/>
              <a:t>k</a:t>
            </a:r>
            <a:r>
              <a:rPr lang="en-US" dirty="0"/>
              <a:t>.</a:t>
            </a:r>
          </a:p>
          <a:p>
            <a:r>
              <a:rPr lang="en-US" dirty="0"/>
              <a:t>Distinguishable state: Two states q</a:t>
            </a:r>
            <a:r>
              <a:rPr lang="en-US" baseline="-25000" dirty="0"/>
              <a:t>1</a:t>
            </a:r>
            <a:r>
              <a:rPr lang="en-US" dirty="0"/>
              <a:t> and q</a:t>
            </a:r>
            <a:r>
              <a:rPr lang="en-US" baseline="-25000" dirty="0"/>
              <a:t>2</a:t>
            </a:r>
            <a:r>
              <a:rPr lang="en-US" dirty="0"/>
              <a:t> are distinguishable in partition P</a:t>
            </a:r>
            <a:r>
              <a:rPr lang="en-US" baseline="-25000" dirty="0"/>
              <a:t>k</a:t>
            </a:r>
            <a:r>
              <a:rPr lang="en-US" dirty="0"/>
              <a:t> for any input symbol ‘a’, if δ (q</a:t>
            </a:r>
            <a:r>
              <a:rPr lang="en-US" baseline="-25000" dirty="0"/>
              <a:t>1</a:t>
            </a:r>
            <a:r>
              <a:rPr lang="en-US" dirty="0"/>
              <a:t>, a) and δ (q</a:t>
            </a:r>
            <a:r>
              <a:rPr lang="en-US" baseline="-25000" dirty="0"/>
              <a:t>2</a:t>
            </a:r>
            <a:r>
              <a:rPr lang="en-US" dirty="0"/>
              <a:t>, a) are in different sets in partition P</a:t>
            </a:r>
            <a:r>
              <a:rPr lang="en-US" baseline="-25000" dirty="0"/>
              <a:t>k-1</a:t>
            </a:r>
            <a:r>
              <a:rPr lang="en-US" dirty="0"/>
              <a:t>.</a:t>
            </a:r>
          </a:p>
          <a:p>
            <a:r>
              <a:rPr lang="en-US" b="1" u="sng" dirty="0"/>
              <a:t>Step-05:</a:t>
            </a:r>
            <a:endParaRPr lang="en-US" b="1" dirty="0"/>
          </a:p>
          <a:p>
            <a:pPr lvl="1"/>
            <a:r>
              <a:rPr lang="en-US" dirty="0"/>
              <a:t>Repeat step-04 until no change in partition occurs.</a:t>
            </a:r>
          </a:p>
          <a:p>
            <a:pPr lvl="1"/>
            <a:r>
              <a:rPr lang="en-US" dirty="0"/>
              <a:t>In other words, when you find P</a:t>
            </a:r>
            <a:r>
              <a:rPr lang="en-US" baseline="-25000" dirty="0"/>
              <a:t>k</a:t>
            </a:r>
            <a:r>
              <a:rPr lang="en-US" dirty="0"/>
              <a:t> = P</a:t>
            </a:r>
            <a:r>
              <a:rPr lang="en-US" baseline="-25000" dirty="0"/>
              <a:t>k-1</a:t>
            </a:r>
            <a:r>
              <a:rPr lang="en-US" dirty="0"/>
              <a:t>, stop.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2528DC-138D-2A83-6613-5125C8067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FDB2A-29F8-4B15-AF86-FA23907D6058}" type="datetime1">
              <a:rPr lang="en-US" smtClean="0"/>
              <a:t>1/18/2026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20AD15-B36C-EFC4-146F-101F5448E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Sujit Kumar Das, Pandit Deendayal Energy University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AA6F05-1F7B-77FE-98EC-40E8F0EB8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7AF29-B1D1-4F28-8D89-89FA7809DA46}" type="slidenum">
              <a:rPr lang="en-IN" smtClean="0"/>
              <a:pPr/>
              <a:t>26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193837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4EB5F-1075-AE07-A3B2-B0C78D5E1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A4368-23B6-F79E-B0D8-B69980C712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u="sng" dirty="0"/>
              <a:t>Step-06:</a:t>
            </a:r>
            <a:endParaRPr lang="en-US" b="1" dirty="0"/>
          </a:p>
          <a:p>
            <a:pPr lvl="1"/>
            <a:r>
              <a:rPr lang="en-US" dirty="0"/>
              <a:t>All those states which belong to the same set are equivalent.</a:t>
            </a:r>
          </a:p>
          <a:p>
            <a:pPr lvl="1"/>
            <a:r>
              <a:rPr lang="en-US" dirty="0"/>
              <a:t>The equivalent states are merged to form a single state in the minimal DFA.</a:t>
            </a:r>
          </a:p>
          <a:p>
            <a:r>
              <a:rPr lang="en-US" sz="3200" b="1" dirty="0"/>
              <a:t>Number of states in Minimal DFA = Number of sets in P</a:t>
            </a:r>
            <a:r>
              <a:rPr lang="en-US" sz="3200" b="1" baseline="-25000" dirty="0"/>
              <a:t>k</a:t>
            </a:r>
            <a:endParaRPr lang="en-US" sz="6600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BF3784-3717-045B-10F0-56B7AF1C5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FDB2A-29F8-4B15-AF86-FA23907D6058}" type="datetime1">
              <a:rPr lang="en-US" smtClean="0"/>
              <a:t>1/18/2026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E70D02-AAC7-ED79-0A4C-B78017618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Sujit Kumar Das, Pandit Deendayal Energy University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C99478-04D2-2D76-79B0-138508D6C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7AF29-B1D1-4F28-8D89-89FA7809DA46}" type="slidenum">
              <a:rPr lang="en-IN" smtClean="0"/>
              <a:pPr/>
              <a:t>27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0786007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5CA1CC8-9923-6C43-2B38-B1466E6175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4152" y="-315416"/>
            <a:ext cx="5881841" cy="475252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F5E9946-4D2D-6D19-8E80-FB1F1B415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C49C6A-9D07-9232-A89A-B9344ECF52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392" y="1484784"/>
            <a:ext cx="7416824" cy="4824536"/>
          </a:xfrm>
        </p:spPr>
        <p:txBody>
          <a:bodyPr/>
          <a:lstStyle/>
          <a:p>
            <a:r>
              <a:rPr lang="en-US" dirty="0"/>
              <a:t>Minimize the given DFA</a:t>
            </a:r>
          </a:p>
          <a:p>
            <a:r>
              <a:rPr lang="en-US" b="1" u="sng" dirty="0"/>
              <a:t>Step-01:</a:t>
            </a:r>
            <a:endParaRPr lang="en-US" b="1" dirty="0"/>
          </a:p>
          <a:p>
            <a:pPr lvl="1"/>
            <a:r>
              <a:rPr lang="en-US" dirty="0"/>
              <a:t>The given DFA contains no dead states </a:t>
            </a:r>
          </a:p>
          <a:p>
            <a:pPr lvl="1"/>
            <a:r>
              <a:rPr lang="en-US" dirty="0"/>
              <a:t>and inaccessible states.</a:t>
            </a:r>
          </a:p>
          <a:p>
            <a:r>
              <a:rPr lang="en-US" b="1" u="sng" dirty="0"/>
              <a:t>Step-02:</a:t>
            </a:r>
            <a:endParaRPr lang="en-US" b="1" dirty="0"/>
          </a:p>
          <a:p>
            <a:pPr lvl="1"/>
            <a:r>
              <a:rPr lang="en-US" dirty="0"/>
              <a:t>Draw a state transition table-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EED886-E4B3-E57E-1E8D-8753DA3A5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FDB2A-29F8-4B15-AF86-FA23907D6058}" type="datetime1">
              <a:rPr lang="en-US" smtClean="0"/>
              <a:t>1/18/2026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3D7858-5CB4-A240-1776-5E38C3C6F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Sujit Kumar Das, Pandit Deendayal Energy University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BD59B0-007C-51FB-68B5-97F376F06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7AF29-B1D1-4F28-8D89-89FA7809DA46}" type="slidenum">
              <a:rPr lang="en-IN" smtClean="0"/>
              <a:pPr/>
              <a:t>28</a:t>
            </a:fld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8555213-A4C0-1580-276B-4F9ABA0475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6783467"/>
              </p:ext>
            </p:extLst>
          </p:nvPr>
        </p:nvGraphicFramePr>
        <p:xfrm>
          <a:off x="1810854" y="4341832"/>
          <a:ext cx="3637075" cy="2255520"/>
        </p:xfrm>
        <a:graphic>
          <a:graphicData uri="http://schemas.openxmlformats.org/drawingml/2006/table">
            <a:tbl>
              <a:tblPr/>
              <a:tblGrid>
                <a:gridCol w="1212294">
                  <a:extLst>
                    <a:ext uri="{9D8B030D-6E8A-4147-A177-3AD203B41FA5}">
                      <a16:colId xmlns:a16="http://schemas.microsoft.com/office/drawing/2014/main" val="3401615449"/>
                    </a:ext>
                  </a:extLst>
                </a:gridCol>
                <a:gridCol w="1212294">
                  <a:extLst>
                    <a:ext uri="{9D8B030D-6E8A-4147-A177-3AD203B41FA5}">
                      <a16:colId xmlns:a16="http://schemas.microsoft.com/office/drawing/2014/main" val="1901223623"/>
                    </a:ext>
                  </a:extLst>
                </a:gridCol>
                <a:gridCol w="1212487">
                  <a:extLst>
                    <a:ext uri="{9D8B030D-6E8A-4147-A177-3AD203B41FA5}">
                      <a16:colId xmlns:a16="http://schemas.microsoft.com/office/drawing/2014/main" val="166500482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>
                          <a:effectLst/>
                        </a:rPr>
                        <a:t>a</a:t>
                      </a:r>
                      <a:endParaRPr lang="en-US">
                        <a:effectLst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>
                          <a:effectLst/>
                        </a:rPr>
                        <a:t>b</a:t>
                      </a:r>
                      <a:endParaRPr lang="en-US">
                        <a:effectLst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62895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→</a:t>
                      </a:r>
                      <a:r>
                        <a:rPr lang="en-US" sz="1200" b="1">
                          <a:effectLst/>
                        </a:rPr>
                        <a:t>q0</a:t>
                      </a:r>
                      <a:endParaRPr lang="en-US">
                        <a:effectLst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q1</a:t>
                      </a: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q2</a:t>
                      </a: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19125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>
                          <a:effectLst/>
                        </a:rPr>
                        <a:t>q1</a:t>
                      </a:r>
                      <a:endParaRPr lang="en-US">
                        <a:effectLst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q1</a:t>
                      </a: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q3</a:t>
                      </a: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6993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>
                          <a:effectLst/>
                        </a:rPr>
                        <a:t>q2</a:t>
                      </a:r>
                      <a:endParaRPr lang="en-US">
                        <a:effectLst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q1</a:t>
                      </a: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q2</a:t>
                      </a: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7234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>
                          <a:effectLst/>
                        </a:rPr>
                        <a:t>q3</a:t>
                      </a:r>
                      <a:endParaRPr lang="en-US">
                        <a:effectLst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q1</a:t>
                      </a: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*q4</a:t>
                      </a: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9904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>
                          <a:effectLst/>
                        </a:rPr>
                        <a:t>*q4</a:t>
                      </a:r>
                      <a:endParaRPr lang="en-US">
                        <a:effectLst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q1</a:t>
                      </a: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q2</a:t>
                      </a: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17861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972364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8D9AD-ADD3-49A6-176A-258AA97EB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9181AC-C4DC-9DC7-EA69-D69C4A7077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u="sng" dirty="0"/>
              <a:t>Step-03:</a:t>
            </a:r>
            <a:endParaRPr lang="en-US" b="1" dirty="0"/>
          </a:p>
          <a:p>
            <a:pPr lvl="1"/>
            <a:r>
              <a:rPr lang="en-US" dirty="0"/>
              <a:t>Now using Equivalence Theorem, we have-</a:t>
            </a:r>
          </a:p>
          <a:p>
            <a:pPr lvl="1"/>
            <a:r>
              <a:rPr lang="en-US" dirty="0"/>
              <a:t>P</a:t>
            </a:r>
            <a:r>
              <a:rPr lang="en-US" baseline="-25000" dirty="0"/>
              <a:t>0</a:t>
            </a:r>
            <a:r>
              <a:rPr lang="en-US" dirty="0"/>
              <a:t> = { q</a:t>
            </a:r>
            <a:r>
              <a:rPr lang="en-US" baseline="-25000" dirty="0"/>
              <a:t>0</a:t>
            </a:r>
            <a:r>
              <a:rPr lang="en-US" dirty="0"/>
              <a:t> , q</a:t>
            </a:r>
            <a:r>
              <a:rPr lang="en-US" baseline="-25000" dirty="0"/>
              <a:t>1</a:t>
            </a:r>
            <a:r>
              <a:rPr lang="en-US" dirty="0"/>
              <a:t> , q</a:t>
            </a:r>
            <a:r>
              <a:rPr lang="en-US" baseline="-25000" dirty="0"/>
              <a:t>2</a:t>
            </a:r>
            <a:r>
              <a:rPr lang="en-US" dirty="0"/>
              <a:t> , q</a:t>
            </a:r>
            <a:r>
              <a:rPr lang="en-US" baseline="-25000" dirty="0"/>
              <a:t>3</a:t>
            </a:r>
            <a:r>
              <a:rPr lang="en-US" dirty="0"/>
              <a:t> } { q</a:t>
            </a:r>
            <a:r>
              <a:rPr lang="en-US" baseline="-25000" dirty="0"/>
              <a:t>4</a:t>
            </a:r>
            <a:r>
              <a:rPr lang="en-US" dirty="0"/>
              <a:t> }</a:t>
            </a:r>
          </a:p>
          <a:p>
            <a:pPr lvl="1"/>
            <a:r>
              <a:rPr lang="en-US" dirty="0"/>
              <a:t>P</a:t>
            </a:r>
            <a:r>
              <a:rPr lang="en-US" baseline="-25000" dirty="0"/>
              <a:t>1</a:t>
            </a:r>
            <a:r>
              <a:rPr lang="en-US" dirty="0"/>
              <a:t> = { q</a:t>
            </a:r>
            <a:r>
              <a:rPr lang="en-US" baseline="-25000" dirty="0"/>
              <a:t>0</a:t>
            </a:r>
            <a:r>
              <a:rPr lang="en-US" dirty="0"/>
              <a:t> , q</a:t>
            </a:r>
            <a:r>
              <a:rPr lang="en-US" baseline="-25000" dirty="0"/>
              <a:t>1</a:t>
            </a:r>
            <a:r>
              <a:rPr lang="en-US" dirty="0"/>
              <a:t> , q</a:t>
            </a:r>
            <a:r>
              <a:rPr lang="en-US" baseline="-25000" dirty="0"/>
              <a:t>2</a:t>
            </a:r>
            <a:r>
              <a:rPr lang="en-US" dirty="0"/>
              <a:t> } { q</a:t>
            </a:r>
            <a:r>
              <a:rPr lang="en-US" baseline="-25000" dirty="0"/>
              <a:t>3</a:t>
            </a:r>
            <a:r>
              <a:rPr lang="en-US" dirty="0"/>
              <a:t> } { q</a:t>
            </a:r>
            <a:r>
              <a:rPr lang="en-US" baseline="-25000" dirty="0"/>
              <a:t>4</a:t>
            </a:r>
            <a:r>
              <a:rPr lang="en-US" dirty="0"/>
              <a:t> }</a:t>
            </a:r>
          </a:p>
          <a:p>
            <a:pPr lvl="1"/>
            <a:r>
              <a:rPr lang="en-US" dirty="0"/>
              <a:t>P</a:t>
            </a:r>
            <a:r>
              <a:rPr lang="en-US" baseline="-25000" dirty="0"/>
              <a:t>2</a:t>
            </a:r>
            <a:r>
              <a:rPr lang="en-US" dirty="0"/>
              <a:t> = { q</a:t>
            </a:r>
            <a:r>
              <a:rPr lang="en-US" baseline="-25000" dirty="0"/>
              <a:t>0</a:t>
            </a:r>
            <a:r>
              <a:rPr lang="en-US" dirty="0"/>
              <a:t> , q</a:t>
            </a:r>
            <a:r>
              <a:rPr lang="en-US" baseline="-25000" dirty="0"/>
              <a:t>2</a:t>
            </a:r>
            <a:r>
              <a:rPr lang="en-US" dirty="0"/>
              <a:t> } { q</a:t>
            </a:r>
            <a:r>
              <a:rPr lang="en-US" baseline="-25000" dirty="0"/>
              <a:t>1</a:t>
            </a:r>
            <a:r>
              <a:rPr lang="en-US" dirty="0"/>
              <a:t> } { q</a:t>
            </a:r>
            <a:r>
              <a:rPr lang="en-US" baseline="-25000" dirty="0"/>
              <a:t>3</a:t>
            </a:r>
            <a:r>
              <a:rPr lang="en-US" dirty="0"/>
              <a:t> } { q</a:t>
            </a:r>
            <a:r>
              <a:rPr lang="en-US" baseline="-25000" dirty="0"/>
              <a:t>4</a:t>
            </a:r>
            <a:r>
              <a:rPr lang="en-US" dirty="0"/>
              <a:t> }</a:t>
            </a:r>
          </a:p>
          <a:p>
            <a:pPr lvl="1"/>
            <a:r>
              <a:rPr lang="en-US" dirty="0"/>
              <a:t>P</a:t>
            </a:r>
            <a:r>
              <a:rPr lang="en-US" baseline="-25000" dirty="0"/>
              <a:t>3</a:t>
            </a:r>
            <a:r>
              <a:rPr lang="en-US" dirty="0"/>
              <a:t> = { q</a:t>
            </a:r>
            <a:r>
              <a:rPr lang="en-US" baseline="-25000" dirty="0"/>
              <a:t>0</a:t>
            </a:r>
            <a:r>
              <a:rPr lang="en-US" dirty="0"/>
              <a:t> , q</a:t>
            </a:r>
            <a:r>
              <a:rPr lang="en-US" baseline="-25000" dirty="0"/>
              <a:t>2</a:t>
            </a:r>
            <a:r>
              <a:rPr lang="en-US" dirty="0"/>
              <a:t> } { q</a:t>
            </a:r>
            <a:r>
              <a:rPr lang="en-US" baseline="-25000" dirty="0"/>
              <a:t>1</a:t>
            </a:r>
            <a:r>
              <a:rPr lang="en-US" dirty="0"/>
              <a:t> } { q</a:t>
            </a:r>
            <a:r>
              <a:rPr lang="en-US" baseline="-25000" dirty="0"/>
              <a:t>3</a:t>
            </a:r>
            <a:r>
              <a:rPr lang="en-US" dirty="0"/>
              <a:t> } { q</a:t>
            </a:r>
            <a:r>
              <a:rPr lang="en-US" baseline="-25000" dirty="0"/>
              <a:t>4</a:t>
            </a:r>
            <a:r>
              <a:rPr lang="en-US" dirty="0"/>
              <a:t> }</a:t>
            </a:r>
          </a:p>
          <a:p>
            <a:pPr lvl="1"/>
            <a:r>
              <a:rPr lang="en-US" dirty="0"/>
              <a:t>Since P</a:t>
            </a:r>
            <a:r>
              <a:rPr lang="en-US" baseline="-25000" dirty="0"/>
              <a:t>3</a:t>
            </a:r>
            <a:r>
              <a:rPr lang="en-US" dirty="0"/>
              <a:t> = P</a:t>
            </a:r>
            <a:r>
              <a:rPr lang="en-US" baseline="-25000" dirty="0"/>
              <a:t>2</a:t>
            </a:r>
            <a:r>
              <a:rPr lang="en-US" dirty="0"/>
              <a:t>, so we stop.</a:t>
            </a:r>
          </a:p>
          <a:p>
            <a:r>
              <a:rPr lang="en-US" dirty="0"/>
              <a:t>From P</a:t>
            </a:r>
            <a:r>
              <a:rPr lang="en-US" baseline="-25000" dirty="0"/>
              <a:t>3</a:t>
            </a:r>
            <a:r>
              <a:rPr lang="en-US" dirty="0"/>
              <a:t>, we infer that states q</a:t>
            </a:r>
            <a:r>
              <a:rPr lang="en-US" baseline="-25000" dirty="0"/>
              <a:t>0</a:t>
            </a:r>
            <a:r>
              <a:rPr lang="en-US" dirty="0"/>
              <a:t> and q</a:t>
            </a:r>
            <a:r>
              <a:rPr lang="en-US" baseline="-25000" dirty="0"/>
              <a:t>2</a:t>
            </a:r>
            <a:r>
              <a:rPr lang="en-US" dirty="0"/>
              <a:t> are equivalent and can be merged together.</a:t>
            </a:r>
          </a:p>
          <a:p>
            <a:r>
              <a:rPr lang="en-US" dirty="0"/>
              <a:t>So, Our minimal DFA is-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0C5ADD-07C9-8105-2B4E-14568B97B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FDB2A-29F8-4B15-AF86-FA23907D6058}" type="datetime1">
              <a:rPr lang="en-US" smtClean="0"/>
              <a:t>1/18/2026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E3AA31-D55C-358E-7F0A-9092C9007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Sujit Kumar Das, Pandit Deendayal Energy University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58EDED-0597-D7A4-BAC8-78D10D593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7AF29-B1D1-4F28-8D89-89FA7809DA46}" type="slidenum">
              <a:rPr lang="en-IN" smtClean="0"/>
              <a:pPr/>
              <a:t>29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229202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2D94C-D148-0962-9D09-49A1EC389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C53E9114-2DE1-E03D-FEFB-D4036D519B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7464152" y="2001947"/>
            <a:ext cx="3245017" cy="27877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C5A32D-F84A-A6E6-1CE3-0D86C1A66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FDB2A-29F8-4B15-AF86-FA23907D6058}" type="datetime1">
              <a:rPr lang="en-US" smtClean="0"/>
              <a:t>1/18/2026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25FA87-C9A3-FDAE-7112-2496A8B01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Sujit Kumar Das, Pandit Deendayal Energy University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328E70-F2E2-49D6-A8D8-170DD67FD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7AF29-B1D1-4F28-8D89-89FA7809DA46}" type="slidenum">
              <a:rPr lang="en-IN" smtClean="0"/>
              <a:pPr/>
              <a:t>30</a:t>
            </a:fld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33423FD-1C00-3771-0321-55690F92B4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432" y="1990651"/>
            <a:ext cx="4330923" cy="2876698"/>
          </a:xfrm>
          <a:prstGeom prst="rect">
            <a:avLst/>
          </a:prstGeom>
        </p:spPr>
      </p:pic>
      <p:sp>
        <p:nvSpPr>
          <p:cNvPr id="11" name="Arrow: Right 10">
            <a:extLst>
              <a:ext uri="{FF2B5EF4-FFF2-40B4-BE49-F238E27FC236}">
                <a16:creationId xmlns:a16="http://schemas.microsoft.com/office/drawing/2014/main" id="{F1A15F90-E75F-DF60-DA93-88841109C1A5}"/>
              </a:ext>
            </a:extLst>
          </p:cNvPr>
          <p:cNvSpPr/>
          <p:nvPr/>
        </p:nvSpPr>
        <p:spPr bwMode="auto">
          <a:xfrm>
            <a:off x="5591944" y="3284984"/>
            <a:ext cx="1944216" cy="792088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71938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D8262-9C56-30DC-CB6A-0E8E99DD5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A387EC-D47A-0796-C577-BEA3FB4F4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FDB2A-29F8-4B15-AF86-FA23907D6058}" type="datetime1">
              <a:rPr lang="en-US" smtClean="0"/>
              <a:t>1/18/2026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1DD22C-1DE9-EED0-6EFE-4C1DE968E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Sujit Kumar Das, Pandit Deendayal Energy University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BFD4ED-17D1-8A6E-C5A9-86F306C16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7AF29-B1D1-4F28-8D89-89FA7809DA46}" type="slidenum">
              <a:rPr lang="en-IN" smtClean="0"/>
              <a:pPr/>
              <a:t>31</a:t>
            </a:fld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9958BE2-D17F-7065-9ECA-A0827DBED1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115" y="1268760"/>
            <a:ext cx="5607338" cy="280684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1CD37C4-7326-6722-5C98-53948964DA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3118" y="1988840"/>
            <a:ext cx="4953255" cy="1676486"/>
          </a:xfrm>
          <a:prstGeom prst="rect">
            <a:avLst/>
          </a:prstGeom>
        </p:spPr>
      </p:pic>
      <p:graphicFrame>
        <p:nvGraphicFramePr>
          <p:cNvPr id="18" name="Content Placeholder 17">
            <a:extLst>
              <a:ext uri="{FF2B5EF4-FFF2-40B4-BE49-F238E27FC236}">
                <a16:creationId xmlns:a16="http://schemas.microsoft.com/office/drawing/2014/main" id="{E41728F7-F82A-E391-6450-0A7A3597B1E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2181261"/>
              </p:ext>
            </p:extLst>
          </p:nvPr>
        </p:nvGraphicFramePr>
        <p:xfrm>
          <a:off x="4522168" y="4200786"/>
          <a:ext cx="2520950" cy="1503680"/>
        </p:xfrm>
        <a:graphic>
          <a:graphicData uri="http://schemas.openxmlformats.org/drawingml/2006/table">
            <a:tbl>
              <a:tblPr/>
              <a:tblGrid>
                <a:gridCol w="840272">
                  <a:extLst>
                    <a:ext uri="{9D8B030D-6E8A-4147-A177-3AD203B41FA5}">
                      <a16:colId xmlns:a16="http://schemas.microsoft.com/office/drawing/2014/main" val="798150096"/>
                    </a:ext>
                  </a:extLst>
                </a:gridCol>
                <a:gridCol w="840272">
                  <a:extLst>
                    <a:ext uri="{9D8B030D-6E8A-4147-A177-3AD203B41FA5}">
                      <a16:colId xmlns:a16="http://schemas.microsoft.com/office/drawing/2014/main" val="2434558309"/>
                    </a:ext>
                  </a:extLst>
                </a:gridCol>
                <a:gridCol w="840406">
                  <a:extLst>
                    <a:ext uri="{9D8B030D-6E8A-4147-A177-3AD203B41FA5}">
                      <a16:colId xmlns:a16="http://schemas.microsoft.com/office/drawing/2014/main" val="2259565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>
                          <a:effectLst/>
                        </a:rPr>
                        <a:t>a</a:t>
                      </a:r>
                      <a:endParaRPr lang="en-US">
                        <a:effectLst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>
                          <a:effectLst/>
                        </a:rPr>
                        <a:t>b</a:t>
                      </a:r>
                      <a:endParaRPr lang="en-US">
                        <a:effectLst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82837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→</a:t>
                      </a:r>
                      <a:r>
                        <a:rPr lang="en-US" sz="1200" b="1">
                          <a:effectLst/>
                        </a:rPr>
                        <a:t>q0</a:t>
                      </a:r>
                      <a:endParaRPr lang="en-US">
                        <a:effectLst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*q1</a:t>
                      </a: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q0</a:t>
                      </a: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71662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>
                          <a:effectLst/>
                        </a:rPr>
                        <a:t>*q1</a:t>
                      </a:r>
                      <a:endParaRPr lang="en-US">
                        <a:effectLst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*q2</a:t>
                      </a: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*q1</a:t>
                      </a: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65758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>
                          <a:effectLst/>
                        </a:rPr>
                        <a:t>*q2</a:t>
                      </a:r>
                      <a:endParaRPr lang="en-US">
                        <a:effectLst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*q1</a:t>
                      </a: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*q2</a:t>
                      </a: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0573091"/>
                  </a:ext>
                </a:extLst>
              </a:tr>
            </a:tbl>
          </a:graphicData>
        </a:graphic>
      </p:graphicFrame>
      <p:sp>
        <p:nvSpPr>
          <p:cNvPr id="19" name="Rectangle 4">
            <a:extLst>
              <a:ext uri="{FF2B5EF4-FFF2-40B4-BE49-F238E27FC236}">
                <a16:creationId xmlns:a16="http://schemas.microsoft.com/office/drawing/2014/main" id="{655EFA93-C7C8-4F05-BB77-A690251A53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2168" y="420094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918556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3AD0B-4192-E405-B2D5-669A98CEC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D295B7EF-2081-90EA-9C70-3631690248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7320136" y="2222438"/>
            <a:ext cx="3054507" cy="1206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6B11D1-CEBF-DF8D-C96F-932B4794B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FDB2A-29F8-4B15-AF86-FA23907D6058}" type="datetime1">
              <a:rPr lang="en-US" smtClean="0"/>
              <a:t>1/18/2026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C2B665-CE62-8D4F-AF2F-79FECF99E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Sujit Kumar Das, Pandit Deendayal Energy University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9F4229-8406-D76A-1F91-CD6B2F702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7AF29-B1D1-4F28-8D89-89FA7809DA46}" type="slidenum">
              <a:rPr lang="en-IN" smtClean="0"/>
              <a:pPr/>
              <a:t>32</a:t>
            </a:fld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5814F88-4BF0-AA5B-AE58-698A972974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4388" y="2148660"/>
            <a:ext cx="3359323" cy="1162110"/>
          </a:xfrm>
          <a:prstGeom prst="rect">
            <a:avLst/>
          </a:prstGeom>
        </p:spPr>
      </p:pic>
      <p:sp>
        <p:nvSpPr>
          <p:cNvPr id="11" name="Arrow: Right 10">
            <a:extLst>
              <a:ext uri="{FF2B5EF4-FFF2-40B4-BE49-F238E27FC236}">
                <a16:creationId xmlns:a16="http://schemas.microsoft.com/office/drawing/2014/main" id="{01DC060D-1865-C719-735F-1902ED4587E5}"/>
              </a:ext>
            </a:extLst>
          </p:cNvPr>
          <p:cNvSpPr/>
          <p:nvPr/>
        </p:nvSpPr>
        <p:spPr bwMode="auto">
          <a:xfrm>
            <a:off x="4949815" y="2518682"/>
            <a:ext cx="1944216" cy="792088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A8E87E2-3B91-8188-0BDF-547B36479F9F}"/>
              </a:ext>
            </a:extLst>
          </p:cNvPr>
          <p:cNvSpPr txBox="1"/>
          <p:nvPr/>
        </p:nvSpPr>
        <p:spPr>
          <a:xfrm>
            <a:off x="1899188" y="4037002"/>
            <a:ext cx="6101254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spcBef>
                <a:spcPts val="300"/>
              </a:spcBef>
              <a:spcAft>
                <a:spcPts val="900"/>
              </a:spcAft>
              <a:buNone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P</a:t>
            </a:r>
            <a:r>
              <a:rPr lang="en-US" b="0" i="0" baseline="-25000" dirty="0">
                <a:solidFill>
                  <a:srgbClr val="303030"/>
                </a:solidFill>
                <a:effectLst/>
                <a:latin typeface="Arimo"/>
              </a:rPr>
              <a:t>0</a:t>
            </a: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 = { q</a:t>
            </a:r>
            <a:r>
              <a:rPr lang="en-US" b="0" i="0" baseline="-25000" dirty="0">
                <a:solidFill>
                  <a:srgbClr val="303030"/>
                </a:solidFill>
                <a:effectLst/>
                <a:latin typeface="Arimo"/>
              </a:rPr>
              <a:t>0</a:t>
            </a: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 } { q</a:t>
            </a:r>
            <a:r>
              <a:rPr lang="en-US" b="0" i="0" baseline="-25000" dirty="0">
                <a:solidFill>
                  <a:srgbClr val="303030"/>
                </a:solidFill>
                <a:effectLst/>
                <a:latin typeface="Arimo"/>
              </a:rPr>
              <a:t>1</a:t>
            </a: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 , q</a:t>
            </a:r>
            <a:r>
              <a:rPr lang="en-US" b="0" i="0" baseline="-25000" dirty="0">
                <a:solidFill>
                  <a:srgbClr val="303030"/>
                </a:solidFill>
                <a:effectLst/>
                <a:latin typeface="Arimo"/>
              </a:rPr>
              <a:t>2</a:t>
            </a: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 }</a:t>
            </a:r>
          </a:p>
          <a:p>
            <a:pPr algn="l" fontAlgn="base">
              <a:spcBef>
                <a:spcPts val="300"/>
              </a:spcBef>
              <a:spcAft>
                <a:spcPts val="900"/>
              </a:spcAft>
              <a:buNone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P</a:t>
            </a:r>
            <a:r>
              <a:rPr lang="en-US" b="0" i="0" baseline="-25000" dirty="0">
                <a:solidFill>
                  <a:srgbClr val="303030"/>
                </a:solidFill>
                <a:effectLst/>
                <a:latin typeface="Arimo"/>
              </a:rPr>
              <a:t>1</a:t>
            </a: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 = { q</a:t>
            </a:r>
            <a:r>
              <a:rPr lang="en-US" b="0" i="0" baseline="-25000" dirty="0">
                <a:solidFill>
                  <a:srgbClr val="303030"/>
                </a:solidFill>
                <a:effectLst/>
                <a:latin typeface="Arimo"/>
              </a:rPr>
              <a:t>0</a:t>
            </a: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 } { q</a:t>
            </a:r>
            <a:r>
              <a:rPr lang="en-US" b="0" i="0" baseline="-25000" dirty="0">
                <a:solidFill>
                  <a:srgbClr val="303030"/>
                </a:solidFill>
                <a:effectLst/>
                <a:latin typeface="Arimo"/>
              </a:rPr>
              <a:t>1</a:t>
            </a: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 , q</a:t>
            </a:r>
            <a:r>
              <a:rPr lang="en-US" b="0" i="0" baseline="-25000" dirty="0">
                <a:solidFill>
                  <a:srgbClr val="303030"/>
                </a:solidFill>
                <a:effectLst/>
                <a:latin typeface="Arimo"/>
              </a:rPr>
              <a:t>2</a:t>
            </a: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 }</a:t>
            </a:r>
          </a:p>
        </p:txBody>
      </p:sp>
    </p:spTree>
    <p:extLst>
      <p:ext uri="{BB962C8B-B14F-4D97-AF65-F5344CB8AC3E}">
        <p14:creationId xmlns:p14="http://schemas.microsoft.com/office/powerpoint/2010/main" val="33365430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1CD2F-972F-0BC3-E546-B7341B762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DFA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C7F80F-64F9-CB2F-789F-485409906DF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Construct </a:t>
                </a:r>
                <a:r>
                  <a:rPr lang="en-US" dirty="0" err="1"/>
                  <a:t>dfa's</a:t>
                </a:r>
                <a:r>
                  <a:rPr lang="en-US" dirty="0"/>
                  <a:t> that accept following language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0,1</m:t>
                        </m:r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dirty="0"/>
                  <a:t> the decimal value of the string is even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0,1</m:t>
                        </m:r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dirty="0"/>
                  <a:t> the mod 3 of decimal value of the string is 0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0,1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dirty="0"/>
                  <a:t> the third bit from the left end is 1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0,1</m:t>
                        </m:r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dirty="0"/>
                  <a:t> </a:t>
                </a:r>
                <a:r>
                  <a:rPr lang="en-US"/>
                  <a:t>the third </a:t>
                </a:r>
                <a:r>
                  <a:rPr lang="en-US" dirty="0"/>
                  <a:t>bit from the right end is 1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C7F80F-64F9-CB2F-789F-485409906DF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26" t="-21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686D10-5C51-D029-6C41-433FE5909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FDB2A-29F8-4B15-AF86-FA23907D6058}" type="datetime1">
              <a:rPr lang="en-US" smtClean="0"/>
              <a:t>1/18/2026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DD6691-4E31-B5B9-5FBB-6FF265033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Sujit Kumar Das, Pandit Deendayal Energy University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168C9C-8EF3-1A2A-DA6D-F6993E0A6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7AF29-B1D1-4F28-8D89-89FA7809DA46}" type="slidenum">
              <a:rPr lang="en-IN" smtClean="0"/>
              <a:pPr/>
              <a:t>33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30894529"/>
      </p:ext>
    </p:extLst>
  </p:cSld>
  <p:clrMapOvr>
    <a:masterClrMapping/>
  </p:clrMapOvr>
</p:sld>
</file>

<file path=ppt/theme/theme1.xml><?xml version="1.0" encoding="utf-8"?>
<a:theme xmlns:a="http://schemas.openxmlformats.org/drawingml/2006/main" name="Blends design template">
  <a:themeElements>
    <a:clrScheme name="Office Theme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Office Classic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I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I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Office Theme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54652D626EF27418F127E2176372956" ma:contentTypeVersion="3" ma:contentTypeDescription="Create a new document." ma:contentTypeScope="" ma:versionID="2b064473f3a39c4b1b822d1e15fbbbd4">
  <xsd:schema xmlns:xsd="http://www.w3.org/2001/XMLSchema" xmlns:xs="http://www.w3.org/2001/XMLSchema" xmlns:p="http://schemas.microsoft.com/office/2006/metadata/properties" xmlns:ns2="68ba0970-912c-4fb2-a53c-0caaa438d5d3" targetNamespace="http://schemas.microsoft.com/office/2006/metadata/properties" ma:root="true" ma:fieldsID="1256c34503236dbd4c9b83a8c4e87288" ns2:_="">
    <xsd:import namespace="68ba0970-912c-4fb2-a53c-0caaa438d5d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8ba0970-912c-4fb2-a53c-0caaa438d5d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D22ECC4-3126-497E-8F54-5EA26384573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8ba0970-912c-4fb2-a53c-0caaa438d5d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FFB2E52-F24A-4DFD-BF39-D63F9950543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0896C44-1420-4D91-8388-3BB9B14DDDF7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Blends design template</Template>
  <TotalTime>46914</TotalTime>
  <Words>2184</Words>
  <Application>Microsoft Office PowerPoint</Application>
  <PresentationFormat>Widescreen</PresentationFormat>
  <Paragraphs>320</Paragraphs>
  <Slides>33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4" baseType="lpstr">
      <vt:lpstr>Blends design template</vt:lpstr>
      <vt:lpstr>Theory of Computation</vt:lpstr>
      <vt:lpstr>Finite Automata</vt:lpstr>
      <vt:lpstr>How an Automaton Works</vt:lpstr>
      <vt:lpstr>Finite Automaton</vt:lpstr>
      <vt:lpstr>Example to Explain Automata</vt:lpstr>
      <vt:lpstr>Key points to remember</vt:lpstr>
      <vt:lpstr>Transition Function (δ) </vt:lpstr>
      <vt:lpstr>DFA Transition Table</vt:lpstr>
      <vt:lpstr>Grammar (English)</vt:lpstr>
      <vt:lpstr>Grammar (TOC)</vt:lpstr>
      <vt:lpstr>PowerPoint Presentation</vt:lpstr>
      <vt:lpstr>PowerPoint Presentation</vt:lpstr>
      <vt:lpstr>Example </vt:lpstr>
      <vt:lpstr>Find Grammar</vt:lpstr>
      <vt:lpstr>Language Generation </vt:lpstr>
      <vt:lpstr>Exercise</vt:lpstr>
      <vt:lpstr>Draw State Digram</vt:lpstr>
      <vt:lpstr>NON-Deterministic Finite Automata</vt:lpstr>
      <vt:lpstr>NONDETERMINISTIC FINITE STATE MACHINES</vt:lpstr>
      <vt:lpstr>NDFA</vt:lpstr>
      <vt:lpstr>DFA vs NDFA</vt:lpstr>
      <vt:lpstr>String processing by NDFA</vt:lpstr>
      <vt:lpstr>Exercise</vt:lpstr>
      <vt:lpstr>Minimization of DFA</vt:lpstr>
      <vt:lpstr>PowerPoint Presentation</vt:lpstr>
      <vt:lpstr>PowerPoint Presentation</vt:lpstr>
      <vt:lpstr>PowerPoint Presentation</vt:lpstr>
      <vt:lpstr>Example </vt:lpstr>
      <vt:lpstr>PowerPoint Presentation</vt:lpstr>
      <vt:lpstr>PowerPoint Presentation</vt:lpstr>
      <vt:lpstr>PowerPoint Presentation</vt:lpstr>
      <vt:lpstr>PowerPoint Presentation</vt:lpstr>
      <vt:lpstr>Example of DFA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</dc:creator>
  <cp:lastModifiedBy>Sujit Das</cp:lastModifiedBy>
  <cp:revision>808</cp:revision>
  <cp:lastPrinted>1601-01-01T00:00:00Z</cp:lastPrinted>
  <dcterms:created xsi:type="dcterms:W3CDTF">2021-03-13T17:54:44Z</dcterms:created>
  <dcterms:modified xsi:type="dcterms:W3CDTF">2026-01-18T17:14:43Z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TC102037591033</vt:lpwstr>
  </property>
  <property fmtid="{D5CDD505-2E9C-101B-9397-08002B2CF9AE}" pid="3" name="ContentTypeId">
    <vt:lpwstr>0x010100954652D626EF27418F127E2176372956</vt:lpwstr>
  </property>
</Properties>
</file>