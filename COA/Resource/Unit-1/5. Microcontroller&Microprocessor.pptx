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0A29D-B90F-4969-A197-923702A29B2E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9C9B8-B349-4EB9-8A1F-C9E87BEE9E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9441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0A29D-B90F-4969-A197-923702A29B2E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9C9B8-B349-4EB9-8A1F-C9E87BEE9E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6612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0A29D-B90F-4969-A197-923702A29B2E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9C9B8-B349-4EB9-8A1F-C9E87BEE9E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4551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0A29D-B90F-4969-A197-923702A29B2E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9C9B8-B349-4EB9-8A1F-C9E87BEE9E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5961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0A29D-B90F-4969-A197-923702A29B2E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9C9B8-B349-4EB9-8A1F-C9E87BEE9E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3618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0A29D-B90F-4969-A197-923702A29B2E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9C9B8-B349-4EB9-8A1F-C9E87BEE9E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7742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0A29D-B90F-4969-A197-923702A29B2E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9C9B8-B349-4EB9-8A1F-C9E87BEE9E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1204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0A29D-B90F-4969-A197-923702A29B2E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9C9B8-B349-4EB9-8A1F-C9E87BEE9E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4435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0A29D-B90F-4969-A197-923702A29B2E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9C9B8-B349-4EB9-8A1F-C9E87BEE9E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8911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0A29D-B90F-4969-A197-923702A29B2E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9C9B8-B349-4EB9-8A1F-C9E87BEE9E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361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0A29D-B90F-4969-A197-923702A29B2E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9C9B8-B349-4EB9-8A1F-C9E87BEE9E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7240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A0A29D-B90F-4969-A197-923702A29B2E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99C9B8-B349-4EB9-8A1F-C9E87BEE9E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617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87275" y="813148"/>
            <a:ext cx="11166437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smtClean="0"/>
              <a:t>Microcontroller units (MCUs) and microprocessor units (MPUs) are two kinds of integrated circuits that, while similar in certain ways, are very different in many others. Replacing antiquated multi-component central processing units (CPUs) with separate logic units, these single-chip processors are both extremely valuable in the continued development of computing technology. </a:t>
            </a:r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However, microcontrollers and microprocessors differ significantly in component structure, chip architecture, performance capabilities and application.</a:t>
            </a:r>
          </a:p>
          <a:p>
            <a:pPr algn="just"/>
            <a:endParaRPr lang="en-US" dirty="0"/>
          </a:p>
          <a:p>
            <a:pPr algn="just"/>
            <a:r>
              <a:rPr lang="en-IN" b="1" dirty="0" smtClean="0">
                <a:solidFill>
                  <a:srgbClr val="FF0000"/>
                </a:solidFill>
              </a:rPr>
              <a:t>Microcontrollers do not require additional peripherals or complex operating systems to function, while microprocessors do. Both circuits contain CPUs, however, microcontrollers also integrate memory, input/output (I/O) components and other varied peripherals</a:t>
            </a:r>
            <a:r>
              <a:rPr lang="en-IN" b="1" dirty="0" smtClean="0">
                <a:solidFill>
                  <a:srgbClr val="FF0000"/>
                </a:solidFill>
              </a:rPr>
              <a:t>.</a:t>
            </a:r>
            <a:endParaRPr lang="en-IN" b="1" dirty="0" smtClean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27717" y="124616"/>
            <a:ext cx="56925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IN" sz="2400" b="1" i="0" dirty="0" smtClean="0">
                <a:solidFill>
                  <a:srgbClr val="161616"/>
                </a:solidFill>
                <a:effectLst/>
                <a:latin typeface="IBM Plex Sans"/>
              </a:rPr>
              <a:t>Microcontrollers vs. microprocessors</a:t>
            </a:r>
            <a:endParaRPr lang="en-IN" sz="2400" b="1" i="0" dirty="0">
              <a:solidFill>
                <a:srgbClr val="161616"/>
              </a:solidFill>
              <a:effectLst/>
              <a:latin typeface="IBM Plex Sans"/>
            </a:endParaRPr>
          </a:p>
        </p:txBody>
      </p:sp>
    </p:spTree>
    <p:extLst>
      <p:ext uri="{BB962C8B-B14F-4D97-AF65-F5344CB8AC3E}">
        <p14:creationId xmlns:p14="http://schemas.microsoft.com/office/powerpoint/2010/main" val="2940969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87275" y="813148"/>
            <a:ext cx="11166437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smtClean="0"/>
              <a:t>Essentially, a microcontroller is a small computer on a single chip, containing a processor core (or cores), operational memory (RAM) and electrically erasable programmable read-only memory (EEPROM) for program memory. Optimized to function as standalone units, microcontroller integrations improve real-time signal processing and make these compact units ideal for controlling specific tasks or duties within embedded systems.</a:t>
            </a:r>
          </a:p>
          <a:p>
            <a:pPr algn="just"/>
            <a:endParaRPr lang="en-US" b="1" dirty="0">
              <a:solidFill>
                <a:srgbClr val="FF0000"/>
              </a:solidFill>
            </a:endParaRPr>
          </a:p>
          <a:p>
            <a:pPr fontAlgn="base"/>
            <a:r>
              <a:rPr lang="en-US" i="1" dirty="0"/>
              <a:t>Key components of a </a:t>
            </a:r>
            <a:r>
              <a:rPr lang="en-US" i="1" dirty="0" smtClean="0"/>
              <a:t>microcontroller:</a:t>
            </a:r>
          </a:p>
          <a:p>
            <a:pPr fontAlgn="base"/>
            <a:endParaRPr lang="en-US" dirty="0"/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Central processing unit (CPU):</a:t>
            </a:r>
            <a:r>
              <a:rPr lang="en-US" dirty="0">
                <a:solidFill>
                  <a:srgbClr val="FF0000"/>
                </a:solidFill>
              </a:rPr>
              <a:t> </a:t>
            </a:r>
            <a:r>
              <a:rPr lang="en-US" dirty="0"/>
              <a:t>Colloquially referred to as the computer’s “brain,” the CPU is responsible for executing instructions and controlling operations</a:t>
            </a:r>
            <a:r>
              <a:rPr lang="en-US" dirty="0" smtClean="0"/>
              <a:t>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Memory:</a:t>
            </a:r>
            <a:r>
              <a:rPr lang="en-US" dirty="0">
                <a:solidFill>
                  <a:srgbClr val="FF0000"/>
                </a:solidFill>
              </a:rPr>
              <a:t> </a:t>
            </a:r>
            <a:r>
              <a:rPr lang="en-US" dirty="0"/>
              <a:t>Microcontrollers contain both volatile memory (RAM), which stores temporary data that may be lost if the system loses power, and non-volatile flash memory (ROM) for storing the microcontroller’s programming code</a:t>
            </a:r>
            <a:r>
              <a:rPr lang="en-US" dirty="0" smtClean="0"/>
              <a:t>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Peripherals:</a:t>
            </a:r>
            <a:r>
              <a:rPr lang="en-US" dirty="0"/>
              <a:t> Depending on the intended application, a microcontroller may contain various peripheral components, such as I/O interfaces, timers, counters, analog-to-digital converters (ADCs) and communication protocols (UART, SPI, I2C</a:t>
            </a:r>
            <a:r>
              <a:rPr lang="en-US" dirty="0" smtClean="0"/>
              <a:t>).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dirty="0"/>
          </a:p>
          <a:p>
            <a:pPr algn="just" fontAlgn="base"/>
            <a:r>
              <a:rPr lang="en-US" dirty="0">
                <a:solidFill>
                  <a:srgbClr val="FF0000"/>
                </a:solidFill>
              </a:rPr>
              <a:t>Lightweight, small and requiring comparatively low power, microcontrollers are ideal for battery-operated electronic devices like smartphones, smartwatches and other wearables. </a:t>
            </a:r>
          </a:p>
        </p:txBody>
      </p:sp>
      <p:sp>
        <p:nvSpPr>
          <p:cNvPr id="2" name="Rectangle 1"/>
          <p:cNvSpPr/>
          <p:nvPr/>
        </p:nvSpPr>
        <p:spPr>
          <a:xfrm>
            <a:off x="3750859" y="156889"/>
            <a:ext cx="48686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IN" sz="2400" b="1" i="0" dirty="0" smtClean="0">
                <a:solidFill>
                  <a:srgbClr val="161616"/>
                </a:solidFill>
                <a:effectLst/>
                <a:latin typeface="IBM Plex Sans"/>
              </a:rPr>
              <a:t>Understanding microcontrollers</a:t>
            </a:r>
            <a:endParaRPr lang="en-IN" sz="2400" b="1" i="0" dirty="0">
              <a:solidFill>
                <a:srgbClr val="161616"/>
              </a:solidFill>
              <a:effectLst/>
              <a:latin typeface="IBM Plex Sans"/>
            </a:endParaRPr>
          </a:p>
        </p:txBody>
      </p:sp>
    </p:spTree>
    <p:extLst>
      <p:ext uri="{BB962C8B-B14F-4D97-AF65-F5344CB8AC3E}">
        <p14:creationId xmlns:p14="http://schemas.microsoft.com/office/powerpoint/2010/main" val="143580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87275" y="716326"/>
            <a:ext cx="11166437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/>
              <a:t>Microprocessors are the predominant type of computer processor, integrating all the required components of a CPU into a single circuit. MPUs combine the arithmetic, logic and control units of antiquated CPU computer systems into a single multipurpose, clock-driven and register-based piece of hardware</a:t>
            </a:r>
            <a:r>
              <a:rPr lang="en-US" sz="1400" dirty="0" smtClean="0"/>
              <a:t>. </a:t>
            </a:r>
            <a:r>
              <a:rPr lang="en-US" sz="1400" dirty="0"/>
              <a:t>While microprocessors do not contain on-chip program memory, they are optimized for demanding general-purpose use and designed to support and be supported by specialized computer peripherals</a:t>
            </a:r>
            <a:r>
              <a:rPr lang="en-US" sz="1400" dirty="0" smtClean="0"/>
              <a:t>.</a:t>
            </a:r>
          </a:p>
          <a:p>
            <a:pPr algn="just"/>
            <a:endParaRPr lang="en-US" sz="1600" dirty="0">
              <a:solidFill>
                <a:srgbClr val="FF0000"/>
              </a:solidFill>
            </a:endParaRPr>
          </a:p>
          <a:p>
            <a:pPr algn="just" fontAlgn="base"/>
            <a:r>
              <a:rPr lang="en-US" sz="1600" i="1" dirty="0"/>
              <a:t>Key components of a </a:t>
            </a:r>
            <a:r>
              <a:rPr lang="en-US" sz="1600" i="1" dirty="0" smtClean="0"/>
              <a:t>microprocessor:</a:t>
            </a:r>
            <a:endParaRPr lang="en-US" sz="1600" i="1" dirty="0"/>
          </a:p>
          <a:p>
            <a:pPr algn="just" fontAlgn="base"/>
            <a:r>
              <a:rPr lang="en-US" sz="1400" dirty="0"/>
              <a:t>Modern microprocessors combine millions of small transistors, resistors and diodes assembled on a semiconductor material to create the key components of a CPU. </a:t>
            </a:r>
            <a:endParaRPr lang="en-US" sz="1400" dirty="0" smtClean="0"/>
          </a:p>
          <a:p>
            <a:pPr algn="just" fontAlgn="base"/>
            <a:endParaRPr lang="en-US" sz="1400" dirty="0"/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Arithmetic logic unit (ALU):</a:t>
            </a:r>
            <a:r>
              <a:rPr lang="en-US" sz="1400" dirty="0">
                <a:solidFill>
                  <a:srgbClr val="FF0000"/>
                </a:solidFill>
              </a:rPr>
              <a:t> </a:t>
            </a:r>
            <a:r>
              <a:rPr lang="en-US" sz="1400" dirty="0"/>
              <a:t>The main logic unit of the CPU, this component executes logical operations including mathematical calculations and data comparisons. </a:t>
            </a:r>
            <a:endParaRPr lang="en-US" sz="1400" dirty="0" smtClean="0"/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Control unit (CU):</a:t>
            </a:r>
            <a:r>
              <a:rPr lang="en-US" sz="1400" dirty="0"/>
              <a:t> The CU circuit interprets instructions and initiates their execution, directing the basic operations of the processor. </a:t>
            </a:r>
            <a:endParaRPr lang="en-US" sz="1400" dirty="0" smtClean="0"/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Registers:</a:t>
            </a:r>
            <a:r>
              <a:rPr lang="en-US" sz="1400" dirty="0"/>
              <a:t> Small, fast memory storage used by a CPU to temporarily hold data and instructions during computational processes. </a:t>
            </a:r>
            <a:endParaRPr lang="en-US" sz="1400" dirty="0" smtClean="0"/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Cache memory:</a:t>
            </a:r>
            <a:r>
              <a:rPr lang="en-US" sz="1400" dirty="0"/>
              <a:t> Microprocessors and CPUs use cache memory, a high-speed form of memory located close to the CPU, to store frequently accessed data to accelerate performance. </a:t>
            </a:r>
            <a:endParaRPr lang="en-US" sz="1400" dirty="0" smtClean="0"/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Processor cores:</a:t>
            </a:r>
            <a:r>
              <a:rPr lang="en-US" sz="1400" b="1" dirty="0"/>
              <a:t> </a:t>
            </a:r>
            <a:r>
              <a:rPr lang="en-US" sz="1400" dirty="0"/>
              <a:t>Individual processing units within microprocessors are known as cores. Modern processors frequently incorporate multiple cores (dual-core, quad-core) allowing for parallel processing by enabling the performance of multiple tasks simultaneously.  </a:t>
            </a:r>
            <a:endParaRPr lang="en-US" sz="1400" dirty="0" smtClean="0"/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r>
              <a:rPr lang="en-US" sz="1400" dirty="0"/>
              <a:t> </a:t>
            </a:r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I/O modules:</a:t>
            </a:r>
            <a:r>
              <a:rPr lang="en-US" sz="1400" b="1" dirty="0"/>
              <a:t> </a:t>
            </a:r>
            <a:r>
              <a:rPr lang="en-US" sz="1400" dirty="0"/>
              <a:t>A microprocessor’s I/O components are critical for managing the flow of data to and from the CPU, including any additional computer peripherals including networking peripherals such as </a:t>
            </a:r>
            <a:r>
              <a:rPr lang="en-US" sz="1400" dirty="0" smtClean="0"/>
              <a:t>Ethernet </a:t>
            </a:r>
            <a:r>
              <a:rPr lang="en-US" sz="1400" dirty="0"/>
              <a:t>ports or </a:t>
            </a:r>
            <a:r>
              <a:rPr lang="en-US" sz="1400" dirty="0" smtClean="0"/>
              <a:t>Wi-Fi </a:t>
            </a:r>
            <a:r>
              <a:rPr lang="en-US" sz="1400" dirty="0"/>
              <a:t>units</a:t>
            </a:r>
            <a:r>
              <a:rPr lang="en-US" sz="1400" dirty="0" smtClean="0"/>
              <a:t>.</a:t>
            </a:r>
            <a:endParaRPr lang="en-US" sz="1400" dirty="0"/>
          </a:p>
        </p:txBody>
      </p:sp>
      <p:sp>
        <p:nvSpPr>
          <p:cNvPr id="2" name="Rectangle 1"/>
          <p:cNvSpPr/>
          <p:nvPr/>
        </p:nvSpPr>
        <p:spPr>
          <a:xfrm>
            <a:off x="3525162" y="124616"/>
            <a:ext cx="49391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IN" sz="2400" b="1" i="0" dirty="0" smtClean="0">
                <a:solidFill>
                  <a:srgbClr val="161616"/>
                </a:solidFill>
                <a:effectLst/>
                <a:latin typeface="IBM Plex Sans"/>
              </a:rPr>
              <a:t>Understanding microprocessors</a:t>
            </a:r>
            <a:endParaRPr lang="en-IN" sz="2400" b="1" i="0" dirty="0">
              <a:solidFill>
                <a:srgbClr val="161616"/>
              </a:solidFill>
              <a:effectLst/>
              <a:latin typeface="IBM Plex Sans"/>
            </a:endParaRPr>
          </a:p>
        </p:txBody>
      </p:sp>
    </p:spTree>
    <p:extLst>
      <p:ext uri="{BB962C8B-B14F-4D97-AF65-F5344CB8AC3E}">
        <p14:creationId xmlns:p14="http://schemas.microsoft.com/office/powerpoint/2010/main" val="444952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25162" y="124616"/>
            <a:ext cx="53495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IN" sz="2400" b="1" i="0" dirty="0" smtClean="0">
                <a:solidFill>
                  <a:srgbClr val="161616"/>
                </a:solidFill>
                <a:effectLst/>
                <a:latin typeface="IBM Plex Sans"/>
              </a:rPr>
              <a:t>Microprocessor </a:t>
            </a:r>
            <a:r>
              <a:rPr lang="en-IN" sz="2400" b="1" i="1" dirty="0" smtClean="0">
                <a:solidFill>
                  <a:srgbClr val="FF0000"/>
                </a:solidFill>
                <a:effectLst/>
                <a:latin typeface="IBM Plex Sans"/>
              </a:rPr>
              <a:t>vs.</a:t>
            </a:r>
            <a:r>
              <a:rPr lang="en-IN" sz="2400" b="1" i="0" dirty="0" smtClean="0">
                <a:solidFill>
                  <a:srgbClr val="161616"/>
                </a:solidFill>
                <a:effectLst/>
                <a:latin typeface="IBM Plex Sans"/>
              </a:rPr>
              <a:t> microcontroller</a:t>
            </a:r>
            <a:endParaRPr lang="en-IN" sz="2400" b="1" i="0" dirty="0">
              <a:solidFill>
                <a:srgbClr val="161616"/>
              </a:solidFill>
              <a:effectLst/>
              <a:latin typeface="IBM Plex Sans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1427815"/>
              </p:ext>
            </p:extLst>
          </p:nvPr>
        </p:nvGraphicFramePr>
        <p:xfrm>
          <a:off x="1737957" y="591649"/>
          <a:ext cx="8923950" cy="6009406"/>
        </p:xfrm>
        <a:graphic>
          <a:graphicData uri="http://schemas.openxmlformats.org/drawingml/2006/table">
            <a:tbl>
              <a:tblPr/>
              <a:tblGrid>
                <a:gridCol w="2974650"/>
                <a:gridCol w="2974650"/>
                <a:gridCol w="2974650"/>
              </a:tblGrid>
              <a:tr h="269125">
                <a:tc>
                  <a:txBody>
                    <a:bodyPr/>
                    <a:lstStyle/>
                    <a:p>
                      <a:pPr algn="ctr"/>
                      <a:r>
                        <a:rPr lang="en-IN" sz="1500" b="1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Parameter</a:t>
                      </a:r>
                    </a:p>
                  </a:txBody>
                  <a:tcPr marL="26533" marR="26533" marT="26533" marB="26533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Microprocessor</a:t>
                      </a:r>
                    </a:p>
                  </a:txBody>
                  <a:tcPr marL="26533" marR="26533" marT="26533" marB="26533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Microcontroller</a:t>
                      </a:r>
                    </a:p>
                  </a:txBody>
                  <a:tcPr marL="26533" marR="26533" marT="26533" marB="26533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CF"/>
                    </a:solidFill>
                  </a:tcPr>
                </a:tc>
              </a:tr>
              <a:tr h="70016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b="1">
                          <a:effectLst/>
                          <a:latin typeface="inherit"/>
                        </a:rPr>
                        <a:t>Definition</a:t>
                      </a:r>
                      <a:endParaRPr lang="en-IN" sz="1500">
                        <a:effectLst/>
                      </a:endParaRPr>
                    </a:p>
                  </a:txBody>
                  <a:tcPr marL="26533" marR="26533" marT="26533" marB="26533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effectLst/>
                        </a:rPr>
                        <a:t>Microprocessors can be understood as the heart of a computer system.</a:t>
                      </a:r>
                    </a:p>
                  </a:txBody>
                  <a:tcPr marL="26533" marR="26533" marT="26533" marB="26533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effectLst/>
                        </a:rPr>
                        <a:t>Microcontrollers can be understood as the heart of an embedded system.</a:t>
                      </a:r>
                    </a:p>
                  </a:txBody>
                  <a:tcPr marL="26533" marR="26533" marT="26533" marB="26533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587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b="1">
                          <a:effectLst/>
                          <a:latin typeface="inherit"/>
                        </a:rPr>
                        <a:t>What is it?</a:t>
                      </a:r>
                      <a:endParaRPr lang="en-IN" sz="1500">
                        <a:effectLst/>
                      </a:endParaRPr>
                    </a:p>
                  </a:txBody>
                  <a:tcPr marL="26533" marR="26533" marT="26533" marB="26533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effectLst/>
                        </a:rPr>
                        <a:t>A microprocessor is a processor where the memory and I/O component are connected externally.</a:t>
                      </a:r>
                    </a:p>
                  </a:txBody>
                  <a:tcPr marL="26533" marR="26533" marT="26533" marB="26533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effectLst/>
                        </a:rPr>
                        <a:t>A microcontroller is a controlling device wherein the memory and I/O output component are present internally.</a:t>
                      </a:r>
                    </a:p>
                  </a:txBody>
                  <a:tcPr marL="26533" marR="26533" marT="26533" marB="26533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016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b="1">
                          <a:effectLst/>
                          <a:latin typeface="inherit"/>
                        </a:rPr>
                        <a:t>Circuit complexity</a:t>
                      </a:r>
                      <a:endParaRPr lang="en-IN" sz="1500">
                        <a:effectLst/>
                      </a:endParaRPr>
                    </a:p>
                  </a:txBody>
                  <a:tcPr marL="26533" marR="26533" marT="26533" marB="26533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effectLst/>
                        </a:rPr>
                        <a:t>The circuit is complex due to external connection.</a:t>
                      </a:r>
                    </a:p>
                  </a:txBody>
                  <a:tcPr marL="26533" marR="26533" marT="26533" marB="26533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effectLst/>
                        </a:rPr>
                        <a:t>Microcontrollers are present on chip memory. The circuit is less complex.</a:t>
                      </a:r>
                    </a:p>
                  </a:txBody>
                  <a:tcPr marL="26533" marR="26533" marT="26533" marB="26533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344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b="1">
                          <a:effectLst/>
                          <a:latin typeface="inherit"/>
                        </a:rPr>
                        <a:t>Memory and I/O components</a:t>
                      </a:r>
                      <a:endParaRPr lang="en-IN" sz="1500">
                        <a:effectLst/>
                      </a:endParaRPr>
                    </a:p>
                  </a:txBody>
                  <a:tcPr marL="26533" marR="26533" marT="26533" marB="26533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effectLst/>
                        </a:rPr>
                        <a:t>The memory and I/O components are to be connected externally.</a:t>
                      </a:r>
                    </a:p>
                  </a:txBody>
                  <a:tcPr marL="26533" marR="26533" marT="26533" marB="26533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effectLst/>
                        </a:rPr>
                        <a:t>The memory and I/O components are available.</a:t>
                      </a:r>
                    </a:p>
                  </a:txBody>
                  <a:tcPr marL="26533" marR="26533" marT="26533" marB="26533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46"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b="1">
                          <a:effectLst/>
                          <a:latin typeface="inherit"/>
                        </a:rPr>
                        <a:t>Compact system compatibility</a:t>
                      </a:r>
                      <a:endParaRPr lang="en-IN" sz="1500">
                        <a:effectLst/>
                      </a:endParaRPr>
                    </a:p>
                  </a:txBody>
                  <a:tcPr marL="26533" marR="26533" marT="26533" marB="26533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effectLst/>
                        </a:rPr>
                        <a:t>Microprocessors can't be used in compact system.</a:t>
                      </a:r>
                    </a:p>
                  </a:txBody>
                  <a:tcPr marL="26533" marR="26533" marT="26533" marB="26533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effectLst/>
                        </a:rPr>
                        <a:t>Microcontrollers can be used with a compact system.</a:t>
                      </a:r>
                    </a:p>
                  </a:txBody>
                  <a:tcPr marL="26533" marR="26533" marT="26533" marB="26533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87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b="1">
                          <a:effectLst/>
                          <a:latin typeface="inherit"/>
                        </a:rPr>
                        <a:t>Efficiency</a:t>
                      </a:r>
                      <a:endParaRPr lang="en-IN" sz="1500">
                        <a:effectLst/>
                      </a:endParaRPr>
                    </a:p>
                  </a:txBody>
                  <a:tcPr marL="26533" marR="26533" marT="26533" marB="26533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>
                          <a:effectLst/>
                        </a:rPr>
                        <a:t>Microprocessors are not efficient.</a:t>
                      </a:r>
                    </a:p>
                  </a:txBody>
                  <a:tcPr marL="26533" marR="26533" marT="26533" marB="26533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>
                          <a:effectLst/>
                        </a:rPr>
                        <a:t>Microcontrollers are efficient.</a:t>
                      </a:r>
                    </a:p>
                  </a:txBody>
                  <a:tcPr marL="26533" marR="26533" marT="26533" marB="26533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46"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b="1">
                          <a:effectLst/>
                          <a:latin typeface="inherit"/>
                        </a:rPr>
                        <a:t>Zero status flag</a:t>
                      </a:r>
                      <a:endParaRPr lang="en-IN" sz="1500">
                        <a:effectLst/>
                      </a:endParaRPr>
                    </a:p>
                  </a:txBody>
                  <a:tcPr marL="26533" marR="26533" marT="26533" marB="26533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>
                          <a:effectLst/>
                        </a:rPr>
                        <a:t>Microprocessors have a zero status flag.</a:t>
                      </a:r>
                    </a:p>
                  </a:txBody>
                  <a:tcPr marL="26533" marR="26533" marT="26533" marB="26533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>
                          <a:effectLst/>
                        </a:rPr>
                        <a:t>Microcontroller doesn't have a zero status flag.</a:t>
                      </a:r>
                    </a:p>
                  </a:txBody>
                  <a:tcPr marL="26533" marR="26533" marT="26533" marB="26533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222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b="1">
                          <a:effectLst/>
                          <a:latin typeface="inherit"/>
                        </a:rPr>
                        <a:t>Number of registers</a:t>
                      </a:r>
                      <a:endParaRPr lang="en-IN" sz="1500">
                        <a:effectLst/>
                      </a:endParaRPr>
                    </a:p>
                  </a:txBody>
                  <a:tcPr marL="26533" marR="26533" marT="26533" marB="26533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effectLst/>
                        </a:rPr>
                        <a:t>Microprocessors have less number of registers.</a:t>
                      </a:r>
                    </a:p>
                  </a:txBody>
                  <a:tcPr marL="26533" marR="26533" marT="26533" marB="26533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effectLst/>
                        </a:rPr>
                        <a:t>Microcontrollers have more number of registers.</a:t>
                      </a:r>
                    </a:p>
                  </a:txBody>
                  <a:tcPr marL="26533" marR="26533" marT="26533" marB="26533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016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b="1">
                          <a:effectLst/>
                          <a:latin typeface="inherit"/>
                        </a:rPr>
                        <a:t>Applications</a:t>
                      </a:r>
                      <a:endParaRPr lang="en-IN" sz="1500">
                        <a:effectLst/>
                      </a:endParaRPr>
                    </a:p>
                  </a:txBody>
                  <a:tcPr marL="26533" marR="26533" marT="26533" marB="26533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effectLst/>
                        </a:rPr>
                        <a:t>Microprocessors are generally used in personal computers.</a:t>
                      </a:r>
                    </a:p>
                  </a:txBody>
                  <a:tcPr marL="26533" marR="26533" marT="26533" marB="26533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effectLst/>
                        </a:rPr>
                        <a:t>Microcontrollers are generally used in washing machines, and air conditioners.</a:t>
                      </a:r>
                    </a:p>
                  </a:txBody>
                  <a:tcPr marL="26533" marR="26533" marT="26533" marB="26533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3278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25162" y="124616"/>
            <a:ext cx="53495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IN" sz="2400" b="1" i="0" dirty="0" smtClean="0">
                <a:solidFill>
                  <a:srgbClr val="161616"/>
                </a:solidFill>
                <a:effectLst/>
                <a:latin typeface="IBM Plex Sans"/>
              </a:rPr>
              <a:t>Microprocessor </a:t>
            </a:r>
            <a:r>
              <a:rPr lang="en-IN" sz="2400" b="1" i="1" dirty="0" smtClean="0">
                <a:solidFill>
                  <a:srgbClr val="FF0000"/>
                </a:solidFill>
                <a:effectLst/>
                <a:latin typeface="IBM Plex Sans"/>
              </a:rPr>
              <a:t>vs.</a:t>
            </a:r>
            <a:r>
              <a:rPr lang="en-IN" sz="2400" b="1" i="0" dirty="0" smtClean="0">
                <a:solidFill>
                  <a:srgbClr val="161616"/>
                </a:solidFill>
                <a:effectLst/>
                <a:latin typeface="IBM Plex Sans"/>
              </a:rPr>
              <a:t> microcontroller</a:t>
            </a:r>
            <a:endParaRPr lang="en-IN" sz="2400" b="1" i="0" dirty="0">
              <a:solidFill>
                <a:srgbClr val="161616"/>
              </a:solidFill>
              <a:effectLst/>
              <a:latin typeface="IBM Plex Sans"/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418844" y="742277"/>
            <a:ext cx="11354958" cy="5982596"/>
            <a:chOff x="192926" y="774551"/>
            <a:chExt cx="11354958" cy="5982596"/>
          </a:xfrm>
        </p:grpSpPr>
        <p:grpSp>
          <p:nvGrpSpPr>
            <p:cNvPr id="22" name="Group 21"/>
            <p:cNvGrpSpPr/>
            <p:nvPr/>
          </p:nvGrpSpPr>
          <p:grpSpPr>
            <a:xfrm>
              <a:off x="192926" y="1270130"/>
              <a:ext cx="5079721" cy="5187372"/>
              <a:chOff x="192926" y="1270130"/>
              <a:chExt cx="5079721" cy="5187372"/>
            </a:xfrm>
          </p:grpSpPr>
          <p:pic>
            <p:nvPicPr>
              <p:cNvPr id="9" name="Picture 8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19273" y="5047802"/>
                <a:ext cx="2324100" cy="1409700"/>
              </a:xfrm>
              <a:prstGeom prst="rect">
                <a:avLst/>
              </a:prstGeom>
            </p:spPr>
          </p:pic>
          <p:grpSp>
            <p:nvGrpSpPr>
              <p:cNvPr id="21" name="Group 20"/>
              <p:cNvGrpSpPr/>
              <p:nvPr/>
            </p:nvGrpSpPr>
            <p:grpSpPr>
              <a:xfrm>
                <a:off x="192926" y="1270130"/>
                <a:ext cx="5079721" cy="3491921"/>
                <a:chOff x="192926" y="1270130"/>
                <a:chExt cx="5079721" cy="3491921"/>
              </a:xfrm>
            </p:grpSpPr>
            <p:pic>
              <p:nvPicPr>
                <p:cNvPr id="5" name="Picture 4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94571" y="1270130"/>
                  <a:ext cx="2486025" cy="1409700"/>
                </a:xfrm>
                <a:prstGeom prst="rect">
                  <a:avLst/>
                </a:prstGeom>
              </p:spPr>
            </p:pic>
            <p:pic>
              <p:nvPicPr>
                <p:cNvPr id="7" name="Picture 6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92926" y="3078956"/>
                  <a:ext cx="2352675" cy="1409700"/>
                </a:xfrm>
                <a:prstGeom prst="rect">
                  <a:avLst/>
                </a:prstGeom>
              </p:spPr>
            </p:pic>
            <p:pic>
              <p:nvPicPr>
                <p:cNvPr id="11" name="Picture 10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089741" y="3180901"/>
                  <a:ext cx="2182906" cy="1581150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23" name="Group 22"/>
            <p:cNvGrpSpPr/>
            <p:nvPr/>
          </p:nvGrpSpPr>
          <p:grpSpPr>
            <a:xfrm>
              <a:off x="5861517" y="898038"/>
              <a:ext cx="5686367" cy="5859109"/>
              <a:chOff x="5861517" y="898038"/>
              <a:chExt cx="5686367" cy="5859109"/>
            </a:xfrm>
          </p:grpSpPr>
          <p:pic>
            <p:nvPicPr>
              <p:cNvPr id="15" name="Picture 14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724171" y="2875093"/>
                <a:ext cx="2457450" cy="1857375"/>
              </a:xfrm>
              <a:prstGeom prst="rect">
                <a:avLst/>
              </a:prstGeom>
            </p:spPr>
          </p:pic>
          <p:pic>
            <p:nvPicPr>
              <p:cNvPr id="17" name="Picture 16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133241" y="5156947"/>
                <a:ext cx="2414643" cy="1600200"/>
              </a:xfrm>
              <a:prstGeom prst="rect">
                <a:avLst/>
              </a:prstGeom>
            </p:spPr>
          </p:pic>
          <p:pic>
            <p:nvPicPr>
              <p:cNvPr id="2064" name="Picture 16" descr="Overview of a Microcontroller Board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490791" y="898038"/>
                <a:ext cx="2690829" cy="14148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66" name="Picture 18" descr="Single-board microcontroller - Wikipedia"/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53933" y="4209209"/>
                <a:ext cx="2419350" cy="189547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9" name="Picture 18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861517" y="1974980"/>
                <a:ext cx="2495550" cy="1828800"/>
              </a:xfrm>
              <a:prstGeom prst="rect">
                <a:avLst/>
              </a:prstGeom>
            </p:spPr>
          </p:pic>
        </p:grpSp>
        <p:sp>
          <p:nvSpPr>
            <p:cNvPr id="20" name="Rectangle 19"/>
            <p:cNvSpPr/>
            <p:nvPr/>
          </p:nvSpPr>
          <p:spPr>
            <a:xfrm>
              <a:off x="5540188" y="774551"/>
              <a:ext cx="53788" cy="598259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150704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519</Words>
  <Application>Microsoft Office PowerPoint</Application>
  <PresentationFormat>Widescreen</PresentationFormat>
  <Paragraphs>67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IBM Plex Sans</vt:lpstr>
      <vt:lpstr>inherit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Amit Singh</dc:creator>
  <cp:lastModifiedBy>Amit Singh</cp:lastModifiedBy>
  <cp:revision>9</cp:revision>
  <dcterms:created xsi:type="dcterms:W3CDTF">2026-01-29T08:19:06Z</dcterms:created>
  <dcterms:modified xsi:type="dcterms:W3CDTF">2026-02-02T08:31:05Z</dcterms:modified>
</cp:coreProperties>
</file>