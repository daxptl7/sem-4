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52" r:id="rId2"/>
    <p:sldId id="539" r:id="rId3"/>
    <p:sldId id="540" r:id="rId4"/>
    <p:sldId id="546" r:id="rId5"/>
    <p:sldId id="547" r:id="rId6"/>
    <p:sldId id="548" r:id="rId7"/>
    <p:sldId id="549" r:id="rId8"/>
    <p:sldId id="550" r:id="rId9"/>
    <p:sldId id="551" r:id="rId10"/>
    <p:sldId id="405" r:id="rId11"/>
    <p:sldId id="408" r:id="rId12"/>
    <p:sldId id="409" r:id="rId13"/>
    <p:sldId id="410" r:id="rId14"/>
    <p:sldId id="411" r:id="rId15"/>
    <p:sldId id="566" r:id="rId16"/>
    <p:sldId id="412" r:id="rId17"/>
    <p:sldId id="413" r:id="rId18"/>
    <p:sldId id="414" r:id="rId19"/>
    <p:sldId id="519" r:id="rId20"/>
    <p:sldId id="415" r:id="rId21"/>
    <p:sldId id="417" r:id="rId22"/>
    <p:sldId id="418" r:id="rId23"/>
    <p:sldId id="419" r:id="rId24"/>
    <p:sldId id="420" r:id="rId25"/>
    <p:sldId id="556" r:id="rId26"/>
    <p:sldId id="554" r:id="rId27"/>
    <p:sldId id="555" r:id="rId28"/>
    <p:sldId id="557" r:id="rId29"/>
    <p:sldId id="558" r:id="rId30"/>
    <p:sldId id="559" r:id="rId31"/>
    <p:sldId id="560" r:id="rId32"/>
    <p:sldId id="561" r:id="rId33"/>
    <p:sldId id="562" r:id="rId34"/>
    <p:sldId id="563" r:id="rId35"/>
    <p:sldId id="564" r:id="rId36"/>
    <p:sldId id="56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661969-99F1-419B-8DA2-AF4F810AD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36400B2-A993-4274-AA98-E3F97EC3C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10DCEEC-FFCC-4E9D-B3EA-C26EC7CD5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41D5B-31C5-4AF7-837D-7F4C4D19A6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BD47641-7A91-4B60-A8A4-0CF668BA8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6EC57B9-9061-4822-B5AD-51A8D58AA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5441B-8BFA-4344-B908-AA9C24D59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71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4A343F-A4D9-476D-8DFF-7C3FA3EB3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2156A6-2C17-4C83-B4EB-F2F40D380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F088E9-B476-4CEA-8A25-0DCD2778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41D5B-31C5-4AF7-837D-7F4C4D19A6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234DB43-484E-4F86-B437-1FFDCB408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48F2A9C-0AE4-4EEA-9E65-6EAC8D18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5441B-8BFA-4344-B908-AA9C24D59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3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432036-9685-4194-B862-657DE031B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2071BE3-D14F-49FF-84CE-17375CD6E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FD26CA3-FAB7-459C-93BC-B0DC43422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41D5B-31C5-4AF7-837D-7F4C4D19A6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9379AC5-546C-42A1-B2CB-C1881770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96CA22D-187F-4067-89A9-E70AB2999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5441B-8BFA-4344-B908-AA9C24D59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9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5A45B4-06E5-448C-B5E1-A9BE1909D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63A499-6EF3-417D-B14B-4D4AA25B1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3B15B16-9F4A-4009-9277-62299EC97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04C1830-E361-494A-B767-A653D487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41D5B-31C5-4AF7-837D-7F4C4D19A6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BC9BAFA-AB10-4A7B-9DC8-7481B810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09684E8-80EF-453B-9379-0BFC5F62B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5441B-8BFA-4344-B908-AA9C24D59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55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A03AD0-B5D2-4AEA-AFE8-259C0D97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9A01CB4-7DB4-4F3D-8C60-EC30FD136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E75DA59-D995-4866-B46F-D04E7B30E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9C1AE59-4F28-472D-913F-998632DC5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47E783C-E9DD-4396-B272-44BA4DE38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30FC640-08CB-4E32-89F8-8EDA6D1F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41D5B-31C5-4AF7-837D-7F4C4D19A6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1531309-EB28-414E-B268-ADA80A729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4CF07D7-2D42-4B5D-BAE5-0C7CEE76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5441B-8BFA-4344-B908-AA9C24D59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AB8CD9-0985-471E-8094-87D0ACBE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62BA4AF-BD45-4957-81D1-CDA79C96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41D5B-31C5-4AF7-837D-7F4C4D19A6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7159814-2C49-4E7F-8B5C-46ABAA5C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BEFF2D8-5EE1-4376-A4A1-3980F752B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5441B-8BFA-4344-B908-AA9C24D59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6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85538C6-0929-4856-B867-6D364616E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41D5B-31C5-4AF7-837D-7F4C4D19A6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14D9F4D-91DF-45A6-A6D8-FC339FB15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12261C5-5C48-4B62-9C9A-BB305EA3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5441B-8BFA-4344-B908-AA9C24D59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2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731EC-CCB9-4A2B-BB17-F7451185E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E71F6A-8B35-45DA-8B12-C58045816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DF88E49-3047-40AF-8FAA-FF4FD0FFF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441E991-E7AB-4479-BD2B-BFFD085CD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41D5B-31C5-4AF7-837D-7F4C4D19A6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3E8FF57-4878-4414-83A7-96028518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5A18D9F-E82A-4B7F-901C-E5940D4BA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5441B-8BFA-4344-B908-AA9C24D59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4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32569A-E79C-4CFE-8AE9-8D93D776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6301CDB-643C-4FD0-A6B8-01B7F9612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5CBD649-E42B-42DA-964A-D4469AEE8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256DDC0-5F89-4B15-B9D4-37BF3A988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41D5B-31C5-4AF7-837D-7F4C4D19A6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73B6216-9CBB-4443-9263-1E71BD967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47F1378-59E8-41E2-A578-F4D6DB45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5441B-8BFA-4344-B908-AA9C24D59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7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9E3F52-DE0F-4389-A264-5566424A1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6597750-80E5-4602-A8F9-840546BBC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24A7B51-C113-451A-B057-DAB6A229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41D5B-31C5-4AF7-837D-7F4C4D19A6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70CD9C8-AFFD-4301-8974-D06383F4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08968F9-BE7D-4C39-A951-BB6048715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5441B-8BFA-4344-B908-AA9C24D59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63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1CAC777-6A3C-4885-9DEA-E838EE7A7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40D6D23-800D-483B-8D75-F88420645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D578F50-A06B-4E9A-9123-4BECDE20E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41D5B-31C5-4AF7-837D-7F4C4D19A6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0AA4F7-6B30-4451-B1EB-5F8C8F254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6269AE9-CEFE-4F47-91AA-69BECE72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5441B-8BFA-4344-B908-AA9C24D59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71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87F0966-2C9B-4799-882F-3E9E59DC1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057E3D0-3067-44D7-AD27-8A7C66E4E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C0535B6-C19F-40D6-A61C-37A8FBCBC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41D5B-31C5-4AF7-837D-7F4C4D19A6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1A9790-4540-440F-94EA-A57EE5E73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30A7E0-9411-4ABA-8D0E-FC94AD55E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5441B-8BFA-4344-B908-AA9C24D59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1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xmlns="" id="{28C898C6-9F27-4FFF-81FB-F686B212E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Microprocessor and Computer Architecture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xmlns="" id="{CA073B72-E5E4-4D4C-B44C-1276C8EC10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52650" y="2062163"/>
            <a:ext cx="7886700" cy="4114800"/>
          </a:xfrm>
        </p:spPr>
        <p:txBody>
          <a:bodyPr/>
          <a:lstStyle/>
          <a:p>
            <a:pPr eaLnBrk="1" hangingPunct="1"/>
            <a:r>
              <a:rPr lang="en-US" altLang="en-US" sz="2400"/>
              <a:t>ECSE 201L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32C0F0F3-2E87-4E4C-B9EE-861955BD41EF}"/>
              </a:ext>
            </a:extLst>
          </p:cNvPr>
          <p:cNvGraphicFramePr>
            <a:graphicFrameLocks noGrp="1"/>
          </p:cNvGraphicFramePr>
          <p:nvPr/>
        </p:nvGraphicFramePr>
        <p:xfrm>
          <a:off x="2301876" y="2692400"/>
          <a:ext cx="3187701" cy="1192214"/>
        </p:xfrm>
        <a:graphic>
          <a:graphicData uri="http://schemas.openxmlformats.org/drawingml/2006/table">
            <a:tbl>
              <a:tblPr firstRow="1" firstCol="1" bandRow="1"/>
              <a:tblGrid>
                <a:gridCol w="617924">
                  <a:extLst>
                    <a:ext uri="{9D8B030D-6E8A-4147-A177-3AD203B41FA5}">
                      <a16:colId xmlns:a16="http://schemas.microsoft.com/office/drawing/2014/main" xmlns="" val="2595034888"/>
                    </a:ext>
                  </a:extLst>
                </a:gridCol>
                <a:gridCol w="617924">
                  <a:extLst>
                    <a:ext uri="{9D8B030D-6E8A-4147-A177-3AD203B41FA5}">
                      <a16:colId xmlns:a16="http://schemas.microsoft.com/office/drawing/2014/main" xmlns="" val="3289715503"/>
                    </a:ext>
                  </a:extLst>
                </a:gridCol>
                <a:gridCol w="548175">
                  <a:extLst>
                    <a:ext uri="{9D8B030D-6E8A-4147-A177-3AD203B41FA5}">
                      <a16:colId xmlns:a16="http://schemas.microsoft.com/office/drawing/2014/main" xmlns="" val="2803335952"/>
                    </a:ext>
                  </a:extLst>
                </a:gridCol>
                <a:gridCol w="1403678">
                  <a:extLst>
                    <a:ext uri="{9D8B030D-6E8A-4147-A177-3AD203B41FA5}">
                      <a16:colId xmlns:a16="http://schemas.microsoft.com/office/drawing/2014/main" xmlns="" val="3859793767"/>
                    </a:ext>
                  </a:extLst>
                </a:gridCol>
              </a:tblGrid>
              <a:tr h="59610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</a:rPr>
                        <a:t>L</a:t>
                      </a:r>
                      <a:endParaRPr lang="en-US" sz="280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</a:rPr>
                        <a:t>T</a:t>
                      </a:r>
                      <a:endParaRPr lang="en-US" sz="280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</a:rPr>
                        <a:t>P</a:t>
                      </a:r>
                      <a:endParaRPr lang="en-US" sz="280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</a:rPr>
                        <a:t>Credits</a:t>
                      </a:r>
                      <a:endParaRPr lang="en-US" sz="280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95199158"/>
                  </a:ext>
                </a:extLst>
              </a:tr>
              <a:tr h="59610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</a:rPr>
                        <a:t>3</a:t>
                      </a:r>
                      <a:endParaRPr lang="en-US" sz="280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</a:rPr>
                        <a:t>1</a:t>
                      </a:r>
                      <a:endParaRPr lang="en-US" sz="280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</a:rPr>
                        <a:t>2</a:t>
                      </a:r>
                      <a:endParaRPr lang="en-US" sz="280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80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</a:rPr>
                        <a:t>4</a:t>
                      </a:r>
                      <a:endParaRPr lang="en-US" sz="280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62509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7172">
            <a:extLst>
              <a:ext uri="{FF2B5EF4-FFF2-40B4-BE49-F238E27FC236}">
                <a16:creationId xmlns:a16="http://schemas.microsoft.com/office/drawing/2014/main" xmlns="" id="{36BB8FF6-7A7C-47D9-8A28-266D90947079}"/>
              </a:ext>
            </a:extLst>
          </p:cNvPr>
          <p:cNvGrpSpPr>
            <a:grpSpLocks/>
          </p:cNvGrpSpPr>
          <p:nvPr/>
        </p:nvGrpSpPr>
        <p:grpSpPr bwMode="auto">
          <a:xfrm>
            <a:off x="2376489" y="1118042"/>
            <a:ext cx="7439025" cy="4695383"/>
            <a:chOff x="1308515" y="1800836"/>
            <a:chExt cx="6451075" cy="405680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A5CE6BB9-FACE-4DFA-A7FC-A0BF52DAA60A}"/>
                </a:ext>
              </a:extLst>
            </p:cNvPr>
            <p:cNvSpPr/>
            <p:nvPr/>
          </p:nvSpPr>
          <p:spPr>
            <a:xfrm>
              <a:off x="1535665" y="3200856"/>
              <a:ext cx="1594184" cy="9107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Arithmetic Logic Unit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CF809B76-6BE6-4D8C-BC1A-3F9C48EDCBCF}"/>
                </a:ext>
              </a:extLst>
            </p:cNvPr>
            <p:cNvSpPr/>
            <p:nvPr/>
          </p:nvSpPr>
          <p:spPr>
            <a:xfrm>
              <a:off x="5938255" y="3200856"/>
              <a:ext cx="1594184" cy="9107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Bus Management Unit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463501EC-71E4-4D8D-BF92-2AC32F193FC0}"/>
                </a:ext>
              </a:extLst>
            </p:cNvPr>
            <p:cNvSpPr/>
            <p:nvPr/>
          </p:nvSpPr>
          <p:spPr>
            <a:xfrm>
              <a:off x="3736961" y="3200856"/>
              <a:ext cx="1594184" cy="9107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Memory Management Unit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1A5CC8B6-417A-4ACB-9E7F-650F7F0F21D6}"/>
                </a:ext>
              </a:extLst>
            </p:cNvPr>
            <p:cNvSpPr/>
            <p:nvPr/>
          </p:nvSpPr>
          <p:spPr>
            <a:xfrm>
              <a:off x="1535665" y="4719214"/>
              <a:ext cx="1594184" cy="9107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Control Unit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82C7EE6F-5B18-43F8-B492-6EAF78544FD5}"/>
                </a:ext>
              </a:extLst>
            </p:cNvPr>
            <p:cNvSpPr/>
            <p:nvPr/>
          </p:nvSpPr>
          <p:spPr>
            <a:xfrm>
              <a:off x="5938255" y="4719214"/>
              <a:ext cx="1594184" cy="9107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Prefetch Unit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29AEC65B-05FF-4BE6-9DAC-2E9022CFD27A}"/>
                </a:ext>
              </a:extLst>
            </p:cNvPr>
            <p:cNvSpPr/>
            <p:nvPr/>
          </p:nvSpPr>
          <p:spPr>
            <a:xfrm>
              <a:off x="3736961" y="4719214"/>
              <a:ext cx="1594184" cy="9107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Decode Unit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xmlns="" id="{682C10FD-D870-4E48-86C1-2812A3BA89B4}"/>
                </a:ext>
              </a:extLst>
            </p:cNvPr>
            <p:cNvCxnSpPr>
              <a:cxnSpLocks/>
            </p:cNvCxnSpPr>
            <p:nvPr/>
          </p:nvCxnSpPr>
          <p:spPr>
            <a:xfrm>
              <a:off x="1991343" y="4111597"/>
              <a:ext cx="0" cy="607617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xmlns="" id="{C102E034-E545-4522-A890-D45A5643D6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849" y="5174584"/>
              <a:ext cx="607112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B3A46155-D7AA-4091-B9C7-DA3630234C94}"/>
                </a:ext>
              </a:extLst>
            </p:cNvPr>
            <p:cNvCxnSpPr>
              <a:cxnSpLocks/>
            </p:cNvCxnSpPr>
            <p:nvPr/>
          </p:nvCxnSpPr>
          <p:spPr>
            <a:xfrm>
              <a:off x="2674172" y="4339282"/>
              <a:ext cx="3719762" cy="0"/>
            </a:xfrm>
            <a:prstGeom prst="line">
              <a:avLst/>
            </a:prstGeom>
            <a:ln>
              <a:solidFill>
                <a:schemeClr val="tx1"/>
              </a:solidFill>
              <a:head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xmlns="" id="{E27CFF05-3687-4B01-8D5C-C5A408AAEC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3933" y="4111597"/>
              <a:ext cx="0" cy="2276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xmlns="" id="{7C4AE199-7769-40E1-8EBE-A53D448905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4172" y="4111597"/>
              <a:ext cx="0" cy="2276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xmlns="" id="{0F0A4C88-3616-4FA5-A3BD-B78019C05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3689" y="4111597"/>
              <a:ext cx="0" cy="22768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xmlns="" id="{91B84182-6CED-4698-8906-AB2B8EF4E2DC}"/>
                </a:ext>
              </a:extLst>
            </p:cNvPr>
            <p:cNvCxnSpPr>
              <a:stCxn id="7" idx="2"/>
              <a:endCxn id="11" idx="0"/>
            </p:cNvCxnSpPr>
            <p:nvPr/>
          </p:nvCxnSpPr>
          <p:spPr>
            <a:xfrm rot="5400000">
              <a:off x="5330892" y="3314757"/>
              <a:ext cx="607617" cy="2201296"/>
            </a:xfrm>
            <a:prstGeom prst="bentConnector3">
              <a:avLst>
                <a:gd name="adj1" fmla="val 61666"/>
              </a:avLst>
            </a:prstGeom>
            <a:ln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xmlns="" id="{117DC09F-4952-48BB-9759-20A502B8DA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1144" y="5174584"/>
              <a:ext cx="607111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xmlns="" id="{21BF659D-64D6-4A8D-AEBF-07F40FA730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849" y="3656226"/>
              <a:ext cx="607112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xmlns="" id="{4CE73907-DBCF-4B3C-9F8E-5DB33A9D4D48}"/>
                </a:ext>
              </a:extLst>
            </p:cNvPr>
            <p:cNvSpPr/>
            <p:nvPr/>
          </p:nvSpPr>
          <p:spPr>
            <a:xfrm>
              <a:off x="1308515" y="2973171"/>
              <a:ext cx="6451075" cy="28844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64" name="TextBox 7171">
              <a:extLst>
                <a:ext uri="{FF2B5EF4-FFF2-40B4-BE49-F238E27FC236}">
                  <a16:creationId xmlns:a16="http://schemas.microsoft.com/office/drawing/2014/main" xmlns="" id="{5E085D25-9573-43DF-A5AB-0232A120F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782051" y="2043950"/>
              <a:ext cx="806509" cy="320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Address</a:t>
              </a:r>
            </a:p>
          </p:txBody>
        </p:sp>
        <p:sp>
          <p:nvSpPr>
            <p:cNvPr id="6165" name="TextBox 42">
              <a:extLst>
                <a:ext uri="{FF2B5EF4-FFF2-40B4-BE49-F238E27FC236}">
                  <a16:creationId xmlns:a16="http://schemas.microsoft.com/office/drawing/2014/main" xmlns="" id="{B9A7BFCF-BA7A-44A4-9EFA-81BEEE682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489661" y="2043951"/>
              <a:ext cx="536158" cy="320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Data</a:t>
              </a:r>
            </a:p>
          </p:txBody>
        </p:sp>
        <p:sp>
          <p:nvSpPr>
            <p:cNvPr id="6166" name="TextBox 43">
              <a:extLst>
                <a:ext uri="{FF2B5EF4-FFF2-40B4-BE49-F238E27FC236}">
                  <a16:creationId xmlns:a16="http://schemas.microsoft.com/office/drawing/2014/main" xmlns="" id="{9E5A84FD-E114-47AF-8266-6A2A4F864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5950990" y="2043951"/>
              <a:ext cx="758367" cy="320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Control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xmlns="" id="{F7A1AF1E-4383-4E05-A61A-BC1F10C802C1}"/>
                </a:ext>
              </a:extLst>
            </p:cNvPr>
            <p:cNvCxnSpPr>
              <a:cxnSpLocks/>
            </p:cNvCxnSpPr>
            <p:nvPr/>
          </p:nvCxnSpPr>
          <p:spPr>
            <a:xfrm>
              <a:off x="6318216" y="2594610"/>
              <a:ext cx="0" cy="606246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xmlns="" id="{DF1B2B56-F1D6-4643-B40B-8BA204F50CF3}"/>
                </a:ext>
              </a:extLst>
            </p:cNvPr>
            <p:cNvCxnSpPr>
              <a:cxnSpLocks/>
            </p:cNvCxnSpPr>
            <p:nvPr/>
          </p:nvCxnSpPr>
          <p:spPr>
            <a:xfrm>
              <a:off x="6731217" y="2594610"/>
              <a:ext cx="0" cy="606246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63AB261F-1BA7-4719-B010-82CD0B6139AB}"/>
                </a:ext>
              </a:extLst>
            </p:cNvPr>
            <p:cNvCxnSpPr>
              <a:cxnSpLocks/>
            </p:cNvCxnSpPr>
            <p:nvPr/>
          </p:nvCxnSpPr>
          <p:spPr>
            <a:xfrm>
              <a:off x="7152478" y="2594610"/>
              <a:ext cx="0" cy="606246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47" name="Title 7174">
            <a:extLst>
              <a:ext uri="{FF2B5EF4-FFF2-40B4-BE49-F238E27FC236}">
                <a16:creationId xmlns:a16="http://schemas.microsoft.com/office/drawing/2014/main" xmlns="" id="{958EFC1D-8002-44E9-A293-550C8C15F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2650" y="-61913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Microprocessor Organization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xmlns="" id="{01E1D76B-22D4-4342-A93F-465D86A75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9" y="5440363"/>
            <a:ext cx="7437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000000"/>
                </a:solidFill>
                <a:latin typeface="Arial, Helvetica, sans-serif"/>
              </a:rPr>
              <a:t>Arithmetic Logic Unit:</a:t>
            </a:r>
            <a:r>
              <a:rPr lang="en-US" altLang="en-US">
                <a:solidFill>
                  <a:srgbClr val="000000"/>
                </a:solidFill>
                <a:latin typeface="Arial, Helvetica, sans-serif"/>
              </a:rPr>
              <a:t> executes all logic and arithmetic operations as specified by the instruction set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171" name="Group 19">
            <a:extLst>
              <a:ext uri="{FF2B5EF4-FFF2-40B4-BE49-F238E27FC236}">
                <a16:creationId xmlns:a16="http://schemas.microsoft.com/office/drawing/2014/main" xmlns="" id="{3F76412D-3509-4C7C-A4FA-4C711B7707FA}"/>
              </a:ext>
            </a:extLst>
          </p:cNvPr>
          <p:cNvGrpSpPr>
            <a:grpSpLocks/>
          </p:cNvGrpSpPr>
          <p:nvPr/>
        </p:nvGrpSpPr>
        <p:grpSpPr bwMode="auto">
          <a:xfrm>
            <a:off x="2832100" y="696914"/>
            <a:ext cx="6489700" cy="4249737"/>
            <a:chOff x="1308515" y="1737361"/>
            <a:chExt cx="6451075" cy="412027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AE3E96C4-8B9E-4C32-B04B-731D19381CBC}"/>
                </a:ext>
              </a:extLst>
            </p:cNvPr>
            <p:cNvSpPr/>
            <p:nvPr/>
          </p:nvSpPr>
          <p:spPr>
            <a:xfrm>
              <a:off x="1535754" y="3201083"/>
              <a:ext cx="1593832" cy="9111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Arithmetic Logic Unit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F3F3B214-A664-414C-897A-BFBA9996BE41}"/>
                </a:ext>
              </a:extLst>
            </p:cNvPr>
            <p:cNvSpPr/>
            <p:nvPr/>
          </p:nvSpPr>
          <p:spPr>
            <a:xfrm>
              <a:off x="5938518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Bus Management Unit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50A24C3C-7F3B-44C9-9C88-A71630F4F90A}"/>
                </a:ext>
              </a:extLst>
            </p:cNvPr>
            <p:cNvSpPr/>
            <p:nvPr/>
          </p:nvSpPr>
          <p:spPr>
            <a:xfrm>
              <a:off x="3737137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Memory Management Unit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10F25018-98D0-4559-946E-D236A7115A55}"/>
                </a:ext>
              </a:extLst>
            </p:cNvPr>
            <p:cNvSpPr/>
            <p:nvPr/>
          </p:nvSpPr>
          <p:spPr>
            <a:xfrm>
              <a:off x="1535754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Control Unit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33B89131-586D-4240-B059-644688F63892}"/>
                </a:ext>
              </a:extLst>
            </p:cNvPr>
            <p:cNvSpPr/>
            <p:nvPr/>
          </p:nvSpPr>
          <p:spPr>
            <a:xfrm>
              <a:off x="5938518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Prefetch Unit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1E5FBB0F-9C82-43D1-8202-009DB1A9ED80}"/>
                </a:ext>
              </a:extLst>
            </p:cNvPr>
            <p:cNvSpPr/>
            <p:nvPr/>
          </p:nvSpPr>
          <p:spPr>
            <a:xfrm>
              <a:off x="3737137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Decode Unit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54C173E2-8C20-4887-939F-BD6EC68CF576}"/>
                </a:ext>
              </a:extLst>
            </p:cNvPr>
            <p:cNvCxnSpPr>
              <a:cxnSpLocks/>
            </p:cNvCxnSpPr>
            <p:nvPr/>
          </p:nvCxnSpPr>
          <p:spPr>
            <a:xfrm>
              <a:off x="1991812" y="4112255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5A4C6810-0465-4227-B839-6AEC73615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587" y="5174262"/>
              <a:ext cx="607550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E54DE10D-1C46-4B0F-BBA8-A0830A99CE8E}"/>
                </a:ext>
              </a:extLst>
            </p:cNvPr>
            <p:cNvCxnSpPr>
              <a:cxnSpLocks/>
            </p:cNvCxnSpPr>
            <p:nvPr/>
          </p:nvCxnSpPr>
          <p:spPr>
            <a:xfrm>
              <a:off x="2675108" y="4340047"/>
              <a:ext cx="3717890" cy="0"/>
            </a:xfrm>
            <a:prstGeom prst="line">
              <a:avLst/>
            </a:prstGeom>
            <a:ln>
              <a:solidFill>
                <a:schemeClr val="tx1"/>
              </a:solidFill>
              <a:head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xmlns="" id="{1B20E8CF-3EEA-43E2-B93A-83CEBE08CD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2997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xmlns="" id="{C8CE66C4-AF57-48D7-95F5-5541C499E4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5108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xmlns="" id="{B18DD61F-4F13-4020-909D-BADF0E291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3521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xmlns="" id="{F354B9E9-0E93-4B03-A3CE-7AA10CAE507A}"/>
                </a:ext>
              </a:extLst>
            </p:cNvPr>
            <p:cNvCxnSpPr>
              <a:stCxn id="23" idx="2"/>
              <a:endCxn id="30" idx="0"/>
            </p:cNvCxnSpPr>
            <p:nvPr/>
          </p:nvCxnSpPr>
          <p:spPr>
            <a:xfrm rot="5400000">
              <a:off x="5331533" y="3314774"/>
              <a:ext cx="606421" cy="2201382"/>
            </a:xfrm>
            <a:prstGeom prst="bentConnector3">
              <a:avLst>
                <a:gd name="adj1" fmla="val 61666"/>
              </a:avLst>
            </a:prstGeom>
            <a:ln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xmlns="" id="{6DF53B73-AC56-4545-93E7-E2B3A15D68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0969" y="5174262"/>
              <a:ext cx="607549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xmlns="" id="{0F797713-7561-421D-8584-378AEF79A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587" y="3656669"/>
              <a:ext cx="607550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620662F6-8CF1-4A73-93BB-DB53CCCAF993}"/>
                </a:ext>
              </a:extLst>
            </p:cNvPr>
            <p:cNvSpPr/>
            <p:nvPr/>
          </p:nvSpPr>
          <p:spPr>
            <a:xfrm>
              <a:off x="1308515" y="2973290"/>
              <a:ext cx="6451075" cy="28843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189" name="TextBox 42">
              <a:extLst>
                <a:ext uri="{FF2B5EF4-FFF2-40B4-BE49-F238E27FC236}">
                  <a16:creationId xmlns:a16="http://schemas.microsoft.com/office/drawing/2014/main" xmlns="" id="{85688576-8114-452A-984A-E36C5F1BF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718575" y="2019426"/>
              <a:ext cx="9334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Address</a:t>
              </a:r>
            </a:p>
          </p:txBody>
        </p:sp>
        <p:sp>
          <p:nvSpPr>
            <p:cNvPr id="7190" name="TextBox 43">
              <a:extLst>
                <a:ext uri="{FF2B5EF4-FFF2-40B4-BE49-F238E27FC236}">
                  <a16:creationId xmlns:a16="http://schemas.microsoft.com/office/drawing/2014/main" xmlns="" id="{F1C36762-6449-4A01-A137-7BE41FC8D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447463" y="2019427"/>
              <a:ext cx="620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Data</a:t>
              </a:r>
            </a:p>
          </p:txBody>
        </p:sp>
        <p:sp>
          <p:nvSpPr>
            <p:cNvPr id="7191" name="TextBox 44">
              <a:extLst>
                <a:ext uri="{FF2B5EF4-FFF2-40B4-BE49-F238E27FC236}">
                  <a16:creationId xmlns:a16="http://schemas.microsoft.com/office/drawing/2014/main" xmlns="" id="{64238294-B295-40B2-95DE-0FC671553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5891303" y="2019427"/>
              <a:ext cx="87774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Control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xmlns="" id="{1AC7C967-922B-47E0-AEA8-857F8197AE29}"/>
                </a:ext>
              </a:extLst>
            </p:cNvPr>
            <p:cNvCxnSpPr>
              <a:cxnSpLocks/>
            </p:cNvCxnSpPr>
            <p:nvPr/>
          </p:nvCxnSpPr>
          <p:spPr>
            <a:xfrm>
              <a:off x="6317251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A4F797D3-6EB9-4692-BA91-2FC7FAE5FCB4}"/>
                </a:ext>
              </a:extLst>
            </p:cNvPr>
            <p:cNvCxnSpPr>
              <a:cxnSpLocks/>
            </p:cNvCxnSpPr>
            <p:nvPr/>
          </p:nvCxnSpPr>
          <p:spPr>
            <a:xfrm>
              <a:off x="6732279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xmlns="" id="{CA10CCCC-7686-401D-8427-F4719839F69C}"/>
                </a:ext>
              </a:extLst>
            </p:cNvPr>
            <p:cNvCxnSpPr>
              <a:cxnSpLocks/>
            </p:cNvCxnSpPr>
            <p:nvPr/>
          </p:nvCxnSpPr>
          <p:spPr>
            <a:xfrm>
              <a:off x="7152041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172" name="Title 4">
            <a:extLst>
              <a:ext uri="{FF2B5EF4-FFF2-40B4-BE49-F238E27FC236}">
                <a16:creationId xmlns:a16="http://schemas.microsoft.com/office/drawing/2014/main" xmlns="" id="{4352D857-A9A6-4F42-94E2-2177AAD80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2650" y="-61913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Microprocessor Organization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xmlns="" id="{BB6BE5F0-CD07-4C67-A3B5-FF02DA816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5440363"/>
            <a:ext cx="7586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000000"/>
                </a:solidFill>
                <a:latin typeface="Arial, Helvetica, sans-serif"/>
              </a:rPr>
              <a:t>Control Unit:</a:t>
            </a:r>
            <a:r>
              <a:rPr lang="en-US" altLang="en-US">
                <a:solidFill>
                  <a:srgbClr val="000000"/>
                </a:solidFill>
                <a:latin typeface="Arial, Helvetica, sans-serif"/>
              </a:rPr>
              <a:t> contains the microcode that tells the ALU how to function.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195" name="Group 19">
            <a:extLst>
              <a:ext uri="{FF2B5EF4-FFF2-40B4-BE49-F238E27FC236}">
                <a16:creationId xmlns:a16="http://schemas.microsoft.com/office/drawing/2014/main" xmlns="" id="{DBC3B0B1-C87D-4F86-978F-37F322F4B48E}"/>
              </a:ext>
            </a:extLst>
          </p:cNvPr>
          <p:cNvGrpSpPr>
            <a:grpSpLocks/>
          </p:cNvGrpSpPr>
          <p:nvPr/>
        </p:nvGrpSpPr>
        <p:grpSpPr bwMode="auto">
          <a:xfrm>
            <a:off x="2832100" y="696914"/>
            <a:ext cx="6489700" cy="4249737"/>
            <a:chOff x="1308515" y="1737361"/>
            <a:chExt cx="6451075" cy="412027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AE3E96C4-8B9E-4C32-B04B-731D19381CBC}"/>
                </a:ext>
              </a:extLst>
            </p:cNvPr>
            <p:cNvSpPr/>
            <p:nvPr/>
          </p:nvSpPr>
          <p:spPr>
            <a:xfrm>
              <a:off x="1535754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Arithmetic Logic Unit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F3F3B214-A664-414C-897A-BFBA9996BE41}"/>
                </a:ext>
              </a:extLst>
            </p:cNvPr>
            <p:cNvSpPr/>
            <p:nvPr/>
          </p:nvSpPr>
          <p:spPr>
            <a:xfrm>
              <a:off x="5938518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Bus Management Unit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50A24C3C-7F3B-44C9-9C88-A71630F4F90A}"/>
                </a:ext>
              </a:extLst>
            </p:cNvPr>
            <p:cNvSpPr/>
            <p:nvPr/>
          </p:nvSpPr>
          <p:spPr>
            <a:xfrm>
              <a:off x="3737137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Memory Management Unit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10F25018-98D0-4559-946E-D236A7115A55}"/>
                </a:ext>
              </a:extLst>
            </p:cNvPr>
            <p:cNvSpPr/>
            <p:nvPr/>
          </p:nvSpPr>
          <p:spPr>
            <a:xfrm>
              <a:off x="1535754" y="4718676"/>
              <a:ext cx="1593832" cy="9111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Control Unit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33B89131-586D-4240-B059-644688F63892}"/>
                </a:ext>
              </a:extLst>
            </p:cNvPr>
            <p:cNvSpPr/>
            <p:nvPr/>
          </p:nvSpPr>
          <p:spPr>
            <a:xfrm>
              <a:off x="5938518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Prefetch Unit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1E5FBB0F-9C82-43D1-8202-009DB1A9ED80}"/>
                </a:ext>
              </a:extLst>
            </p:cNvPr>
            <p:cNvSpPr/>
            <p:nvPr/>
          </p:nvSpPr>
          <p:spPr>
            <a:xfrm>
              <a:off x="3737137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Decode Unit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54C173E2-8C20-4887-939F-BD6EC68CF576}"/>
                </a:ext>
              </a:extLst>
            </p:cNvPr>
            <p:cNvCxnSpPr>
              <a:cxnSpLocks/>
            </p:cNvCxnSpPr>
            <p:nvPr/>
          </p:nvCxnSpPr>
          <p:spPr>
            <a:xfrm>
              <a:off x="1991812" y="4112255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5A4C6810-0465-4227-B839-6AEC73615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587" y="5174262"/>
              <a:ext cx="607550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E54DE10D-1C46-4B0F-BBA8-A0830A99CE8E}"/>
                </a:ext>
              </a:extLst>
            </p:cNvPr>
            <p:cNvCxnSpPr>
              <a:cxnSpLocks/>
            </p:cNvCxnSpPr>
            <p:nvPr/>
          </p:nvCxnSpPr>
          <p:spPr>
            <a:xfrm>
              <a:off x="2675108" y="4340047"/>
              <a:ext cx="3717890" cy="0"/>
            </a:xfrm>
            <a:prstGeom prst="line">
              <a:avLst/>
            </a:prstGeom>
            <a:ln>
              <a:solidFill>
                <a:schemeClr val="tx1"/>
              </a:solidFill>
              <a:head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xmlns="" id="{1B20E8CF-3EEA-43E2-B93A-83CEBE08CD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2997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xmlns="" id="{C8CE66C4-AF57-48D7-95F5-5541C499E4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5108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xmlns="" id="{B18DD61F-4F13-4020-909D-BADF0E291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3521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xmlns="" id="{F354B9E9-0E93-4B03-A3CE-7AA10CAE507A}"/>
                </a:ext>
              </a:extLst>
            </p:cNvPr>
            <p:cNvCxnSpPr>
              <a:stCxn id="23" idx="2"/>
              <a:endCxn id="30" idx="0"/>
            </p:cNvCxnSpPr>
            <p:nvPr/>
          </p:nvCxnSpPr>
          <p:spPr>
            <a:xfrm rot="5400000">
              <a:off x="5331533" y="3314774"/>
              <a:ext cx="606421" cy="2201382"/>
            </a:xfrm>
            <a:prstGeom prst="bentConnector3">
              <a:avLst>
                <a:gd name="adj1" fmla="val 61666"/>
              </a:avLst>
            </a:prstGeom>
            <a:ln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xmlns="" id="{6DF53B73-AC56-4545-93E7-E2B3A15D68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0969" y="5174262"/>
              <a:ext cx="607549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xmlns="" id="{0F797713-7561-421D-8584-378AEF79A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587" y="3656669"/>
              <a:ext cx="607550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620662F6-8CF1-4A73-93BB-DB53CCCAF993}"/>
                </a:ext>
              </a:extLst>
            </p:cNvPr>
            <p:cNvSpPr/>
            <p:nvPr/>
          </p:nvSpPr>
          <p:spPr>
            <a:xfrm>
              <a:off x="1308515" y="2973290"/>
              <a:ext cx="6451075" cy="28843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213" name="TextBox 42">
              <a:extLst>
                <a:ext uri="{FF2B5EF4-FFF2-40B4-BE49-F238E27FC236}">
                  <a16:creationId xmlns:a16="http://schemas.microsoft.com/office/drawing/2014/main" xmlns="" id="{1B95F818-D4FB-4332-9BF1-0184E8D06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718575" y="2019426"/>
              <a:ext cx="9334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Address</a:t>
              </a:r>
            </a:p>
          </p:txBody>
        </p:sp>
        <p:sp>
          <p:nvSpPr>
            <p:cNvPr id="8214" name="TextBox 43">
              <a:extLst>
                <a:ext uri="{FF2B5EF4-FFF2-40B4-BE49-F238E27FC236}">
                  <a16:creationId xmlns:a16="http://schemas.microsoft.com/office/drawing/2014/main" xmlns="" id="{8CD79791-6CB5-4213-8305-E33D8FA2F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447463" y="2019427"/>
              <a:ext cx="620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Data</a:t>
              </a:r>
            </a:p>
          </p:txBody>
        </p:sp>
        <p:sp>
          <p:nvSpPr>
            <p:cNvPr id="8215" name="TextBox 44">
              <a:extLst>
                <a:ext uri="{FF2B5EF4-FFF2-40B4-BE49-F238E27FC236}">
                  <a16:creationId xmlns:a16="http://schemas.microsoft.com/office/drawing/2014/main" xmlns="" id="{FF07C6B7-FE80-4C05-AD00-19C00561A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5891303" y="2019427"/>
              <a:ext cx="87774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Control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xmlns="" id="{1AC7C967-922B-47E0-AEA8-857F8197AE29}"/>
                </a:ext>
              </a:extLst>
            </p:cNvPr>
            <p:cNvCxnSpPr>
              <a:cxnSpLocks/>
            </p:cNvCxnSpPr>
            <p:nvPr/>
          </p:nvCxnSpPr>
          <p:spPr>
            <a:xfrm>
              <a:off x="6317251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A4F797D3-6EB9-4692-BA91-2FC7FAE5FCB4}"/>
                </a:ext>
              </a:extLst>
            </p:cNvPr>
            <p:cNvCxnSpPr>
              <a:cxnSpLocks/>
            </p:cNvCxnSpPr>
            <p:nvPr/>
          </p:nvCxnSpPr>
          <p:spPr>
            <a:xfrm>
              <a:off x="6732279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xmlns="" id="{CA10CCCC-7686-401D-8427-F4719839F69C}"/>
                </a:ext>
              </a:extLst>
            </p:cNvPr>
            <p:cNvCxnSpPr>
              <a:cxnSpLocks/>
            </p:cNvCxnSpPr>
            <p:nvPr/>
          </p:nvCxnSpPr>
          <p:spPr>
            <a:xfrm>
              <a:off x="7152041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196" name="Title 4">
            <a:extLst>
              <a:ext uri="{FF2B5EF4-FFF2-40B4-BE49-F238E27FC236}">
                <a16:creationId xmlns:a16="http://schemas.microsoft.com/office/drawing/2014/main" xmlns="" id="{44ECF9CB-FEB4-47DF-B1A0-9AA08BE809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2650" y="-61913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Microprocessor Organization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xmlns="" id="{477B68C0-90CE-47E9-BC61-E3DEFE2A1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9" y="5440363"/>
            <a:ext cx="7437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000000"/>
                </a:solidFill>
                <a:latin typeface="Arial, Helvetica, sans-serif"/>
              </a:rPr>
              <a:t>Decode Unit:</a:t>
            </a:r>
            <a:r>
              <a:rPr lang="en-US" altLang="en-US">
                <a:solidFill>
                  <a:srgbClr val="000000"/>
                </a:solidFill>
                <a:latin typeface="Arial, Helvetica, sans-serif"/>
              </a:rPr>
              <a:t> translates instruction into control signals and microcode directions then queues them until requested by the Control Unit.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219" name="Group 19">
            <a:extLst>
              <a:ext uri="{FF2B5EF4-FFF2-40B4-BE49-F238E27FC236}">
                <a16:creationId xmlns:a16="http://schemas.microsoft.com/office/drawing/2014/main" xmlns="" id="{49BA6319-51B7-4B2C-819D-D42408923FE5}"/>
              </a:ext>
            </a:extLst>
          </p:cNvPr>
          <p:cNvGrpSpPr>
            <a:grpSpLocks/>
          </p:cNvGrpSpPr>
          <p:nvPr/>
        </p:nvGrpSpPr>
        <p:grpSpPr bwMode="auto">
          <a:xfrm>
            <a:off x="2832100" y="696914"/>
            <a:ext cx="6489700" cy="4249737"/>
            <a:chOff x="1308515" y="1737361"/>
            <a:chExt cx="6451075" cy="412027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AE3E96C4-8B9E-4C32-B04B-731D19381CBC}"/>
                </a:ext>
              </a:extLst>
            </p:cNvPr>
            <p:cNvSpPr/>
            <p:nvPr/>
          </p:nvSpPr>
          <p:spPr>
            <a:xfrm>
              <a:off x="1535754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Arithmetic Logic Unit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F3F3B214-A664-414C-897A-BFBA9996BE41}"/>
                </a:ext>
              </a:extLst>
            </p:cNvPr>
            <p:cNvSpPr/>
            <p:nvPr/>
          </p:nvSpPr>
          <p:spPr>
            <a:xfrm>
              <a:off x="5938518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Bus Management Unit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50A24C3C-7F3B-44C9-9C88-A71630F4F90A}"/>
                </a:ext>
              </a:extLst>
            </p:cNvPr>
            <p:cNvSpPr/>
            <p:nvPr/>
          </p:nvSpPr>
          <p:spPr>
            <a:xfrm>
              <a:off x="3737137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Memory Management Unit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10F25018-98D0-4559-946E-D236A7115A55}"/>
                </a:ext>
              </a:extLst>
            </p:cNvPr>
            <p:cNvSpPr/>
            <p:nvPr/>
          </p:nvSpPr>
          <p:spPr>
            <a:xfrm>
              <a:off x="1535754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Control Unit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33B89131-586D-4240-B059-644688F63892}"/>
                </a:ext>
              </a:extLst>
            </p:cNvPr>
            <p:cNvSpPr/>
            <p:nvPr/>
          </p:nvSpPr>
          <p:spPr>
            <a:xfrm>
              <a:off x="5938518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Prefetch Unit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1E5FBB0F-9C82-43D1-8202-009DB1A9ED80}"/>
                </a:ext>
              </a:extLst>
            </p:cNvPr>
            <p:cNvSpPr/>
            <p:nvPr/>
          </p:nvSpPr>
          <p:spPr>
            <a:xfrm>
              <a:off x="3737137" y="4718676"/>
              <a:ext cx="1593832" cy="9111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Decode Unit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54C173E2-8C20-4887-939F-BD6EC68CF576}"/>
                </a:ext>
              </a:extLst>
            </p:cNvPr>
            <p:cNvCxnSpPr>
              <a:cxnSpLocks/>
            </p:cNvCxnSpPr>
            <p:nvPr/>
          </p:nvCxnSpPr>
          <p:spPr>
            <a:xfrm>
              <a:off x="1991812" y="4112255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5A4C6810-0465-4227-B839-6AEC73615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587" y="5174262"/>
              <a:ext cx="607550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E54DE10D-1C46-4B0F-BBA8-A0830A99CE8E}"/>
                </a:ext>
              </a:extLst>
            </p:cNvPr>
            <p:cNvCxnSpPr>
              <a:cxnSpLocks/>
            </p:cNvCxnSpPr>
            <p:nvPr/>
          </p:nvCxnSpPr>
          <p:spPr>
            <a:xfrm>
              <a:off x="2675108" y="4340047"/>
              <a:ext cx="3717890" cy="0"/>
            </a:xfrm>
            <a:prstGeom prst="line">
              <a:avLst/>
            </a:prstGeom>
            <a:ln>
              <a:solidFill>
                <a:schemeClr val="tx1"/>
              </a:solidFill>
              <a:head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xmlns="" id="{1B20E8CF-3EEA-43E2-B93A-83CEBE08CD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2997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xmlns="" id="{C8CE66C4-AF57-48D7-95F5-5541C499E4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5108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xmlns="" id="{B18DD61F-4F13-4020-909D-BADF0E291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3521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xmlns="" id="{F354B9E9-0E93-4B03-A3CE-7AA10CAE507A}"/>
                </a:ext>
              </a:extLst>
            </p:cNvPr>
            <p:cNvCxnSpPr>
              <a:stCxn id="23" idx="2"/>
              <a:endCxn id="30" idx="0"/>
            </p:cNvCxnSpPr>
            <p:nvPr/>
          </p:nvCxnSpPr>
          <p:spPr>
            <a:xfrm rot="5400000">
              <a:off x="5331533" y="3314774"/>
              <a:ext cx="606421" cy="2201382"/>
            </a:xfrm>
            <a:prstGeom prst="bentConnector3">
              <a:avLst>
                <a:gd name="adj1" fmla="val 61666"/>
              </a:avLst>
            </a:prstGeom>
            <a:ln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xmlns="" id="{6DF53B73-AC56-4545-93E7-E2B3A15D68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0969" y="5174262"/>
              <a:ext cx="607549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xmlns="" id="{0F797713-7561-421D-8584-378AEF79A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587" y="3656669"/>
              <a:ext cx="607550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620662F6-8CF1-4A73-93BB-DB53CCCAF993}"/>
                </a:ext>
              </a:extLst>
            </p:cNvPr>
            <p:cNvSpPr/>
            <p:nvPr/>
          </p:nvSpPr>
          <p:spPr>
            <a:xfrm>
              <a:off x="1308515" y="2973290"/>
              <a:ext cx="6451075" cy="28843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237" name="TextBox 42">
              <a:extLst>
                <a:ext uri="{FF2B5EF4-FFF2-40B4-BE49-F238E27FC236}">
                  <a16:creationId xmlns:a16="http://schemas.microsoft.com/office/drawing/2014/main" xmlns="" id="{F981DE59-C77D-4D34-B89E-C377A4E0D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718575" y="2019426"/>
              <a:ext cx="9334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Address</a:t>
              </a:r>
            </a:p>
          </p:txBody>
        </p:sp>
        <p:sp>
          <p:nvSpPr>
            <p:cNvPr id="9238" name="TextBox 43">
              <a:extLst>
                <a:ext uri="{FF2B5EF4-FFF2-40B4-BE49-F238E27FC236}">
                  <a16:creationId xmlns:a16="http://schemas.microsoft.com/office/drawing/2014/main" xmlns="" id="{BCAF15E2-80C4-4298-8FDD-F1B461DF9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447463" y="2019427"/>
              <a:ext cx="620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Data</a:t>
              </a:r>
            </a:p>
          </p:txBody>
        </p:sp>
        <p:sp>
          <p:nvSpPr>
            <p:cNvPr id="9239" name="TextBox 44">
              <a:extLst>
                <a:ext uri="{FF2B5EF4-FFF2-40B4-BE49-F238E27FC236}">
                  <a16:creationId xmlns:a16="http://schemas.microsoft.com/office/drawing/2014/main" xmlns="" id="{2647F149-33BD-45C6-9909-B008303A5E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5891303" y="2019427"/>
              <a:ext cx="87774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Control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xmlns="" id="{1AC7C967-922B-47E0-AEA8-857F8197AE29}"/>
                </a:ext>
              </a:extLst>
            </p:cNvPr>
            <p:cNvCxnSpPr>
              <a:cxnSpLocks/>
            </p:cNvCxnSpPr>
            <p:nvPr/>
          </p:nvCxnSpPr>
          <p:spPr>
            <a:xfrm>
              <a:off x="6317251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A4F797D3-6EB9-4692-BA91-2FC7FAE5FCB4}"/>
                </a:ext>
              </a:extLst>
            </p:cNvPr>
            <p:cNvCxnSpPr>
              <a:cxnSpLocks/>
            </p:cNvCxnSpPr>
            <p:nvPr/>
          </p:nvCxnSpPr>
          <p:spPr>
            <a:xfrm>
              <a:off x="6732279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xmlns="" id="{CA10CCCC-7686-401D-8427-F4719839F69C}"/>
                </a:ext>
              </a:extLst>
            </p:cNvPr>
            <p:cNvCxnSpPr>
              <a:cxnSpLocks/>
            </p:cNvCxnSpPr>
            <p:nvPr/>
          </p:nvCxnSpPr>
          <p:spPr>
            <a:xfrm>
              <a:off x="7152041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220" name="Title 4">
            <a:extLst>
              <a:ext uri="{FF2B5EF4-FFF2-40B4-BE49-F238E27FC236}">
                <a16:creationId xmlns:a16="http://schemas.microsoft.com/office/drawing/2014/main" xmlns="" id="{7490827B-9EA0-4950-AE62-1657FBF2F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2650" y="-61913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Microprocessor Organization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xmlns="" id="{0B50CD88-C87D-4753-BDE0-B84D73D63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9" y="5440363"/>
            <a:ext cx="7437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000000"/>
                </a:solidFill>
                <a:latin typeface="Arial, Helvetica, sans-serif"/>
              </a:rPr>
              <a:t>Prefetch Unit:</a:t>
            </a:r>
            <a:r>
              <a:rPr lang="en-US" altLang="en-US">
                <a:solidFill>
                  <a:srgbClr val="000000"/>
                </a:solidFill>
                <a:latin typeface="Arial, Helvetica, sans-serif"/>
              </a:rPr>
              <a:t> queues instruction to assure that the microprocessor is in continuous operation.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243" name="Group 19">
            <a:extLst>
              <a:ext uri="{FF2B5EF4-FFF2-40B4-BE49-F238E27FC236}">
                <a16:creationId xmlns:a16="http://schemas.microsoft.com/office/drawing/2014/main" xmlns="" id="{450745D2-3CE7-40F2-AE4E-130F000E3BCF}"/>
              </a:ext>
            </a:extLst>
          </p:cNvPr>
          <p:cNvGrpSpPr>
            <a:grpSpLocks/>
          </p:cNvGrpSpPr>
          <p:nvPr/>
        </p:nvGrpSpPr>
        <p:grpSpPr bwMode="auto">
          <a:xfrm>
            <a:off x="2832100" y="696914"/>
            <a:ext cx="6489700" cy="4249737"/>
            <a:chOff x="1308515" y="1737361"/>
            <a:chExt cx="6451075" cy="412027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AE3E96C4-8B9E-4C32-B04B-731D19381CBC}"/>
                </a:ext>
              </a:extLst>
            </p:cNvPr>
            <p:cNvSpPr/>
            <p:nvPr/>
          </p:nvSpPr>
          <p:spPr>
            <a:xfrm>
              <a:off x="1535754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Arithmetic Logic Unit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F3F3B214-A664-414C-897A-BFBA9996BE41}"/>
                </a:ext>
              </a:extLst>
            </p:cNvPr>
            <p:cNvSpPr/>
            <p:nvPr/>
          </p:nvSpPr>
          <p:spPr>
            <a:xfrm>
              <a:off x="5938518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Bus Management Unit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50A24C3C-7F3B-44C9-9C88-A71630F4F90A}"/>
                </a:ext>
              </a:extLst>
            </p:cNvPr>
            <p:cNvSpPr/>
            <p:nvPr/>
          </p:nvSpPr>
          <p:spPr>
            <a:xfrm>
              <a:off x="3737137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Memory Management Unit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10F25018-98D0-4559-946E-D236A7115A55}"/>
                </a:ext>
              </a:extLst>
            </p:cNvPr>
            <p:cNvSpPr/>
            <p:nvPr/>
          </p:nvSpPr>
          <p:spPr>
            <a:xfrm>
              <a:off x="1535754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Control Unit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33B89131-586D-4240-B059-644688F63892}"/>
                </a:ext>
              </a:extLst>
            </p:cNvPr>
            <p:cNvSpPr/>
            <p:nvPr/>
          </p:nvSpPr>
          <p:spPr>
            <a:xfrm>
              <a:off x="5938518" y="4718676"/>
              <a:ext cx="1593832" cy="9111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Prefetch Unit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1E5FBB0F-9C82-43D1-8202-009DB1A9ED80}"/>
                </a:ext>
              </a:extLst>
            </p:cNvPr>
            <p:cNvSpPr/>
            <p:nvPr/>
          </p:nvSpPr>
          <p:spPr>
            <a:xfrm>
              <a:off x="3737137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Decode Unit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54C173E2-8C20-4887-939F-BD6EC68CF576}"/>
                </a:ext>
              </a:extLst>
            </p:cNvPr>
            <p:cNvCxnSpPr>
              <a:cxnSpLocks/>
            </p:cNvCxnSpPr>
            <p:nvPr/>
          </p:nvCxnSpPr>
          <p:spPr>
            <a:xfrm>
              <a:off x="1991812" y="4112255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5A4C6810-0465-4227-B839-6AEC73615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587" y="5174262"/>
              <a:ext cx="607550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E54DE10D-1C46-4B0F-BBA8-A0830A99CE8E}"/>
                </a:ext>
              </a:extLst>
            </p:cNvPr>
            <p:cNvCxnSpPr>
              <a:cxnSpLocks/>
            </p:cNvCxnSpPr>
            <p:nvPr/>
          </p:nvCxnSpPr>
          <p:spPr>
            <a:xfrm>
              <a:off x="2675108" y="4340047"/>
              <a:ext cx="3717890" cy="0"/>
            </a:xfrm>
            <a:prstGeom prst="line">
              <a:avLst/>
            </a:prstGeom>
            <a:ln>
              <a:solidFill>
                <a:schemeClr val="tx1"/>
              </a:solidFill>
              <a:head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xmlns="" id="{1B20E8CF-3EEA-43E2-B93A-83CEBE08CD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2997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xmlns="" id="{C8CE66C4-AF57-48D7-95F5-5541C499E4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5108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xmlns="" id="{B18DD61F-4F13-4020-909D-BADF0E291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3521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xmlns="" id="{F354B9E9-0E93-4B03-A3CE-7AA10CAE507A}"/>
                </a:ext>
              </a:extLst>
            </p:cNvPr>
            <p:cNvCxnSpPr>
              <a:stCxn id="23" idx="2"/>
              <a:endCxn id="30" idx="0"/>
            </p:cNvCxnSpPr>
            <p:nvPr/>
          </p:nvCxnSpPr>
          <p:spPr>
            <a:xfrm rot="5400000">
              <a:off x="5331533" y="3314774"/>
              <a:ext cx="606421" cy="2201382"/>
            </a:xfrm>
            <a:prstGeom prst="bentConnector3">
              <a:avLst>
                <a:gd name="adj1" fmla="val 61666"/>
              </a:avLst>
            </a:prstGeom>
            <a:ln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xmlns="" id="{6DF53B73-AC56-4545-93E7-E2B3A15D68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0969" y="5174262"/>
              <a:ext cx="607549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xmlns="" id="{0F797713-7561-421D-8584-378AEF79A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587" y="3656669"/>
              <a:ext cx="607550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620662F6-8CF1-4A73-93BB-DB53CCCAF993}"/>
                </a:ext>
              </a:extLst>
            </p:cNvPr>
            <p:cNvSpPr/>
            <p:nvPr/>
          </p:nvSpPr>
          <p:spPr>
            <a:xfrm>
              <a:off x="1308515" y="2973290"/>
              <a:ext cx="6451075" cy="28843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261" name="TextBox 42">
              <a:extLst>
                <a:ext uri="{FF2B5EF4-FFF2-40B4-BE49-F238E27FC236}">
                  <a16:creationId xmlns:a16="http://schemas.microsoft.com/office/drawing/2014/main" xmlns="" id="{8C78D6D2-8474-4C8E-8BD8-3E3078315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718575" y="2019426"/>
              <a:ext cx="9334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Address</a:t>
              </a:r>
            </a:p>
          </p:txBody>
        </p:sp>
        <p:sp>
          <p:nvSpPr>
            <p:cNvPr id="10262" name="TextBox 43">
              <a:extLst>
                <a:ext uri="{FF2B5EF4-FFF2-40B4-BE49-F238E27FC236}">
                  <a16:creationId xmlns:a16="http://schemas.microsoft.com/office/drawing/2014/main" xmlns="" id="{7FBA6ED7-97C4-400D-A63C-DDEEB0746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447463" y="2019427"/>
              <a:ext cx="620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Data</a:t>
              </a:r>
            </a:p>
          </p:txBody>
        </p:sp>
        <p:sp>
          <p:nvSpPr>
            <p:cNvPr id="10263" name="TextBox 44">
              <a:extLst>
                <a:ext uri="{FF2B5EF4-FFF2-40B4-BE49-F238E27FC236}">
                  <a16:creationId xmlns:a16="http://schemas.microsoft.com/office/drawing/2014/main" xmlns="" id="{BA55A124-AEF2-42E7-B5F8-0D91A5FFB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5891303" y="2019427"/>
              <a:ext cx="87774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Control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xmlns="" id="{1AC7C967-922B-47E0-AEA8-857F8197AE29}"/>
                </a:ext>
              </a:extLst>
            </p:cNvPr>
            <p:cNvCxnSpPr>
              <a:cxnSpLocks/>
            </p:cNvCxnSpPr>
            <p:nvPr/>
          </p:nvCxnSpPr>
          <p:spPr>
            <a:xfrm>
              <a:off x="6317251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A4F797D3-6EB9-4692-BA91-2FC7FAE5FCB4}"/>
                </a:ext>
              </a:extLst>
            </p:cNvPr>
            <p:cNvCxnSpPr>
              <a:cxnSpLocks/>
            </p:cNvCxnSpPr>
            <p:nvPr/>
          </p:nvCxnSpPr>
          <p:spPr>
            <a:xfrm>
              <a:off x="6732279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xmlns="" id="{CA10CCCC-7686-401D-8427-F4719839F69C}"/>
                </a:ext>
              </a:extLst>
            </p:cNvPr>
            <p:cNvCxnSpPr>
              <a:cxnSpLocks/>
            </p:cNvCxnSpPr>
            <p:nvPr/>
          </p:nvCxnSpPr>
          <p:spPr>
            <a:xfrm>
              <a:off x="7152041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244" name="Title 4">
            <a:extLst>
              <a:ext uri="{FF2B5EF4-FFF2-40B4-BE49-F238E27FC236}">
                <a16:creationId xmlns:a16="http://schemas.microsoft.com/office/drawing/2014/main" xmlns="" id="{15E2A398-531C-43AE-8B08-59D74F7B9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2650" y="-61913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Microprocessor Organization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xmlns="" id="{E0066124-1622-4E65-8996-A3856DDD0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9" y="5440363"/>
            <a:ext cx="7437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000000"/>
                </a:solidFill>
                <a:latin typeface="Arial, Helvetica, sans-serif"/>
              </a:rPr>
              <a:t>Memory Management Unit</a:t>
            </a:r>
            <a:r>
              <a:rPr lang="en-US" altLang="en-US">
                <a:solidFill>
                  <a:srgbClr val="000000"/>
                </a:solidFill>
                <a:latin typeface="Arial, Helvetica, sans-serif"/>
              </a:rPr>
              <a:t>: converts internal logic addresses into external memory addresses.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267" name="Group 19">
            <a:extLst>
              <a:ext uri="{FF2B5EF4-FFF2-40B4-BE49-F238E27FC236}">
                <a16:creationId xmlns:a16="http://schemas.microsoft.com/office/drawing/2014/main" xmlns="" id="{E75FE797-683A-4107-90C8-F5E11B89FB97}"/>
              </a:ext>
            </a:extLst>
          </p:cNvPr>
          <p:cNvGrpSpPr>
            <a:grpSpLocks/>
          </p:cNvGrpSpPr>
          <p:nvPr/>
        </p:nvGrpSpPr>
        <p:grpSpPr bwMode="auto">
          <a:xfrm>
            <a:off x="2832100" y="696914"/>
            <a:ext cx="6489700" cy="4249737"/>
            <a:chOff x="1308515" y="1737361"/>
            <a:chExt cx="6451075" cy="412027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AE3E96C4-8B9E-4C32-B04B-731D19381CBC}"/>
                </a:ext>
              </a:extLst>
            </p:cNvPr>
            <p:cNvSpPr/>
            <p:nvPr/>
          </p:nvSpPr>
          <p:spPr>
            <a:xfrm>
              <a:off x="1535754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Arithmetic Logic Unit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F3F3B214-A664-414C-897A-BFBA9996BE41}"/>
                </a:ext>
              </a:extLst>
            </p:cNvPr>
            <p:cNvSpPr/>
            <p:nvPr/>
          </p:nvSpPr>
          <p:spPr>
            <a:xfrm>
              <a:off x="5938518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Bus Management Unit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50A24C3C-7F3B-44C9-9C88-A71630F4F90A}"/>
                </a:ext>
              </a:extLst>
            </p:cNvPr>
            <p:cNvSpPr/>
            <p:nvPr/>
          </p:nvSpPr>
          <p:spPr>
            <a:xfrm>
              <a:off x="3737137" y="3201083"/>
              <a:ext cx="1593832" cy="9111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Memory Management Unit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10F25018-98D0-4559-946E-D236A7115A55}"/>
                </a:ext>
              </a:extLst>
            </p:cNvPr>
            <p:cNvSpPr/>
            <p:nvPr/>
          </p:nvSpPr>
          <p:spPr>
            <a:xfrm>
              <a:off x="1535754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Control Unit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33B89131-586D-4240-B059-644688F63892}"/>
                </a:ext>
              </a:extLst>
            </p:cNvPr>
            <p:cNvSpPr/>
            <p:nvPr/>
          </p:nvSpPr>
          <p:spPr>
            <a:xfrm>
              <a:off x="5938518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Prefetch Unit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1E5FBB0F-9C82-43D1-8202-009DB1A9ED80}"/>
                </a:ext>
              </a:extLst>
            </p:cNvPr>
            <p:cNvSpPr/>
            <p:nvPr/>
          </p:nvSpPr>
          <p:spPr>
            <a:xfrm>
              <a:off x="3737137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Decode Unit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54C173E2-8C20-4887-939F-BD6EC68CF576}"/>
                </a:ext>
              </a:extLst>
            </p:cNvPr>
            <p:cNvCxnSpPr>
              <a:cxnSpLocks/>
            </p:cNvCxnSpPr>
            <p:nvPr/>
          </p:nvCxnSpPr>
          <p:spPr>
            <a:xfrm>
              <a:off x="1991812" y="4112255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5A4C6810-0465-4227-B839-6AEC73615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587" y="5174262"/>
              <a:ext cx="607550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E54DE10D-1C46-4B0F-BBA8-A0830A99CE8E}"/>
                </a:ext>
              </a:extLst>
            </p:cNvPr>
            <p:cNvCxnSpPr>
              <a:cxnSpLocks/>
            </p:cNvCxnSpPr>
            <p:nvPr/>
          </p:nvCxnSpPr>
          <p:spPr>
            <a:xfrm>
              <a:off x="2675108" y="4340047"/>
              <a:ext cx="3717890" cy="0"/>
            </a:xfrm>
            <a:prstGeom prst="line">
              <a:avLst/>
            </a:prstGeom>
            <a:ln>
              <a:solidFill>
                <a:schemeClr val="tx1"/>
              </a:solidFill>
              <a:head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xmlns="" id="{1B20E8CF-3EEA-43E2-B93A-83CEBE08CD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2997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xmlns="" id="{C8CE66C4-AF57-48D7-95F5-5541C499E4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5108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xmlns="" id="{B18DD61F-4F13-4020-909D-BADF0E291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3521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xmlns="" id="{F354B9E9-0E93-4B03-A3CE-7AA10CAE507A}"/>
                </a:ext>
              </a:extLst>
            </p:cNvPr>
            <p:cNvCxnSpPr>
              <a:stCxn id="23" idx="2"/>
              <a:endCxn id="30" idx="0"/>
            </p:cNvCxnSpPr>
            <p:nvPr/>
          </p:nvCxnSpPr>
          <p:spPr>
            <a:xfrm rot="5400000">
              <a:off x="5331533" y="3314774"/>
              <a:ext cx="606421" cy="2201382"/>
            </a:xfrm>
            <a:prstGeom prst="bentConnector3">
              <a:avLst>
                <a:gd name="adj1" fmla="val 61666"/>
              </a:avLst>
            </a:prstGeom>
            <a:ln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xmlns="" id="{6DF53B73-AC56-4545-93E7-E2B3A15D68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0969" y="5174262"/>
              <a:ext cx="607549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xmlns="" id="{0F797713-7561-421D-8584-378AEF79A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587" y="3656669"/>
              <a:ext cx="607550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620662F6-8CF1-4A73-93BB-DB53CCCAF993}"/>
                </a:ext>
              </a:extLst>
            </p:cNvPr>
            <p:cNvSpPr/>
            <p:nvPr/>
          </p:nvSpPr>
          <p:spPr>
            <a:xfrm>
              <a:off x="1308515" y="2973290"/>
              <a:ext cx="6451075" cy="28843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285" name="TextBox 42">
              <a:extLst>
                <a:ext uri="{FF2B5EF4-FFF2-40B4-BE49-F238E27FC236}">
                  <a16:creationId xmlns:a16="http://schemas.microsoft.com/office/drawing/2014/main" xmlns="" id="{003FA395-D29F-49C2-8E4C-14EF4FFDF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718575" y="2019426"/>
              <a:ext cx="9334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Address</a:t>
              </a:r>
            </a:p>
          </p:txBody>
        </p:sp>
        <p:sp>
          <p:nvSpPr>
            <p:cNvPr id="11286" name="TextBox 43">
              <a:extLst>
                <a:ext uri="{FF2B5EF4-FFF2-40B4-BE49-F238E27FC236}">
                  <a16:creationId xmlns:a16="http://schemas.microsoft.com/office/drawing/2014/main" xmlns="" id="{805DC750-C29A-476A-99B9-DD72111FC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447463" y="2019427"/>
              <a:ext cx="620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Data</a:t>
              </a:r>
            </a:p>
          </p:txBody>
        </p:sp>
        <p:sp>
          <p:nvSpPr>
            <p:cNvPr id="11287" name="TextBox 44">
              <a:extLst>
                <a:ext uri="{FF2B5EF4-FFF2-40B4-BE49-F238E27FC236}">
                  <a16:creationId xmlns:a16="http://schemas.microsoft.com/office/drawing/2014/main" xmlns="" id="{623E69F4-6BCD-428C-A1FF-45ECC12B0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5891303" y="2019427"/>
              <a:ext cx="87774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Control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xmlns="" id="{1AC7C967-922B-47E0-AEA8-857F8197AE29}"/>
                </a:ext>
              </a:extLst>
            </p:cNvPr>
            <p:cNvCxnSpPr>
              <a:cxnSpLocks/>
            </p:cNvCxnSpPr>
            <p:nvPr/>
          </p:nvCxnSpPr>
          <p:spPr>
            <a:xfrm>
              <a:off x="6317251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A4F797D3-6EB9-4692-BA91-2FC7FAE5FCB4}"/>
                </a:ext>
              </a:extLst>
            </p:cNvPr>
            <p:cNvCxnSpPr>
              <a:cxnSpLocks/>
            </p:cNvCxnSpPr>
            <p:nvPr/>
          </p:nvCxnSpPr>
          <p:spPr>
            <a:xfrm>
              <a:off x="6732279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xmlns="" id="{CA10CCCC-7686-401D-8427-F4719839F69C}"/>
                </a:ext>
              </a:extLst>
            </p:cNvPr>
            <p:cNvCxnSpPr>
              <a:cxnSpLocks/>
            </p:cNvCxnSpPr>
            <p:nvPr/>
          </p:nvCxnSpPr>
          <p:spPr>
            <a:xfrm>
              <a:off x="7152041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68" name="Title 4">
            <a:extLst>
              <a:ext uri="{FF2B5EF4-FFF2-40B4-BE49-F238E27FC236}">
                <a16:creationId xmlns:a16="http://schemas.microsoft.com/office/drawing/2014/main" xmlns="" id="{81E428D3-69F2-462C-96BE-633D299F5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2650" y="-61913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Microprocessor Organization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xmlns="" id="{CD190FEC-1C8A-43B3-8F6B-2E7FBCC9A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9" y="5440364"/>
            <a:ext cx="7437437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000000"/>
                </a:solidFill>
                <a:latin typeface="Arial, Helvetica, sans-serif"/>
              </a:rPr>
              <a:t>Bus Management Unit:</a:t>
            </a:r>
            <a:r>
              <a:rPr lang="en-US" altLang="en-US">
                <a:solidFill>
                  <a:srgbClr val="000000"/>
                </a:solidFill>
                <a:latin typeface="Arial, Helvetica, sans-serif"/>
              </a:rPr>
              <a:t> manages the flow of information between the microprocessor and data storage locations (main disk, CD-ROM, etc.) and peripherals ( printer, monitor, etc.)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291" name="Group 19">
            <a:extLst>
              <a:ext uri="{FF2B5EF4-FFF2-40B4-BE49-F238E27FC236}">
                <a16:creationId xmlns:a16="http://schemas.microsoft.com/office/drawing/2014/main" xmlns="" id="{08BF2873-0351-48EF-A5E3-7388A7DE518B}"/>
              </a:ext>
            </a:extLst>
          </p:cNvPr>
          <p:cNvGrpSpPr>
            <a:grpSpLocks/>
          </p:cNvGrpSpPr>
          <p:nvPr/>
        </p:nvGrpSpPr>
        <p:grpSpPr bwMode="auto">
          <a:xfrm>
            <a:off x="2832100" y="696914"/>
            <a:ext cx="6489700" cy="4249737"/>
            <a:chOff x="1308515" y="1737361"/>
            <a:chExt cx="6451075" cy="412027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AE3E96C4-8B9E-4C32-B04B-731D19381CBC}"/>
                </a:ext>
              </a:extLst>
            </p:cNvPr>
            <p:cNvSpPr/>
            <p:nvPr/>
          </p:nvSpPr>
          <p:spPr>
            <a:xfrm>
              <a:off x="1535754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Arithmetic Logic Unit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F3F3B214-A664-414C-897A-BFBA9996BE41}"/>
                </a:ext>
              </a:extLst>
            </p:cNvPr>
            <p:cNvSpPr/>
            <p:nvPr/>
          </p:nvSpPr>
          <p:spPr>
            <a:xfrm>
              <a:off x="5938518" y="3201083"/>
              <a:ext cx="1593832" cy="9111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Bus Management Unit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50A24C3C-7F3B-44C9-9C88-A71630F4F90A}"/>
                </a:ext>
              </a:extLst>
            </p:cNvPr>
            <p:cNvSpPr/>
            <p:nvPr/>
          </p:nvSpPr>
          <p:spPr>
            <a:xfrm>
              <a:off x="3737137" y="3201083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Memory Management Unit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10F25018-98D0-4559-946E-D236A7115A55}"/>
                </a:ext>
              </a:extLst>
            </p:cNvPr>
            <p:cNvSpPr/>
            <p:nvPr/>
          </p:nvSpPr>
          <p:spPr>
            <a:xfrm>
              <a:off x="1535754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Control Unit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33B89131-586D-4240-B059-644688F63892}"/>
                </a:ext>
              </a:extLst>
            </p:cNvPr>
            <p:cNvSpPr/>
            <p:nvPr/>
          </p:nvSpPr>
          <p:spPr>
            <a:xfrm>
              <a:off x="5938518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Prefetch Unit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1E5FBB0F-9C82-43D1-8202-009DB1A9ED80}"/>
                </a:ext>
              </a:extLst>
            </p:cNvPr>
            <p:cNvSpPr/>
            <p:nvPr/>
          </p:nvSpPr>
          <p:spPr>
            <a:xfrm>
              <a:off x="3737137" y="4718676"/>
              <a:ext cx="1593832" cy="91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Decode Unit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54C173E2-8C20-4887-939F-BD6EC68CF576}"/>
                </a:ext>
              </a:extLst>
            </p:cNvPr>
            <p:cNvCxnSpPr>
              <a:cxnSpLocks/>
            </p:cNvCxnSpPr>
            <p:nvPr/>
          </p:nvCxnSpPr>
          <p:spPr>
            <a:xfrm>
              <a:off x="1991812" y="4112255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5A4C6810-0465-4227-B839-6AEC73615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587" y="5174262"/>
              <a:ext cx="607550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E54DE10D-1C46-4B0F-BBA8-A0830A99CE8E}"/>
                </a:ext>
              </a:extLst>
            </p:cNvPr>
            <p:cNvCxnSpPr>
              <a:cxnSpLocks/>
            </p:cNvCxnSpPr>
            <p:nvPr/>
          </p:nvCxnSpPr>
          <p:spPr>
            <a:xfrm>
              <a:off x="2675108" y="4340047"/>
              <a:ext cx="3717890" cy="0"/>
            </a:xfrm>
            <a:prstGeom prst="line">
              <a:avLst/>
            </a:prstGeom>
            <a:ln>
              <a:solidFill>
                <a:schemeClr val="tx1"/>
              </a:solidFill>
              <a:head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xmlns="" id="{1B20E8CF-3EEA-43E2-B93A-83CEBE08CD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2997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xmlns="" id="{C8CE66C4-AF57-48D7-95F5-5541C499E4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5108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xmlns="" id="{B18DD61F-4F13-4020-909D-BADF0E291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3521" y="4112255"/>
              <a:ext cx="0" cy="22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xmlns="" id="{F354B9E9-0E93-4B03-A3CE-7AA10CAE507A}"/>
                </a:ext>
              </a:extLst>
            </p:cNvPr>
            <p:cNvCxnSpPr>
              <a:stCxn id="23" idx="2"/>
              <a:endCxn id="30" idx="0"/>
            </p:cNvCxnSpPr>
            <p:nvPr/>
          </p:nvCxnSpPr>
          <p:spPr>
            <a:xfrm rot="5400000">
              <a:off x="5331533" y="3314774"/>
              <a:ext cx="606421" cy="2201382"/>
            </a:xfrm>
            <a:prstGeom prst="bentConnector3">
              <a:avLst>
                <a:gd name="adj1" fmla="val 61666"/>
              </a:avLst>
            </a:prstGeom>
            <a:ln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xmlns="" id="{6DF53B73-AC56-4545-93E7-E2B3A15D68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0969" y="5174262"/>
              <a:ext cx="607549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xmlns="" id="{0F797713-7561-421D-8584-378AEF79A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9587" y="3656669"/>
              <a:ext cx="607550" cy="0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620662F6-8CF1-4A73-93BB-DB53CCCAF993}"/>
                </a:ext>
              </a:extLst>
            </p:cNvPr>
            <p:cNvSpPr/>
            <p:nvPr/>
          </p:nvSpPr>
          <p:spPr>
            <a:xfrm>
              <a:off x="1308515" y="2973290"/>
              <a:ext cx="6451075" cy="28843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309" name="TextBox 42">
              <a:extLst>
                <a:ext uri="{FF2B5EF4-FFF2-40B4-BE49-F238E27FC236}">
                  <a16:creationId xmlns:a16="http://schemas.microsoft.com/office/drawing/2014/main" xmlns="" id="{45531B98-D72D-4EAC-AEBE-057B3E2BF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718575" y="2019426"/>
              <a:ext cx="9334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Address</a:t>
              </a:r>
            </a:p>
          </p:txBody>
        </p:sp>
        <p:sp>
          <p:nvSpPr>
            <p:cNvPr id="12310" name="TextBox 43">
              <a:extLst>
                <a:ext uri="{FF2B5EF4-FFF2-40B4-BE49-F238E27FC236}">
                  <a16:creationId xmlns:a16="http://schemas.microsoft.com/office/drawing/2014/main" xmlns="" id="{C3E6FD95-FE98-4C30-B53F-2961F7D2F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6447463" y="2019427"/>
              <a:ext cx="620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Data</a:t>
              </a:r>
            </a:p>
          </p:txBody>
        </p:sp>
        <p:sp>
          <p:nvSpPr>
            <p:cNvPr id="12311" name="TextBox 44">
              <a:extLst>
                <a:ext uri="{FF2B5EF4-FFF2-40B4-BE49-F238E27FC236}">
                  <a16:creationId xmlns:a16="http://schemas.microsoft.com/office/drawing/2014/main" xmlns="" id="{D9BF7A3C-6DEF-44A4-85AA-4DD070B03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5891303" y="2019427"/>
              <a:ext cx="87774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Control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xmlns="" id="{1AC7C967-922B-47E0-AEA8-857F8197AE29}"/>
                </a:ext>
              </a:extLst>
            </p:cNvPr>
            <p:cNvCxnSpPr>
              <a:cxnSpLocks/>
            </p:cNvCxnSpPr>
            <p:nvPr/>
          </p:nvCxnSpPr>
          <p:spPr>
            <a:xfrm>
              <a:off x="6317251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xmlns="" id="{A4F797D3-6EB9-4692-BA91-2FC7FAE5FCB4}"/>
                </a:ext>
              </a:extLst>
            </p:cNvPr>
            <p:cNvCxnSpPr>
              <a:cxnSpLocks/>
            </p:cNvCxnSpPr>
            <p:nvPr/>
          </p:nvCxnSpPr>
          <p:spPr>
            <a:xfrm>
              <a:off x="6732279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xmlns="" id="{CA10CCCC-7686-401D-8427-F4719839F69C}"/>
                </a:ext>
              </a:extLst>
            </p:cNvPr>
            <p:cNvCxnSpPr>
              <a:cxnSpLocks/>
            </p:cNvCxnSpPr>
            <p:nvPr/>
          </p:nvCxnSpPr>
          <p:spPr>
            <a:xfrm>
              <a:off x="7152041" y="2594662"/>
              <a:ext cx="0" cy="606421"/>
            </a:xfrm>
            <a:prstGeom prst="straightConnector1">
              <a:avLst/>
            </a:prstGeom>
            <a:ln>
              <a:headEnd type="stealth"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292" name="Title 4">
            <a:extLst>
              <a:ext uri="{FF2B5EF4-FFF2-40B4-BE49-F238E27FC236}">
                <a16:creationId xmlns:a16="http://schemas.microsoft.com/office/drawing/2014/main" xmlns="" id="{0D9C147D-C677-4692-940A-FF853C874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2650" y="-61913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Microprocessor Organization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7174">
            <a:extLst>
              <a:ext uri="{FF2B5EF4-FFF2-40B4-BE49-F238E27FC236}">
                <a16:creationId xmlns:a16="http://schemas.microsoft.com/office/drawing/2014/main" xmlns="" id="{40C0EAC8-EE24-4A70-AC47-337B31FE2B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2650" y="259397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Computer Arithmetic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xmlns="" id="{C80675FE-8807-44A0-A97A-D30F0A3BC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Organization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xmlns="" id="{8FC2A1D4-5910-4994-83DC-8265C40743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52650" y="1825625"/>
            <a:ext cx="7886700" cy="2362200"/>
          </a:xfrm>
        </p:spPr>
        <p:txBody>
          <a:bodyPr/>
          <a:lstStyle/>
          <a:p>
            <a:pPr eaLnBrk="1" hangingPunct="1"/>
            <a:r>
              <a:rPr lang="en-US" altLang="en-US"/>
              <a:t>Representing negative numbers</a:t>
            </a:r>
          </a:p>
          <a:p>
            <a:pPr eaLnBrk="1" hangingPunct="1"/>
            <a:r>
              <a:rPr lang="en-US" altLang="en-US"/>
              <a:t>Integer addition and subtraction</a:t>
            </a:r>
          </a:p>
          <a:p>
            <a:pPr eaLnBrk="1" hangingPunct="1"/>
            <a:r>
              <a:rPr lang="en-US" altLang="en-US"/>
              <a:t>Integer multiplication and division</a:t>
            </a:r>
          </a:p>
          <a:p>
            <a:pPr eaLnBrk="1" hangingPunct="1"/>
            <a:r>
              <a:rPr lang="en-US" altLang="en-US"/>
              <a:t>Floating point operations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xmlns="" id="{29524060-8CC0-4257-8F4F-3956BB75F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5675" y="6159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General concept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xmlns="" id="{1811BE87-3D11-48F7-8A36-4F416747B26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770063" y="1987550"/>
            <a:ext cx="3810000" cy="4114800"/>
          </a:xfrm>
        </p:spPr>
        <p:txBody>
          <a:bodyPr/>
          <a:lstStyle/>
          <a:p>
            <a:pPr eaLnBrk="1" hangingPunct="1"/>
            <a:r>
              <a:rPr lang="en-US" altLang="en-US"/>
              <a:t>Decimal addition</a:t>
            </a:r>
          </a:p>
          <a:p>
            <a:pPr algn="r" eaLnBrk="1" hangingPunct="1">
              <a:buFontTx/>
              <a:buNone/>
            </a:pPr>
            <a:r>
              <a:rPr lang="en-US" altLang="en-US" b="1"/>
              <a:t>(carry)</a:t>
            </a:r>
            <a:r>
              <a:rPr lang="en-US" altLang="en-US" b="1">
                <a:latin typeface="Courier New" panose="02070309020205020404" pitchFamily="49" charset="0"/>
              </a:rPr>
              <a:t> 1_     </a:t>
            </a:r>
            <a:br>
              <a:rPr lang="en-US" altLang="en-US" b="1">
                <a:latin typeface="Courier New" panose="02070309020205020404" pitchFamily="49" charset="0"/>
              </a:rPr>
            </a:br>
            <a:r>
              <a:rPr lang="en-US" altLang="en-US" b="1">
                <a:latin typeface="Courier New" panose="02070309020205020404" pitchFamily="49" charset="0"/>
              </a:rPr>
              <a:t>19</a:t>
            </a:r>
          </a:p>
          <a:p>
            <a:pPr algn="r" eaLnBrk="1" hangingPunct="1">
              <a:buFontTx/>
              <a:buNone/>
            </a:pPr>
            <a:r>
              <a:rPr lang="en-US" altLang="en-US" b="1" u="sng">
                <a:latin typeface="Courier New" panose="02070309020205020404" pitchFamily="49" charset="0"/>
              </a:rPr>
              <a:t>+ 7</a:t>
            </a:r>
          </a:p>
          <a:p>
            <a:pPr algn="r"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26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xmlns="" id="{4FE473C5-85FA-48DA-B5C1-0A7206AD905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172201" y="1987550"/>
            <a:ext cx="3414713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Binary addition</a:t>
            </a:r>
          </a:p>
          <a:p>
            <a:pPr algn="r" eaLnBrk="1" hangingPunct="1">
              <a:buFontTx/>
              <a:buNone/>
            </a:pPr>
            <a:r>
              <a:rPr lang="en-US" altLang="en-US" dirty="0"/>
              <a:t>( carry)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</a:rPr>
              <a:t>111_</a:t>
            </a:r>
          </a:p>
          <a:p>
            <a:pPr algn="r" eaLnBrk="1" hangingPunct="1"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10011</a:t>
            </a:r>
          </a:p>
          <a:p>
            <a:pPr algn="r" eaLnBrk="1" hangingPunct="1">
              <a:buFontTx/>
              <a:buNone/>
            </a:pPr>
            <a:r>
              <a:rPr lang="en-US" altLang="en-US" b="1" u="sng" dirty="0">
                <a:latin typeface="Courier New" panose="02070309020205020404" pitchFamily="49" charset="0"/>
              </a:rPr>
              <a:t>+ 111</a:t>
            </a:r>
          </a:p>
          <a:p>
            <a:pPr algn="r" eaLnBrk="1" hangingPunct="1"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11010</a:t>
            </a:r>
          </a:p>
          <a:p>
            <a:pPr eaLnBrk="1" hangingPunct="1"/>
            <a:r>
              <a:rPr lang="en-US" altLang="en-US" b="1" dirty="0">
                <a:latin typeface="Courier New" panose="02070309020205020404" pitchFamily="49" charset="0"/>
              </a:rPr>
              <a:t>16+8+2 =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xmlns="" id="{97744A8D-590F-472A-A603-5584DE07A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Realization with adders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xmlns="" id="{E8325DA0-1977-4F52-BEEB-DD9BA5887A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Simplest solution is a battery of full adders</a:t>
            </a:r>
          </a:p>
        </p:txBody>
      </p:sp>
      <p:grpSp>
        <p:nvGrpSpPr>
          <p:cNvPr id="16388" name="Group 1">
            <a:extLst>
              <a:ext uri="{FF2B5EF4-FFF2-40B4-BE49-F238E27FC236}">
                <a16:creationId xmlns:a16="http://schemas.microsoft.com/office/drawing/2014/main" xmlns="" id="{2CCE0CFA-B121-4B1B-85E2-9169E845F480}"/>
              </a:ext>
            </a:extLst>
          </p:cNvPr>
          <p:cNvGrpSpPr>
            <a:grpSpLocks/>
          </p:cNvGrpSpPr>
          <p:nvPr/>
        </p:nvGrpSpPr>
        <p:grpSpPr bwMode="auto">
          <a:xfrm>
            <a:off x="2485851" y="2746376"/>
            <a:ext cx="7252297" cy="3089851"/>
            <a:chOff x="914255" y="2897188"/>
            <a:chExt cx="6285950" cy="3089850"/>
          </a:xfrm>
        </p:grpSpPr>
        <p:grpSp>
          <p:nvGrpSpPr>
            <p:cNvPr id="16389" name="Group 4">
              <a:extLst>
                <a:ext uri="{FF2B5EF4-FFF2-40B4-BE49-F238E27FC236}">
                  <a16:creationId xmlns:a16="http://schemas.microsoft.com/office/drawing/2014/main" xmlns="" id="{5B5B0589-CFCC-4C44-AC09-C1FDED755E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8250" y="3505200"/>
              <a:ext cx="835025" cy="1897063"/>
              <a:chOff x="3286" y="2017"/>
              <a:chExt cx="526" cy="1195"/>
            </a:xfrm>
          </p:grpSpPr>
          <p:sp>
            <p:nvSpPr>
              <p:cNvPr id="16435" name="Rectangle 5">
                <a:extLst>
                  <a:ext uri="{FF2B5EF4-FFF2-40B4-BE49-F238E27FC236}">
                    <a16:creationId xmlns:a16="http://schemas.microsoft.com/office/drawing/2014/main" xmlns="" id="{16E846DA-48FA-4345-A8E4-2D9DFEEBA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6" y="2208"/>
                <a:ext cx="526" cy="765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endParaRPr lang="en-US" altLang="en-US" sz="3200" i="1">
                  <a:latin typeface="Helvetica" panose="020B0604020202020204" pitchFamily="34" charset="0"/>
                </a:endParaRPr>
              </a:p>
            </p:txBody>
          </p:sp>
          <p:sp>
            <p:nvSpPr>
              <p:cNvPr id="16436" name="Line 6">
                <a:extLst>
                  <a:ext uri="{FF2B5EF4-FFF2-40B4-BE49-F238E27FC236}">
                    <a16:creationId xmlns:a16="http://schemas.microsoft.com/office/drawing/2014/main" xmlns="" id="{5BD84B5C-5B1C-4EF7-850A-F38FF9A846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9" y="2973"/>
                <a:ext cx="0" cy="2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7" name="Line 7">
                <a:extLst>
                  <a:ext uri="{FF2B5EF4-FFF2-40B4-BE49-F238E27FC236}">
                    <a16:creationId xmlns:a16="http://schemas.microsoft.com/office/drawing/2014/main" xmlns="" id="{56C16E2C-F636-4A80-A393-1A9FF03F8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6" y="2973"/>
                <a:ext cx="0" cy="2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8" name="Line 8">
                <a:extLst>
                  <a:ext uri="{FF2B5EF4-FFF2-40B4-BE49-F238E27FC236}">
                    <a16:creationId xmlns:a16="http://schemas.microsoft.com/office/drawing/2014/main" xmlns="" id="{E17B896F-356F-44BF-8E14-0316D4BC52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3" y="2973"/>
                <a:ext cx="0" cy="2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9" name="Line 9">
                <a:extLst>
                  <a:ext uri="{FF2B5EF4-FFF2-40B4-BE49-F238E27FC236}">
                    <a16:creationId xmlns:a16="http://schemas.microsoft.com/office/drawing/2014/main" xmlns="" id="{BD76F457-3E40-4C77-83B0-B659CC23CF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6" y="2017"/>
                <a:ext cx="0" cy="1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40" name="Line 10">
                <a:extLst>
                  <a:ext uri="{FF2B5EF4-FFF2-40B4-BE49-F238E27FC236}">
                    <a16:creationId xmlns:a16="http://schemas.microsoft.com/office/drawing/2014/main" xmlns="" id="{A2E2F7D3-1C7D-4853-90E1-549620344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3" y="2017"/>
                <a:ext cx="0" cy="1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390" name="Group 11">
              <a:extLst>
                <a:ext uri="{FF2B5EF4-FFF2-40B4-BE49-F238E27FC236}">
                  <a16:creationId xmlns:a16="http://schemas.microsoft.com/office/drawing/2014/main" xmlns="" id="{364CC21C-A8B1-468E-B1BE-DB18FF7AA7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0" y="3505200"/>
              <a:ext cx="1930400" cy="1897063"/>
              <a:chOff x="2880" y="2208"/>
              <a:chExt cx="1216" cy="1195"/>
            </a:xfrm>
          </p:grpSpPr>
          <p:grpSp>
            <p:nvGrpSpPr>
              <p:cNvPr id="16424" name="Group 12">
                <a:extLst>
                  <a:ext uri="{FF2B5EF4-FFF2-40B4-BE49-F238E27FC236}">
                    <a16:creationId xmlns:a16="http://schemas.microsoft.com/office/drawing/2014/main" xmlns="" id="{60772945-B4E1-405D-B47B-6D126F5DC3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0" y="2208"/>
                <a:ext cx="806" cy="1195"/>
                <a:chOff x="3290" y="2208"/>
                <a:chExt cx="806" cy="1243"/>
              </a:xfrm>
            </p:grpSpPr>
            <p:sp>
              <p:nvSpPr>
                <p:cNvPr id="16432" name="Line 13">
                  <a:extLst>
                    <a:ext uri="{FF2B5EF4-FFF2-40B4-BE49-F238E27FC236}">
                      <a16:creationId xmlns:a16="http://schemas.microsoft.com/office/drawing/2014/main" xmlns="" id="{AA08350E-4278-4AB5-81C4-29D0562418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3" y="2208"/>
                  <a:ext cx="403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33" name="Line 14">
                  <a:extLst>
                    <a:ext uri="{FF2B5EF4-FFF2-40B4-BE49-F238E27FC236}">
                      <a16:creationId xmlns:a16="http://schemas.microsoft.com/office/drawing/2014/main" xmlns="" id="{8C6E0D48-7EEB-473D-922D-755EAB47C2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3" y="2208"/>
                  <a:ext cx="0" cy="124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34" name="Line 15">
                  <a:extLst>
                    <a:ext uri="{FF2B5EF4-FFF2-40B4-BE49-F238E27FC236}">
                      <a16:creationId xmlns:a16="http://schemas.microsoft.com/office/drawing/2014/main" xmlns="" id="{DA81A666-E2D7-4DB1-AE1D-4BCFA41DCD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0" y="3451"/>
                  <a:ext cx="403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425" name="Group 16">
                <a:extLst>
                  <a:ext uri="{FF2B5EF4-FFF2-40B4-BE49-F238E27FC236}">
                    <a16:creationId xmlns:a16="http://schemas.microsoft.com/office/drawing/2014/main" xmlns="" id="{A5FF390B-6676-4BCA-8C38-FF2B0CF728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208"/>
                <a:ext cx="526" cy="1195"/>
                <a:chOff x="3286" y="2017"/>
                <a:chExt cx="526" cy="1195"/>
              </a:xfrm>
            </p:grpSpPr>
            <p:sp>
              <p:nvSpPr>
                <p:cNvPr id="16426" name="Rectangle 17">
                  <a:extLst>
                    <a:ext uri="{FF2B5EF4-FFF2-40B4-BE49-F238E27FC236}">
                      <a16:creationId xmlns:a16="http://schemas.microsoft.com/office/drawing/2014/main" xmlns="" id="{1DF3E2E3-32B6-4916-BFB8-855387869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86" y="2208"/>
                  <a:ext cx="526" cy="765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/>
                  <a:endParaRPr lang="en-US" altLang="en-US" sz="3200" i="1">
                    <a:latin typeface="Helvetica" panose="020B0604020202020204" pitchFamily="34" charset="0"/>
                  </a:endParaRPr>
                </a:p>
              </p:txBody>
            </p:sp>
            <p:sp>
              <p:nvSpPr>
                <p:cNvPr id="16427" name="Line 18">
                  <a:extLst>
                    <a:ext uri="{FF2B5EF4-FFF2-40B4-BE49-F238E27FC236}">
                      <a16:creationId xmlns:a16="http://schemas.microsoft.com/office/drawing/2014/main" xmlns="" id="{61928282-B3A2-4AEC-B162-E037AA1374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9" y="2973"/>
                  <a:ext cx="0" cy="23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28" name="Line 19">
                  <a:extLst>
                    <a:ext uri="{FF2B5EF4-FFF2-40B4-BE49-F238E27FC236}">
                      <a16:creationId xmlns:a16="http://schemas.microsoft.com/office/drawing/2014/main" xmlns="" id="{3E4FC4ED-E124-469D-90D8-B2C0A19709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6" y="2973"/>
                  <a:ext cx="0" cy="23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29" name="Line 20">
                  <a:extLst>
                    <a:ext uri="{FF2B5EF4-FFF2-40B4-BE49-F238E27FC236}">
                      <a16:creationId xmlns:a16="http://schemas.microsoft.com/office/drawing/2014/main" xmlns="" id="{35D1C4E5-D7F8-48B3-AC4A-F6B935C0AD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3" y="2973"/>
                  <a:ext cx="0" cy="23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30" name="Line 21">
                  <a:extLst>
                    <a:ext uri="{FF2B5EF4-FFF2-40B4-BE49-F238E27FC236}">
                      <a16:creationId xmlns:a16="http://schemas.microsoft.com/office/drawing/2014/main" xmlns="" id="{4F13CA47-67D3-4CB6-A845-B51DC4435E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6" y="2017"/>
                  <a:ext cx="0" cy="19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31" name="Line 22">
                  <a:extLst>
                    <a:ext uri="{FF2B5EF4-FFF2-40B4-BE49-F238E27FC236}">
                      <a16:creationId xmlns:a16="http://schemas.microsoft.com/office/drawing/2014/main" xmlns="" id="{A0F1950B-59F0-4ECB-9F98-87229FB383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3" y="2017"/>
                  <a:ext cx="0" cy="19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391" name="Group 23">
              <a:extLst>
                <a:ext uri="{FF2B5EF4-FFF2-40B4-BE49-F238E27FC236}">
                  <a16:creationId xmlns:a16="http://schemas.microsoft.com/office/drawing/2014/main" xmlns="" id="{6994903E-C54D-47FF-8FCC-04F52BDCC9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5750" y="3505200"/>
              <a:ext cx="1930400" cy="1897063"/>
              <a:chOff x="2880" y="2208"/>
              <a:chExt cx="1216" cy="1195"/>
            </a:xfrm>
          </p:grpSpPr>
          <p:grpSp>
            <p:nvGrpSpPr>
              <p:cNvPr id="16413" name="Group 24">
                <a:extLst>
                  <a:ext uri="{FF2B5EF4-FFF2-40B4-BE49-F238E27FC236}">
                    <a16:creationId xmlns:a16="http://schemas.microsoft.com/office/drawing/2014/main" xmlns="" id="{DD0A1EE5-C22B-44D1-ADDC-0C4A33BDE7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0" y="2208"/>
                <a:ext cx="806" cy="1195"/>
                <a:chOff x="3290" y="2208"/>
                <a:chExt cx="806" cy="1243"/>
              </a:xfrm>
            </p:grpSpPr>
            <p:sp>
              <p:nvSpPr>
                <p:cNvPr id="16421" name="Line 25">
                  <a:extLst>
                    <a:ext uri="{FF2B5EF4-FFF2-40B4-BE49-F238E27FC236}">
                      <a16:creationId xmlns:a16="http://schemas.microsoft.com/office/drawing/2014/main" xmlns="" id="{87311683-FDE0-4152-849D-44C1B872D6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3" y="2208"/>
                  <a:ext cx="403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22" name="Line 26">
                  <a:extLst>
                    <a:ext uri="{FF2B5EF4-FFF2-40B4-BE49-F238E27FC236}">
                      <a16:creationId xmlns:a16="http://schemas.microsoft.com/office/drawing/2014/main" xmlns="" id="{D9B133AB-F320-48DB-82D3-DE2D671693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3" y="2208"/>
                  <a:ext cx="0" cy="124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23" name="Line 27">
                  <a:extLst>
                    <a:ext uri="{FF2B5EF4-FFF2-40B4-BE49-F238E27FC236}">
                      <a16:creationId xmlns:a16="http://schemas.microsoft.com/office/drawing/2014/main" xmlns="" id="{E6D671AC-9572-4E33-B1E8-ED5929BF9B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0" y="3451"/>
                  <a:ext cx="403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414" name="Group 28">
                <a:extLst>
                  <a:ext uri="{FF2B5EF4-FFF2-40B4-BE49-F238E27FC236}">
                    <a16:creationId xmlns:a16="http://schemas.microsoft.com/office/drawing/2014/main" xmlns="" id="{75815D41-4029-493C-B0DD-EE616B9317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208"/>
                <a:ext cx="526" cy="1195"/>
                <a:chOff x="3286" y="2017"/>
                <a:chExt cx="526" cy="1195"/>
              </a:xfrm>
            </p:grpSpPr>
            <p:sp>
              <p:nvSpPr>
                <p:cNvPr id="16415" name="Rectangle 29">
                  <a:extLst>
                    <a:ext uri="{FF2B5EF4-FFF2-40B4-BE49-F238E27FC236}">
                      <a16:creationId xmlns:a16="http://schemas.microsoft.com/office/drawing/2014/main" xmlns="" id="{C94D2AB7-3975-48DF-8D0F-CD48C0A1D0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86" y="2208"/>
                  <a:ext cx="526" cy="765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/>
                  <a:endParaRPr lang="en-US" altLang="en-US" sz="3200" i="1">
                    <a:latin typeface="Helvetica" panose="020B0604020202020204" pitchFamily="34" charset="0"/>
                  </a:endParaRPr>
                </a:p>
              </p:txBody>
            </p:sp>
            <p:sp>
              <p:nvSpPr>
                <p:cNvPr id="16416" name="Line 30">
                  <a:extLst>
                    <a:ext uri="{FF2B5EF4-FFF2-40B4-BE49-F238E27FC236}">
                      <a16:creationId xmlns:a16="http://schemas.microsoft.com/office/drawing/2014/main" xmlns="" id="{B6A2EC72-76D1-45CC-A8E7-7C1DC3D0DD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9" y="2973"/>
                  <a:ext cx="0" cy="23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17" name="Line 31">
                  <a:extLst>
                    <a:ext uri="{FF2B5EF4-FFF2-40B4-BE49-F238E27FC236}">
                      <a16:creationId xmlns:a16="http://schemas.microsoft.com/office/drawing/2014/main" xmlns="" id="{A799D875-341A-43A4-AE33-F7CE1436DC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6" y="2973"/>
                  <a:ext cx="0" cy="23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18" name="Line 32">
                  <a:extLst>
                    <a:ext uri="{FF2B5EF4-FFF2-40B4-BE49-F238E27FC236}">
                      <a16:creationId xmlns:a16="http://schemas.microsoft.com/office/drawing/2014/main" xmlns="" id="{60107721-0E5C-4EE1-A6EC-E9F05AC635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3" y="2973"/>
                  <a:ext cx="0" cy="23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19" name="Line 33">
                  <a:extLst>
                    <a:ext uri="{FF2B5EF4-FFF2-40B4-BE49-F238E27FC236}">
                      <a16:creationId xmlns:a16="http://schemas.microsoft.com/office/drawing/2014/main" xmlns="" id="{4F4064F1-42D4-4BBE-9E5C-4C7D2E2971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6" y="2017"/>
                  <a:ext cx="0" cy="19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20" name="Line 34">
                  <a:extLst>
                    <a:ext uri="{FF2B5EF4-FFF2-40B4-BE49-F238E27FC236}">
                      <a16:creationId xmlns:a16="http://schemas.microsoft.com/office/drawing/2014/main" xmlns="" id="{29D20F5A-C296-4101-9A22-65C0740D13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3" y="2017"/>
                  <a:ext cx="0" cy="19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392" name="Group 35">
              <a:extLst>
                <a:ext uri="{FF2B5EF4-FFF2-40B4-BE49-F238E27FC236}">
                  <a16:creationId xmlns:a16="http://schemas.microsoft.com/office/drawing/2014/main" xmlns="" id="{90563D00-43F4-4F08-B003-8F33D2DD85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1088" y="3505200"/>
              <a:ext cx="1930400" cy="1897063"/>
              <a:chOff x="2880" y="2208"/>
              <a:chExt cx="1216" cy="1195"/>
            </a:xfrm>
          </p:grpSpPr>
          <p:grpSp>
            <p:nvGrpSpPr>
              <p:cNvPr id="16402" name="Group 36">
                <a:extLst>
                  <a:ext uri="{FF2B5EF4-FFF2-40B4-BE49-F238E27FC236}">
                    <a16:creationId xmlns:a16="http://schemas.microsoft.com/office/drawing/2014/main" xmlns="" id="{2B26A22B-47A2-42C0-80A4-D7DC9C08C4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0" y="2208"/>
                <a:ext cx="806" cy="1195"/>
                <a:chOff x="3290" y="2208"/>
                <a:chExt cx="806" cy="1243"/>
              </a:xfrm>
            </p:grpSpPr>
            <p:sp>
              <p:nvSpPr>
                <p:cNvPr id="16410" name="Line 37">
                  <a:extLst>
                    <a:ext uri="{FF2B5EF4-FFF2-40B4-BE49-F238E27FC236}">
                      <a16:creationId xmlns:a16="http://schemas.microsoft.com/office/drawing/2014/main" xmlns="" id="{CFD30E3A-C47B-43F5-B794-35855B865A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3" y="2208"/>
                  <a:ext cx="403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11" name="Line 38">
                  <a:extLst>
                    <a:ext uri="{FF2B5EF4-FFF2-40B4-BE49-F238E27FC236}">
                      <a16:creationId xmlns:a16="http://schemas.microsoft.com/office/drawing/2014/main" xmlns="" id="{C8B671D0-7757-4DE3-A43E-1A613B8E7C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3" y="2208"/>
                  <a:ext cx="0" cy="124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12" name="Line 39">
                  <a:extLst>
                    <a:ext uri="{FF2B5EF4-FFF2-40B4-BE49-F238E27FC236}">
                      <a16:creationId xmlns:a16="http://schemas.microsoft.com/office/drawing/2014/main" xmlns="" id="{23457CA0-56A9-4C2C-8451-67B077BA49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0" y="3451"/>
                  <a:ext cx="403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403" name="Group 40">
                <a:extLst>
                  <a:ext uri="{FF2B5EF4-FFF2-40B4-BE49-F238E27FC236}">
                    <a16:creationId xmlns:a16="http://schemas.microsoft.com/office/drawing/2014/main" xmlns="" id="{E82C5608-1615-4C34-9CE0-E2E97FD5EF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208"/>
                <a:ext cx="526" cy="1195"/>
                <a:chOff x="3286" y="2017"/>
                <a:chExt cx="526" cy="1195"/>
              </a:xfrm>
            </p:grpSpPr>
            <p:sp>
              <p:nvSpPr>
                <p:cNvPr id="16404" name="Rectangle 41">
                  <a:extLst>
                    <a:ext uri="{FF2B5EF4-FFF2-40B4-BE49-F238E27FC236}">
                      <a16:creationId xmlns:a16="http://schemas.microsoft.com/office/drawing/2014/main" xmlns="" id="{4AFE88A2-CEF7-4A52-BCC6-F4A7CAADDD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86" y="2208"/>
                  <a:ext cx="526" cy="765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 eaLnBrk="1" hangingPunct="1"/>
                  <a:endParaRPr lang="en-US" altLang="en-US" sz="3200" i="1">
                    <a:latin typeface="Helvetica" panose="020B0604020202020204" pitchFamily="34" charset="0"/>
                  </a:endParaRPr>
                </a:p>
              </p:txBody>
            </p:sp>
            <p:sp>
              <p:nvSpPr>
                <p:cNvPr id="16405" name="Line 42">
                  <a:extLst>
                    <a:ext uri="{FF2B5EF4-FFF2-40B4-BE49-F238E27FC236}">
                      <a16:creationId xmlns:a16="http://schemas.microsoft.com/office/drawing/2014/main" xmlns="" id="{D556CAF3-F463-46C0-B696-C0B57B8A24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9" y="2973"/>
                  <a:ext cx="0" cy="23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06" name="Line 43">
                  <a:extLst>
                    <a:ext uri="{FF2B5EF4-FFF2-40B4-BE49-F238E27FC236}">
                      <a16:creationId xmlns:a16="http://schemas.microsoft.com/office/drawing/2014/main" xmlns="" id="{8A65E6B6-7D8D-40B3-ACDF-1CE61AD0AE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6" y="2973"/>
                  <a:ext cx="0" cy="23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07" name="Line 44">
                  <a:extLst>
                    <a:ext uri="{FF2B5EF4-FFF2-40B4-BE49-F238E27FC236}">
                      <a16:creationId xmlns:a16="http://schemas.microsoft.com/office/drawing/2014/main" xmlns="" id="{81499F66-137B-47FA-AB10-EACD82716C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3" y="2973"/>
                  <a:ext cx="0" cy="23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08" name="Line 45">
                  <a:extLst>
                    <a:ext uri="{FF2B5EF4-FFF2-40B4-BE49-F238E27FC236}">
                      <a16:creationId xmlns:a16="http://schemas.microsoft.com/office/drawing/2014/main" xmlns="" id="{A433E3BD-2C9F-4597-A938-23C25E4BF3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6" y="2017"/>
                  <a:ext cx="0" cy="19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09" name="Line 46">
                  <a:extLst>
                    <a:ext uri="{FF2B5EF4-FFF2-40B4-BE49-F238E27FC236}">
                      <a16:creationId xmlns:a16="http://schemas.microsoft.com/office/drawing/2014/main" xmlns="" id="{4EF5F6CB-FFDD-401A-A400-9640DFAEC0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3" y="2017"/>
                  <a:ext cx="0" cy="19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6393" name="Text Box 47">
              <a:extLst>
                <a:ext uri="{FF2B5EF4-FFF2-40B4-BE49-F238E27FC236}">
                  <a16:creationId xmlns:a16="http://schemas.microsoft.com/office/drawing/2014/main" xmlns="" id="{52A42E99-4DB5-440B-ADC6-AED75CBE3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5863" y="5402263"/>
              <a:ext cx="184150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US" sz="3200">
                <a:latin typeface="Helvetica" panose="020B0604020202020204" pitchFamily="34" charset="0"/>
              </a:endParaRPr>
            </a:p>
          </p:txBody>
        </p:sp>
        <p:sp>
          <p:nvSpPr>
            <p:cNvPr id="16394" name="Text Box 48">
              <a:extLst>
                <a:ext uri="{FF2B5EF4-FFF2-40B4-BE49-F238E27FC236}">
                  <a16:creationId xmlns:a16="http://schemas.microsoft.com/office/drawing/2014/main" xmlns="" id="{293E0698-CC40-49B0-96AD-99D7EE086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255" y="5402263"/>
              <a:ext cx="857542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3200">
                  <a:latin typeface="Arial Narrow" panose="020B0606020202030204" pitchFamily="34" charset="0"/>
                </a:rPr>
                <a:t>x3 y3</a:t>
              </a:r>
            </a:p>
          </p:txBody>
        </p:sp>
        <p:sp>
          <p:nvSpPr>
            <p:cNvPr id="16395" name="Text Box 49">
              <a:extLst>
                <a:ext uri="{FF2B5EF4-FFF2-40B4-BE49-F238E27FC236}">
                  <a16:creationId xmlns:a16="http://schemas.microsoft.com/office/drawing/2014/main" xmlns="" id="{083D8FEC-09A2-4349-AA57-A14D3D11A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0505" y="5402263"/>
              <a:ext cx="857542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3200">
                  <a:latin typeface="Arial Narrow" panose="020B0606020202030204" pitchFamily="34" charset="0"/>
                </a:rPr>
                <a:t>x2 y2</a:t>
              </a:r>
            </a:p>
          </p:txBody>
        </p:sp>
        <p:sp>
          <p:nvSpPr>
            <p:cNvPr id="16396" name="Text Box 50">
              <a:extLst>
                <a:ext uri="{FF2B5EF4-FFF2-40B4-BE49-F238E27FC236}">
                  <a16:creationId xmlns:a16="http://schemas.microsoft.com/office/drawing/2014/main" xmlns="" id="{8A7DB2CD-EE91-4255-8373-DD607DD5C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1366" y="5402263"/>
              <a:ext cx="857542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3200">
                  <a:latin typeface="Arial Narrow" panose="020B0606020202030204" pitchFamily="34" charset="0"/>
                </a:rPr>
                <a:t>x1 y1</a:t>
              </a:r>
            </a:p>
          </p:txBody>
        </p:sp>
        <p:sp>
          <p:nvSpPr>
            <p:cNvPr id="16397" name="Text Box 51">
              <a:extLst>
                <a:ext uri="{FF2B5EF4-FFF2-40B4-BE49-F238E27FC236}">
                  <a16:creationId xmlns:a16="http://schemas.microsoft.com/office/drawing/2014/main" xmlns="" id="{279DB85E-2016-4470-B72A-2A43CD329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5217" y="5402263"/>
              <a:ext cx="857542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3200">
                  <a:latin typeface="Arial Narrow" panose="020B0606020202030204" pitchFamily="34" charset="0"/>
                </a:rPr>
                <a:t>x0 y0</a:t>
              </a:r>
            </a:p>
          </p:txBody>
        </p:sp>
        <p:sp>
          <p:nvSpPr>
            <p:cNvPr id="16398" name="Text Box 52">
              <a:extLst>
                <a:ext uri="{FF2B5EF4-FFF2-40B4-BE49-F238E27FC236}">
                  <a16:creationId xmlns:a16="http://schemas.microsoft.com/office/drawing/2014/main" xmlns="" id="{ED61ED44-A7F7-4386-BFB3-144DCDD4C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2454" y="2897188"/>
              <a:ext cx="711654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3200">
                  <a:latin typeface="Arial Narrow" panose="020B0606020202030204" pitchFamily="34" charset="0"/>
                </a:rPr>
                <a:t>o s3</a:t>
              </a:r>
            </a:p>
          </p:txBody>
        </p:sp>
        <p:sp>
          <p:nvSpPr>
            <p:cNvPr id="16399" name="Text Box 53">
              <a:extLst>
                <a:ext uri="{FF2B5EF4-FFF2-40B4-BE49-F238E27FC236}">
                  <a16:creationId xmlns:a16="http://schemas.microsoft.com/office/drawing/2014/main" xmlns="" id="{517E9119-9B31-40B3-8A50-B3502385F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196" y="2897188"/>
              <a:ext cx="468509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3200">
                  <a:latin typeface="Arial Narrow" panose="020B0606020202030204" pitchFamily="34" charset="0"/>
                </a:rPr>
                <a:t>s2</a:t>
              </a:r>
            </a:p>
          </p:txBody>
        </p:sp>
        <p:sp>
          <p:nvSpPr>
            <p:cNvPr id="16400" name="Text Box 54">
              <a:extLst>
                <a:ext uri="{FF2B5EF4-FFF2-40B4-BE49-F238E27FC236}">
                  <a16:creationId xmlns:a16="http://schemas.microsoft.com/office/drawing/2014/main" xmlns="" id="{19802CE3-6DBD-41A3-BA07-9A7EE8477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5446" y="2897188"/>
              <a:ext cx="468509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3200">
                  <a:latin typeface="Arial Narrow" panose="020B0606020202030204" pitchFamily="34" charset="0"/>
                </a:rPr>
                <a:t>s1</a:t>
              </a:r>
            </a:p>
          </p:txBody>
        </p:sp>
        <p:sp>
          <p:nvSpPr>
            <p:cNvPr id="16401" name="Text Box 55">
              <a:extLst>
                <a:ext uri="{FF2B5EF4-FFF2-40B4-BE49-F238E27FC236}">
                  <a16:creationId xmlns:a16="http://schemas.microsoft.com/office/drawing/2014/main" xmlns="" id="{FFD7B962-85ED-4B17-936B-F58DC20739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696" y="2897188"/>
              <a:ext cx="468509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3200">
                  <a:latin typeface="Arial Narrow" panose="020B0606020202030204" pitchFamily="34" charset="0"/>
                </a:rPr>
                <a:t>s0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xmlns="" id="{91E63085-FD47-4149-A319-C28F1BE5D8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Observations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xmlns="" id="{C09B151F-A970-4C47-BF28-7A5C511C07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Adder add four-bit values</a:t>
            </a:r>
          </a:p>
          <a:p>
            <a:pPr eaLnBrk="1" hangingPunct="1"/>
            <a:r>
              <a:rPr lang="en-US" altLang="en-US" dirty="0"/>
              <a:t>Output </a:t>
            </a:r>
            <a:r>
              <a:rPr lang="en-US" altLang="en-US" b="1" dirty="0"/>
              <a:t>o</a:t>
            </a:r>
            <a:r>
              <a:rPr lang="en-US" altLang="en-US" dirty="0"/>
              <a:t> indicates if there is an </a:t>
            </a:r>
            <a:r>
              <a:rPr lang="en-US" altLang="en-US" b="1" i="1" dirty="0"/>
              <a:t>overflow</a:t>
            </a:r>
          </a:p>
          <a:p>
            <a:pPr lvl="1" eaLnBrk="1" hangingPunct="1"/>
            <a:r>
              <a:rPr lang="en-US" altLang="en-US" dirty="0"/>
              <a:t>A result that cannot be represented using 4 bits happens when </a:t>
            </a:r>
            <a:r>
              <a:rPr lang="en-US" altLang="en-US" b="1" dirty="0"/>
              <a:t>x + y &gt; 15</a:t>
            </a:r>
          </a:p>
          <a:p>
            <a:pPr eaLnBrk="1" hangingPunct="1"/>
            <a:r>
              <a:rPr lang="en-US" altLang="en-US" dirty="0"/>
              <a:t>Operation is slowed down by</a:t>
            </a:r>
            <a:r>
              <a:rPr lang="en-US" altLang="en-US" b="1" dirty="0"/>
              <a:t> </a:t>
            </a:r>
            <a:r>
              <a:rPr lang="en-US" altLang="en-US" b="1" i="1" dirty="0"/>
              <a:t>carry propagation</a:t>
            </a:r>
            <a:endParaRPr lang="en-US" altLang="en-US" dirty="0"/>
          </a:p>
          <a:p>
            <a:pPr lvl="1" eaLnBrk="1" hangingPunct="1"/>
            <a:r>
              <a:rPr lang="en-US" altLang="en-US" b="1" i="1" dirty="0"/>
              <a:t>Faster solutions</a:t>
            </a:r>
            <a:r>
              <a:rPr lang="en-US" altLang="en-US" dirty="0"/>
              <a:t> (not discussed here)</a:t>
            </a:r>
            <a:endParaRPr lang="en-US" altLang="en-US" b="1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xmlns="" id="{E77E02FF-F5D7-454C-BE92-87577408A2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Signed  and unsigned additions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xmlns="" id="{774BEAAF-1435-4A24-8D93-B37CC556BF8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09800" y="1981200"/>
            <a:ext cx="3810000" cy="4483100"/>
          </a:xfrm>
        </p:spPr>
        <p:txBody>
          <a:bodyPr/>
          <a:lstStyle/>
          <a:p>
            <a:pPr eaLnBrk="1" hangingPunct="1"/>
            <a:r>
              <a:rPr lang="en-US" altLang="en-US" dirty="0"/>
              <a:t>Unsigned addition in 4-bit arithmetic</a:t>
            </a:r>
          </a:p>
          <a:p>
            <a:pPr algn="r" eaLnBrk="1" hangingPunct="1">
              <a:buFontTx/>
              <a:buNone/>
            </a:pPr>
            <a:r>
              <a:rPr lang="en-US" altLang="en-US" dirty="0"/>
              <a:t>( carry)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</a:rPr>
              <a:t> 11_</a:t>
            </a:r>
          </a:p>
          <a:p>
            <a:pPr algn="r" eaLnBrk="1" hangingPunct="1"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1011</a:t>
            </a:r>
          </a:p>
          <a:p>
            <a:pPr algn="r" eaLnBrk="1" hangingPunct="1">
              <a:buFontTx/>
              <a:buNone/>
            </a:pPr>
            <a:r>
              <a:rPr lang="en-US" altLang="en-US" b="1" u="sng" dirty="0">
                <a:latin typeface="Courier New" panose="02070309020205020404" pitchFamily="49" charset="0"/>
              </a:rPr>
              <a:t>+ 0011</a:t>
            </a:r>
          </a:p>
          <a:p>
            <a:pPr algn="r" eaLnBrk="1" hangingPunct="1"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1110</a:t>
            </a:r>
          </a:p>
          <a:p>
            <a:pPr eaLnBrk="1" hangingPunct="1"/>
            <a:r>
              <a:rPr lang="en-US" altLang="en-US" b="1" dirty="0">
                <a:latin typeface="Courier New" panose="02070309020205020404" pitchFamily="49" charset="0"/>
              </a:rPr>
              <a:t>11 + 3 = 14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(8 + 4 + 2)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xmlns="" id="{4E5F0A4A-CABF-4928-91EE-97F87E496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3014" y="1987550"/>
            <a:ext cx="3794125" cy="455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Char char="•"/>
            </a:pPr>
            <a:r>
              <a:rPr kumimoji="1" lang="en-US" altLang="en-US" sz="3200" dirty="0">
                <a:latin typeface="Arial Narrow" panose="020B0606020202030204" pitchFamily="34" charset="0"/>
              </a:rPr>
              <a:t>Signed addition in</a:t>
            </a:r>
            <a:br>
              <a:rPr kumimoji="1" lang="en-US" altLang="en-US" sz="3200" dirty="0">
                <a:latin typeface="Arial Narrow" panose="020B0606020202030204" pitchFamily="34" charset="0"/>
              </a:rPr>
            </a:br>
            <a:r>
              <a:rPr kumimoji="1" lang="en-US" altLang="en-US" sz="3200" dirty="0">
                <a:latin typeface="Arial Narrow" panose="020B0606020202030204" pitchFamily="34" charset="0"/>
              </a:rPr>
              <a:t>4-bit arithmetic </a:t>
            </a:r>
          </a:p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kumimoji="1" lang="en-US" altLang="en-US" sz="3200" dirty="0">
                <a:latin typeface="Arial Narrow" panose="020B0606020202030204" pitchFamily="34" charset="0"/>
              </a:rPr>
              <a:t>( carry)</a:t>
            </a:r>
            <a:r>
              <a:rPr kumimoji="1" lang="en-US" altLang="en-US" sz="3200" dirty="0">
                <a:latin typeface="Courier New" panose="02070309020205020404" pitchFamily="49" charset="0"/>
              </a:rPr>
              <a:t> </a:t>
            </a:r>
            <a:r>
              <a:rPr kumimoji="1" lang="en-US" altLang="en-US" sz="3200" b="1" dirty="0">
                <a:latin typeface="Courier New" panose="02070309020205020404" pitchFamily="49" charset="0"/>
              </a:rPr>
              <a:t> 11_</a:t>
            </a:r>
          </a:p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kumimoji="1" lang="en-US" altLang="en-US" sz="3200" b="1" dirty="0">
                <a:latin typeface="Courier New" panose="02070309020205020404" pitchFamily="49" charset="0"/>
              </a:rPr>
              <a:t>1011</a:t>
            </a:r>
          </a:p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kumimoji="1" lang="en-US" altLang="en-US" sz="3200" b="1" u="sng" dirty="0">
                <a:latin typeface="Courier New" panose="02070309020205020404" pitchFamily="49" charset="0"/>
              </a:rPr>
              <a:t>+ 0011</a:t>
            </a:r>
          </a:p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kumimoji="1" lang="en-US" altLang="en-US" sz="3200" b="1" dirty="0">
                <a:latin typeface="Courier New" panose="02070309020205020404" pitchFamily="49" charset="0"/>
              </a:rPr>
              <a:t>1110</a:t>
            </a:r>
          </a:p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Char char="•"/>
            </a:pPr>
            <a:r>
              <a:rPr kumimoji="1" lang="en-US" altLang="en-US" sz="3200" b="1" dirty="0">
                <a:latin typeface="Courier New" panose="02070309020205020404" pitchFamily="49" charset="0"/>
              </a:rPr>
              <a:t>-5 + 3 = -2</a:t>
            </a:r>
            <a:br>
              <a:rPr kumimoji="1" lang="en-US" altLang="en-US" sz="3200" b="1" dirty="0">
                <a:latin typeface="Courier New" panose="02070309020205020404" pitchFamily="49" charset="0"/>
              </a:rPr>
            </a:br>
            <a:endParaRPr kumimoji="1" lang="en-US" altLang="en-US" sz="3200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xmlns="" id="{E77E02FF-F5D7-454C-BE92-87577408A2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(using 5-bit signed numbers)</a:t>
            </a:r>
            <a:endParaRPr lang="en-US" altLang="en-US" dirty="0"/>
          </a:p>
        </p:txBody>
      </p:sp>
      <p:sp>
        <p:nvSpPr>
          <p:cNvPr id="18" name="AutoShape 16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142875" y="-19224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" name="AutoShape 17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142875" y="-1098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AutoShape 19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155575" y="8239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187669" y="1923588"/>
            <a:ext cx="3794234" cy="2046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Case 1: (+7) + (+4</a:t>
            </a:r>
            <a:r>
              <a:rPr lang="en-US" altLang="en-US" b="1" dirty="0" smtClean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+7=00111 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+4=00100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9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00111+00100 = 01011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(Result: </a:t>
            </a:r>
            <a:r>
              <a:rPr lang="en-US" altLang="en-US" dirty="0" smtClean="0">
                <a:latin typeface="Arial" panose="020B0604020202020204" pitchFamily="34" charset="0"/>
              </a:rPr>
              <a:t>+11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64391" y="1923588"/>
            <a:ext cx="4263218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A0A0A"/>
                </a:solidFill>
                <a:latin typeface="Google Sans"/>
              </a:rPr>
              <a:t>Case 2: (-7) + (-4</a:t>
            </a:r>
            <a:r>
              <a:rPr lang="en-IN" b="1" dirty="0" smtClean="0">
                <a:solidFill>
                  <a:srgbClr val="0A0A0A"/>
                </a:solidFill>
                <a:latin typeface="Google Sans"/>
              </a:rPr>
              <a:t>)</a:t>
            </a:r>
          </a:p>
          <a:p>
            <a:endParaRPr lang="en-IN" b="1" dirty="0" smtClean="0">
              <a:solidFill>
                <a:srgbClr val="0A0A0A"/>
              </a:solidFill>
              <a:latin typeface="Google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-</a:t>
            </a:r>
            <a:r>
              <a:rPr lang="en-US" altLang="en-US" dirty="0" smtClean="0">
                <a:latin typeface="Arial" panose="020B0604020202020204" pitchFamily="34" charset="0"/>
              </a:rPr>
              <a:t>7=11001 (</a:t>
            </a:r>
            <a:r>
              <a:rPr lang="en-US" altLang="en-US" dirty="0">
                <a:latin typeface="Arial" panose="020B0604020202020204" pitchFamily="34" charset="0"/>
              </a:rPr>
              <a:t>2's complement of 7)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-</a:t>
            </a:r>
            <a:r>
              <a:rPr lang="en-US" altLang="en-US" dirty="0" smtClean="0">
                <a:latin typeface="Arial" panose="020B0604020202020204" pitchFamily="34" charset="0"/>
              </a:rPr>
              <a:t>4=11100 (2's </a:t>
            </a:r>
            <a:r>
              <a:rPr lang="en-US" altLang="en-US" dirty="0">
                <a:latin typeface="Arial" panose="020B0604020202020204" pitchFamily="34" charset="0"/>
              </a:rPr>
              <a:t>complement of 4) </a:t>
            </a:r>
          </a:p>
          <a:p>
            <a:endParaRPr lang="en-IN" dirty="0" smtClean="0"/>
          </a:p>
          <a:p>
            <a:r>
              <a:rPr lang="en-IN" dirty="0" smtClean="0"/>
              <a:t>11001+11100 = 110101</a:t>
            </a:r>
          </a:p>
          <a:p>
            <a:endParaRPr lang="en-IN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Discard carry-out: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endParaRPr lang="en-US" altLang="en-US" sz="19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</a:rPr>
              <a:t>Result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  <a:r>
              <a:rPr lang="en-US" altLang="en-US" dirty="0" smtClean="0">
                <a:latin typeface="Arial" panose="020B0604020202020204" pitchFamily="34" charset="0"/>
              </a:rPr>
              <a:t>-11 (2's </a:t>
            </a:r>
            <a:r>
              <a:rPr lang="en-US" altLang="en-US" dirty="0">
                <a:latin typeface="Arial" panose="020B0604020202020204" pitchFamily="34" charset="0"/>
              </a:rPr>
              <a:t>complement, Sign bit 1) </a:t>
            </a:r>
          </a:p>
          <a:p>
            <a:endParaRPr lang="en-IN" dirty="0"/>
          </a:p>
        </p:txBody>
      </p:sp>
      <p:sp>
        <p:nvSpPr>
          <p:cNvPr id="30" name="AutoShape 27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155575" y="-9604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8215783" y="1932315"/>
            <a:ext cx="3976217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rgbClr val="0A0A0A"/>
                </a:solidFill>
                <a:latin typeface="Google Sans"/>
              </a:rPr>
              <a:t>Case 3: (-7) + (+4)</a:t>
            </a:r>
          </a:p>
          <a:p>
            <a:endParaRPr lang="en-IN" b="1" dirty="0" smtClean="0">
              <a:solidFill>
                <a:srgbClr val="0A0A0A"/>
              </a:solidFill>
              <a:latin typeface="Google Sans"/>
            </a:endParaRPr>
          </a:p>
          <a:p>
            <a:r>
              <a:rPr lang="en-IN" dirty="0"/>
              <a:t>-</a:t>
            </a:r>
            <a:r>
              <a:rPr lang="en-IN" dirty="0" smtClean="0"/>
              <a:t>7=11001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+</a:t>
            </a:r>
            <a:r>
              <a:rPr lang="en-US" altLang="en-US" dirty="0" smtClean="0">
                <a:latin typeface="Arial" panose="020B0604020202020204" pitchFamily="34" charset="0"/>
              </a:rPr>
              <a:t>4=00100</a:t>
            </a:r>
          </a:p>
          <a:p>
            <a:r>
              <a:rPr lang="en-US" altLang="en-US" dirty="0" smtClean="0">
                <a:latin typeface="Arial" panose="020B0604020202020204" pitchFamily="34" charset="0"/>
              </a:rPr>
              <a:t>00111 + 00100 = 11101 (-3 sign bit 1)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  <a:p>
            <a:endParaRPr lang="en-IN" b="1" dirty="0">
              <a:solidFill>
                <a:srgbClr val="0A0A0A"/>
              </a:solidFill>
              <a:latin typeface="Google Sans"/>
            </a:endParaRPr>
          </a:p>
          <a:p>
            <a:endParaRPr lang="en-IN" dirty="0"/>
          </a:p>
        </p:txBody>
      </p:sp>
      <p:sp>
        <p:nvSpPr>
          <p:cNvPr id="45" name="AutoShape 41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142875" y="-8239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" name="AutoShape 42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155575" y="2746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294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xmlns="" id="{23E0A21A-AAEC-422B-B843-11351CB83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Signed  and unsigned additions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xmlns="" id="{5F9F6D96-B6B5-4CA0-BECD-701E8779DB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Same rules</a:t>
            </a:r>
            <a:r>
              <a:rPr lang="en-US" altLang="en-US" dirty="0"/>
              <a:t> apply even though bit strings represent </a:t>
            </a:r>
            <a:r>
              <a:rPr lang="en-US" altLang="en-US" b="1" dirty="0"/>
              <a:t>different values</a:t>
            </a:r>
          </a:p>
          <a:p>
            <a:pPr eaLnBrk="1" hangingPunct="1"/>
            <a:r>
              <a:rPr lang="en-US" altLang="en-US" dirty="0"/>
              <a:t>Sole difference is</a:t>
            </a:r>
            <a:r>
              <a:rPr lang="en-US" altLang="en-US" b="1" dirty="0"/>
              <a:t> overflow handling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xmlns="" id="{EEB8D17F-87F3-400E-8906-159C29E5B8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Overflow handling (I)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xmlns="" id="{52031AB3-B4C0-47DB-B3AB-F2A429DE04D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022131" y="1987550"/>
            <a:ext cx="3810000" cy="4483100"/>
          </a:xfrm>
        </p:spPr>
        <p:txBody>
          <a:bodyPr/>
          <a:lstStyle/>
          <a:p>
            <a:pPr eaLnBrk="1" hangingPunct="1"/>
            <a:r>
              <a:rPr lang="en-US" altLang="en-US" dirty="0"/>
              <a:t>No overflow in signed arithmetic</a:t>
            </a:r>
          </a:p>
          <a:p>
            <a:pPr algn="r" eaLnBrk="1" hangingPunct="1">
              <a:buFontTx/>
              <a:buNone/>
            </a:pPr>
            <a:r>
              <a:rPr lang="en-US" altLang="en-US" dirty="0"/>
              <a:t>( carry)</a:t>
            </a:r>
            <a:r>
              <a:rPr lang="en-US" altLang="en-US" dirty="0">
                <a:latin typeface="Courier New" panose="02070309020205020404" pitchFamily="49" charset="0"/>
              </a:rPr>
              <a:t>  </a:t>
            </a:r>
            <a:r>
              <a:rPr lang="en-US" altLang="en-US" b="1" dirty="0">
                <a:latin typeface="Courier New" panose="02070309020205020404" pitchFamily="49" charset="0"/>
              </a:rPr>
              <a:t>111_</a:t>
            </a:r>
          </a:p>
          <a:p>
            <a:pPr algn="r" eaLnBrk="1" hangingPunct="1"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1110</a:t>
            </a:r>
          </a:p>
          <a:p>
            <a:pPr algn="r" eaLnBrk="1" hangingPunct="1">
              <a:buFontTx/>
              <a:buNone/>
            </a:pPr>
            <a:r>
              <a:rPr lang="en-US" altLang="en-US" b="1" u="sng" dirty="0">
                <a:latin typeface="Courier New" panose="02070309020205020404" pitchFamily="49" charset="0"/>
              </a:rPr>
              <a:t>+ 0011</a:t>
            </a:r>
          </a:p>
          <a:p>
            <a:pPr algn="r" eaLnBrk="1" hangingPunct="1"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0001</a:t>
            </a:r>
          </a:p>
          <a:p>
            <a:pPr eaLnBrk="1" hangingPunct="1"/>
            <a:r>
              <a:rPr lang="en-US" altLang="en-US" b="1" dirty="0">
                <a:latin typeface="Courier New" panose="02070309020205020404" pitchFamily="49" charset="0"/>
              </a:rPr>
              <a:t>-2 + 3 = 1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(correct)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xmlns="" id="{007E5DAC-3DCC-4D55-8500-0B0ABED50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166" y="1987550"/>
            <a:ext cx="3794125" cy="455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Char char="•"/>
            </a:pPr>
            <a:r>
              <a:rPr kumimoji="1" lang="en-US" altLang="en-US" sz="3200" dirty="0">
                <a:latin typeface="Arial Narrow" panose="020B0606020202030204" pitchFamily="34" charset="0"/>
              </a:rPr>
              <a:t>Signed addition in</a:t>
            </a:r>
            <a:br>
              <a:rPr kumimoji="1" lang="en-US" altLang="en-US" sz="3200" dirty="0">
                <a:latin typeface="Arial Narrow" panose="020B0606020202030204" pitchFamily="34" charset="0"/>
              </a:rPr>
            </a:br>
            <a:r>
              <a:rPr kumimoji="1" lang="en-US" altLang="en-US" sz="3200" dirty="0">
                <a:latin typeface="Arial Narrow" panose="020B0606020202030204" pitchFamily="34" charset="0"/>
              </a:rPr>
              <a:t>4-bit arithmetic </a:t>
            </a:r>
          </a:p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kumimoji="1" lang="en-US" altLang="en-US" sz="3200" dirty="0">
                <a:latin typeface="Arial Narrow" panose="020B0606020202030204" pitchFamily="34" charset="0"/>
              </a:rPr>
              <a:t>( carry)</a:t>
            </a:r>
            <a:r>
              <a:rPr kumimoji="1" lang="en-US" altLang="en-US" sz="3200" dirty="0">
                <a:latin typeface="Courier New" panose="02070309020205020404" pitchFamily="49" charset="0"/>
              </a:rPr>
              <a:t> </a:t>
            </a:r>
            <a:r>
              <a:rPr kumimoji="1" lang="en-US" altLang="en-US" sz="3200" b="1" dirty="0">
                <a:latin typeface="Courier New" panose="02070309020205020404" pitchFamily="49" charset="0"/>
              </a:rPr>
              <a:t> 1__</a:t>
            </a:r>
          </a:p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kumimoji="1" lang="en-US" altLang="en-US" sz="3200" b="1" dirty="0">
                <a:latin typeface="Courier New" panose="02070309020205020404" pitchFamily="49" charset="0"/>
              </a:rPr>
              <a:t>0110</a:t>
            </a:r>
          </a:p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kumimoji="1" lang="en-US" altLang="en-US" sz="3200" b="1" u="sng" dirty="0">
                <a:latin typeface="Courier New" panose="02070309020205020404" pitchFamily="49" charset="0"/>
              </a:rPr>
              <a:t>+ 0011</a:t>
            </a:r>
          </a:p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kumimoji="1" lang="en-US" altLang="en-US" sz="3200" b="1" dirty="0">
                <a:latin typeface="Courier New" panose="02070309020205020404" pitchFamily="49" charset="0"/>
              </a:rPr>
              <a:t>1001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Char char="•"/>
            </a:pPr>
            <a:r>
              <a:rPr kumimoji="1" lang="en-US" altLang="en-US" sz="3200" b="1" dirty="0">
                <a:latin typeface="Courier New" panose="02070309020205020404" pitchFamily="49" charset="0"/>
              </a:rPr>
              <a:t>6 + 3 </a:t>
            </a:r>
            <a:r>
              <a:rPr kumimoji="1" lang="en-US" altLang="en-US" sz="3200" b="1" dirty="0">
                <a:latin typeface="Courier New" panose="02070309020205020404" pitchFamily="49" charset="0"/>
                <a:sym typeface="Symbol" panose="05050102010706020507" pitchFamily="18" charset="2"/>
              </a:rPr>
              <a:t></a:t>
            </a:r>
            <a:r>
              <a:rPr kumimoji="1" lang="en-US" altLang="en-US" sz="3200" b="1" dirty="0">
                <a:latin typeface="Courier New" panose="02070309020205020404" pitchFamily="49" charset="0"/>
              </a:rPr>
              <a:t> -7</a:t>
            </a:r>
            <a:br>
              <a:rPr kumimoji="1" lang="en-US" altLang="en-US" sz="3200" b="1" dirty="0">
                <a:latin typeface="Courier New" panose="02070309020205020404" pitchFamily="49" charset="0"/>
              </a:rPr>
            </a:br>
            <a:r>
              <a:rPr kumimoji="1" lang="en-US" altLang="en-US" sz="3200" b="1" dirty="0">
                <a:latin typeface="Courier New" panose="02070309020205020404" pitchFamily="49" charset="0"/>
              </a:rPr>
              <a:t>(false)</a:t>
            </a:r>
            <a:br>
              <a:rPr kumimoji="1" lang="en-US" altLang="en-US" sz="3200" b="1" dirty="0">
                <a:latin typeface="Courier New" panose="02070309020205020404" pitchFamily="49" charset="0"/>
              </a:rPr>
            </a:br>
            <a:endParaRPr kumimoji="1" lang="en-US" altLang="en-US" sz="3200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xmlns="" id="{5B35165D-D308-4523-A217-A9814F133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Overflow handling (II)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xmlns="" id="{4FFA963E-83D8-4125-8139-97D6B4F18E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/>
              <a:t>In signed arithmetic an overflow happens when</a:t>
            </a:r>
          </a:p>
          <a:p>
            <a:pPr marL="0" indent="0"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The </a:t>
            </a:r>
            <a:r>
              <a:rPr lang="en-US" altLang="en-US" b="1" i="1" dirty="0"/>
              <a:t>sum of two positive numbers</a:t>
            </a:r>
            <a:r>
              <a:rPr lang="en-US" altLang="en-US" dirty="0"/>
              <a:t> exceeds the maximum positive value that can be represented using n bits: </a:t>
            </a:r>
            <a:r>
              <a:rPr lang="en-US" altLang="en-US" dirty="0">
                <a:latin typeface="Arial Black" panose="020B0A04020102020204" pitchFamily="34" charset="0"/>
              </a:rPr>
              <a:t> 2</a:t>
            </a:r>
            <a:r>
              <a:rPr lang="en-US" altLang="en-US" baseline="30000" dirty="0">
                <a:latin typeface="Arial Black" panose="020B0A04020102020204" pitchFamily="34" charset="0"/>
              </a:rPr>
              <a:t>n – 1</a:t>
            </a:r>
            <a:r>
              <a:rPr lang="en-US" altLang="en-US" dirty="0">
                <a:latin typeface="Arial Black" panose="020B0A04020102020204" pitchFamily="34" charset="0"/>
              </a:rPr>
              <a:t> – 1</a:t>
            </a:r>
          </a:p>
          <a:p>
            <a:pPr marL="342900" lvl="1" indent="0">
              <a:buNone/>
              <a:defRPr/>
            </a:pPr>
            <a:endParaRPr lang="en-US" altLang="en-US" dirty="0">
              <a:latin typeface="Arial Black" panose="020B0A04020102020204" pitchFamily="34" charset="0"/>
            </a:endParaRPr>
          </a:p>
          <a:p>
            <a:pPr lvl="1">
              <a:defRPr/>
            </a:pPr>
            <a:r>
              <a:rPr lang="en-US" altLang="en-US" dirty="0"/>
              <a:t>The s</a:t>
            </a:r>
            <a:r>
              <a:rPr lang="en-US" altLang="en-US" b="1" i="1" dirty="0"/>
              <a:t>um of two negative numbers</a:t>
            </a:r>
            <a:r>
              <a:rPr lang="en-US" altLang="en-US" dirty="0"/>
              <a:t> falls below the minimum negative value that can be represented using n bits: </a:t>
            </a:r>
            <a:r>
              <a:rPr lang="en-US" altLang="en-US" b="1" dirty="0"/>
              <a:t> </a:t>
            </a:r>
            <a:r>
              <a:rPr lang="en-US" altLang="en-US" b="1" dirty="0">
                <a:latin typeface="Arial Black" panose="020B0A04020102020204" pitchFamily="34" charset="0"/>
              </a:rPr>
              <a:t>– 2</a:t>
            </a:r>
            <a:r>
              <a:rPr lang="en-US" altLang="en-US" b="1" baseline="30000" dirty="0">
                <a:latin typeface="Arial Black" panose="020B0A04020102020204" pitchFamily="34" charset="0"/>
              </a:rPr>
              <a:t>n – 1</a:t>
            </a:r>
            <a:r>
              <a:rPr lang="en-US" altLang="en-US" b="1" dirty="0"/>
              <a:t> </a:t>
            </a:r>
          </a:p>
          <a:p>
            <a:pPr lvl="1"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xmlns="" id="{6A0AB213-3D5F-4D60-BA1B-BB719CC96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xmlns="" id="{9D51CAE3-3A53-47D7-AF91-5C9C928288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09800" y="1981200"/>
            <a:ext cx="8059738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Four-bit arithmetic: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dirty="0"/>
              <a:t>Sixteen possible values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dirty="0"/>
              <a:t>Positive overflow happens when result  &gt; 7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dirty="0"/>
              <a:t>Negative overflow happens when result  &lt;  -8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en-US" dirty="0"/>
              <a:t>Eight-bit arithmetic: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dirty="0"/>
              <a:t>256 possible values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dirty="0"/>
              <a:t>Positive overflow happens when result  &gt; 127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dirty="0"/>
              <a:t>Negative overflow happens when result  &lt;  -128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xmlns="" id="{8877E7EF-537F-4877-8A61-38291BC80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9824"/>
            <a:ext cx="10515600" cy="906611"/>
          </a:xfrm>
        </p:spPr>
        <p:txBody>
          <a:bodyPr/>
          <a:lstStyle/>
          <a:p>
            <a:pPr eaLnBrk="1" hangingPunct="1"/>
            <a:r>
              <a:rPr lang="en-US" altLang="en-US" dirty="0"/>
              <a:t>Overflow handling (III)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xmlns="" id="{222436D3-4B0D-4CDD-88DE-E36E41D616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1983" y="1114479"/>
            <a:ext cx="10515600" cy="2764824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MIPS (Million Instructions per second) architecture handles signed and unsigned overflows in a very different fashion: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altLang="en-US" sz="1800" b="1" dirty="0"/>
              <a:t>Ignores unsigned overflows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altLang="en-US" sz="1800" dirty="0"/>
              <a:t>Implements</a:t>
            </a:r>
            <a:r>
              <a:rPr lang="en-US" altLang="en-US" sz="1800" b="1" dirty="0"/>
              <a:t> modulo 2</a:t>
            </a:r>
            <a:r>
              <a:rPr lang="en-US" altLang="en-US" sz="1800" b="1" baseline="30000" dirty="0"/>
              <a:t>n </a:t>
            </a:r>
            <a:r>
              <a:rPr lang="en-US" altLang="en-US" sz="1800" b="1" dirty="0"/>
              <a:t>arithmetic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altLang="en-US" sz="1800" dirty="0"/>
              <a:t>Generates an </a:t>
            </a:r>
            <a:r>
              <a:rPr lang="en-US" altLang="en-US" sz="1800" b="1" dirty="0"/>
              <a:t>interrupt </a:t>
            </a:r>
            <a:r>
              <a:rPr lang="en-US" altLang="en-US" sz="1800" dirty="0"/>
              <a:t>whenever it detects a</a:t>
            </a:r>
            <a:r>
              <a:rPr lang="en-US" altLang="en-US" sz="1800" b="1" dirty="0"/>
              <a:t> signed overflows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altLang="en-US" sz="1800" dirty="0"/>
              <a:t>Lets the OS handled the </a:t>
            </a:r>
            <a:r>
              <a:rPr lang="en-US" altLang="en-US" sz="1800" dirty="0" smtClean="0"/>
              <a:t>condition</a:t>
            </a:r>
            <a:endParaRPr lang="en-US" altLang="en-US" sz="18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B460364-77AE-4952-AFFF-675E9905C335}"/>
              </a:ext>
            </a:extLst>
          </p:cNvPr>
          <p:cNvSpPr/>
          <p:nvPr/>
        </p:nvSpPr>
        <p:spPr>
          <a:xfrm>
            <a:off x="8342040" y="1888809"/>
            <a:ext cx="3490913" cy="1822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1111 (4 bits)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Overflow in 3 bit representation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Perform modulo 2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Result will be 111 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(no overflow in 3 bit) 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276999"/>
            <a:ext cx="65" cy="55399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9186" y="4117916"/>
            <a:ext cx="4624552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200" b="1" dirty="0"/>
              <a:t>Example: </a:t>
            </a:r>
            <a:r>
              <a:rPr lang="en-US" altLang="en-US" sz="1200" i="1" dirty="0"/>
              <a:t>Adding two positive numbers</a:t>
            </a:r>
          </a:p>
          <a:p>
            <a:pPr algn="just"/>
            <a:r>
              <a:rPr lang="en-US" altLang="en-US" sz="1400" dirty="0">
                <a:solidFill>
                  <a:srgbClr val="FF0000"/>
                </a:solidFill>
              </a:rPr>
              <a:t>Adding 5 + 3 should equal 8, which is outside the range of -8 to 7.</a:t>
            </a:r>
            <a:r>
              <a:rPr lang="en-US" altLang="en-US" sz="1400" dirty="0"/>
              <a:t>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FF0000"/>
                </a:solidFill>
                <a:latin typeface="Arial Unicode MS" panose="020B0604020202020204" pitchFamily="34" charset="-128"/>
              </a:rPr>
              <a:t>5</a:t>
            </a:r>
            <a:r>
              <a:rPr lang="en-US" altLang="en-US" sz="1400" dirty="0">
                <a:solidFill>
                  <a:srgbClr val="FF0000"/>
                </a:solidFill>
                <a:latin typeface="Google Sans"/>
              </a:rPr>
              <a:t> in 4-bit binary is </a:t>
            </a:r>
            <a:r>
              <a:rPr lang="en-US" altLang="en-US" sz="1400" dirty="0">
                <a:solidFill>
                  <a:srgbClr val="FF0000"/>
                </a:solidFill>
                <a:latin typeface="Arial Unicode MS" panose="020B0604020202020204" pitchFamily="34" charset="-128"/>
              </a:rPr>
              <a:t>0101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FF0000"/>
                </a:solidFill>
                <a:latin typeface="Arial Unicode MS" panose="020B0604020202020204" pitchFamily="34" charset="-128"/>
              </a:rPr>
              <a:t>3</a:t>
            </a:r>
            <a:r>
              <a:rPr lang="en-US" altLang="en-US" sz="1400" dirty="0">
                <a:solidFill>
                  <a:srgbClr val="FF0000"/>
                </a:solidFill>
                <a:latin typeface="Google Sans"/>
              </a:rPr>
              <a:t> in 4-bit binary is </a:t>
            </a:r>
            <a:r>
              <a:rPr lang="en-US" altLang="en-US" sz="1400" dirty="0">
                <a:solidFill>
                  <a:srgbClr val="FF0000"/>
                </a:solidFill>
                <a:latin typeface="Arial Unicode MS" panose="020B0604020202020204" pitchFamily="34" charset="-128"/>
              </a:rPr>
              <a:t>0011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FF0000"/>
                </a:solidFill>
                <a:latin typeface="Arial Unicode MS" panose="020B0604020202020204" pitchFamily="34" charset="-128"/>
              </a:rPr>
              <a:t>0101 (5) + 0011 (3) ------- 1000 </a:t>
            </a:r>
            <a:endParaRPr lang="en-US" altLang="en-US" sz="1400" b="1" dirty="0" smtClean="0">
              <a:solidFill>
                <a:srgbClr val="FF0000"/>
              </a:solidFill>
              <a:latin typeface="Arial Unicode MS" panose="020B0604020202020204" pitchFamily="34" charset="-128"/>
            </a:endParaRPr>
          </a:p>
          <a:p>
            <a:r>
              <a:rPr lang="en-US" altLang="en-US" sz="1400" b="1" dirty="0">
                <a:solidFill>
                  <a:srgbClr val="FF0000"/>
                </a:solidFill>
                <a:latin typeface="Arial Unicode MS" panose="020B0604020202020204" pitchFamily="34" charset="-128"/>
              </a:rPr>
              <a:t>	</a:t>
            </a:r>
            <a:r>
              <a:rPr lang="en-US" altLang="en-US" sz="1400" b="1" dirty="0" smtClean="0">
                <a:solidFill>
                  <a:srgbClr val="FF0000"/>
                </a:solidFill>
                <a:latin typeface="Arial Unicode MS" panose="020B0604020202020204" pitchFamily="34" charset="-128"/>
              </a:rPr>
              <a:t>(-</a:t>
            </a:r>
            <a:r>
              <a:rPr lang="en-US" altLang="en-US" sz="1400" b="1" dirty="0">
                <a:solidFill>
                  <a:srgbClr val="FF0000"/>
                </a:solidFill>
                <a:latin typeface="Arial Unicode MS" panose="020B0604020202020204" pitchFamily="34" charset="-128"/>
              </a:rPr>
              <a:t>8 in two's complement)</a:t>
            </a:r>
            <a:r>
              <a:rPr lang="en-US" altLang="en-US" sz="1400" b="1" dirty="0">
                <a:solidFill>
                  <a:srgbClr val="FF0000"/>
                </a:solidFill>
              </a:rPr>
              <a:t> </a:t>
            </a:r>
            <a:endParaRPr lang="en-US" altLang="en-US" sz="1400" dirty="0">
              <a:solidFill>
                <a:srgbClr val="FF0000"/>
              </a:solidFill>
              <a:latin typeface="Arial Unicode MS" panose="020B060402020202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FF0000"/>
              </a:solidFill>
              <a:latin typeface="Arial Unicode MS" panose="020B0604020202020204" pitchFamily="34" charset="-128"/>
            </a:endParaRPr>
          </a:p>
          <a:p>
            <a:pPr algn="just"/>
            <a:r>
              <a:rPr lang="en-US" altLang="en-US" sz="1400" dirty="0">
                <a:solidFill>
                  <a:srgbClr val="FF0000"/>
                </a:solidFill>
                <a:latin typeface="Google Sans"/>
              </a:rPr>
              <a:t>*The result is </a:t>
            </a:r>
            <a:r>
              <a:rPr lang="en-US" altLang="en-US" sz="1400" dirty="0">
                <a:solidFill>
                  <a:srgbClr val="FF0000"/>
                </a:solidFill>
                <a:latin typeface="Arial Unicode MS" panose="020B0604020202020204" pitchFamily="34" charset="-128"/>
              </a:rPr>
              <a:t>1000</a:t>
            </a:r>
            <a:r>
              <a:rPr lang="en-US" altLang="en-US" sz="1400" dirty="0">
                <a:solidFill>
                  <a:srgbClr val="FF0000"/>
                </a:solidFill>
                <a:latin typeface="Google Sans"/>
              </a:rPr>
              <a:t>, which the computer interprets as -8 (a negative number). Since two positive numbers were added to produce a negative result, an </a:t>
            </a:r>
            <a:r>
              <a:rPr lang="en-US" altLang="en-US" sz="1400" b="1" dirty="0">
                <a:solidFill>
                  <a:srgbClr val="FF0000"/>
                </a:solidFill>
                <a:latin typeface="Google Sans"/>
              </a:rPr>
              <a:t>overflow exception</a:t>
            </a:r>
            <a:r>
              <a:rPr lang="en-US" altLang="en-US" sz="1400" dirty="0">
                <a:solidFill>
                  <a:srgbClr val="FF0000"/>
                </a:solidFill>
                <a:latin typeface="Google Sans"/>
              </a:rPr>
              <a:t> is raised in MIPS.</a:t>
            </a:r>
            <a:r>
              <a:rPr lang="en-US" altLang="en-US" sz="1400" dirty="0"/>
              <a:t> 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80993" y="4117916"/>
            <a:ext cx="4624552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200" b="1" dirty="0"/>
              <a:t>Example: </a:t>
            </a:r>
            <a:r>
              <a:rPr lang="en-US" altLang="en-US" sz="1200" i="1" dirty="0"/>
              <a:t>Adding two </a:t>
            </a:r>
            <a:r>
              <a:rPr lang="en-US" altLang="en-US" sz="1200" i="1" dirty="0" smtClean="0"/>
              <a:t>negative </a:t>
            </a:r>
            <a:r>
              <a:rPr lang="en-US" altLang="en-US" sz="1200" i="1" dirty="0"/>
              <a:t>numbers</a:t>
            </a:r>
          </a:p>
          <a:p>
            <a:pPr algn="just"/>
            <a:r>
              <a:rPr lang="en-US" altLang="en-US" sz="1400" dirty="0">
                <a:solidFill>
                  <a:srgbClr val="FF0000"/>
                </a:solidFill>
              </a:rPr>
              <a:t>Adding </a:t>
            </a:r>
            <a:r>
              <a:rPr lang="en-US" altLang="en-US" sz="1400" dirty="0" smtClean="0">
                <a:solidFill>
                  <a:srgbClr val="FF0000"/>
                </a:solidFill>
              </a:rPr>
              <a:t>-4 </a:t>
            </a:r>
            <a:r>
              <a:rPr lang="en-US" altLang="en-US" sz="1400" dirty="0">
                <a:solidFill>
                  <a:srgbClr val="FF0000"/>
                </a:solidFill>
              </a:rPr>
              <a:t>+ </a:t>
            </a:r>
            <a:r>
              <a:rPr lang="en-US" altLang="en-US" sz="1400" dirty="0" smtClean="0">
                <a:solidFill>
                  <a:srgbClr val="FF0000"/>
                </a:solidFill>
              </a:rPr>
              <a:t>-5</a:t>
            </a:r>
            <a:r>
              <a:rPr lang="en-US" altLang="en-US" sz="1400" dirty="0">
                <a:solidFill>
                  <a:srgbClr val="FF0000"/>
                </a:solidFill>
              </a:rPr>
              <a:t> should equal </a:t>
            </a:r>
            <a:r>
              <a:rPr lang="en-US" altLang="en-US" sz="1400" dirty="0" smtClean="0">
                <a:solidFill>
                  <a:srgbClr val="FF0000"/>
                </a:solidFill>
              </a:rPr>
              <a:t>-9, </a:t>
            </a:r>
            <a:r>
              <a:rPr lang="en-US" altLang="en-US" sz="1400" dirty="0">
                <a:solidFill>
                  <a:srgbClr val="FF0000"/>
                </a:solidFill>
              </a:rPr>
              <a:t>which is outside the range of -8 to 7.</a:t>
            </a:r>
            <a:r>
              <a:rPr lang="en-US" altLang="en-US" sz="1400" dirty="0"/>
              <a:t>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 smtClean="0">
                <a:solidFill>
                  <a:srgbClr val="FF0000"/>
                </a:solidFill>
                <a:latin typeface="Arial Unicode MS" panose="020B0604020202020204" pitchFamily="34" charset="-128"/>
              </a:rPr>
              <a:t>-4</a:t>
            </a:r>
            <a:r>
              <a:rPr lang="en-US" altLang="en-US" sz="1400" dirty="0">
                <a:solidFill>
                  <a:srgbClr val="FF0000"/>
                </a:solidFill>
                <a:latin typeface="Google Sans"/>
              </a:rPr>
              <a:t> in 4-bit binary is </a:t>
            </a:r>
            <a:r>
              <a:rPr lang="en-US" altLang="en-US" sz="1400" dirty="0" smtClean="0">
                <a:solidFill>
                  <a:srgbClr val="FF0000"/>
                </a:solidFill>
                <a:latin typeface="Arial Unicode MS" panose="020B0604020202020204" pitchFamily="34" charset="-128"/>
              </a:rPr>
              <a:t>1100</a:t>
            </a:r>
            <a:endParaRPr lang="en-US" altLang="en-US" sz="1400" dirty="0">
              <a:solidFill>
                <a:srgbClr val="FF0000"/>
              </a:solidFill>
              <a:latin typeface="Arial Unicode MS" panose="020B060402020202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 smtClean="0">
                <a:solidFill>
                  <a:srgbClr val="FF0000"/>
                </a:solidFill>
                <a:latin typeface="Arial Unicode MS" panose="020B0604020202020204" pitchFamily="34" charset="-128"/>
              </a:rPr>
              <a:t>-5</a:t>
            </a:r>
            <a:r>
              <a:rPr lang="en-US" altLang="en-US" sz="1400" dirty="0">
                <a:solidFill>
                  <a:srgbClr val="FF0000"/>
                </a:solidFill>
                <a:latin typeface="Google Sans"/>
              </a:rPr>
              <a:t> in 4-bit binary is </a:t>
            </a:r>
            <a:r>
              <a:rPr lang="en-US" altLang="en-US" sz="1400" dirty="0" smtClean="0">
                <a:solidFill>
                  <a:srgbClr val="FF0000"/>
                </a:solidFill>
                <a:latin typeface="Arial Unicode MS" panose="020B0604020202020204" pitchFamily="34" charset="-128"/>
              </a:rPr>
              <a:t>1101</a:t>
            </a:r>
            <a:endParaRPr lang="en-US" altLang="en-US" sz="1400" dirty="0">
              <a:solidFill>
                <a:srgbClr val="FF0000"/>
              </a:solidFill>
              <a:latin typeface="Arial Unicode MS" panose="020B060402020202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 dirty="0" smtClean="0">
                <a:solidFill>
                  <a:srgbClr val="FF0000"/>
                </a:solidFill>
                <a:latin typeface="Arial Unicode MS" panose="020B0604020202020204" pitchFamily="34" charset="-128"/>
              </a:rPr>
              <a:t>1100 (-4) </a:t>
            </a:r>
            <a:r>
              <a:rPr lang="en-US" altLang="en-US" sz="1400" b="1" dirty="0">
                <a:solidFill>
                  <a:srgbClr val="FF0000"/>
                </a:solidFill>
                <a:latin typeface="Arial Unicode MS" panose="020B0604020202020204" pitchFamily="34" charset="-128"/>
              </a:rPr>
              <a:t>+ </a:t>
            </a:r>
            <a:r>
              <a:rPr lang="en-US" altLang="en-US" sz="1400" b="1" dirty="0" smtClean="0">
                <a:solidFill>
                  <a:srgbClr val="FF0000"/>
                </a:solidFill>
                <a:latin typeface="Arial Unicode MS" panose="020B0604020202020204" pitchFamily="34" charset="-128"/>
              </a:rPr>
              <a:t>1101 (-5) </a:t>
            </a:r>
            <a:r>
              <a:rPr lang="en-US" altLang="en-US" sz="1400" b="1" dirty="0">
                <a:solidFill>
                  <a:srgbClr val="FF0000"/>
                </a:solidFill>
                <a:latin typeface="Arial Unicode MS" panose="020B0604020202020204" pitchFamily="34" charset="-128"/>
              </a:rPr>
              <a:t>------- </a:t>
            </a:r>
            <a:r>
              <a:rPr lang="en-US" altLang="en-US" sz="1400" b="1" dirty="0" smtClean="0">
                <a:solidFill>
                  <a:srgbClr val="FF0000"/>
                </a:solidFill>
                <a:latin typeface="Arial Unicode MS" panose="020B0604020202020204" pitchFamily="34" charset="-128"/>
              </a:rPr>
              <a:t>1 0111 </a:t>
            </a:r>
          </a:p>
          <a:p>
            <a:r>
              <a:rPr lang="en-US" altLang="en-US" sz="1400" b="1" dirty="0">
                <a:solidFill>
                  <a:srgbClr val="FF0000"/>
                </a:solidFill>
                <a:latin typeface="Arial Unicode MS" panose="020B0604020202020204" pitchFamily="34" charset="-128"/>
              </a:rPr>
              <a:t>	</a:t>
            </a:r>
            <a:r>
              <a:rPr lang="en-US" altLang="en-US" sz="1400" b="1" dirty="0" smtClean="0">
                <a:solidFill>
                  <a:srgbClr val="FF0000"/>
                </a:solidFill>
                <a:latin typeface="Arial Unicode MS" panose="020B0604020202020204" pitchFamily="34" charset="-128"/>
              </a:rPr>
              <a:t>(7 </a:t>
            </a:r>
            <a:r>
              <a:rPr lang="en-US" altLang="en-US" sz="1400" b="1" dirty="0">
                <a:solidFill>
                  <a:srgbClr val="FF0000"/>
                </a:solidFill>
                <a:latin typeface="Arial Unicode MS" panose="020B0604020202020204" pitchFamily="34" charset="-128"/>
              </a:rPr>
              <a:t>in two's complement)</a:t>
            </a:r>
            <a:r>
              <a:rPr lang="en-US" altLang="en-US" sz="1400" b="1" dirty="0">
                <a:solidFill>
                  <a:srgbClr val="FF0000"/>
                </a:solidFill>
              </a:rPr>
              <a:t> </a:t>
            </a:r>
            <a:endParaRPr lang="en-US" altLang="en-US" sz="1400" dirty="0">
              <a:solidFill>
                <a:srgbClr val="FF0000"/>
              </a:solidFill>
              <a:latin typeface="Arial Unicode MS" panose="020B060402020202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FF0000"/>
              </a:solidFill>
              <a:latin typeface="Arial Unicode MS" panose="020B0604020202020204" pitchFamily="34" charset="-128"/>
            </a:endParaRPr>
          </a:p>
          <a:p>
            <a:pPr algn="just"/>
            <a:r>
              <a:rPr lang="en-US" altLang="en-US" sz="1400" dirty="0">
                <a:solidFill>
                  <a:srgbClr val="FF0000"/>
                </a:solidFill>
                <a:latin typeface="Google Sans"/>
              </a:rPr>
              <a:t>*The result in 4 bits is 0111, which the computer interprets as 7 (a positive number). Since two negative numbers were added to produce a positive result, an </a:t>
            </a:r>
            <a:r>
              <a:rPr lang="en-US" altLang="en-US" sz="1400" b="1" dirty="0">
                <a:solidFill>
                  <a:srgbClr val="FF0000"/>
                </a:solidFill>
                <a:latin typeface="Google Sans"/>
              </a:rPr>
              <a:t>overflow exception</a:t>
            </a:r>
            <a:r>
              <a:rPr lang="en-US" altLang="en-US" sz="1400" dirty="0">
                <a:solidFill>
                  <a:srgbClr val="FF0000"/>
                </a:solidFill>
                <a:latin typeface="Google Sans"/>
              </a:rPr>
              <a:t> is raised</a:t>
            </a:r>
            <a:r>
              <a:rPr lang="en-US" altLang="en-US" sz="1400" dirty="0" smtClean="0">
                <a:solidFill>
                  <a:srgbClr val="FF0000"/>
                </a:solidFill>
                <a:latin typeface="Google Sans"/>
              </a:rPr>
              <a:t>.</a:t>
            </a:r>
            <a:r>
              <a:rPr lang="en-US" altLang="en-US" sz="1400" dirty="0" smtClean="0"/>
              <a:t> 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xmlns="" id="{56B6C115-6BEE-4E4C-8B17-50F4127F3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Subtraction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xmlns="" id="{884880E0-9161-4CD8-A7FD-CF559ED70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Can be implementing by</a:t>
            </a:r>
          </a:p>
          <a:p>
            <a:pPr lvl="1" eaLnBrk="1" hangingPunct="1"/>
            <a:r>
              <a:rPr lang="en-US" altLang="en-US" dirty="0"/>
              <a:t>Specific hardware</a:t>
            </a:r>
          </a:p>
          <a:p>
            <a:pPr lvl="1" eaLnBrk="1" hangingPunct="1"/>
            <a:r>
              <a:rPr lang="en-US" altLang="en-US" dirty="0"/>
              <a:t>Negating the subtrahend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xmlns="" id="{3A353525-8A7B-4B69-AC26-41AB3FE17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Negating a number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xmlns="" id="{3A1A36E4-42A1-43BF-8B75-7209E81CE4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Toggle all bits then add one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1746" name="Group 2">
            <a:extLst>
              <a:ext uri="{FF2B5EF4-FFF2-40B4-BE49-F238E27FC236}">
                <a16:creationId xmlns:a16="http://schemas.microsoft.com/office/drawing/2014/main" xmlns="" id="{6A1376EE-8E23-42E2-8189-5B308CA42098}"/>
              </a:ext>
            </a:extLst>
          </p:cNvPr>
          <p:cNvGraphicFramePr>
            <a:graphicFrameLocks noGrp="1"/>
          </p:cNvGraphicFramePr>
          <p:nvPr/>
        </p:nvGraphicFramePr>
        <p:xfrm>
          <a:off x="3060700" y="1911350"/>
          <a:ext cx="6223000" cy="4056060"/>
        </p:xfrm>
        <a:graphic>
          <a:graphicData uri="http://schemas.openxmlformats.org/drawingml/2006/table">
            <a:tbl>
              <a:tblPr/>
              <a:tblGrid>
                <a:gridCol w="1388514">
                  <a:extLst>
                    <a:ext uri="{9D8B030D-6E8A-4147-A177-3AD203B41FA5}">
                      <a16:colId xmlns:a16="http://schemas.microsoft.com/office/drawing/2014/main" xmlns="" val="1780843417"/>
                    </a:ext>
                  </a:extLst>
                </a:gridCol>
                <a:gridCol w="687025">
                  <a:extLst>
                    <a:ext uri="{9D8B030D-6E8A-4147-A177-3AD203B41FA5}">
                      <a16:colId xmlns:a16="http://schemas.microsoft.com/office/drawing/2014/main" xmlns="" val="3544363143"/>
                    </a:ext>
                  </a:extLst>
                </a:gridCol>
                <a:gridCol w="1122743">
                  <a:extLst>
                    <a:ext uri="{9D8B030D-6E8A-4147-A177-3AD203B41FA5}">
                      <a16:colId xmlns:a16="http://schemas.microsoft.com/office/drawing/2014/main" xmlns="" val="3659163945"/>
                    </a:ext>
                  </a:extLst>
                </a:gridCol>
                <a:gridCol w="2160513">
                  <a:extLst>
                    <a:ext uri="{9D8B030D-6E8A-4147-A177-3AD203B41FA5}">
                      <a16:colId xmlns:a16="http://schemas.microsoft.com/office/drawing/2014/main" xmlns="" val="2750431303"/>
                    </a:ext>
                  </a:extLst>
                </a:gridCol>
                <a:gridCol w="864205">
                  <a:extLst>
                    <a:ext uri="{9D8B030D-6E8A-4147-A177-3AD203B41FA5}">
                      <a16:colId xmlns:a16="http://schemas.microsoft.com/office/drawing/2014/main" xmlns="" val="3348150017"/>
                    </a:ext>
                  </a:extLst>
                </a:gridCol>
              </a:tblGrid>
              <a:tr h="57916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0001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1110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 = 1111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50411431"/>
                  </a:ext>
                </a:extLst>
              </a:tr>
              <a:tr h="57916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0010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 = 1110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-2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84289029"/>
                  </a:ext>
                </a:extLst>
              </a:tr>
              <a:tr h="57916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0011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1100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 = 1101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-3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41813326"/>
                  </a:ext>
                </a:extLst>
              </a:tr>
              <a:tr h="57916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0100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 = 1100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-4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50196374"/>
                  </a:ext>
                </a:extLst>
              </a:tr>
              <a:tr h="57916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0101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1010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 = 1011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-5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92403979"/>
                  </a:ext>
                </a:extLst>
              </a:tr>
              <a:tr h="57916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0110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 = 1010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-6 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62029714"/>
                  </a:ext>
                </a:extLst>
              </a:tr>
              <a:tr h="58107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0111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 = 1001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-7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9577510"/>
                  </a:ext>
                </a:extLst>
              </a:tr>
            </a:tbl>
          </a:graphicData>
        </a:graphic>
      </p:graphicFrame>
      <p:sp>
        <p:nvSpPr>
          <p:cNvPr id="26676" name="Rectangle 58">
            <a:extLst>
              <a:ext uri="{FF2B5EF4-FFF2-40B4-BE49-F238E27FC236}">
                <a16:creationId xmlns:a16="http://schemas.microsoft.com/office/drawing/2014/main" xmlns="" id="{C55AA34D-BB66-459A-ABD7-50D393DAE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4-bit arithmetic (I)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2770" name="Group 2">
            <a:extLst>
              <a:ext uri="{FF2B5EF4-FFF2-40B4-BE49-F238E27FC236}">
                <a16:creationId xmlns:a16="http://schemas.microsoft.com/office/drawing/2014/main" xmlns="" id="{86DA9915-CDA2-4E38-B93C-11C4DEC63AD6}"/>
              </a:ext>
            </a:extLst>
          </p:cNvPr>
          <p:cNvGraphicFramePr>
            <a:graphicFrameLocks noGrp="1"/>
          </p:cNvGraphicFramePr>
          <p:nvPr/>
        </p:nvGraphicFramePr>
        <p:xfrm>
          <a:off x="2832100" y="1987551"/>
          <a:ext cx="6527800" cy="4054477"/>
        </p:xfrm>
        <a:graphic>
          <a:graphicData uri="http://schemas.openxmlformats.org/drawingml/2006/table">
            <a:tbl>
              <a:tblPr/>
              <a:tblGrid>
                <a:gridCol w="1456522">
                  <a:extLst>
                    <a:ext uri="{9D8B030D-6E8A-4147-A177-3AD203B41FA5}">
                      <a16:colId xmlns:a16="http://schemas.microsoft.com/office/drawing/2014/main" xmlns="" val="2336852826"/>
                    </a:ext>
                  </a:extLst>
                </a:gridCol>
                <a:gridCol w="720676">
                  <a:extLst>
                    <a:ext uri="{9D8B030D-6E8A-4147-A177-3AD203B41FA5}">
                      <a16:colId xmlns:a16="http://schemas.microsoft.com/office/drawing/2014/main" xmlns="" val="2251932013"/>
                    </a:ext>
                  </a:extLst>
                </a:gridCol>
                <a:gridCol w="1177734">
                  <a:extLst>
                    <a:ext uri="{9D8B030D-6E8A-4147-A177-3AD203B41FA5}">
                      <a16:colId xmlns:a16="http://schemas.microsoft.com/office/drawing/2014/main" xmlns="" val="3023192221"/>
                    </a:ext>
                  </a:extLst>
                </a:gridCol>
                <a:gridCol w="2266334">
                  <a:extLst>
                    <a:ext uri="{9D8B030D-6E8A-4147-A177-3AD203B41FA5}">
                      <a16:colId xmlns:a16="http://schemas.microsoft.com/office/drawing/2014/main" xmlns="" val="377068253"/>
                    </a:ext>
                  </a:extLst>
                </a:gridCol>
                <a:gridCol w="906534">
                  <a:extLst>
                    <a:ext uri="{9D8B030D-6E8A-4147-A177-3AD203B41FA5}">
                      <a16:colId xmlns:a16="http://schemas.microsoft.com/office/drawing/2014/main" xmlns="" val="3023474382"/>
                    </a:ext>
                  </a:extLst>
                </a:gridCol>
              </a:tblGrid>
              <a:tr h="5792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</a:p>
                  </a:txBody>
                  <a:tcPr marL="91452" marR="91452"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0110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 = 0111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59170715"/>
                  </a:ext>
                </a:extLst>
              </a:tr>
              <a:tr h="5792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1010</a:t>
                      </a:r>
                    </a:p>
                  </a:txBody>
                  <a:tcPr marL="91452" marR="91452"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0101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 = 0110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8581590"/>
                  </a:ext>
                </a:extLst>
              </a:tr>
              <a:tr h="5792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1011</a:t>
                      </a:r>
                    </a:p>
                  </a:txBody>
                  <a:tcPr marL="91452" marR="91452"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0100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 = 0101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73930973"/>
                  </a:ext>
                </a:extLst>
              </a:tr>
              <a:tr h="5792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1100</a:t>
                      </a:r>
                    </a:p>
                  </a:txBody>
                  <a:tcPr marL="91452" marR="91452"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0011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 = 0100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3046855"/>
                  </a:ext>
                </a:extLst>
              </a:tr>
              <a:tr h="5792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1101</a:t>
                      </a:r>
                    </a:p>
                  </a:txBody>
                  <a:tcPr marL="91452" marR="91452"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0010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 = 0011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87518515"/>
                  </a:ext>
                </a:extLst>
              </a:tr>
              <a:tr h="5792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1110</a:t>
                      </a:r>
                    </a:p>
                  </a:txBody>
                  <a:tcPr marL="91452" marR="91452"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0001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 = 0010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60498374"/>
                  </a:ext>
                </a:extLst>
              </a:tr>
              <a:tr h="5792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1111</a:t>
                      </a:r>
                    </a:p>
                  </a:txBody>
                  <a:tcPr marL="91452" marR="91452"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 = 0001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2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1452" marR="91452"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76253152"/>
                  </a:ext>
                </a:extLst>
              </a:tr>
            </a:tbl>
          </a:graphicData>
        </a:graphic>
      </p:graphicFrame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In 4-bit arithmetic (II)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4288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Addition and Subtraction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1D5D995-D22B-4C3F-A657-E89CAFF34E54}"/>
              </a:ext>
            </a:extLst>
          </p:cNvPr>
          <p:cNvSpPr/>
          <p:nvPr/>
        </p:nvSpPr>
        <p:spPr>
          <a:xfrm>
            <a:off x="1730326" y="1379538"/>
            <a:ext cx="8396337" cy="42319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556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Let us consider the magnitude of the two numbers as A and B. </a:t>
            </a:r>
          </a:p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altLang="en-US" sz="2400" dirty="0"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when the  signed numbers are added or subtracted, there are eight different conditions to consider, depending on the sign of the numbers and the operation performed. </a:t>
            </a:r>
          </a:p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altLang="en-US" sz="2400" dirty="0"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These conditions are listed in the first  column of the table </a:t>
            </a:r>
            <a:r>
              <a:rPr lang="en-US" altLang="en-US" sz="2400" dirty="0" smtClean="0">
                <a:ea typeface="Trebuchet MS" panose="020B0603020202020204" pitchFamily="34" charset="0"/>
                <a:cs typeface="Trebuchet MS" panose="020B0603020202020204" pitchFamily="34" charset="0"/>
              </a:rPr>
              <a:t>below </a:t>
            </a:r>
            <a:r>
              <a:rPr lang="en-US" altLang="en-US" i="1" dirty="0" smtClean="0">
                <a:solidFill>
                  <a:srgbClr val="FF0000"/>
                </a:solidFill>
                <a:ea typeface="Trebuchet MS" panose="020B0603020202020204" pitchFamily="34" charset="0"/>
                <a:cs typeface="Trebuchet MS" panose="020B0603020202020204" pitchFamily="34" charset="0"/>
              </a:rPr>
              <a:t>(next slide)</a:t>
            </a:r>
            <a:r>
              <a:rPr lang="en-US" altLang="en-US" dirty="0" smtClean="0">
                <a:ea typeface="Trebuchet MS" panose="020B0603020202020204" pitchFamily="34" charset="0"/>
                <a:cs typeface="Trebuchet MS" panose="020B0603020202020204" pitchFamily="34" charset="0"/>
              </a:rPr>
              <a:t>.</a:t>
            </a:r>
            <a:r>
              <a:rPr lang="en-US" altLang="en-US" sz="2400" dirty="0" smtClean="0"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endParaRPr lang="en-US" altLang="en-US" sz="2400" dirty="0"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altLang="en-US" sz="2400" dirty="0"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The other column in the table show the actual  operation to be performed with the magnitude of the numbers.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4288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Addition and Subtraction…</a:t>
            </a:r>
          </a:p>
        </p:txBody>
      </p:sp>
      <p:graphicFrame>
        <p:nvGraphicFramePr>
          <p:cNvPr id="4" name="Group 323">
            <a:extLst>
              <a:ext uri="{FF2B5EF4-FFF2-40B4-BE49-F238E27FC236}">
                <a16:creationId xmlns:a16="http://schemas.microsoft.com/office/drawing/2014/main" xmlns="" id="{34567971-7CED-4949-8176-3F5DF81914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7775300"/>
              </p:ext>
            </p:extLst>
          </p:nvPr>
        </p:nvGraphicFramePr>
        <p:xfrm>
          <a:off x="2247900" y="1228725"/>
          <a:ext cx="7696200" cy="3962400"/>
        </p:xfrm>
        <a:graphic>
          <a:graphicData uri="http://schemas.openxmlformats.org/drawingml/2006/table">
            <a:tbl>
              <a:tblPr/>
              <a:tblGrid>
                <a:gridCol w="1449388">
                  <a:extLst>
                    <a:ext uri="{9D8B030D-6E8A-4147-A177-3AD203B41FA5}">
                      <a16:colId xmlns:a16="http://schemas.microsoft.com/office/drawing/2014/main" xmlns="" val="2242933684"/>
                    </a:ext>
                  </a:extLst>
                </a:gridCol>
                <a:gridCol w="1525767">
                  <a:extLst>
                    <a:ext uri="{9D8B030D-6E8A-4147-A177-3AD203B41FA5}">
                      <a16:colId xmlns:a16="http://schemas.microsoft.com/office/drawing/2014/main" xmlns="" val="3481322634"/>
                    </a:ext>
                  </a:extLst>
                </a:gridCol>
                <a:gridCol w="1468258">
                  <a:extLst>
                    <a:ext uri="{9D8B030D-6E8A-4147-A177-3AD203B41FA5}">
                      <a16:colId xmlns:a16="http://schemas.microsoft.com/office/drawing/2014/main" xmlns="" val="28278420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3704343819"/>
                    </a:ext>
                  </a:extLst>
                </a:gridCol>
                <a:gridCol w="1627187">
                  <a:extLst>
                    <a:ext uri="{9D8B030D-6E8A-4147-A177-3AD203B41FA5}">
                      <a16:colId xmlns:a16="http://schemas.microsoft.com/office/drawing/2014/main" xmlns="" val="3409657396"/>
                    </a:ext>
                  </a:extLst>
                </a:gridCol>
              </a:tblGrid>
              <a:tr h="273050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Operation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ADD Magnitudes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SUBTRACT Magnitudes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37505745"/>
                  </a:ext>
                </a:extLst>
              </a:tr>
              <a:tr h="361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&gt; B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&lt; B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 = B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18153185"/>
                  </a:ext>
                </a:extLst>
              </a:tr>
              <a:tr h="2746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(+A) + (+B)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 (A + B)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47097780"/>
                  </a:ext>
                </a:extLst>
              </a:tr>
              <a:tr h="2746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(+A) + (-B)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 (A – B 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– (B – A 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 (A – B )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78843394"/>
                  </a:ext>
                </a:extLst>
              </a:tr>
              <a:tr h="2746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(-A) + (+B)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– (A – B 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 (B – A 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 (A – B 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03857595"/>
                  </a:ext>
                </a:extLst>
              </a:tr>
              <a:tr h="2746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(-A) + (-B)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– ( A + B)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59406152"/>
                  </a:ext>
                </a:extLst>
              </a:tr>
              <a:tr h="2746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(+A) - (+B)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 (A – B 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– (B – A 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 (A – B 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97603734"/>
                  </a:ext>
                </a:extLst>
              </a:tr>
              <a:tr h="2746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(+A) - (-B)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 (A + B)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3738683"/>
                  </a:ext>
                </a:extLst>
              </a:tr>
              <a:tr h="2746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(-A) - (+B)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– ( A + B)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94800305"/>
                  </a:ext>
                </a:extLst>
              </a:tr>
              <a:tr h="2746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(-A) - (-B)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3335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752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209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667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124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581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– (A – B 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 (B – A 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5621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1981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4384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895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352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10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+ (A – B 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3573683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19A8772D-35AE-4608-B1F8-167424ECCBD1}"/>
              </a:ext>
            </a:extLst>
          </p:cNvPr>
          <p:cNvSpPr/>
          <p:nvPr/>
        </p:nvSpPr>
        <p:spPr>
          <a:xfrm>
            <a:off x="2236789" y="5629276"/>
            <a:ext cx="7870825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algn="just">
              <a:spcBef>
                <a:spcPts val="994"/>
              </a:spcBef>
              <a:defRPr/>
            </a:pPr>
            <a:r>
              <a:rPr lang="en-US" spc="-5" dirty="0">
                <a:latin typeface="Trebuchet MS"/>
                <a:cs typeface="Trebuchet MS"/>
              </a:rPr>
              <a:t>The </a:t>
            </a:r>
            <a:r>
              <a:rPr lang="en-US" dirty="0">
                <a:latin typeface="Trebuchet MS"/>
                <a:cs typeface="Trebuchet MS"/>
              </a:rPr>
              <a:t>last </a:t>
            </a:r>
            <a:r>
              <a:rPr lang="en-US" spc="-5" dirty="0">
                <a:latin typeface="Trebuchet MS"/>
                <a:cs typeface="Trebuchet MS"/>
              </a:rPr>
              <a:t>column is required to prevent negative </a:t>
            </a:r>
            <a:r>
              <a:rPr lang="en-US" dirty="0">
                <a:latin typeface="Trebuchet MS"/>
                <a:cs typeface="Trebuchet MS"/>
              </a:rPr>
              <a:t>zero. </a:t>
            </a:r>
            <a:r>
              <a:rPr lang="en-US" spc="-5" dirty="0">
                <a:latin typeface="Trebuchet MS"/>
                <a:cs typeface="Trebuchet MS"/>
              </a:rPr>
              <a:t>In other words</a:t>
            </a:r>
            <a:r>
              <a:rPr lang="en-US" spc="-10" dirty="0">
                <a:latin typeface="Trebuchet MS"/>
                <a:cs typeface="Trebuchet MS"/>
              </a:rPr>
              <a:t>, when </a:t>
            </a:r>
            <a:r>
              <a:rPr lang="en-US" spc="-5" dirty="0">
                <a:latin typeface="Trebuchet MS"/>
                <a:cs typeface="Trebuchet MS"/>
              </a:rPr>
              <a:t>two equal </a:t>
            </a:r>
            <a:r>
              <a:rPr lang="en-US" spc="-10" dirty="0">
                <a:latin typeface="Trebuchet MS"/>
                <a:cs typeface="Trebuchet MS"/>
              </a:rPr>
              <a:t>numbers </a:t>
            </a:r>
            <a:r>
              <a:rPr lang="en-US" spc="-5" dirty="0">
                <a:latin typeface="Trebuchet MS"/>
                <a:cs typeface="Trebuchet MS"/>
              </a:rPr>
              <a:t>are subtracted, the </a:t>
            </a:r>
            <a:r>
              <a:rPr lang="en-US" dirty="0">
                <a:latin typeface="Trebuchet MS"/>
                <a:cs typeface="Trebuchet MS"/>
              </a:rPr>
              <a:t>result </a:t>
            </a:r>
            <a:r>
              <a:rPr lang="en-US" spc="-5" dirty="0">
                <a:latin typeface="Trebuchet MS"/>
                <a:cs typeface="Trebuchet MS"/>
              </a:rPr>
              <a:t>should be +0 not</a:t>
            </a:r>
            <a:r>
              <a:rPr lang="en-US" spc="190" dirty="0">
                <a:latin typeface="Trebuchet MS"/>
                <a:cs typeface="Trebuchet MS"/>
              </a:rPr>
              <a:t> </a:t>
            </a:r>
            <a:r>
              <a:rPr lang="en-US" spc="-5" dirty="0">
                <a:latin typeface="Trebuchet MS"/>
                <a:cs typeface="Trebuchet MS"/>
              </a:rPr>
              <a:t>-0.</a:t>
            </a:r>
            <a:endParaRPr lang="en-US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4288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Addition and Subtraction…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7202FA2-F6FC-4A86-9EC5-A144D4863F57}"/>
              </a:ext>
            </a:extLst>
          </p:cNvPr>
          <p:cNvSpPr/>
          <p:nvPr/>
        </p:nvSpPr>
        <p:spPr>
          <a:xfrm>
            <a:off x="2209800" y="1774826"/>
            <a:ext cx="8059738" cy="2195513"/>
          </a:xfrm>
          <a:prstGeom prst="rect">
            <a:avLst/>
          </a:prstGeom>
        </p:spPr>
        <p:txBody>
          <a:bodyPr>
            <a:spAutoFit/>
          </a:bodyPr>
          <a:lstStyle>
            <a:lvl1pPr marL="1270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1000"/>
              </a:spcBef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Addition </a:t>
            </a:r>
            <a:r>
              <a:rPr lang="en-US" altLang="en-US" sz="2400" dirty="0" smtClean="0">
                <a:ea typeface="Trebuchet MS" panose="020B0603020202020204" pitchFamily="34" charset="0"/>
                <a:cs typeface="Trebuchet MS" panose="020B0603020202020204" pitchFamily="34" charset="0"/>
              </a:rPr>
              <a:t>(subtraction</a:t>
            </a: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) algorithm: </a:t>
            </a:r>
          </a:p>
          <a:p>
            <a:pPr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When the signs of A and B are identical (different), add the two magnitude and attach the sign of A to the result. </a:t>
            </a:r>
          </a:p>
          <a:p>
            <a:pPr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When the sign of A and B are different (identical), compare the  magnitudes.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4288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Addition and Subtraction…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7202FA2-F6FC-4A86-9EC5-A144D4863F57}"/>
              </a:ext>
            </a:extLst>
          </p:cNvPr>
          <p:cNvSpPr/>
          <p:nvPr/>
        </p:nvSpPr>
        <p:spPr>
          <a:xfrm>
            <a:off x="1194840" y="1041401"/>
            <a:ext cx="4037012" cy="461962"/>
          </a:xfrm>
          <a:prstGeom prst="rect">
            <a:avLst/>
          </a:prstGeom>
        </p:spPr>
        <p:txBody>
          <a:bodyPr>
            <a:spAutoFit/>
          </a:bodyPr>
          <a:lstStyle>
            <a:lvl1pPr marL="1270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1000"/>
              </a:spcBef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Hardware Implementation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B545353C-02A1-4648-B5A3-B7EA00999DBF}"/>
              </a:ext>
            </a:extLst>
          </p:cNvPr>
          <p:cNvSpPr txBox="1"/>
          <p:nvPr/>
        </p:nvSpPr>
        <p:spPr>
          <a:xfrm>
            <a:off x="1607482" y="1781969"/>
            <a:ext cx="8860821" cy="3005951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355600" indent="-342900">
              <a:tabLst>
                <a:tab pos="428625" algn="l"/>
                <a:tab pos="2527300" algn="l"/>
                <a:tab pos="60483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428625" algn="l"/>
                <a:tab pos="2527300" algn="l"/>
                <a:tab pos="60483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428625" algn="l"/>
                <a:tab pos="2527300" algn="l"/>
                <a:tab pos="60483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428625" algn="l"/>
                <a:tab pos="2527300" algn="l"/>
                <a:tab pos="60483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428625" algn="l"/>
                <a:tab pos="2527300" algn="l"/>
                <a:tab pos="60483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" algn="l"/>
                <a:tab pos="2527300" algn="l"/>
                <a:tab pos="60483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" algn="l"/>
                <a:tab pos="2527300" algn="l"/>
                <a:tab pos="60483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" algn="l"/>
                <a:tab pos="2527300" algn="l"/>
                <a:tab pos="60483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" algn="l"/>
                <a:tab pos="2527300" algn="l"/>
                <a:tab pos="60483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To implement the two arithmetic operations with hardware, it is first required that the two numbers be stored in registers. </a:t>
            </a:r>
          </a:p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Let A and B be two registers that  hold the magnitude of the numbers, and A</a:t>
            </a:r>
            <a:r>
              <a:rPr lang="en-US" altLang="en-US" sz="2400" baseline="-21000" dirty="0">
                <a:ea typeface="Trebuchet MS" panose="020B0603020202020204" pitchFamily="34" charset="0"/>
                <a:cs typeface="Trebuchet MS" panose="020B0603020202020204" pitchFamily="34" charset="0"/>
              </a:rPr>
              <a:t>s </a:t>
            </a: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and </a:t>
            </a:r>
            <a:r>
              <a:rPr lang="en-US" altLang="en-US" sz="2400" dirty="0" err="1">
                <a:ea typeface="Trebuchet MS" panose="020B0603020202020204" pitchFamily="34" charset="0"/>
                <a:cs typeface="Trebuchet MS" panose="020B0603020202020204" pitchFamily="34" charset="0"/>
              </a:rPr>
              <a:t>B</a:t>
            </a:r>
            <a:r>
              <a:rPr lang="en-US" altLang="en-US" sz="2400" baseline="-21000" dirty="0" err="1">
                <a:ea typeface="Trebuchet MS" panose="020B0603020202020204" pitchFamily="34" charset="0"/>
                <a:cs typeface="Trebuchet MS" panose="020B0603020202020204" pitchFamily="34" charset="0"/>
              </a:rPr>
              <a:t>s</a:t>
            </a:r>
            <a:r>
              <a:rPr lang="en-US" altLang="en-US" sz="2400" baseline="-21000" dirty="0">
                <a:ea typeface="Trebuchet MS" panose="020B0603020202020204" pitchFamily="34" charset="0"/>
                <a:cs typeface="Trebuchet MS" panose="020B0603020202020204" pitchFamily="34" charset="0"/>
              </a:rPr>
              <a:t> </a:t>
            </a: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be two </a:t>
            </a:r>
            <a:r>
              <a:rPr lang="en-US" altLang="en-US" sz="2400" dirty="0" err="1">
                <a:ea typeface="Trebuchet MS" panose="020B0603020202020204" pitchFamily="34" charset="0"/>
                <a:cs typeface="Trebuchet MS" panose="020B0603020202020204" pitchFamily="34" charset="0"/>
              </a:rPr>
              <a:t>flipflops</a:t>
            </a: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 that hold the corresponding signs. </a:t>
            </a:r>
          </a:p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The results of the operation may be transferred to a third register however, a saving achieved if the result is transferred into A and  A</a:t>
            </a:r>
            <a:r>
              <a:rPr lang="en-US" altLang="en-US" sz="2400" baseline="-21000" dirty="0">
                <a:ea typeface="Trebuchet MS" panose="020B0603020202020204" pitchFamily="34" charset="0"/>
                <a:cs typeface="Trebuchet MS" panose="020B0603020202020204" pitchFamily="34" charset="0"/>
              </a:rPr>
              <a:t>s</a:t>
            </a: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. </a:t>
            </a:r>
          </a:p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Thus A and A</a:t>
            </a:r>
            <a:r>
              <a:rPr lang="en-US" altLang="en-US" sz="2400" baseline="-21000" dirty="0">
                <a:ea typeface="Trebuchet MS" panose="020B0603020202020204" pitchFamily="34" charset="0"/>
                <a:cs typeface="Trebuchet MS" panose="020B0603020202020204" pitchFamily="34" charset="0"/>
              </a:rPr>
              <a:t>s </a:t>
            </a: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together form an Accumulator register.</a:t>
            </a:r>
          </a:p>
        </p:txBody>
      </p:sp>
      <p:sp>
        <p:nvSpPr>
          <p:cNvPr id="31749" name="Rectangle 1">
            <a:extLst>
              <a:ext uri="{FF2B5EF4-FFF2-40B4-BE49-F238E27FC236}">
                <a16:creationId xmlns:a16="http://schemas.microsoft.com/office/drawing/2014/main" xmlns="" id="{7DD29469-7E0C-40A5-BD94-85D2AB773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644" y="5582964"/>
            <a:ext cx="8703659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2000" dirty="0">
                <a:solidFill>
                  <a:srgbClr val="FF0000"/>
                </a:solidFill>
              </a:rPr>
              <a:t>In a computer's central processing unit (CPU), the accumulator is a register in which intermediate arithmetic and logic results are stored.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4288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Addition and Subtraction…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7202FA2-F6FC-4A86-9EC5-A144D4863F57}"/>
              </a:ext>
            </a:extLst>
          </p:cNvPr>
          <p:cNvSpPr/>
          <p:nvPr/>
        </p:nvSpPr>
        <p:spPr>
          <a:xfrm>
            <a:off x="1047696" y="1316476"/>
            <a:ext cx="4037012" cy="461962"/>
          </a:xfrm>
          <a:prstGeom prst="rect">
            <a:avLst/>
          </a:prstGeom>
        </p:spPr>
        <p:txBody>
          <a:bodyPr>
            <a:spAutoFit/>
          </a:bodyPr>
          <a:lstStyle>
            <a:lvl1pPr marL="1270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84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1000"/>
              </a:spcBef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Hardware Implementation…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B545353C-02A1-4648-B5A3-B7EA00999DBF}"/>
              </a:ext>
            </a:extLst>
          </p:cNvPr>
          <p:cNvSpPr txBox="1"/>
          <p:nvPr/>
        </p:nvSpPr>
        <p:spPr>
          <a:xfrm>
            <a:off x="1350500" y="2103058"/>
            <a:ext cx="9243928" cy="3111108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355600" indent="-342900">
              <a:tabLst>
                <a:tab pos="10096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10096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10096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10096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10096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096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Consider now the hardware implementation of the algorithms above. </a:t>
            </a:r>
          </a:p>
          <a:p>
            <a:pPr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First, a  parallel adder is needed to perform the micro operation A+B. </a:t>
            </a:r>
          </a:p>
          <a:p>
            <a:pPr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Second,  comparator circuit is needed to establish if A&gt;B, A=B, or A&lt;B. </a:t>
            </a:r>
          </a:p>
          <a:p>
            <a:pPr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Third, two  parallel subtractor circuits are required to perform the micro operation A-B and B-A. </a:t>
            </a:r>
          </a:p>
          <a:p>
            <a:pPr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The sign relationship can be determined from an XOR gate with A</a:t>
            </a:r>
            <a:r>
              <a:rPr lang="en-US" altLang="en-US" sz="2400" baseline="-21000" dirty="0">
                <a:ea typeface="Trebuchet MS" panose="020B0603020202020204" pitchFamily="34" charset="0"/>
                <a:cs typeface="Trebuchet MS" panose="020B0603020202020204" pitchFamily="34" charset="0"/>
              </a:rPr>
              <a:t>s  </a:t>
            </a: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and B</a:t>
            </a:r>
            <a:r>
              <a:rPr lang="en-US" altLang="en-US" sz="2400" baseline="-21000" dirty="0">
                <a:ea typeface="Trebuchet MS" panose="020B0603020202020204" pitchFamily="34" charset="0"/>
                <a:cs typeface="Trebuchet MS" panose="020B0603020202020204" pitchFamily="34" charset="0"/>
              </a:rPr>
              <a:t>s</a:t>
            </a: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 as inputs.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4288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Addition and Subtraction…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7202FA2-F6FC-4A86-9EC5-A144D4863F57}"/>
              </a:ext>
            </a:extLst>
          </p:cNvPr>
          <p:cNvSpPr/>
          <p:nvPr/>
        </p:nvSpPr>
        <p:spPr>
          <a:xfrm>
            <a:off x="464233" y="5592496"/>
            <a:ext cx="11085341" cy="83612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55600" indent="-342900"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Trebuchet MS" panose="020B0603020202020204" pitchFamily="34" charset="0"/>
                <a:cs typeface="Trebuchet MS" panose="020B0603020202020204" pitchFamily="34" charset="0"/>
              </a:rPr>
              <a:t>The output carry is transferred to flip-flop E.</a:t>
            </a:r>
          </a:p>
          <a:p>
            <a:pPr marL="3556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Trebuchet MS" panose="020B0603020202020204" pitchFamily="34" charset="0"/>
                <a:cs typeface="Trebuchet MS" panose="020B0603020202020204" pitchFamily="34" charset="0"/>
              </a:rPr>
              <a:t>The complementor consists of exclusive-OR gates and the parallel adder consists of full adder circuit.</a:t>
            </a:r>
          </a:p>
        </p:txBody>
      </p:sp>
      <p:sp>
        <p:nvSpPr>
          <p:cNvPr id="33796" name="object 4">
            <a:extLst>
              <a:ext uri="{FF2B5EF4-FFF2-40B4-BE49-F238E27FC236}">
                <a16:creationId xmlns:a16="http://schemas.microsoft.com/office/drawing/2014/main" xmlns="" id="{0C240A28-BABF-46DD-B61D-34A92E890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176" y="1157288"/>
            <a:ext cx="8780463" cy="4398962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4288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Addition and Subtraction…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7202FA2-F6FC-4A86-9EC5-A144D4863F57}"/>
              </a:ext>
            </a:extLst>
          </p:cNvPr>
          <p:cNvSpPr/>
          <p:nvPr/>
        </p:nvSpPr>
        <p:spPr>
          <a:xfrm>
            <a:off x="541338" y="2876003"/>
            <a:ext cx="2366962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spcBef>
                <a:spcPts val="1100"/>
              </a:spcBef>
              <a:defRPr/>
            </a:pPr>
            <a:r>
              <a:rPr lang="en-US" dirty="0">
                <a:cs typeface="Trebuchet MS"/>
              </a:rPr>
              <a:t>Hardware Algorithm</a:t>
            </a:r>
          </a:p>
        </p:txBody>
      </p:sp>
      <p:sp>
        <p:nvSpPr>
          <p:cNvPr id="34820" name="object 3">
            <a:extLst>
              <a:ext uri="{FF2B5EF4-FFF2-40B4-BE49-F238E27FC236}">
                <a16:creationId xmlns:a16="http://schemas.microsoft.com/office/drawing/2014/main" xmlns="" id="{9A180B7B-0A4C-42C1-9D37-BC66A6FF4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995092"/>
            <a:ext cx="6088555" cy="5752549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4288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Addition and Subtraction…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xmlns="" id="{5D14660D-5EAD-400E-99CA-39B51ABFEB2F}"/>
              </a:ext>
            </a:extLst>
          </p:cNvPr>
          <p:cNvSpPr txBox="1"/>
          <p:nvPr/>
        </p:nvSpPr>
        <p:spPr>
          <a:xfrm>
            <a:off x="1119574" y="1379538"/>
            <a:ext cx="9968840" cy="3718967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355600" indent="-342900">
              <a:tabLst>
                <a:tab pos="2362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2362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2362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2362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2362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62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62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62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622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The two signs A</a:t>
            </a:r>
            <a:r>
              <a:rPr lang="en-US" altLang="en-US" sz="2400" baseline="-21000" dirty="0">
                <a:ea typeface="Trebuchet MS" panose="020B0603020202020204" pitchFamily="34" charset="0"/>
                <a:cs typeface="Trebuchet MS" panose="020B0603020202020204" pitchFamily="34" charset="0"/>
              </a:rPr>
              <a:t>s </a:t>
            </a: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and B</a:t>
            </a:r>
            <a:r>
              <a:rPr lang="en-US" altLang="en-US" sz="2400" baseline="-21000" dirty="0">
                <a:ea typeface="Trebuchet MS" panose="020B0603020202020204" pitchFamily="34" charset="0"/>
                <a:cs typeface="Trebuchet MS" panose="020B0603020202020204" pitchFamily="34" charset="0"/>
              </a:rPr>
              <a:t>s </a:t>
            </a: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are compared by an exclusive-OR gate.</a:t>
            </a:r>
          </a:p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altLang="en-US" sz="2400" dirty="0"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For an add operation, identical signs dictate that the magnitudes be added,  for subtract operation different signs dictate that the Magnitudes be added.  The magnitudes are added with a micro operation E A </a:t>
            </a:r>
            <a:r>
              <a:rPr lang="en-US" altLang="en-US" sz="2400" dirty="0">
                <a:ea typeface="Wingdings" panose="05000000000000000000" pitchFamily="2" charset="2"/>
                <a:cs typeface="Wingdings" panose="05000000000000000000" pitchFamily="2" charset="2"/>
              </a:rPr>
              <a:t>&lt;- </a:t>
            </a: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A+B. Where E A is a  register that combines E and 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400" dirty="0">
              <a:ea typeface="Trebuchet MS" panose="020B0603020202020204" pitchFamily="34" charset="0"/>
              <a:cs typeface="Trebuchet MS" panose="020B0603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/>
              <a:t>For A, 0 indicates that A &lt; B, for this case it is necessary to take the 2’s complement of the value in A. This operation can be done with one micro  operation A &lt;- Ā+1</a:t>
            </a:r>
            <a:r>
              <a:rPr lang="en-US" altLang="en-US" sz="2400" dirty="0" smtClean="0"/>
              <a:t>.</a:t>
            </a:r>
            <a:endParaRPr lang="en-US" altLang="en-US" sz="2400" dirty="0"/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xmlns="" id="{3D149390-3F02-4EEE-B52C-407F5E29F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574" y="5563967"/>
            <a:ext cx="9968839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dirty="0">
                <a:solidFill>
                  <a:srgbClr val="FF0000"/>
                </a:solidFill>
              </a:rPr>
              <a:t>However, we assume that A register as circuits for microoperations complement and increment, so the 2’s complement is obtain from these two  micro operations.</a:t>
            </a:r>
          </a:p>
          <a:p>
            <a:pPr algn="just"/>
            <a:r>
              <a:rPr lang="en-US" altLang="en-US" dirty="0">
                <a:solidFill>
                  <a:srgbClr val="FF0000"/>
                </a:solidFill>
              </a:rPr>
              <a:t>The value in AVF provides an overflow indication. The final value of E is immaterial.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4288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Addition and Subtraction…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xmlns="" id="{5D14660D-5EAD-400E-99CA-39B51ABFEB2F}"/>
              </a:ext>
            </a:extLst>
          </p:cNvPr>
          <p:cNvSpPr txBox="1"/>
          <p:nvPr/>
        </p:nvSpPr>
        <p:spPr>
          <a:xfrm>
            <a:off x="1250731" y="1987551"/>
            <a:ext cx="9680028" cy="2854325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355600" indent="-342900">
              <a:tabLst>
                <a:tab pos="3722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3722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3722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3722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3722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22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22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22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22688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The left most bit of binary number represents the sign bit; 0 for positive and 1  for negative. If the sign bit is 1, the entire number is represented in  2’s complement form.</a:t>
            </a:r>
          </a:p>
          <a:p>
            <a:pPr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The addition of two numbers in signed-2’s complement form consists of adding  the number with the sign bits treated the same as the other bits of the number. </a:t>
            </a:r>
          </a:p>
          <a:p>
            <a:pPr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Trebuchet MS" panose="020B0603020202020204" pitchFamily="34" charset="0"/>
                <a:cs typeface="Trebuchet MS" panose="020B0603020202020204" pitchFamily="34" charset="0"/>
              </a:rPr>
              <a:t>A carry out of the sign bit position is discarded .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xmlns="" id="{168856EB-F397-44DF-AE35-85DCC3C056D9}"/>
              </a:ext>
            </a:extLst>
          </p:cNvPr>
          <p:cNvSpPr txBox="1">
            <a:spLocks/>
          </p:cNvSpPr>
          <p:nvPr/>
        </p:nvSpPr>
        <p:spPr>
          <a:xfrm>
            <a:off x="1867995" y="1157288"/>
            <a:ext cx="8445500" cy="442912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800" dirty="0">
                <a:latin typeface="Calibri Light" panose="020F0302020204030204" pitchFamily="34" charset="0"/>
              </a:rPr>
              <a:t>Addition and Subtraction with signed 2’s complement data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4288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Addition and Subtraction…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xmlns="" id="{FF3D5858-122C-4E33-9676-2A7857C514B3}"/>
              </a:ext>
            </a:extLst>
          </p:cNvPr>
          <p:cNvSpPr txBox="1">
            <a:spLocks/>
          </p:cNvSpPr>
          <p:nvPr/>
        </p:nvSpPr>
        <p:spPr>
          <a:xfrm>
            <a:off x="1873250" y="1106488"/>
            <a:ext cx="8624888" cy="442912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800" dirty="0">
                <a:latin typeface="Calibri Light" panose="020F0302020204030204" pitchFamily="34" charset="0"/>
              </a:rPr>
              <a:t>Addition and Subtraction with signed 2’s complement data…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178F94F-4B3E-4448-8E5D-8CACE96B55DB}"/>
              </a:ext>
            </a:extLst>
          </p:cNvPr>
          <p:cNvSpPr/>
          <p:nvPr/>
        </p:nvSpPr>
        <p:spPr>
          <a:xfrm>
            <a:off x="893380" y="2249488"/>
            <a:ext cx="1006891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The subtraction consists of first taking the 2’s compliment of the subtrahend and  then adding it to the minuend.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When two numbers of n digits each are added and the sum occupies n+1 Digits, we say that an overflow occurred.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When the two carries are applied to an exclusive-OR gate, the overflow is detected when the output of the gate is equal to 1.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4288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Addition and Subtraction…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xmlns="" id="{FF3D5858-122C-4E33-9676-2A7857C514B3}"/>
              </a:ext>
            </a:extLst>
          </p:cNvPr>
          <p:cNvSpPr txBox="1">
            <a:spLocks/>
          </p:cNvSpPr>
          <p:nvPr/>
        </p:nvSpPr>
        <p:spPr>
          <a:xfrm>
            <a:off x="1873250" y="1106488"/>
            <a:ext cx="8624888" cy="442912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800" dirty="0">
                <a:latin typeface="Calibri Light" panose="020F0302020204030204" pitchFamily="34" charset="0"/>
              </a:rPr>
              <a:t>Addition and Subtraction with signed 2’s complement data…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41AAA08-CB31-4E04-B9E3-9424829B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32" y="1570358"/>
            <a:ext cx="8576136" cy="4776648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xmlns="" id="{2D438EE6-218F-406C-807F-B2E3DEA38C97}"/>
              </a:ext>
            </a:extLst>
          </p:cNvPr>
          <p:cNvSpPr txBox="1"/>
          <p:nvPr/>
        </p:nvSpPr>
        <p:spPr>
          <a:xfrm>
            <a:off x="1798936" y="5629955"/>
            <a:ext cx="8576135" cy="10996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98450" indent="-285750">
              <a:spcBef>
                <a:spcPts val="1095"/>
              </a:spcBef>
              <a:buFont typeface="Arial" panose="020B0604020202020204" pitchFamily="34" charset="0"/>
              <a:buChar char="•"/>
              <a:tabLst>
                <a:tab pos="354965" algn="l"/>
                <a:tab pos="3582670" algn="l"/>
              </a:tabLst>
            </a:pPr>
            <a:r>
              <a:rPr dirty="0">
                <a:latin typeface="Trebuchet MS"/>
                <a:cs typeface="Trebuchet MS"/>
              </a:rPr>
              <a:t>The </a:t>
            </a:r>
            <a:r>
              <a:rPr spc="-5" dirty="0">
                <a:latin typeface="Trebuchet MS"/>
                <a:cs typeface="Trebuchet MS"/>
              </a:rPr>
              <a:t>left most bit in AC</a:t>
            </a:r>
            <a:r>
              <a:rPr spc="-7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and </a:t>
            </a:r>
            <a:r>
              <a:rPr dirty="0">
                <a:latin typeface="Trebuchet MS"/>
                <a:cs typeface="Trebuchet MS"/>
              </a:rPr>
              <a:t>BR</a:t>
            </a:r>
            <a:r>
              <a:rPr lang="en-US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represents the </a:t>
            </a:r>
            <a:r>
              <a:rPr dirty="0">
                <a:latin typeface="Trebuchet MS"/>
                <a:cs typeface="Trebuchet MS"/>
              </a:rPr>
              <a:t>sign </a:t>
            </a:r>
            <a:r>
              <a:rPr spc="-5" dirty="0">
                <a:latin typeface="Trebuchet MS"/>
                <a:cs typeface="Trebuchet MS"/>
              </a:rPr>
              <a:t>bits of the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numbers</a:t>
            </a:r>
            <a:r>
              <a:rPr lang="en-US" spc="-5" dirty="0">
                <a:latin typeface="Trebuchet MS"/>
                <a:cs typeface="Trebuchet MS"/>
              </a:rPr>
              <a:t>.</a:t>
            </a:r>
            <a:endParaRPr dirty="0">
              <a:latin typeface="Trebuchet MS"/>
              <a:cs typeface="Trebuchet MS"/>
            </a:endParaRPr>
          </a:p>
          <a:p>
            <a:pPr marL="280988" marR="5080" indent="-268288"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280988" algn="l"/>
                <a:tab pos="3095625" algn="l"/>
              </a:tabLst>
            </a:pPr>
            <a:r>
              <a:rPr dirty="0">
                <a:latin typeface="Trebuchet MS"/>
                <a:cs typeface="Trebuchet MS"/>
              </a:rPr>
              <a:t>The </a:t>
            </a:r>
            <a:r>
              <a:rPr spc="-5" dirty="0">
                <a:latin typeface="Trebuchet MS"/>
                <a:cs typeface="Trebuchet MS"/>
              </a:rPr>
              <a:t>over flow</a:t>
            </a:r>
            <a:r>
              <a:rPr spc="4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flip-flops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V</a:t>
            </a:r>
            <a:r>
              <a:rPr lang="en-US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is </a:t>
            </a:r>
            <a:r>
              <a:rPr dirty="0">
                <a:latin typeface="Trebuchet MS"/>
                <a:cs typeface="Trebuchet MS"/>
              </a:rPr>
              <a:t>set </a:t>
            </a:r>
            <a:r>
              <a:rPr spc="-5" dirty="0">
                <a:latin typeface="Trebuchet MS"/>
                <a:cs typeface="Trebuchet MS"/>
              </a:rPr>
              <a:t>to </a:t>
            </a:r>
            <a:r>
              <a:rPr dirty="0">
                <a:latin typeface="Trebuchet MS"/>
                <a:cs typeface="Trebuchet MS"/>
              </a:rPr>
              <a:t>1 </a:t>
            </a:r>
            <a:r>
              <a:rPr spc="-5" dirty="0">
                <a:latin typeface="Trebuchet MS"/>
                <a:cs typeface="Trebuchet MS"/>
              </a:rPr>
              <a:t>if there is an </a:t>
            </a:r>
            <a:r>
              <a:rPr spc="-30" dirty="0">
                <a:latin typeface="Trebuchet MS"/>
                <a:cs typeface="Trebuchet MS"/>
              </a:rPr>
              <a:t>overflow. </a:t>
            </a:r>
            <a:r>
              <a:rPr dirty="0">
                <a:latin typeface="Trebuchet MS"/>
                <a:cs typeface="Trebuchet MS"/>
              </a:rPr>
              <a:t>The </a:t>
            </a:r>
            <a:r>
              <a:rPr spc="-5" dirty="0">
                <a:latin typeface="Trebuchet MS"/>
                <a:cs typeface="Trebuchet MS"/>
              </a:rPr>
              <a:t>output carry in this case is  discarded.</a:t>
            </a:r>
            <a:endParaRPr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113334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4" name="Rectangle 58">
            <a:extLst>
              <a:ext uri="{FF2B5EF4-FFF2-40B4-BE49-F238E27FC236}">
                <a16:creationId xmlns:a16="http://schemas.microsoft.com/office/drawing/2014/main" xmlns="" id="{109AF83F-4863-4104-930D-3A523335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4288"/>
            <a:ext cx="77724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defTabSz="685800">
              <a:lnSpc>
                <a:spcPct val="90000"/>
              </a:lnSpc>
              <a:defRPr/>
            </a:pPr>
            <a:r>
              <a:rPr lang="en-US" altLang="en-US" sz="3300" dirty="0">
                <a:latin typeface="+mj-lt"/>
                <a:ea typeface="+mj-ea"/>
                <a:cs typeface="+mj-cs"/>
              </a:rPr>
              <a:t>Addition and Subtraction…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xmlns="" id="{FF3D5858-122C-4E33-9676-2A7857C514B3}"/>
              </a:ext>
            </a:extLst>
          </p:cNvPr>
          <p:cNvSpPr txBox="1">
            <a:spLocks/>
          </p:cNvSpPr>
          <p:nvPr/>
        </p:nvSpPr>
        <p:spPr>
          <a:xfrm>
            <a:off x="1873250" y="1106488"/>
            <a:ext cx="8624888" cy="442912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800" dirty="0">
                <a:latin typeface="Calibri Light" panose="020F0302020204030204" pitchFamily="34" charset="0"/>
              </a:rPr>
              <a:t>Addition and Subtraction with signed 2’s complement data…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xmlns="" id="{13FC8474-3FC4-428F-8A23-C7B3AAE0E0D7}"/>
              </a:ext>
            </a:extLst>
          </p:cNvPr>
          <p:cNvSpPr/>
          <p:nvPr/>
        </p:nvSpPr>
        <p:spPr>
          <a:xfrm>
            <a:off x="2096147" y="1565156"/>
            <a:ext cx="7984529" cy="4573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xmlns="" id="{6BEC2074-AA27-4091-9C06-1EAD699A1183}"/>
              </a:ext>
            </a:extLst>
          </p:cNvPr>
          <p:cNvSpPr txBox="1"/>
          <p:nvPr/>
        </p:nvSpPr>
        <p:spPr>
          <a:xfrm>
            <a:off x="773724" y="6139000"/>
            <a:ext cx="106070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2700" algn="just">
              <a:spcBef>
                <a:spcPts val="100"/>
              </a:spcBef>
            </a:pPr>
            <a:r>
              <a:rPr sz="2000" dirty="0">
                <a:cs typeface="Trebuchet MS"/>
              </a:rPr>
              <a:t>The sum </a:t>
            </a:r>
            <a:r>
              <a:rPr sz="2000" spc="-5" dirty="0">
                <a:cs typeface="Trebuchet MS"/>
              </a:rPr>
              <a:t>is obtained by adding the </a:t>
            </a:r>
            <a:r>
              <a:rPr sz="2000" spc="-10" dirty="0">
                <a:cs typeface="Trebuchet MS"/>
              </a:rPr>
              <a:t>contents </a:t>
            </a:r>
            <a:r>
              <a:rPr sz="2000" spc="-5" dirty="0">
                <a:cs typeface="Trebuchet MS"/>
              </a:rPr>
              <a:t>of AC and </a:t>
            </a:r>
            <a:r>
              <a:rPr sz="2000" dirty="0">
                <a:cs typeface="Trebuchet MS"/>
              </a:rPr>
              <a:t>BR</a:t>
            </a:r>
            <a:r>
              <a:rPr lang="en-US" sz="2000" dirty="0">
                <a:cs typeface="Trebuchet MS"/>
              </a:rPr>
              <a:t> </a:t>
            </a:r>
            <a:r>
              <a:rPr sz="2000" dirty="0">
                <a:cs typeface="Trebuchet MS"/>
              </a:rPr>
              <a:t>(including </a:t>
            </a:r>
            <a:r>
              <a:rPr sz="2000" spc="-5" dirty="0">
                <a:cs typeface="Trebuchet MS"/>
              </a:rPr>
              <a:t>their </a:t>
            </a:r>
            <a:r>
              <a:rPr sz="2000" dirty="0">
                <a:cs typeface="Trebuchet MS"/>
              </a:rPr>
              <a:t>sign</a:t>
            </a:r>
            <a:r>
              <a:rPr lang="en-US" sz="2000" dirty="0">
                <a:cs typeface="Trebuchet MS"/>
              </a:rPr>
              <a:t> </a:t>
            </a:r>
            <a:r>
              <a:rPr sz="2000" spc="-5" dirty="0">
                <a:cs typeface="Trebuchet MS"/>
              </a:rPr>
              <a:t>bits).</a:t>
            </a:r>
            <a:r>
              <a:rPr sz="2000" spc="-160" dirty="0">
                <a:cs typeface="Trebuchet MS"/>
              </a:rPr>
              <a:t> </a:t>
            </a:r>
            <a:r>
              <a:rPr lang="en-US" sz="2000" spc="-160" dirty="0">
                <a:cs typeface="Trebuchet MS"/>
              </a:rPr>
              <a:t>The </a:t>
            </a:r>
            <a:r>
              <a:rPr sz="2000" spc="-10" dirty="0">
                <a:cs typeface="Trebuchet MS"/>
              </a:rPr>
              <a:t>overflow </a:t>
            </a:r>
            <a:r>
              <a:rPr sz="2000" spc="-5" dirty="0">
                <a:cs typeface="Trebuchet MS"/>
              </a:rPr>
              <a:t>bit </a:t>
            </a:r>
            <a:r>
              <a:rPr sz="2000" dirty="0">
                <a:cs typeface="Trebuchet MS"/>
              </a:rPr>
              <a:t>V </a:t>
            </a:r>
            <a:r>
              <a:rPr sz="2000" spc="-5" dirty="0">
                <a:cs typeface="Trebuchet MS"/>
              </a:rPr>
              <a:t>is </a:t>
            </a:r>
            <a:r>
              <a:rPr sz="2000" dirty="0">
                <a:cs typeface="Trebuchet MS"/>
              </a:rPr>
              <a:t>set </a:t>
            </a:r>
            <a:r>
              <a:rPr sz="2000" spc="-5" dirty="0">
                <a:cs typeface="Trebuchet MS"/>
              </a:rPr>
              <a:t>to </a:t>
            </a:r>
            <a:r>
              <a:rPr sz="2000" dirty="0">
                <a:cs typeface="Trebuchet MS"/>
              </a:rPr>
              <a:t>1 </a:t>
            </a:r>
            <a:r>
              <a:rPr sz="2000" spc="-5" dirty="0">
                <a:cs typeface="Trebuchet MS"/>
              </a:rPr>
              <a:t>if the </a:t>
            </a:r>
            <a:r>
              <a:rPr sz="2000" dirty="0">
                <a:cs typeface="Trebuchet MS"/>
              </a:rPr>
              <a:t>ex-OR of </a:t>
            </a:r>
            <a:r>
              <a:rPr sz="2000" spc="-5" dirty="0">
                <a:cs typeface="Trebuchet MS"/>
              </a:rPr>
              <a:t>the </a:t>
            </a:r>
            <a:r>
              <a:rPr sz="2000" dirty="0">
                <a:cs typeface="Trebuchet MS"/>
              </a:rPr>
              <a:t>last </a:t>
            </a:r>
            <a:r>
              <a:rPr sz="2000" spc="-5" dirty="0">
                <a:cs typeface="Trebuchet MS"/>
              </a:rPr>
              <a:t>two carries is</a:t>
            </a:r>
            <a:r>
              <a:rPr lang="en-US" sz="2000" spc="-5" dirty="0">
                <a:cs typeface="Trebuchet MS"/>
              </a:rPr>
              <a:t> 1</a:t>
            </a:r>
            <a:r>
              <a:rPr sz="2000" spc="-5" dirty="0">
                <a:cs typeface="Trebuchet MS"/>
              </a:rPr>
              <a:t>,</a:t>
            </a:r>
            <a:r>
              <a:rPr lang="en-US" sz="2000" spc="-5" dirty="0">
                <a:cs typeface="Trebuchet MS"/>
              </a:rPr>
              <a:t> </a:t>
            </a:r>
            <a:r>
              <a:rPr sz="2000" spc="-5" dirty="0">
                <a:cs typeface="Trebuchet MS"/>
              </a:rPr>
              <a:t>and it is cleared to </a:t>
            </a:r>
            <a:r>
              <a:rPr sz="2000" dirty="0">
                <a:cs typeface="Trebuchet MS"/>
              </a:rPr>
              <a:t>0 </a:t>
            </a:r>
            <a:r>
              <a:rPr sz="2000" spc="-5" dirty="0">
                <a:cs typeface="Trebuchet MS"/>
              </a:rPr>
              <a:t>otherwise.</a:t>
            </a:r>
            <a:endParaRPr sz="2000" dirty="0"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275496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1810</Words>
  <Application>Microsoft Office PowerPoint</Application>
  <PresentationFormat>Widescreen</PresentationFormat>
  <Paragraphs>382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51" baseType="lpstr">
      <vt:lpstr>Arial Unicode MS</vt:lpstr>
      <vt:lpstr>Arial</vt:lpstr>
      <vt:lpstr>Arial Black</vt:lpstr>
      <vt:lpstr>Arial Narrow</vt:lpstr>
      <vt:lpstr>Arial, Helvetica, sans-serif</vt:lpstr>
      <vt:lpstr>Calibri</vt:lpstr>
      <vt:lpstr>Calibri Light</vt:lpstr>
      <vt:lpstr>Courier New</vt:lpstr>
      <vt:lpstr>Google Sans</vt:lpstr>
      <vt:lpstr>Helvetica</vt:lpstr>
      <vt:lpstr>Symbol</vt:lpstr>
      <vt:lpstr>Times New Roman</vt:lpstr>
      <vt:lpstr>Trebuchet MS</vt:lpstr>
      <vt:lpstr>Wingdings</vt:lpstr>
      <vt:lpstr>Office Theme</vt:lpstr>
      <vt:lpstr>Microprocessor and Computer Architecture</vt:lpstr>
      <vt:lpstr>Microprocessor Organization</vt:lpstr>
      <vt:lpstr>Microprocessor Organization</vt:lpstr>
      <vt:lpstr>Microprocessor Organization</vt:lpstr>
      <vt:lpstr>Microprocessor Organization</vt:lpstr>
      <vt:lpstr>Microprocessor Organization</vt:lpstr>
      <vt:lpstr>Microprocessor Organization</vt:lpstr>
      <vt:lpstr>Microprocessor Organization</vt:lpstr>
      <vt:lpstr>Computer Arithmetic</vt:lpstr>
      <vt:lpstr>Chapter Organization</vt:lpstr>
      <vt:lpstr>General concept</vt:lpstr>
      <vt:lpstr>Realization with adders</vt:lpstr>
      <vt:lpstr>Observations</vt:lpstr>
      <vt:lpstr>Signed  and unsigned additions</vt:lpstr>
      <vt:lpstr>Examples (using 5-bit signed numbers)</vt:lpstr>
      <vt:lpstr>Signed  and unsigned additions</vt:lpstr>
      <vt:lpstr>Overflow handling (I)</vt:lpstr>
      <vt:lpstr>Overflow handling (II)</vt:lpstr>
      <vt:lpstr>Example</vt:lpstr>
      <vt:lpstr>Overflow handling (III)</vt:lpstr>
      <vt:lpstr>Subtraction</vt:lpstr>
      <vt:lpstr>Negating a number</vt:lpstr>
      <vt:lpstr>In 4-bit arithmetic (I)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Microprocessor and Computer Architecture</dc:title>
  <dc:creator>Tanmay Bhowmik</dc:creator>
  <cp:lastModifiedBy>Amit Singh</cp:lastModifiedBy>
  <cp:revision>17</cp:revision>
  <dcterms:created xsi:type="dcterms:W3CDTF">2019-07-24T15:36:29Z</dcterms:created>
  <dcterms:modified xsi:type="dcterms:W3CDTF">2026-02-11T07:21:28Z</dcterms:modified>
</cp:coreProperties>
</file>