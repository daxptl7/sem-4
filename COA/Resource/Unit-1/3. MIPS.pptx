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60" r:id="rId5"/>
    <p:sldId id="267" r:id="rId6"/>
    <p:sldId id="303" r:id="rId7"/>
    <p:sldId id="304" r:id="rId8"/>
    <p:sldId id="305" r:id="rId9"/>
    <p:sldId id="306" r:id="rId10"/>
    <p:sldId id="320" r:id="rId11"/>
    <p:sldId id="321" r:id="rId12"/>
    <p:sldId id="307" r:id="rId13"/>
    <p:sldId id="308" r:id="rId14"/>
    <p:sldId id="317" r:id="rId15"/>
    <p:sldId id="318" r:id="rId16"/>
    <p:sldId id="309" r:id="rId17"/>
    <p:sldId id="314" r:id="rId18"/>
    <p:sldId id="315" r:id="rId19"/>
    <p:sldId id="316" r:id="rId20"/>
    <p:sldId id="319" r:id="rId21"/>
    <p:sldId id="32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18" autoAdjust="0"/>
  </p:normalViewPr>
  <p:slideViewPr>
    <p:cSldViewPr snapToGrid="0">
      <p:cViewPr varScale="1">
        <p:scale>
          <a:sx n="91" d="100"/>
          <a:sy n="91" d="100"/>
        </p:scale>
        <p:origin x="10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E54DA-0987-42E8-9D6E-39A9CB582C2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1FAE-22C0-4A1C-BF79-575A20BDA0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742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E54DA-0987-42E8-9D6E-39A9CB582C2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1FAE-22C0-4A1C-BF79-575A20BDA0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493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E54DA-0987-42E8-9D6E-39A9CB582C2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1FAE-22C0-4A1C-BF79-575A20BDA0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921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E54DA-0987-42E8-9D6E-39A9CB582C2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1FAE-22C0-4A1C-BF79-575A20BDA0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091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E54DA-0987-42E8-9D6E-39A9CB582C2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1FAE-22C0-4A1C-BF79-575A20BDA0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961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E54DA-0987-42E8-9D6E-39A9CB582C2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1FAE-22C0-4A1C-BF79-575A20BDA0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29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E54DA-0987-42E8-9D6E-39A9CB582C2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1FAE-22C0-4A1C-BF79-575A20BDA0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65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E54DA-0987-42E8-9D6E-39A9CB582C2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1FAE-22C0-4A1C-BF79-575A20BDA0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E54DA-0987-42E8-9D6E-39A9CB582C2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1FAE-22C0-4A1C-BF79-575A20BDA0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099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E54DA-0987-42E8-9D6E-39A9CB582C2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1FAE-22C0-4A1C-BF79-575A20BDA0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15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E54DA-0987-42E8-9D6E-39A9CB582C2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1FAE-22C0-4A1C-BF79-575A20BDA0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385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E54DA-0987-42E8-9D6E-39A9CB582C2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D1FAE-22C0-4A1C-BF79-575A20BDA0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209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4510" y="2289011"/>
            <a:ext cx="9144000" cy="2387600"/>
          </a:xfrm>
        </p:spPr>
        <p:txBody>
          <a:bodyPr/>
          <a:lstStyle/>
          <a:p>
            <a:r>
              <a:rPr lang="en-IN" dirty="0"/>
              <a:t>Instruction Set Architecture, Assembly Code</a:t>
            </a:r>
          </a:p>
        </p:txBody>
      </p:sp>
    </p:spTree>
    <p:extLst>
      <p:ext uri="{BB962C8B-B14F-4D97-AF65-F5344CB8AC3E}">
        <p14:creationId xmlns:p14="http://schemas.microsoft.com/office/powerpoint/2010/main" val="174396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0449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/>
              <a:t>Machine language:</a:t>
            </a:r>
          </a:p>
          <a:p>
            <a:pPr lvl="1"/>
            <a:r>
              <a:rPr lang="en-IN" dirty="0"/>
              <a:t>registers store collections of bits</a:t>
            </a:r>
          </a:p>
          <a:p>
            <a:pPr lvl="1"/>
            <a:r>
              <a:rPr lang="en-IN" dirty="0"/>
              <a:t>all data and instructions must be encoded as collections of bits (</a:t>
            </a:r>
            <a:r>
              <a:rPr lang="en-IN" i="1" dirty="0"/>
              <a:t>binary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bits are represented as electrical charges (more or less)</a:t>
            </a:r>
          </a:p>
          <a:p>
            <a:pPr lvl="1"/>
            <a:r>
              <a:rPr lang="en-IN" dirty="0"/>
              <a:t>control logic and arithmetic operations are implemented as circuits, which are driven by the movement of electrical charges</a:t>
            </a:r>
          </a:p>
          <a:p>
            <a:pPr lvl="1"/>
            <a:r>
              <a:rPr lang="en-IN" dirty="0"/>
              <a:t>so, the instructions directly manipulate the underlying hardware </a:t>
            </a:r>
          </a:p>
          <a:p>
            <a:r>
              <a:rPr lang="en-IN" dirty="0"/>
              <a:t>The collection of all valid binary instructions is known as the </a:t>
            </a:r>
            <a:r>
              <a:rPr lang="en-IN" i="1" dirty="0"/>
              <a:t>machine language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15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Abstraction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48267" y="2054578"/>
            <a:ext cx="3081866" cy="1941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IN" dirty="0"/>
              <a:t>CPU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0179" y="2596444"/>
            <a:ext cx="451554" cy="11627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PC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645" y="2596444"/>
            <a:ext cx="564444" cy="11627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ALU</a:t>
            </a:r>
          </a:p>
        </p:txBody>
      </p:sp>
      <p:sp>
        <p:nvSpPr>
          <p:cNvPr id="7" name="Rectangle 6"/>
          <p:cNvSpPr/>
          <p:nvPr/>
        </p:nvSpPr>
        <p:spPr>
          <a:xfrm>
            <a:off x="2500491" y="2596444"/>
            <a:ext cx="1349020" cy="4854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Register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500491" y="3203045"/>
            <a:ext cx="1349020" cy="4854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Condition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0" y="2054578"/>
            <a:ext cx="2020711" cy="1941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IN" dirty="0"/>
              <a:t>Memory</a:t>
            </a:r>
          </a:p>
          <a:p>
            <a:pPr algn="ctr"/>
            <a:r>
              <a:rPr lang="en-IN" dirty="0"/>
              <a:t>Code +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07028" y="2965978"/>
            <a:ext cx="798654" cy="79322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Stack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030133" y="2395959"/>
            <a:ext cx="20658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030133" y="3081867"/>
            <a:ext cx="206586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030132" y="3688468"/>
            <a:ext cx="2065867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37278" y="2026627"/>
            <a:ext cx="933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Address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0877" y="2704746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270" y="3303803"/>
            <a:ext cx="1201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Instruction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267" y="4642505"/>
            <a:ext cx="65487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PC- Program counter</a:t>
            </a:r>
          </a:p>
          <a:p>
            <a:r>
              <a:rPr lang="en-IN" dirty="0"/>
              <a:t>	PC point to next instruction</a:t>
            </a:r>
          </a:p>
          <a:p>
            <a:endParaRPr lang="en-IN" dirty="0"/>
          </a:p>
          <a:p>
            <a:r>
              <a:rPr lang="en-IN" dirty="0"/>
              <a:t>Condition codes- helps in taking decision such as condition and loop </a:t>
            </a:r>
          </a:p>
        </p:txBody>
      </p:sp>
    </p:spTree>
    <p:extLst>
      <p:ext uri="{BB962C8B-B14F-4D97-AF65-F5344CB8AC3E}">
        <p14:creationId xmlns:p14="http://schemas.microsoft.com/office/powerpoint/2010/main" val="4011542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instruction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MIPS (</a:t>
            </a:r>
            <a:r>
              <a:rPr lang="en-US" dirty="0"/>
              <a:t>Microprocessor without Interlocked Pipeline Stages</a:t>
            </a:r>
            <a:r>
              <a:rPr lang="en-IN" dirty="0" smtClean="0"/>
              <a:t>)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FF0000"/>
                </a:solidFill>
              </a:rPr>
              <a:t>Microprocessor without Interlocked Pipeline Stages (MIPS) refers to a pioneering RISC processor architecture known for its simplicity and high performance, where the "MIPS" acronym highlights its key design choice: the hardware doesn't automatically handle data dependencies (hazards), instead leaving that optimization to the compiler to insert NOPs (No-Operations) or rearrange instructions, reducing hardware complexity and enabling faster clock speeds by avoiding hardware </a:t>
            </a:r>
            <a:r>
              <a:rPr lang="en-US" sz="2000" dirty="0" smtClean="0">
                <a:solidFill>
                  <a:srgbClr val="FF0000"/>
                </a:solidFill>
              </a:rPr>
              <a:t>stalls.</a:t>
            </a:r>
          </a:p>
          <a:p>
            <a:pPr marL="0" indent="0" algn="just">
              <a:buNone/>
            </a:pPr>
            <a:endParaRPr lang="en-IN" sz="2000" dirty="0">
              <a:solidFill>
                <a:srgbClr val="FF0000"/>
              </a:solidFill>
            </a:endParaRPr>
          </a:p>
          <a:p>
            <a:pPr lvl="1"/>
            <a:r>
              <a:rPr lang="en-IN" dirty="0"/>
              <a:t>Real and simple to understand</a:t>
            </a:r>
          </a:p>
          <a:p>
            <a:pPr lvl="1"/>
            <a:r>
              <a:rPr lang="en-IN" dirty="0"/>
              <a:t>Used by Sony play station, silicon graphics, NEC (National Electrical Code)</a:t>
            </a:r>
          </a:p>
        </p:txBody>
      </p:sp>
    </p:spTree>
    <p:extLst>
      <p:ext uri="{BB962C8B-B14F-4D97-AF65-F5344CB8AC3E}">
        <p14:creationId xmlns:p14="http://schemas.microsoft.com/office/powerpoint/2010/main" val="2427958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MIPS Memory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Bytes are nice, but most data items use larger "words"</a:t>
            </a:r>
          </a:p>
          <a:p>
            <a:r>
              <a:rPr lang="en-IN" dirty="0"/>
              <a:t>For MIPS, a </a:t>
            </a:r>
            <a:r>
              <a:rPr lang="en-IN" i="1" dirty="0"/>
              <a:t>word </a:t>
            </a:r>
            <a:r>
              <a:rPr lang="en-IN" dirty="0"/>
              <a:t>is 32 bits or 4 bytes.</a:t>
            </a:r>
          </a:p>
          <a:p>
            <a:r>
              <a:rPr lang="en-IN" dirty="0"/>
              <a:t>2</a:t>
            </a:r>
            <a:r>
              <a:rPr lang="en-IN" baseline="30000" dirty="0"/>
              <a:t>32</a:t>
            </a:r>
            <a:r>
              <a:rPr lang="en-IN" dirty="0"/>
              <a:t> bytes with byte addresses from 0 to 2</a:t>
            </a:r>
            <a:r>
              <a:rPr lang="en-IN" baseline="30000" dirty="0"/>
              <a:t>32</a:t>
            </a:r>
            <a:r>
              <a:rPr lang="en-IN" dirty="0"/>
              <a:t> - 1</a:t>
            </a:r>
          </a:p>
          <a:p>
            <a:r>
              <a:rPr lang="en-IN" dirty="0"/>
              <a:t>2</a:t>
            </a:r>
            <a:r>
              <a:rPr lang="en-IN" baseline="30000" dirty="0"/>
              <a:t>30</a:t>
            </a:r>
            <a:r>
              <a:rPr lang="en-IN" dirty="0"/>
              <a:t> words with byte addresses 0, 4, 8, ... 2</a:t>
            </a:r>
            <a:r>
              <a:rPr lang="en-IN" baseline="30000" dirty="0"/>
              <a:t>32</a:t>
            </a:r>
            <a:r>
              <a:rPr lang="en-IN" dirty="0"/>
              <a:t> - 4</a:t>
            </a:r>
          </a:p>
          <a:p>
            <a:r>
              <a:rPr lang="en-IN" dirty="0"/>
              <a:t>Words are </a:t>
            </a:r>
            <a:r>
              <a:rPr lang="en-IN" i="1" dirty="0"/>
              <a:t>aligned</a:t>
            </a:r>
            <a:r>
              <a:rPr lang="en-IN" dirty="0"/>
              <a:t>, that is, each has an address that is a multiple of 4.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256" y="4494049"/>
            <a:ext cx="6349462" cy="211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929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D5293-86D1-471F-8CE9-40B236200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822" y="253244"/>
            <a:ext cx="8969030" cy="63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31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ECBAEFA-3A1B-4B5E-B85E-CC5C96FE8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946" y="143282"/>
            <a:ext cx="9194216" cy="66693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7655" y="2813410"/>
            <a:ext cx="245637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 err="1">
                <a:solidFill>
                  <a:srgbClr val="C00000"/>
                </a:solidFill>
                <a:latin typeface="Arial Unicode MS" panose="020B0604020202020204" pitchFamily="34" charset="-128"/>
              </a:rPr>
              <a:t>slt</a:t>
            </a:r>
            <a:r>
              <a:rPr lang="en-US" altLang="en-US" sz="1200" dirty="0">
                <a:solidFill>
                  <a:srgbClr val="C00000"/>
                </a:solidFill>
                <a:latin typeface="Google Sans"/>
              </a:rPr>
              <a:t> (Set if Less Than)</a:t>
            </a:r>
            <a:r>
              <a:rPr lang="en-US" altLang="en-US" sz="1200" dirty="0">
                <a:solidFill>
                  <a:srgbClr val="C00000"/>
                </a:solidFill>
              </a:rPr>
              <a:t> </a:t>
            </a:r>
            <a:endParaRPr lang="en-US" altLang="en-US" sz="1200" dirty="0" smtClean="0">
              <a:solidFill>
                <a:srgbClr val="C0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 err="1">
                <a:solidFill>
                  <a:srgbClr val="C00000"/>
                </a:solidFill>
                <a:latin typeface="Arial" panose="020B0604020202020204" pitchFamily="34" charset="0"/>
              </a:rPr>
              <a:t>b</a:t>
            </a:r>
            <a:r>
              <a:rPr lang="en-US" altLang="en-US" sz="1200" dirty="0" err="1" smtClean="0">
                <a:solidFill>
                  <a:srgbClr val="C00000"/>
                </a:solidFill>
                <a:latin typeface="Arial" panose="020B0604020202020204" pitchFamily="34" charset="0"/>
              </a:rPr>
              <a:t>eq</a:t>
            </a:r>
            <a:r>
              <a:rPr lang="en-US" altLang="en-US" sz="1200" dirty="0" smtClean="0">
                <a:solidFill>
                  <a:srgbClr val="C00000"/>
                </a:solidFill>
                <a:latin typeface="Arial" panose="020B0604020202020204" pitchFamily="34" charset="0"/>
              </a:rPr>
              <a:t> (Branch 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</a:rPr>
              <a:t>if Not </a:t>
            </a:r>
            <a:r>
              <a:rPr lang="en-US" altLang="en-US" sz="1200" dirty="0" smtClean="0">
                <a:solidFill>
                  <a:srgbClr val="C00000"/>
                </a:solidFill>
                <a:latin typeface="Arial" panose="020B0604020202020204" pitchFamily="34" charset="0"/>
              </a:rPr>
              <a:t>Equal)</a:t>
            </a:r>
            <a:endParaRPr lang="en-US" altLang="en-US" sz="1200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 err="1">
                <a:solidFill>
                  <a:srgbClr val="C00000"/>
                </a:solidFill>
                <a:latin typeface="Arial" panose="020B0604020202020204" pitchFamily="34" charset="0"/>
              </a:rPr>
              <a:t>b</a:t>
            </a:r>
            <a:r>
              <a:rPr lang="en-US" altLang="en-US" sz="1200" dirty="0" err="1" smtClean="0">
                <a:solidFill>
                  <a:srgbClr val="C00000"/>
                </a:solidFill>
                <a:latin typeface="Arial" panose="020B0604020202020204" pitchFamily="34" charset="0"/>
              </a:rPr>
              <a:t>ne</a:t>
            </a:r>
            <a:r>
              <a:rPr lang="en-US" altLang="en-US" sz="1200" dirty="0" smtClean="0">
                <a:solidFill>
                  <a:srgbClr val="C00000"/>
                </a:solidFill>
                <a:latin typeface="Arial" panose="020B0604020202020204" pitchFamily="34" charset="0"/>
              </a:rPr>
              <a:t> (Branch 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</a:rPr>
              <a:t>if Not </a:t>
            </a:r>
            <a:r>
              <a:rPr lang="en-US" altLang="en-US" sz="1200" dirty="0" smtClean="0">
                <a:solidFill>
                  <a:srgbClr val="C00000"/>
                </a:solidFill>
                <a:latin typeface="Arial" panose="020B0604020202020204" pitchFamily="34" charset="0"/>
              </a:rPr>
              <a:t>Equal)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 err="1" smtClean="0">
                <a:solidFill>
                  <a:srgbClr val="C00000"/>
                </a:solidFill>
                <a:latin typeface="Arial" panose="020B0604020202020204" pitchFamily="34" charset="0"/>
              </a:rPr>
              <a:t>bgtz</a:t>
            </a:r>
            <a:r>
              <a:rPr lang="en-US" altLang="en-US" sz="1200" dirty="0" smtClean="0">
                <a:solidFill>
                  <a:srgbClr val="C00000"/>
                </a:solidFill>
                <a:latin typeface="Arial" panose="020B0604020202020204" pitchFamily="34" charset="0"/>
              </a:rPr>
              <a:t> (</a:t>
            </a:r>
            <a:r>
              <a:rPr lang="en-US" sz="1200" b="1" dirty="0">
                <a:solidFill>
                  <a:srgbClr val="C00000"/>
                </a:solidFill>
              </a:rPr>
              <a:t>Branch on Greater Than </a:t>
            </a:r>
            <a:r>
              <a:rPr lang="en-US" sz="1200" b="1" dirty="0" smtClean="0">
                <a:solidFill>
                  <a:srgbClr val="C00000"/>
                </a:solidFill>
              </a:rPr>
              <a:t>Zero)</a:t>
            </a:r>
            <a:endParaRPr lang="en-US" altLang="en-US" sz="1200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620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3EB5307-A6B5-414C-B51A-BD2B23255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917" y="513566"/>
            <a:ext cx="8229728" cy="579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586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CD273CD-D85E-44A8-BDDC-85CC409ED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96" y="1091135"/>
            <a:ext cx="6149911" cy="4207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462B8EFF-A03B-4939-8A8B-2911D4BD7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07" y="1091135"/>
            <a:ext cx="5672129" cy="415251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010462" y="154293"/>
            <a:ext cx="39164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R-type </a:t>
            </a:r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</a:rPr>
              <a:t>Instructions</a:t>
            </a:r>
            <a:endParaRPr lang="en-IN" sz="3200" b="1" i="0" dirty="0"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296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600" y="346422"/>
            <a:ext cx="8731854" cy="3899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42483" y="4366589"/>
            <a:ext cx="241123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$s0, $s1, $s2</a:t>
            </a:r>
            <a:r>
              <a:rPr lang="en-US" altLang="en-US" sz="3600" dirty="0">
                <a:solidFill>
                  <a:srgbClr val="222222"/>
                </a:solidFill>
                <a:latin typeface="SFMono-Regular"/>
              </a:rPr>
              <a:t> </a:t>
            </a:r>
            <a:endParaRPr lang="en-US" altLang="en-US" sz="3600" dirty="0" smtClean="0">
              <a:solidFill>
                <a:srgbClr val="222222"/>
              </a:solidFill>
              <a:latin typeface="SFMono-Regular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222222"/>
                </a:solidFill>
                <a:latin typeface="SFMono-Regular"/>
              </a:rPr>
              <a:t>(</a:t>
            </a:r>
            <a:r>
              <a:rPr lang="en-US" altLang="en-US" dirty="0">
                <a:solidFill>
                  <a:srgbClr val="222222"/>
                </a:solidFill>
                <a:latin typeface="SFMono-Regular"/>
              </a:rPr>
              <a:t>registers 16, 17, 18)</a:t>
            </a:r>
            <a:r>
              <a:rPr lang="en-US" altLang="en-US" sz="1000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639" y="4461446"/>
            <a:ext cx="5181153" cy="101710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1945" y="5781777"/>
            <a:ext cx="435870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NOTE: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 Order of components in machine code is different from assembly code. Assembly code order is similar to C, destination first. Machine code has destination last.</a:t>
            </a:r>
            <a:endParaRPr lang="en-IN" sz="1400" dirty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936" y="5737796"/>
            <a:ext cx="4499195" cy="99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480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5705" y="522155"/>
            <a:ext cx="2441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333399"/>
                </a:solidFill>
                <a:latin typeface="arial" panose="020B0604020202020204" pitchFamily="34" charset="0"/>
              </a:rPr>
              <a:t>R-format Exceptions</a:t>
            </a:r>
            <a:endParaRPr lang="en-IN" b="1" i="0" dirty="0">
              <a:solidFill>
                <a:srgbClr val="333399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8069" y="891487"/>
            <a:ext cx="82821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Still have </a:t>
            </a:r>
            <a:r>
              <a:rPr lang="en-US" altLang="en-US" sz="1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opcode 0 (all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them!), 3 registers, a shift amount, and a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code.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320" y="1260819"/>
            <a:ext cx="8106906" cy="200052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132727" y="3560909"/>
            <a:ext cx="1957587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srl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$s0, $s1, 1</a:t>
            </a:r>
            <a:r>
              <a:rPr lang="en-US" altLang="en-US" sz="3200" dirty="0">
                <a:solidFill>
                  <a:srgbClr val="222222"/>
                </a:solidFill>
                <a:latin typeface="SFMono-Regular"/>
              </a:rPr>
              <a:t> </a:t>
            </a:r>
            <a:endParaRPr lang="en-US" altLang="en-US" sz="3200" dirty="0" smtClean="0">
              <a:solidFill>
                <a:srgbClr val="222222"/>
              </a:solidFill>
              <a:latin typeface="SFMono-Regular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222222"/>
                </a:solidFill>
                <a:latin typeface="SFMono-Regular"/>
              </a:rPr>
              <a:t>(</a:t>
            </a:r>
            <a:r>
              <a:rPr lang="en-US" altLang="en-US" dirty="0">
                <a:solidFill>
                  <a:srgbClr val="222222"/>
                </a:solidFill>
                <a:latin typeface="SFMono-Regular"/>
              </a:rPr>
              <a:t>registers 16, 17)</a:t>
            </a:r>
            <a:r>
              <a:rPr lang="en-US" altLang="en-US" sz="1000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262" y="3591493"/>
            <a:ext cx="4615352" cy="94634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382795" y="4881339"/>
            <a:ext cx="14574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altLang="en-US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altLang="en-US" sz="3600" dirty="0">
                <a:solidFill>
                  <a:srgbClr val="222222"/>
                </a:solidFill>
                <a:latin typeface="SFMono-Regular"/>
              </a:rPr>
              <a:t> </a:t>
            </a:r>
            <a:endParaRPr lang="en-US" altLang="en-US" sz="3600" dirty="0" smtClean="0">
              <a:solidFill>
                <a:srgbClr val="222222"/>
              </a:solidFill>
              <a:latin typeface="SFMono-Regular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222222"/>
                </a:solidFill>
                <a:latin typeface="SFMono-Regular"/>
              </a:rPr>
              <a:t>(</a:t>
            </a:r>
            <a:r>
              <a:rPr lang="en-US" altLang="en-US" dirty="0">
                <a:solidFill>
                  <a:srgbClr val="222222"/>
                </a:solidFill>
                <a:latin typeface="SFMono-Regular"/>
              </a:rPr>
              <a:t>register 31)</a:t>
            </a:r>
            <a:r>
              <a:rPr lang="en-US" altLang="en-US" sz="1000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262" y="4881339"/>
            <a:ext cx="4615352" cy="95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033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779AD2C-0144-4C5D-A2AD-7D0AB69EC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625" y="411761"/>
            <a:ext cx="8208750" cy="603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402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0C8E8DA-34F9-417B-B786-1CE4AAAF4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38" y="1092701"/>
            <a:ext cx="6141838" cy="3925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64B46DD-0CBF-48A2-ABB2-80BA8B620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676" y="1092701"/>
            <a:ext cx="6004324" cy="42348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10462" y="154293"/>
            <a:ext cx="37337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</a:rPr>
              <a:t>I</a:t>
            </a:r>
            <a:r>
              <a:rPr lang="en-IN" sz="32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-type </a:t>
            </a:r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</a:rPr>
              <a:t>Instructions</a:t>
            </a:r>
            <a:endParaRPr lang="en-IN" sz="3200" b="1" i="0" dirty="0"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490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656" y="2037643"/>
            <a:ext cx="10338255" cy="33956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0567" y="868996"/>
            <a:ext cx="43781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Instructions that follow typical format:</a:t>
            </a:r>
            <a:endParaRPr lang="en-US" b="1" i="0" dirty="0">
              <a:solidFill>
                <a:srgbClr val="333399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57656" y="5623028"/>
            <a:ext cx="101833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9966"/>
                </a:solidFill>
                <a:latin typeface="arial" panose="020B0604020202020204" pitchFamily="34" charset="0"/>
              </a:rPr>
              <a:t>NOTE:</a:t>
            </a:r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</a:rPr>
              <a:t> Order of components in machine code is different from assembly code. Assembly code order is similar to C, destination first. Machine code has source register, then destination.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957656" y="6176720"/>
            <a:ext cx="37208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99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Exceptions: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lui</a:t>
            </a:r>
            <a:r>
              <a:rPr lang="en-US" altLang="en-US" sz="1100" dirty="0"/>
              <a:t> 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45275" y="911036"/>
            <a:ext cx="62509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Have 2 registers and a constant value immediately present in </a:t>
            </a:r>
            <a:r>
              <a:rPr lang="en-US" sz="1400" dirty="0" smtClean="0">
                <a:solidFill>
                  <a:srgbClr val="FF0000"/>
                </a:solidFill>
                <a:latin typeface="arial" panose="020B0604020202020204" pitchFamily="34" charset="0"/>
              </a:rPr>
              <a:t>the instruction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rs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: source register (5 bits)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rt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: destination register (5 bits)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immediate value (16 bits)</a:t>
            </a:r>
            <a:endParaRPr lang="en-US" sz="1400" b="0" i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926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70241" y="408011"/>
            <a:ext cx="285046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99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Exceptions: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US" altLang="en-US" sz="2000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alt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altLang="en-US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alt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altLang="en-US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alt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altLang="en-US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alt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altLang="en-US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lui</a:t>
            </a:r>
            <a:r>
              <a:rPr lang="en-US" altLang="en-US" sz="1400" dirty="0"/>
              <a:t> 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59295" y="669621"/>
            <a:ext cx="655554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Still have 2 registers and a constant value immediately present in the instruction.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rs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: operand or base address (5 bits)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rt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: operand or data register (5 bits)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immediate: value or offset (16 bits)</a:t>
            </a:r>
            <a:endParaRPr lang="en-US" sz="1400" b="0" i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02" y="1597245"/>
            <a:ext cx="9915887" cy="2974766"/>
          </a:xfrm>
          <a:prstGeom prst="rect">
            <a:avLst/>
          </a:prstGeom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26945" y="4851871"/>
            <a:ext cx="34323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altLang="en-US" sz="1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$t0, 32($s3)</a:t>
            </a:r>
            <a:r>
              <a:rPr lang="en-US" altLang="en-US" dirty="0">
                <a:solidFill>
                  <a:srgbClr val="222222"/>
                </a:solidFill>
                <a:latin typeface="SFMono-Regular"/>
              </a:rPr>
              <a:t> (registers 8 and 19)</a:t>
            </a:r>
            <a:r>
              <a:rPr lang="en-US" altLang="en-US" sz="1000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296" y="4573440"/>
            <a:ext cx="3978084" cy="926195"/>
          </a:xfrm>
          <a:prstGeom prst="rect">
            <a:avLst/>
          </a:prstGeom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547921" y="5982267"/>
            <a:ext cx="2390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lui</a:t>
            </a:r>
            <a:r>
              <a:rPr lang="en-US" altLang="en-US" sz="1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$t0, 1028</a:t>
            </a:r>
            <a:r>
              <a:rPr lang="en-US" altLang="en-US" dirty="0">
                <a:solidFill>
                  <a:srgbClr val="222222"/>
                </a:solidFill>
                <a:latin typeface="SFMono-Regular"/>
              </a:rPr>
              <a:t> (register 8)</a:t>
            </a:r>
            <a:r>
              <a:rPr lang="en-US" altLang="en-US" sz="1000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2637" y="5705314"/>
            <a:ext cx="3944743" cy="92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58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1F2C450-3C93-42BB-96C4-C931A04E6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970" y="563671"/>
            <a:ext cx="7860274" cy="566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1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D8FFDA3-87EE-4540-B298-50B8B6DD3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40" y="1208558"/>
            <a:ext cx="5724892" cy="38385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3F0E6F-7A42-46D6-B86C-14962BB61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86" y="1208559"/>
            <a:ext cx="5834743" cy="403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11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203DAED-4C87-4D31-828B-AB73930F5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537" y="1081252"/>
            <a:ext cx="6570663" cy="475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431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F8B5B3F-4193-4AFC-9CC2-63A5D10EB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32" y="525456"/>
            <a:ext cx="7647256" cy="550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110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327" y="2291957"/>
            <a:ext cx="6955098" cy="141819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14704" y="105384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J-format </a:t>
            </a:r>
            <a:r>
              <a:rPr lang="en-US" b="1" dirty="0" smtClean="0">
                <a:solidFill>
                  <a:srgbClr val="333399"/>
                </a:solidFill>
                <a:latin typeface="arial" panose="020B0604020202020204" pitchFamily="34" charset="0"/>
              </a:rPr>
              <a:t>Instructions:</a:t>
            </a:r>
          </a:p>
          <a:p>
            <a:endParaRPr lang="en-US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Have an address (part of one, actually) in the instruction.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76028" y="2631722"/>
            <a:ext cx="1064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 LOOP</a:t>
            </a:r>
            <a:r>
              <a:rPr lang="en-US" altLang="en-US" dirty="0"/>
              <a:t> 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10462" y="154293"/>
            <a:ext cx="3847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J-type </a:t>
            </a:r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</a:rPr>
              <a:t>Instructions</a:t>
            </a:r>
            <a:endParaRPr lang="en-IN" sz="3200" b="1" i="0" dirty="0"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162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68420" y="3034128"/>
            <a:ext cx="22317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smtClean="0">
                <a:solidFill>
                  <a:srgbClr val="C00000"/>
                </a:solidFill>
                <a:latin typeface="arial" panose="020B0604020202020204" pitchFamily="34" charset="0"/>
              </a:rPr>
              <a:t>Thank you</a:t>
            </a:r>
            <a:endParaRPr lang="en-IN" sz="3200" b="1" i="0" dirty="0"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565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10909</TotalTime>
  <Words>486</Words>
  <Application>Microsoft Office PowerPoint</Application>
  <PresentationFormat>Widescreen</PresentationFormat>
  <Paragraphs>73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 Unicode MS</vt:lpstr>
      <vt:lpstr>Arial</vt:lpstr>
      <vt:lpstr>Arial</vt:lpstr>
      <vt:lpstr>Calibri</vt:lpstr>
      <vt:lpstr>Calibri Light</vt:lpstr>
      <vt:lpstr>Courier New</vt:lpstr>
      <vt:lpstr>Google Sans</vt:lpstr>
      <vt:lpstr>SFMono-Regular</vt:lpstr>
      <vt:lpstr>Office Theme</vt:lpstr>
      <vt:lpstr>Instruction Set Architecture, Assembly Code</vt:lpstr>
      <vt:lpstr>Machine language</vt:lpstr>
      <vt:lpstr>The Abstraction Machine</vt:lpstr>
      <vt:lpstr>Example of instruction set</vt:lpstr>
      <vt:lpstr>MIPS Memory Organization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 set Architecture, Assembly code</dc:title>
  <dc:creator>vipul.mishra</dc:creator>
  <cp:lastModifiedBy>Amit Singh</cp:lastModifiedBy>
  <cp:revision>96</cp:revision>
  <dcterms:created xsi:type="dcterms:W3CDTF">2017-09-18T07:06:48Z</dcterms:created>
  <dcterms:modified xsi:type="dcterms:W3CDTF">2026-01-22T08:19:04Z</dcterms:modified>
</cp:coreProperties>
</file>