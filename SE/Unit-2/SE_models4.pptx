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420" r:id="rId2"/>
    <p:sldId id="337" r:id="rId3"/>
    <p:sldId id="416" r:id="rId4"/>
    <p:sldId id="417" r:id="rId5"/>
    <p:sldId id="418" r:id="rId6"/>
    <p:sldId id="411" r:id="rId7"/>
    <p:sldId id="413" r:id="rId8"/>
    <p:sldId id="419" r:id="rId9"/>
    <p:sldId id="404" r:id="rId10"/>
    <p:sldId id="421" r:id="rId11"/>
  </p:sldIdLst>
  <p:sldSz cx="12192000" cy="6858000"/>
  <p:notesSz cx="6858000" cy="9144000"/>
  <p:embeddedFontLst>
    <p:embeddedFont>
      <p:font typeface="Wingdings 3" panose="05040102010807070707" pitchFamily="18" charset="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oboto Condensed" panose="020B060402020202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kumar gondaliya" initials="rg" lastIdx="1" clrIdx="0">
    <p:extLst>
      <p:ext uri="{19B8F6BF-5375-455C-9EA6-DF929625EA0E}">
        <p15:presenceInfo xmlns:p15="http://schemas.microsoft.com/office/powerpoint/2012/main" userId="73a50ecb4c2e23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D19"/>
    <a:srgbClr val="B84742"/>
    <a:srgbClr val="F94343"/>
    <a:srgbClr val="EEEEEE"/>
    <a:srgbClr val="BF2323"/>
    <a:srgbClr val="ED524F"/>
    <a:srgbClr val="5C2321"/>
    <a:srgbClr val="80DEEA"/>
    <a:srgbClr val="E1F5FE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62" autoAdjust="0"/>
    <p:restoredTop sz="94660"/>
  </p:normalViewPr>
  <p:slideViewPr>
    <p:cSldViewPr snapToGrid="0">
      <p:cViewPr varScale="1">
        <p:scale>
          <a:sx n="92" d="100"/>
          <a:sy n="92" d="100"/>
        </p:scale>
        <p:origin x="27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commentAuthors" Target="commentAuthors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761686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2317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6344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0" r:id="rId7"/>
    <p:sldLayoutId id="2147483673" r:id="rId8"/>
    <p:sldLayoutId id="214748369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Model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Sequence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127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Sequence </a:t>
            </a:r>
            <a:r>
              <a:rPr lang="en-US" dirty="0" smtClean="0">
                <a:latin typeface="+mn-lt"/>
              </a:rPr>
              <a:t>Diagram </a:t>
            </a:r>
            <a:endParaRPr lang="en-US" dirty="0">
              <a:latin typeface="+mn-lt"/>
            </a:endParaRP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123965"/>
            <a:ext cx="11929641" cy="3264145"/>
          </a:xfrm>
        </p:spPr>
        <p:txBody>
          <a:bodyPr/>
          <a:lstStyle/>
          <a:p>
            <a:r>
              <a:rPr lang="en-US" dirty="0"/>
              <a:t>A sequence diagram shows the </a:t>
            </a:r>
            <a:r>
              <a:rPr lang="en-US" dirty="0">
                <a:solidFill>
                  <a:srgbClr val="A32D19"/>
                </a:solidFill>
              </a:rPr>
              <a:t>interaction of a system with its actors</a:t>
            </a:r>
            <a:r>
              <a:rPr lang="en-US" dirty="0"/>
              <a:t> to </a:t>
            </a:r>
            <a:r>
              <a:rPr lang="en-US" dirty="0">
                <a:solidFill>
                  <a:srgbClr val="A32D19"/>
                </a:solidFill>
              </a:rPr>
              <a:t>perform</a:t>
            </a:r>
            <a:r>
              <a:rPr lang="en-US" dirty="0"/>
              <a:t> all or part of a </a:t>
            </a:r>
            <a:r>
              <a:rPr lang="en-US" dirty="0">
                <a:solidFill>
                  <a:srgbClr val="A32D19"/>
                </a:solidFill>
              </a:rPr>
              <a:t>use case</a:t>
            </a:r>
            <a:r>
              <a:rPr lang="en-US" dirty="0"/>
              <a:t>. </a:t>
            </a:r>
            <a:endParaRPr lang="en-US" dirty="0">
              <a:solidFill>
                <a:srgbClr val="A32D19"/>
              </a:solidFill>
            </a:endParaRPr>
          </a:p>
          <a:p>
            <a:r>
              <a:rPr lang="en-US" dirty="0" smtClean="0"/>
              <a:t>Sequence </a:t>
            </a:r>
            <a:r>
              <a:rPr lang="en-US" dirty="0"/>
              <a:t>diagram represent the </a:t>
            </a:r>
            <a:r>
              <a:rPr lang="en-US" dirty="0">
                <a:solidFill>
                  <a:srgbClr val="A32D19"/>
                </a:solidFill>
              </a:rPr>
              <a:t>dynamic communication between object during execution </a:t>
            </a:r>
            <a:r>
              <a:rPr lang="en-US" dirty="0"/>
              <a:t>of task.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A32D19"/>
                </a:solidFill>
              </a:rPr>
              <a:t>use case </a:t>
            </a:r>
            <a:r>
              <a:rPr lang="en-US" dirty="0"/>
              <a:t>requires </a:t>
            </a:r>
            <a:r>
              <a:rPr lang="en-US" dirty="0">
                <a:solidFill>
                  <a:srgbClr val="A32D19"/>
                </a:solidFill>
              </a:rPr>
              <a:t>one or more sequence </a:t>
            </a:r>
            <a:r>
              <a:rPr lang="en-US" dirty="0"/>
              <a:t>diagram to describe its behavior.</a:t>
            </a:r>
          </a:p>
          <a:p>
            <a:r>
              <a:rPr lang="en-US" dirty="0"/>
              <a:t>Each sequence diagram shows </a:t>
            </a:r>
            <a:r>
              <a:rPr lang="en-US" dirty="0">
                <a:solidFill>
                  <a:srgbClr val="A32D19"/>
                </a:solidFill>
              </a:rPr>
              <a:t>a particular behavior </a:t>
            </a:r>
            <a:r>
              <a:rPr lang="en-US" dirty="0"/>
              <a:t>sequence of the </a:t>
            </a:r>
            <a:r>
              <a:rPr lang="en-US" dirty="0">
                <a:solidFill>
                  <a:srgbClr val="A32D19"/>
                </a:solidFill>
              </a:rPr>
              <a:t>use case</a:t>
            </a:r>
            <a:r>
              <a:rPr lang="en-US" dirty="0"/>
              <a:t>. </a:t>
            </a:r>
          </a:p>
          <a:p>
            <a:r>
              <a:rPr lang="en-US" dirty="0"/>
              <a:t>It is best to show a </a:t>
            </a:r>
            <a:r>
              <a:rPr lang="en-US" dirty="0">
                <a:solidFill>
                  <a:srgbClr val="A32D19"/>
                </a:solidFill>
              </a:rPr>
              <a:t>specific portion of a use case </a:t>
            </a:r>
            <a:r>
              <a:rPr lang="en-US" dirty="0"/>
              <a:t>and not attempt to be too general.</a:t>
            </a:r>
          </a:p>
          <a:p>
            <a:r>
              <a:rPr lang="en-US" dirty="0"/>
              <a:t>You can draw a </a:t>
            </a:r>
            <a:r>
              <a:rPr lang="en-US" dirty="0">
                <a:solidFill>
                  <a:srgbClr val="A32D19"/>
                </a:solidFill>
              </a:rPr>
              <a:t>separate sequence diagram for each task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=""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80" y="947066"/>
            <a:ext cx="11929640" cy="941033"/>
          </a:xfrm>
          <a:prstGeom prst="wedgeRoundRectCallout">
            <a:avLst>
              <a:gd name="adj1" fmla="val -37121"/>
              <a:gd name="adj2" fmla="val -7860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Sequence diagram shows the </a:t>
            </a:r>
            <a:r>
              <a:rPr lang="en-US" sz="2400" dirty="0" smtClean="0">
                <a:solidFill>
                  <a:srgbClr val="A32D19"/>
                </a:solidFill>
              </a:rPr>
              <a:t>participants (</a:t>
            </a:r>
            <a:r>
              <a:rPr lang="en-US" sz="2400" dirty="0">
                <a:solidFill>
                  <a:srgbClr val="A32D19"/>
                </a:solidFill>
              </a:rPr>
              <a:t>Objects) in an interaction </a:t>
            </a:r>
            <a:r>
              <a:rPr lang="en-US" sz="2400" dirty="0"/>
              <a:t>and the </a:t>
            </a:r>
            <a:r>
              <a:rPr lang="en-US" sz="2400" dirty="0">
                <a:solidFill>
                  <a:srgbClr val="A32D19"/>
                </a:solidFill>
              </a:rPr>
              <a:t>sequence of message among them</a:t>
            </a:r>
            <a:r>
              <a:rPr lang="en-US" sz="2400" dirty="0"/>
              <a:t>. 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9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Components </a:t>
            </a:r>
            <a:r>
              <a:rPr lang="en-US" dirty="0" smtClean="0">
                <a:latin typeface="+mn-lt"/>
              </a:rPr>
              <a:t>of </a:t>
            </a:r>
            <a:r>
              <a:rPr lang="en-US" dirty="0">
                <a:latin typeface="+mn-lt"/>
              </a:rPr>
              <a:t>Sequence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=""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79" y="1348057"/>
            <a:ext cx="12004261" cy="963306"/>
          </a:xfrm>
          <a:ln w="3175">
            <a:noFill/>
          </a:ln>
        </p:spPr>
        <p:txBody>
          <a:bodyPr/>
          <a:lstStyle/>
          <a:p>
            <a:r>
              <a:rPr lang="en-US" dirty="0"/>
              <a:t>Class roles describe the way an </a:t>
            </a:r>
            <a:r>
              <a:rPr lang="en-US" dirty="0">
                <a:solidFill>
                  <a:srgbClr val="A32D19"/>
                </a:solidFill>
              </a:rPr>
              <a:t>object will behave in context</a:t>
            </a:r>
            <a:r>
              <a:rPr lang="en-US" dirty="0"/>
              <a:t>. </a:t>
            </a:r>
          </a:p>
          <a:p>
            <a:r>
              <a:rPr lang="en-US" dirty="0"/>
              <a:t>Use the UML object symbol to illustrate class roles, but </a:t>
            </a:r>
            <a:r>
              <a:rPr lang="en-US" dirty="0">
                <a:solidFill>
                  <a:srgbClr val="A32D19"/>
                </a:solidFill>
              </a:rPr>
              <a:t>don't list object attributes</a:t>
            </a:r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15DD7100-B690-4542-84E9-AE0BDE645FBC}"/>
              </a:ext>
            </a:extLst>
          </p:cNvPr>
          <p:cNvSpPr/>
          <p:nvPr/>
        </p:nvSpPr>
        <p:spPr>
          <a:xfrm>
            <a:off x="130379" y="821077"/>
            <a:ext cx="4437534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Object - Class Roles or Participants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=""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30378" y="2947557"/>
            <a:ext cx="10142325" cy="12710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Activation boxes represent the </a:t>
            </a:r>
            <a:r>
              <a:rPr lang="en-US" dirty="0">
                <a:solidFill>
                  <a:srgbClr val="A32D19"/>
                </a:solidFill>
              </a:rPr>
              <a:t>time an object needs to complete a task. </a:t>
            </a:r>
          </a:p>
          <a:p>
            <a:r>
              <a:rPr lang="en-US" dirty="0"/>
              <a:t>When an object is busy executing a process or </a:t>
            </a:r>
            <a:r>
              <a:rPr lang="en-US" dirty="0">
                <a:solidFill>
                  <a:srgbClr val="A32D19"/>
                </a:solidFill>
              </a:rPr>
              <a:t>waiting for a reply message</a:t>
            </a:r>
            <a:r>
              <a:rPr lang="en-US" dirty="0"/>
              <a:t>, use a thin gray rectangle </a:t>
            </a:r>
            <a:r>
              <a:rPr lang="en-US" dirty="0">
                <a:solidFill>
                  <a:srgbClr val="A32D19"/>
                </a:solidFill>
              </a:rPr>
              <a:t>placed vertically on its lifeline</a:t>
            </a:r>
            <a:r>
              <a:rPr lang="en-US" dirty="0"/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C59E0AB4-45DC-4AC6-A7E9-457653311BDC}"/>
              </a:ext>
            </a:extLst>
          </p:cNvPr>
          <p:cNvSpPr/>
          <p:nvPr/>
        </p:nvSpPr>
        <p:spPr>
          <a:xfrm>
            <a:off x="130379" y="2407513"/>
            <a:ext cx="4437534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Activation or Execution Occurrence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A288C92C-8BD4-4327-8E00-7195A19B1E25}"/>
              </a:ext>
            </a:extLst>
          </p:cNvPr>
          <p:cNvCxnSpPr>
            <a:cxnSpLocks/>
          </p:cNvCxnSpPr>
          <p:nvPr/>
        </p:nvCxnSpPr>
        <p:spPr>
          <a:xfrm>
            <a:off x="2349146" y="1273864"/>
            <a:ext cx="957835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3BED9A67-9448-4F9D-ACA1-8F799D31027C}"/>
              </a:ext>
            </a:extLst>
          </p:cNvPr>
          <p:cNvCxnSpPr>
            <a:cxnSpLocks/>
          </p:cNvCxnSpPr>
          <p:nvPr/>
        </p:nvCxnSpPr>
        <p:spPr>
          <a:xfrm>
            <a:off x="2349146" y="2860300"/>
            <a:ext cx="957835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2ECA65C5-8DE4-4023-B147-F1D19C774FE3}"/>
              </a:ext>
            </a:extLst>
          </p:cNvPr>
          <p:cNvSpPr/>
          <p:nvPr/>
        </p:nvSpPr>
        <p:spPr>
          <a:xfrm>
            <a:off x="10272703" y="824864"/>
            <a:ext cx="1624614" cy="35178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Object : Class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A1FF8EFF-949F-4DFA-B542-97A8DF025269}"/>
              </a:ext>
            </a:extLst>
          </p:cNvPr>
          <p:cNvSpPr/>
          <p:nvPr/>
        </p:nvSpPr>
        <p:spPr>
          <a:xfrm>
            <a:off x="11249540" y="2965986"/>
            <a:ext cx="173116" cy="10492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Content Placeholder 12">
            <a:extLst>
              <a:ext uri="{FF2B5EF4-FFF2-40B4-BE49-F238E27FC236}">
                <a16:creationId xmlns="" xmlns:a16="http://schemas.microsoft.com/office/drawing/2014/main" id="{D042C69E-9F67-4CC0-8361-D46DD0E944B5}"/>
              </a:ext>
            </a:extLst>
          </p:cNvPr>
          <p:cNvSpPr txBox="1">
            <a:spLocks/>
          </p:cNvSpPr>
          <p:nvPr/>
        </p:nvSpPr>
        <p:spPr>
          <a:xfrm>
            <a:off x="130378" y="4785077"/>
            <a:ext cx="10142325" cy="121009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lifeline represents a </a:t>
            </a:r>
            <a:r>
              <a:rPr lang="en-US" dirty="0">
                <a:solidFill>
                  <a:srgbClr val="A32D19"/>
                </a:solidFill>
              </a:rPr>
              <a:t>Object in an interaction</a:t>
            </a:r>
            <a:r>
              <a:rPr lang="en-US" dirty="0"/>
              <a:t>. </a:t>
            </a:r>
          </a:p>
          <a:p>
            <a:r>
              <a:rPr lang="en-US" dirty="0"/>
              <a:t>When that object's lifeline ends, you can </a:t>
            </a:r>
            <a:r>
              <a:rPr lang="en-US" dirty="0">
                <a:solidFill>
                  <a:srgbClr val="A32D19"/>
                </a:solidFill>
              </a:rPr>
              <a:t>place an X at the end of its lifeline </a:t>
            </a:r>
            <a:r>
              <a:rPr lang="en-US" dirty="0"/>
              <a:t>to denote a destruction occurrence.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650CBE7B-ED96-440A-BE30-93DC600FC1BE}"/>
              </a:ext>
            </a:extLst>
          </p:cNvPr>
          <p:cNvSpPr/>
          <p:nvPr/>
        </p:nvSpPr>
        <p:spPr>
          <a:xfrm>
            <a:off x="130376" y="4258097"/>
            <a:ext cx="4499679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Lifeline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4578DBC7-C406-4315-9B7B-55C381DF78DA}"/>
              </a:ext>
            </a:extLst>
          </p:cNvPr>
          <p:cNvCxnSpPr>
            <a:cxnSpLocks/>
          </p:cNvCxnSpPr>
          <p:nvPr/>
        </p:nvCxnSpPr>
        <p:spPr>
          <a:xfrm>
            <a:off x="2380216" y="4719762"/>
            <a:ext cx="7892487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FE6A65C3-ADE5-4CD9-BA53-414BFD43B467}"/>
              </a:ext>
            </a:extLst>
          </p:cNvPr>
          <p:cNvGrpSpPr/>
          <p:nvPr/>
        </p:nvGrpSpPr>
        <p:grpSpPr>
          <a:xfrm>
            <a:off x="11085010" y="4797554"/>
            <a:ext cx="311304" cy="963474"/>
            <a:chOff x="11088151" y="1606498"/>
            <a:chExt cx="311304" cy="111337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BE156010-44BC-4211-88E7-41626E98B64D}"/>
                </a:ext>
              </a:extLst>
            </p:cNvPr>
            <p:cNvCxnSpPr>
              <a:cxnSpLocks/>
            </p:cNvCxnSpPr>
            <p:nvPr/>
          </p:nvCxnSpPr>
          <p:spPr>
            <a:xfrm>
              <a:off x="11252681" y="1606498"/>
              <a:ext cx="0" cy="886336"/>
            </a:xfrm>
            <a:prstGeom prst="line">
              <a:avLst/>
            </a:prstGeom>
            <a:ln w="28575">
              <a:solidFill>
                <a:srgbClr val="A32D19"/>
              </a:solidFill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="" xmlns:a16="http://schemas.microsoft.com/office/drawing/2014/main" id="{B5624A46-B6E6-49D7-9618-7D96218A2A1B}"/>
                </a:ext>
              </a:extLst>
            </p:cNvPr>
            <p:cNvSpPr/>
            <p:nvPr/>
          </p:nvSpPr>
          <p:spPr>
            <a:xfrm>
              <a:off x="11088151" y="2258212"/>
              <a:ext cx="3113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A32D19"/>
                  </a:solidFill>
                </a:rPr>
                <a:t>X</a:t>
              </a:r>
              <a:endParaRPr lang="en-IN" sz="2400" dirty="0">
                <a:solidFill>
                  <a:srgbClr val="A32D19"/>
                </a:solidFill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BC42CB39-5D71-4189-89F5-FE4A875D9E96}"/>
              </a:ext>
            </a:extLst>
          </p:cNvPr>
          <p:cNvSpPr/>
          <p:nvPr/>
        </p:nvSpPr>
        <p:spPr>
          <a:xfrm>
            <a:off x="10533701" y="4512879"/>
            <a:ext cx="1393800" cy="21831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80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22" grpId="0" build="p"/>
      <p:bldP spid="23" grpId="0" animBg="1"/>
      <p:bldP spid="16" grpId="0" animBg="1"/>
      <p:bldP spid="18" grpId="0" animBg="1"/>
      <p:bldP spid="17" grpId="0" build="p"/>
      <p:bldP spid="20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</a:t>
            </a:r>
            <a:r>
              <a:rPr lang="en-US" dirty="0" smtClean="0"/>
              <a:t>of </a:t>
            </a:r>
            <a:r>
              <a:rPr lang="en-US" dirty="0"/>
              <a:t>Sequence </a:t>
            </a:r>
            <a:r>
              <a:rPr lang="en-US" dirty="0" smtClean="0"/>
              <a:t>Diagram Cont.</a:t>
            </a:r>
            <a:endParaRPr lang="en-US" dirty="0">
              <a:latin typeface="+mn-lt"/>
            </a:endParaRPr>
          </a:p>
        </p:txBody>
      </p:sp>
      <p:sp>
        <p:nvSpPr>
          <p:cNvPr id="16" name="Content Placeholder 12">
            <a:extLst>
              <a:ext uri="{FF2B5EF4-FFF2-40B4-BE49-F238E27FC236}">
                <a16:creationId xmlns="" xmlns:a16="http://schemas.microsoft.com/office/drawing/2014/main" id="{C4D30011-F663-4A92-B8D5-754503295173}"/>
              </a:ext>
            </a:extLst>
          </p:cNvPr>
          <p:cNvSpPr txBox="1">
            <a:spLocks/>
          </p:cNvSpPr>
          <p:nvPr/>
        </p:nvSpPr>
        <p:spPr>
          <a:xfrm>
            <a:off x="140058" y="1390425"/>
            <a:ext cx="11912531" cy="11340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Messages are </a:t>
            </a:r>
            <a:r>
              <a:rPr lang="en-US" dirty="0">
                <a:solidFill>
                  <a:srgbClr val="A32D19"/>
                </a:solidFill>
              </a:rPr>
              <a:t>arrows that represent </a:t>
            </a:r>
            <a:r>
              <a:rPr lang="en-US" dirty="0"/>
              <a:t>communication between objects. </a:t>
            </a:r>
          </a:p>
          <a:p>
            <a:r>
              <a:rPr lang="en-US" dirty="0"/>
              <a:t>Use the following arrows and message symbols to show </a:t>
            </a:r>
            <a:r>
              <a:rPr lang="en-US" dirty="0">
                <a:solidFill>
                  <a:srgbClr val="A32D19"/>
                </a:solidFill>
              </a:rPr>
              <a:t>how information is transmitted </a:t>
            </a:r>
            <a:r>
              <a:rPr lang="en-US" dirty="0"/>
              <a:t>between objects.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6CC795F0-BFEF-416D-8D74-F24700DFDBDD}"/>
              </a:ext>
            </a:extLst>
          </p:cNvPr>
          <p:cNvSpPr/>
          <p:nvPr/>
        </p:nvSpPr>
        <p:spPr>
          <a:xfrm>
            <a:off x="131179" y="863444"/>
            <a:ext cx="3854895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Messages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AB4AE8DD-B490-487C-A7D3-44DA05D91D5C}"/>
              </a:ext>
            </a:extLst>
          </p:cNvPr>
          <p:cNvCxnSpPr>
            <a:cxnSpLocks/>
          </p:cNvCxnSpPr>
          <p:nvPr/>
        </p:nvCxnSpPr>
        <p:spPr>
          <a:xfrm>
            <a:off x="2058627" y="1316231"/>
            <a:ext cx="9985084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710FFE5-B389-48AB-A1E2-0132FEC81C0D}"/>
              </a:ext>
            </a:extLst>
          </p:cNvPr>
          <p:cNvSpPr/>
          <p:nvPr/>
        </p:nvSpPr>
        <p:spPr>
          <a:xfrm>
            <a:off x="140058" y="2657808"/>
            <a:ext cx="308253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Synchronous message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="" xmlns:a16="http://schemas.microsoft.com/office/drawing/2014/main" id="{18264B38-9F02-4441-BD0B-C7A1DDC10995}"/>
              </a:ext>
            </a:extLst>
          </p:cNvPr>
          <p:cNvSpPr txBox="1">
            <a:spLocks/>
          </p:cNvSpPr>
          <p:nvPr/>
        </p:nvSpPr>
        <p:spPr>
          <a:xfrm>
            <a:off x="140057" y="3197851"/>
            <a:ext cx="11903653" cy="30436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</a:t>
            </a:r>
            <a:r>
              <a:rPr lang="en-US" dirty="0">
                <a:solidFill>
                  <a:srgbClr val="A32D19"/>
                </a:solidFill>
              </a:rPr>
              <a:t>solid line with a solid arrowhead. </a:t>
            </a:r>
          </a:p>
          <a:p>
            <a:r>
              <a:rPr lang="en-US" dirty="0"/>
              <a:t>This symbol is used when a </a:t>
            </a:r>
            <a:r>
              <a:rPr lang="en-US" dirty="0">
                <a:solidFill>
                  <a:srgbClr val="A32D19"/>
                </a:solidFill>
              </a:rPr>
              <a:t>sender must wait for a response</a:t>
            </a:r>
            <a:r>
              <a:rPr lang="en-US" dirty="0"/>
              <a:t> to a message before it continues. </a:t>
            </a:r>
          </a:p>
          <a:p>
            <a:r>
              <a:rPr lang="en-US" dirty="0"/>
              <a:t>The diagram should show both the </a:t>
            </a:r>
            <a:r>
              <a:rPr lang="en-US" dirty="0">
                <a:solidFill>
                  <a:srgbClr val="A32D19"/>
                </a:solidFill>
              </a:rPr>
              <a:t>call and the reply.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C3D70A0D-B657-43A3-8064-87D83657096F}"/>
              </a:ext>
            </a:extLst>
          </p:cNvPr>
          <p:cNvCxnSpPr/>
          <p:nvPr/>
        </p:nvCxnSpPr>
        <p:spPr>
          <a:xfrm>
            <a:off x="3551068" y="2851792"/>
            <a:ext cx="1775534" cy="0"/>
          </a:xfrm>
          <a:prstGeom prst="straightConnector1">
            <a:avLst/>
          </a:prstGeom>
          <a:ln w="38100">
            <a:solidFill>
              <a:srgbClr val="A32D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10B289F6-FA30-403F-A05F-F3AADDE086E1}"/>
              </a:ext>
            </a:extLst>
          </p:cNvPr>
          <p:cNvSpPr/>
          <p:nvPr/>
        </p:nvSpPr>
        <p:spPr>
          <a:xfrm>
            <a:off x="144368" y="4588606"/>
            <a:ext cx="307822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Asynchronous message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="" xmlns:a16="http://schemas.microsoft.com/office/drawing/2014/main" id="{6ED06FF4-647A-4830-AE82-A5BC5307B344}"/>
              </a:ext>
            </a:extLst>
          </p:cNvPr>
          <p:cNvSpPr txBox="1">
            <a:spLocks/>
          </p:cNvSpPr>
          <p:nvPr/>
        </p:nvSpPr>
        <p:spPr>
          <a:xfrm>
            <a:off x="148290" y="5128649"/>
            <a:ext cx="11895420" cy="13656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solid line with a lined arrowhead. </a:t>
            </a:r>
          </a:p>
          <a:p>
            <a:r>
              <a:rPr lang="en-US" dirty="0"/>
              <a:t>Asynchronous </a:t>
            </a:r>
            <a:r>
              <a:rPr lang="en-US" dirty="0">
                <a:solidFill>
                  <a:srgbClr val="A32D19"/>
                </a:solidFill>
              </a:rPr>
              <a:t>messages don't require a response</a:t>
            </a:r>
            <a:r>
              <a:rPr lang="en-US" dirty="0"/>
              <a:t> before the sender continues. </a:t>
            </a:r>
          </a:p>
          <a:p>
            <a:r>
              <a:rPr lang="en-US" dirty="0">
                <a:solidFill>
                  <a:srgbClr val="A32D19"/>
                </a:solidFill>
              </a:rPr>
              <a:t>Only the call </a:t>
            </a:r>
            <a:r>
              <a:rPr lang="en-US" dirty="0"/>
              <a:t>should be included in the diagram.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8FC708FD-B3A4-4B22-9479-65C11BDD0FA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681328" y="3119473"/>
            <a:ext cx="103623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96FF38EA-6D95-4ADE-8953-37695CC8F4F9}"/>
              </a:ext>
            </a:extLst>
          </p:cNvPr>
          <p:cNvCxnSpPr>
            <a:cxnSpLocks/>
          </p:cNvCxnSpPr>
          <p:nvPr/>
        </p:nvCxnSpPr>
        <p:spPr>
          <a:xfrm flipH="1">
            <a:off x="3222598" y="5042924"/>
            <a:ext cx="88211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3598275-E891-4D9C-874E-350D5FE2A4F1}"/>
              </a:ext>
            </a:extLst>
          </p:cNvPr>
          <p:cNvCxnSpPr/>
          <p:nvPr/>
        </p:nvCxnSpPr>
        <p:spPr>
          <a:xfrm>
            <a:off x="3563232" y="4846059"/>
            <a:ext cx="2104008" cy="0"/>
          </a:xfrm>
          <a:prstGeom prst="straightConnector1">
            <a:avLst/>
          </a:prstGeom>
          <a:ln w="28575">
            <a:solidFill>
              <a:srgbClr val="A32D19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9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animBg="1"/>
      <p:bldP spid="13" grpId="0" animBg="1"/>
      <p:bldP spid="14" grpId="0" uiExpand="1" build="allAtOnce"/>
      <p:bldP spid="19" grpId="0" animBg="1"/>
      <p:bldP spid="2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Sequence Diagram Cont.</a:t>
            </a:r>
            <a:endParaRPr lang="en-US" dirty="0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710FFE5-B389-48AB-A1E2-0132FEC81C0D}"/>
              </a:ext>
            </a:extLst>
          </p:cNvPr>
          <p:cNvSpPr/>
          <p:nvPr/>
        </p:nvSpPr>
        <p:spPr>
          <a:xfrm>
            <a:off x="140058" y="853583"/>
            <a:ext cx="308253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Reply message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="" xmlns:a16="http://schemas.microsoft.com/office/drawing/2014/main" id="{18264B38-9F02-4441-BD0B-C7A1DDC10995}"/>
              </a:ext>
            </a:extLst>
          </p:cNvPr>
          <p:cNvSpPr txBox="1">
            <a:spLocks/>
          </p:cNvSpPr>
          <p:nvPr/>
        </p:nvSpPr>
        <p:spPr>
          <a:xfrm>
            <a:off x="140058" y="1393626"/>
            <a:ext cx="11747142" cy="8988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</a:t>
            </a:r>
            <a:r>
              <a:rPr lang="en-US" dirty="0">
                <a:solidFill>
                  <a:srgbClr val="A32D19"/>
                </a:solidFill>
              </a:rPr>
              <a:t>dashed line</a:t>
            </a:r>
            <a:r>
              <a:rPr lang="en-US" dirty="0"/>
              <a:t> with a lined arrowhead.</a:t>
            </a:r>
          </a:p>
          <a:p>
            <a:r>
              <a:rPr lang="en-US" dirty="0"/>
              <a:t>these messages are </a:t>
            </a:r>
            <a:r>
              <a:rPr lang="en-US" dirty="0">
                <a:solidFill>
                  <a:srgbClr val="A32D19"/>
                </a:solidFill>
              </a:rPr>
              <a:t>replies to calls</a:t>
            </a:r>
            <a:r>
              <a:rPr lang="en-US" dirty="0"/>
              <a:t>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C3D70A0D-B657-43A3-8064-87D83657096F}"/>
              </a:ext>
            </a:extLst>
          </p:cNvPr>
          <p:cNvCxnSpPr/>
          <p:nvPr/>
        </p:nvCxnSpPr>
        <p:spPr>
          <a:xfrm>
            <a:off x="3551068" y="1047567"/>
            <a:ext cx="1775534" cy="0"/>
          </a:xfrm>
          <a:prstGeom prst="straightConnector1">
            <a:avLst/>
          </a:prstGeom>
          <a:ln w="38100">
            <a:solidFill>
              <a:srgbClr val="A32D19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10B289F6-FA30-403F-A05F-F3AADDE086E1}"/>
              </a:ext>
            </a:extLst>
          </p:cNvPr>
          <p:cNvSpPr/>
          <p:nvPr/>
        </p:nvSpPr>
        <p:spPr>
          <a:xfrm>
            <a:off x="144369" y="2516952"/>
            <a:ext cx="307822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Delete message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="" xmlns:a16="http://schemas.microsoft.com/office/drawing/2014/main" id="{6ED06FF4-647A-4830-AE82-A5BC5307B344}"/>
              </a:ext>
            </a:extLst>
          </p:cNvPr>
          <p:cNvSpPr txBox="1">
            <a:spLocks/>
          </p:cNvSpPr>
          <p:nvPr/>
        </p:nvSpPr>
        <p:spPr>
          <a:xfrm>
            <a:off x="148291" y="3056995"/>
            <a:ext cx="11738909" cy="12770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</a:t>
            </a:r>
            <a:r>
              <a:rPr lang="en-US" dirty="0">
                <a:solidFill>
                  <a:srgbClr val="A32D19"/>
                </a:solidFill>
              </a:rPr>
              <a:t>solid line </a:t>
            </a:r>
            <a:r>
              <a:rPr lang="en-US" dirty="0"/>
              <a:t>with a solid arrowhead, followed by an </a:t>
            </a:r>
            <a:r>
              <a:rPr lang="en-US" dirty="0">
                <a:solidFill>
                  <a:srgbClr val="A32D19"/>
                </a:solidFill>
              </a:rPr>
              <a:t>X</a:t>
            </a:r>
            <a:r>
              <a:rPr lang="en-US" dirty="0"/>
              <a:t>. </a:t>
            </a:r>
          </a:p>
          <a:p>
            <a:r>
              <a:rPr lang="en-US" dirty="0"/>
              <a:t>This message </a:t>
            </a:r>
            <a:r>
              <a:rPr lang="en-US" dirty="0">
                <a:solidFill>
                  <a:srgbClr val="A32D19"/>
                </a:solidFill>
              </a:rPr>
              <a:t>destroys an object</a:t>
            </a:r>
            <a:r>
              <a:rPr lang="en-US" dirty="0"/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8FC708FD-B3A4-4B22-9479-65C11BDD0FA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681328" y="1315248"/>
            <a:ext cx="1020587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96FF38EA-6D95-4ADE-8953-37695CC8F4F9}"/>
              </a:ext>
            </a:extLst>
          </p:cNvPr>
          <p:cNvCxnSpPr>
            <a:cxnSpLocks/>
            <a:stCxn id="20" idx="0"/>
          </p:cNvCxnSpPr>
          <p:nvPr/>
        </p:nvCxnSpPr>
        <p:spPr>
          <a:xfrm flipH="1">
            <a:off x="5942450" y="3056995"/>
            <a:ext cx="7529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3EC180C0-9E03-4BA1-9C45-3D32BAF1CCA7}"/>
              </a:ext>
            </a:extLst>
          </p:cNvPr>
          <p:cNvCxnSpPr>
            <a:cxnSpLocks/>
          </p:cNvCxnSpPr>
          <p:nvPr/>
        </p:nvCxnSpPr>
        <p:spPr>
          <a:xfrm>
            <a:off x="3933" y="2516952"/>
            <a:ext cx="8233" cy="1738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2615B277-1539-48A9-ADDA-EA7D6E16E74D}"/>
              </a:ext>
            </a:extLst>
          </p:cNvPr>
          <p:cNvGrpSpPr/>
          <p:nvPr/>
        </p:nvGrpSpPr>
        <p:grpSpPr>
          <a:xfrm>
            <a:off x="3563233" y="2600406"/>
            <a:ext cx="1149953" cy="369332"/>
            <a:chOff x="9579005" y="937037"/>
            <a:chExt cx="1149953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="" xmlns:a16="http://schemas.microsoft.com/office/drawing/2014/main" id="{83598275-E891-4D9C-874E-350D5FE2A4F1}"/>
                </a:ext>
              </a:extLst>
            </p:cNvPr>
            <p:cNvCxnSpPr>
              <a:cxnSpLocks/>
            </p:cNvCxnSpPr>
            <p:nvPr/>
          </p:nvCxnSpPr>
          <p:spPr>
            <a:xfrm>
              <a:off x="9579005" y="1111036"/>
              <a:ext cx="976545" cy="0"/>
            </a:xfrm>
            <a:prstGeom prst="straightConnector1">
              <a:avLst/>
            </a:prstGeom>
            <a:ln w="28575">
              <a:solidFill>
                <a:srgbClr val="A32D19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E30DAE9F-589E-4EB1-BF91-67B635B5A799}"/>
                </a:ext>
              </a:extLst>
            </p:cNvPr>
            <p:cNvSpPr/>
            <p:nvPr/>
          </p:nvSpPr>
          <p:spPr>
            <a:xfrm>
              <a:off x="10417654" y="937037"/>
              <a:ext cx="31130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A32D19"/>
                  </a:solidFill>
                </a:rPr>
                <a:t>X</a:t>
              </a:r>
              <a:endParaRPr lang="en-IN" dirty="0">
                <a:solidFill>
                  <a:srgbClr val="A32D19"/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8FC708FD-B3A4-4B22-9479-65C11BDD0FAC}"/>
              </a:ext>
            </a:extLst>
          </p:cNvPr>
          <p:cNvCxnSpPr>
            <a:cxnSpLocks/>
          </p:cNvCxnSpPr>
          <p:nvPr/>
        </p:nvCxnSpPr>
        <p:spPr>
          <a:xfrm>
            <a:off x="2735065" y="2983225"/>
            <a:ext cx="91521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53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uiExpand="1" build="p"/>
      <p:bldP spid="19" grpId="0" animBg="1"/>
      <p:bldP spid="2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Guideline for </a:t>
            </a:r>
            <a:r>
              <a:rPr lang="en-US" dirty="0"/>
              <a:t>Sequence</a:t>
            </a:r>
            <a:r>
              <a:rPr lang="en-US" dirty="0">
                <a:latin typeface="+mn-lt"/>
              </a:rPr>
              <a:t> Diagram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="" xmlns:a16="http://schemas.microsoft.com/office/drawing/2014/main" id="{40BD225D-070E-4075-B467-B2641F5536DC}"/>
              </a:ext>
            </a:extLst>
          </p:cNvPr>
          <p:cNvSpPr txBox="1">
            <a:spLocks/>
          </p:cNvSpPr>
          <p:nvPr/>
        </p:nvSpPr>
        <p:spPr>
          <a:xfrm>
            <a:off x="131177" y="1306598"/>
            <a:ext cx="5515021" cy="403785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steps in the scenario should be </a:t>
            </a:r>
            <a:r>
              <a:rPr lang="en-US" dirty="0">
                <a:solidFill>
                  <a:srgbClr val="A32D19"/>
                </a:solidFill>
              </a:rPr>
              <a:t>logical commands</a:t>
            </a:r>
            <a:r>
              <a:rPr lang="en-US" dirty="0"/>
              <a:t>, not individual button clicks. </a:t>
            </a:r>
          </a:p>
          <a:p>
            <a:r>
              <a:rPr lang="en-US" dirty="0"/>
              <a:t>You can specify the exact syntax of input. </a:t>
            </a:r>
          </a:p>
          <a:p>
            <a:r>
              <a:rPr lang="en-US" dirty="0"/>
              <a:t>Start with the simplest </a:t>
            </a:r>
            <a:r>
              <a:rPr lang="en-US" dirty="0">
                <a:solidFill>
                  <a:srgbClr val="A32D19"/>
                </a:solidFill>
              </a:rPr>
              <a:t>mainline </a:t>
            </a:r>
            <a:r>
              <a:rPr lang="en-US" dirty="0" smtClean="0">
                <a:solidFill>
                  <a:srgbClr val="A32D19"/>
                </a:solidFill>
              </a:rPr>
              <a:t>interaction - </a:t>
            </a:r>
            <a:r>
              <a:rPr lang="en-US" dirty="0">
                <a:solidFill>
                  <a:srgbClr val="A32D19"/>
                </a:solidFill>
              </a:rPr>
              <a:t>no </a:t>
            </a:r>
            <a:r>
              <a:rPr lang="en-US" dirty="0" smtClean="0">
                <a:solidFill>
                  <a:srgbClr val="A32D19"/>
                </a:solidFill>
              </a:rPr>
              <a:t>repetitions,</a:t>
            </a:r>
            <a:r>
              <a:rPr lang="en-US" dirty="0" smtClean="0"/>
              <a:t> </a:t>
            </a:r>
            <a:r>
              <a:rPr lang="en-US" dirty="0"/>
              <a:t>one main activity, and typical values for all parameters. </a:t>
            </a:r>
          </a:p>
          <a:p>
            <a:r>
              <a:rPr lang="en-US" dirty="0"/>
              <a:t>If there are substantially different mainline interactions, </a:t>
            </a:r>
            <a:r>
              <a:rPr lang="en-US" dirty="0">
                <a:solidFill>
                  <a:srgbClr val="A32D19"/>
                </a:solidFill>
              </a:rPr>
              <a:t>write a scenario for each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DF8EBEE-3833-437D-AB51-375883D5F064}"/>
              </a:ext>
            </a:extLst>
          </p:cNvPr>
          <p:cNvSpPr/>
          <p:nvPr/>
        </p:nvSpPr>
        <p:spPr>
          <a:xfrm>
            <a:off x="131178" y="786878"/>
            <a:ext cx="5515020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Prepare at least one scenario per use case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="" xmlns:a16="http://schemas.microsoft.com/office/drawing/2014/main" id="{94796786-A1C3-4AFD-ADE3-326BCB2942B1}"/>
              </a:ext>
            </a:extLst>
          </p:cNvPr>
          <p:cNvSpPr txBox="1">
            <a:spLocks/>
          </p:cNvSpPr>
          <p:nvPr/>
        </p:nvSpPr>
        <p:spPr>
          <a:xfrm>
            <a:off x="5983551" y="1407669"/>
            <a:ext cx="5938186" cy="1963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sequence diagrams clearly show the </a:t>
            </a:r>
            <a:r>
              <a:rPr lang="en-US" dirty="0">
                <a:solidFill>
                  <a:srgbClr val="A32D19"/>
                </a:solidFill>
              </a:rPr>
              <a:t>contribution of each actor</a:t>
            </a:r>
            <a:r>
              <a:rPr lang="en-US" dirty="0"/>
              <a:t>. </a:t>
            </a:r>
          </a:p>
          <a:p>
            <a:r>
              <a:rPr lang="en-US" dirty="0"/>
              <a:t>It is important to </a:t>
            </a:r>
            <a:r>
              <a:rPr lang="en-US" dirty="0">
                <a:solidFill>
                  <a:srgbClr val="A32D19"/>
                </a:solidFill>
              </a:rPr>
              <a:t>separate the contribution </a:t>
            </a:r>
            <a:r>
              <a:rPr lang="en-US" dirty="0"/>
              <a:t>of each actor as a prelude to organizing behavior about objects.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DD88B961-4ED6-4BE1-8740-60F807FADACF}"/>
              </a:ext>
            </a:extLst>
          </p:cNvPr>
          <p:cNvSpPr/>
          <p:nvPr/>
        </p:nvSpPr>
        <p:spPr>
          <a:xfrm>
            <a:off x="5956917" y="810573"/>
            <a:ext cx="6081203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Abstract the scenarios into sequence diagrams.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="" xmlns:a16="http://schemas.microsoft.com/office/drawing/2014/main" id="{5D0E2269-A839-4DC6-9B39-227CA4D50AED}"/>
              </a:ext>
            </a:extLst>
          </p:cNvPr>
          <p:cNvSpPr txBox="1">
            <a:spLocks/>
          </p:cNvSpPr>
          <p:nvPr/>
        </p:nvSpPr>
        <p:spPr>
          <a:xfrm>
            <a:off x="5956917" y="3996784"/>
            <a:ext cx="5964820" cy="1162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A32D19"/>
                </a:solidFill>
              </a:rPr>
              <a:t>Break</a:t>
            </a:r>
            <a:r>
              <a:rPr lang="en-US" dirty="0"/>
              <a:t> </a:t>
            </a:r>
            <a:r>
              <a:rPr lang="en-US" dirty="0">
                <a:solidFill>
                  <a:srgbClr val="A32D19"/>
                </a:solidFill>
              </a:rPr>
              <a:t>large interactions </a:t>
            </a:r>
            <a:r>
              <a:rPr lang="en-US" dirty="0"/>
              <a:t>into their constituent </a:t>
            </a:r>
            <a:r>
              <a:rPr lang="en-US" dirty="0">
                <a:solidFill>
                  <a:srgbClr val="A32D19"/>
                </a:solidFill>
              </a:rPr>
              <a:t>tasks</a:t>
            </a:r>
            <a:r>
              <a:rPr lang="en-US" dirty="0"/>
              <a:t> and </a:t>
            </a:r>
            <a:r>
              <a:rPr lang="en-US" dirty="0">
                <a:solidFill>
                  <a:srgbClr val="A32D19"/>
                </a:solidFill>
              </a:rPr>
              <a:t>prepare a sequence diagram for each of them</a:t>
            </a:r>
            <a:r>
              <a:rPr lang="en-US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97B1E54D-1D6A-4F56-AE58-2C2BAB9C0134}"/>
              </a:ext>
            </a:extLst>
          </p:cNvPr>
          <p:cNvSpPr/>
          <p:nvPr/>
        </p:nvSpPr>
        <p:spPr>
          <a:xfrm>
            <a:off x="5956917" y="3417374"/>
            <a:ext cx="6081203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Divide complex interactions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="" xmlns:a16="http://schemas.microsoft.com/office/drawing/2014/main" id="{EAC7A833-D6F8-4B0E-A857-6C7761CC72A0}"/>
              </a:ext>
            </a:extLst>
          </p:cNvPr>
          <p:cNvSpPr txBox="1">
            <a:spLocks/>
          </p:cNvSpPr>
          <p:nvPr/>
        </p:nvSpPr>
        <p:spPr>
          <a:xfrm>
            <a:off x="131177" y="6048630"/>
            <a:ext cx="9074967" cy="45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Show the system </a:t>
            </a:r>
            <a:r>
              <a:rPr lang="en-US" dirty="0">
                <a:solidFill>
                  <a:srgbClr val="A32D19"/>
                </a:solidFill>
              </a:rPr>
              <a:t>response to the error condition</a:t>
            </a:r>
            <a:r>
              <a:rPr lang="en-US" dirty="0"/>
              <a:t>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BD8F6C5-0C3B-4CFD-BD83-9472D4135100}"/>
              </a:ext>
            </a:extLst>
          </p:cNvPr>
          <p:cNvSpPr/>
          <p:nvPr/>
        </p:nvSpPr>
        <p:spPr>
          <a:xfrm>
            <a:off x="131177" y="5494736"/>
            <a:ext cx="6660240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Prepare a sequence diagram for each error condition.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C1C20DEF-93AE-44F3-B2BE-A62F6379C996}"/>
              </a:ext>
            </a:extLst>
          </p:cNvPr>
          <p:cNvCxnSpPr/>
          <p:nvPr/>
        </p:nvCxnSpPr>
        <p:spPr>
          <a:xfrm>
            <a:off x="5814874" y="810573"/>
            <a:ext cx="0" cy="453387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31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5" grpId="0" animBg="1"/>
      <p:bldP spid="11" grpId="0" build="p"/>
      <p:bldP spid="12" grpId="0" animBg="1"/>
      <p:bldP spid="17" grpId="0"/>
      <p:bldP spid="18" grpId="0" animBg="1"/>
      <p:bldP spid="14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Steps </a:t>
            </a:r>
            <a:r>
              <a:rPr lang="en-US" dirty="0">
                <a:latin typeface="+mn-lt"/>
              </a:rPr>
              <a:t>to Draw a </a:t>
            </a:r>
            <a:r>
              <a:rPr lang="en-US" dirty="0"/>
              <a:t>Sequence Diagram</a:t>
            </a:r>
            <a:endParaRPr lang="en-US" dirty="0">
              <a:latin typeface="+mn-lt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61258" y="931811"/>
            <a:ext cx="11088913" cy="461665"/>
            <a:chOff x="261258" y="931811"/>
            <a:chExt cx="11088913" cy="461665"/>
          </a:xfrm>
        </p:grpSpPr>
        <p:sp>
          <p:nvSpPr>
            <p:cNvPr id="4" name="Rectangle 3"/>
            <p:cNvSpPr/>
            <p:nvPr/>
          </p:nvSpPr>
          <p:spPr>
            <a:xfrm>
              <a:off x="1444111" y="931811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 smtClean="0"/>
                <a:t>Select </a:t>
              </a:r>
              <a:r>
                <a:rPr lang="en-IN" sz="2400" dirty="0"/>
                <a:t>one </a:t>
              </a:r>
              <a:r>
                <a:rPr lang="en-US" sz="2400" dirty="0"/>
                <a:t>scenario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1258" y="931812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Step-1</a:t>
              </a:r>
              <a:endParaRPr lang="en-US" sz="2800" b="1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1258" y="1641642"/>
            <a:ext cx="11088913" cy="461665"/>
            <a:chOff x="261258" y="1427557"/>
            <a:chExt cx="11088913" cy="461665"/>
          </a:xfrm>
        </p:grpSpPr>
        <p:sp>
          <p:nvSpPr>
            <p:cNvPr id="5" name="Rectangle 4"/>
            <p:cNvSpPr/>
            <p:nvPr/>
          </p:nvSpPr>
          <p:spPr>
            <a:xfrm>
              <a:off x="1444111" y="1427557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/>
                <a:t>Identify the </a:t>
              </a:r>
              <a:r>
                <a:rPr lang="en-US" sz="2400" dirty="0"/>
                <a:t>necessary </a:t>
              </a:r>
              <a:r>
                <a:rPr lang="en-US" sz="2400" dirty="0">
                  <a:solidFill>
                    <a:srgbClr val="A32D19"/>
                  </a:solidFill>
                </a:rPr>
                <a:t>set of the objects</a:t>
              </a:r>
              <a:r>
                <a:rPr lang="en-US" sz="2400" dirty="0"/>
                <a:t>. Who is taking part ?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1258" y="1427558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</a:t>
              </a:r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1258" y="2351473"/>
            <a:ext cx="11088913" cy="461665"/>
            <a:chOff x="261258" y="1923303"/>
            <a:chExt cx="11088913" cy="461665"/>
          </a:xfrm>
        </p:grpSpPr>
        <p:sp>
          <p:nvSpPr>
            <p:cNvPr id="6" name="Rectangle 5"/>
            <p:cNvSpPr/>
            <p:nvPr/>
          </p:nvSpPr>
          <p:spPr>
            <a:xfrm>
              <a:off x="1444111" y="1923303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/>
                <a:t>Identify the </a:t>
              </a:r>
              <a:r>
                <a:rPr lang="en-US" sz="2400" dirty="0"/>
                <a:t>necessary </a:t>
              </a:r>
              <a:r>
                <a:rPr lang="en-US" sz="2400" dirty="0">
                  <a:solidFill>
                    <a:srgbClr val="A32D19"/>
                  </a:solidFill>
                </a:rPr>
                <a:t>interactions/steps</a:t>
              </a:r>
              <a:r>
                <a:rPr lang="en-US" sz="2400" dirty="0"/>
                <a:t>.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1258" y="1923304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</a:t>
              </a:r>
              <a:r>
                <a:rPr lang="en-US" sz="2800" b="1" dirty="0" smtClean="0"/>
                <a:t>3</a:t>
              </a:r>
              <a:endParaRPr lang="en-US" sz="2800" b="1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61258" y="3061304"/>
            <a:ext cx="11088913" cy="461665"/>
            <a:chOff x="261258" y="2419049"/>
            <a:chExt cx="11088913" cy="461665"/>
          </a:xfrm>
        </p:grpSpPr>
        <p:sp>
          <p:nvSpPr>
            <p:cNvPr id="7" name="Rectangle 6"/>
            <p:cNvSpPr/>
            <p:nvPr/>
          </p:nvSpPr>
          <p:spPr>
            <a:xfrm>
              <a:off x="1444111" y="2419049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Describe </a:t>
              </a:r>
              <a:r>
                <a:rPr lang="en-US" sz="2400" dirty="0">
                  <a:solidFill>
                    <a:srgbClr val="A32D19"/>
                  </a:solidFill>
                </a:rPr>
                <a:t>the message exchange between object</a:t>
              </a:r>
              <a:r>
                <a:rPr lang="en-US" sz="2400" dirty="0"/>
                <a:t>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1258" y="2419049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</a:t>
              </a:r>
              <a:r>
                <a:rPr lang="en-US" sz="2800" b="1" dirty="0" smtClean="0"/>
                <a:t>4</a:t>
              </a:r>
              <a:endParaRPr lang="en-US" sz="2800" b="1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61258" y="3771137"/>
            <a:ext cx="11088913" cy="461665"/>
            <a:chOff x="261258" y="2914795"/>
            <a:chExt cx="11088913" cy="461665"/>
          </a:xfrm>
        </p:grpSpPr>
        <p:sp>
          <p:nvSpPr>
            <p:cNvPr id="8" name="Rectangle 7"/>
            <p:cNvSpPr/>
            <p:nvPr/>
          </p:nvSpPr>
          <p:spPr>
            <a:xfrm>
              <a:off x="1444111" y="2914795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Identify the </a:t>
              </a:r>
              <a:r>
                <a:rPr lang="en-US" sz="2400" dirty="0">
                  <a:solidFill>
                    <a:srgbClr val="A32D19"/>
                  </a:solidFill>
                </a:rPr>
                <a:t>sequence of interactions </a:t>
              </a:r>
              <a:r>
                <a:rPr lang="en-US" sz="2400" dirty="0"/>
                <a:t>and who starts Interactions.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1258" y="2914796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</a:t>
              </a:r>
              <a:r>
                <a:rPr lang="en-US" sz="2800" b="1" dirty="0" smtClean="0"/>
                <a:t>5</a:t>
              </a:r>
              <a:endParaRPr 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5460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Example: Sequence Diagram </a:t>
            </a:r>
            <a:r>
              <a:rPr lang="en-US" dirty="0" smtClean="0">
                <a:latin typeface="+mn-lt"/>
              </a:rPr>
              <a:t>for </a:t>
            </a:r>
            <a:r>
              <a:rPr lang="en-US" dirty="0">
                <a:latin typeface="+mn-lt"/>
              </a:rPr>
              <a:t>Book Issue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9"/>
            <a:ext cx="11929641" cy="190457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Book </a:t>
            </a:r>
            <a:r>
              <a:rPr lang="en-US" b="1" dirty="0">
                <a:solidFill>
                  <a:srgbClr val="C00000"/>
                </a:solidFill>
              </a:rPr>
              <a:t>issue</a:t>
            </a:r>
            <a:r>
              <a:rPr lang="en-US" dirty="0">
                <a:solidFill>
                  <a:srgbClr val="A32D19"/>
                </a:solidFill>
              </a:rPr>
              <a:t> </a:t>
            </a:r>
            <a:r>
              <a:rPr lang="en-US" dirty="0"/>
              <a:t>is a one business process or a </a:t>
            </a:r>
            <a:r>
              <a:rPr lang="en-US" dirty="0" smtClean="0">
                <a:solidFill>
                  <a:srgbClr val="A32D19"/>
                </a:solidFill>
              </a:rPr>
              <a:t>function </a:t>
            </a:r>
            <a:r>
              <a:rPr lang="en-US" dirty="0"/>
              <a:t>i</a:t>
            </a:r>
            <a:r>
              <a:rPr lang="en-US" dirty="0" smtClean="0"/>
              <a:t>n Library Management System.</a:t>
            </a:r>
            <a:endParaRPr lang="en-US" dirty="0"/>
          </a:p>
          <a:p>
            <a:r>
              <a:rPr lang="en-US" dirty="0"/>
              <a:t>Necessary </a:t>
            </a:r>
            <a:r>
              <a:rPr lang="en-US" b="1" dirty="0" smtClean="0"/>
              <a:t>objects </a:t>
            </a:r>
            <a:r>
              <a:rPr lang="en-US" b="1" dirty="0"/>
              <a:t>for book issue process </a:t>
            </a:r>
            <a:r>
              <a:rPr lang="en-US" dirty="0" smtClean="0"/>
              <a:t>are </a:t>
            </a:r>
            <a:r>
              <a:rPr lang="en-US" b="1" dirty="0">
                <a:solidFill>
                  <a:srgbClr val="C00000"/>
                </a:solidFill>
              </a:rPr>
              <a:t>Librarian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Book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Member</a:t>
            </a:r>
            <a:r>
              <a:rPr lang="en-US" dirty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Transaction</a:t>
            </a:r>
            <a:r>
              <a:rPr lang="en-US" dirty="0"/>
              <a:t> .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 smtClean="0"/>
              <a:t>Member </a:t>
            </a:r>
            <a:r>
              <a:rPr lang="en-US" dirty="0"/>
              <a:t>class object </a:t>
            </a:r>
            <a:r>
              <a:rPr lang="en-US" dirty="0" smtClean="0"/>
              <a:t>starts </a:t>
            </a:r>
            <a:r>
              <a:rPr lang="en-US" dirty="0"/>
              <a:t>the </a:t>
            </a:r>
            <a:r>
              <a:rPr lang="en-US" dirty="0" smtClean="0"/>
              <a:t>interaction.</a:t>
            </a:r>
            <a:endParaRPr lang="en-US" dirty="0"/>
          </a:p>
          <a:p>
            <a:r>
              <a:rPr lang="en-US" dirty="0" smtClean="0"/>
              <a:t>Various </a:t>
            </a:r>
            <a:r>
              <a:rPr lang="en-US" b="1" dirty="0" smtClean="0"/>
              <a:t>interactions</a:t>
            </a:r>
            <a:r>
              <a:rPr lang="en-US" dirty="0" smtClean="0"/>
              <a:t> </a:t>
            </a:r>
            <a:r>
              <a:rPr lang="en-US" dirty="0"/>
              <a:t>in book issue </a:t>
            </a:r>
            <a:r>
              <a:rPr lang="en-US" dirty="0" smtClean="0"/>
              <a:t>process are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589253" y="2761081"/>
            <a:ext cx="7714400" cy="461665"/>
            <a:chOff x="1589253" y="2875381"/>
            <a:chExt cx="7714400" cy="461665"/>
          </a:xfrm>
        </p:grpSpPr>
        <p:sp>
          <p:nvSpPr>
            <p:cNvPr id="3" name="Rectangle 2"/>
            <p:cNvSpPr/>
            <p:nvPr/>
          </p:nvSpPr>
          <p:spPr>
            <a:xfrm>
              <a:off x="2010167" y="2875381"/>
              <a:ext cx="7293486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Request for a book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89253" y="2875382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1</a:t>
              </a:r>
              <a:endParaRPr lang="en-US" sz="2800" b="1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89253" y="3293022"/>
            <a:ext cx="7714399" cy="461665"/>
            <a:chOff x="1589253" y="3371127"/>
            <a:chExt cx="7714399" cy="461665"/>
          </a:xfrm>
        </p:grpSpPr>
        <p:sp>
          <p:nvSpPr>
            <p:cNvPr id="4" name="Rectangle 3"/>
            <p:cNvSpPr/>
            <p:nvPr/>
          </p:nvSpPr>
          <p:spPr>
            <a:xfrm>
              <a:off x="2010167" y="3371127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Check availability of book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589253" y="337112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589253" y="3824963"/>
            <a:ext cx="7714399" cy="461665"/>
            <a:chOff x="1589253" y="3866873"/>
            <a:chExt cx="7714399" cy="461665"/>
          </a:xfrm>
        </p:grpSpPr>
        <p:sp>
          <p:nvSpPr>
            <p:cNvPr id="5" name="Rectangle 4"/>
            <p:cNvSpPr/>
            <p:nvPr/>
          </p:nvSpPr>
          <p:spPr>
            <a:xfrm>
              <a:off x="2010167" y="3866873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Validate the member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89253" y="3866874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589253" y="4356904"/>
            <a:ext cx="7714399" cy="461665"/>
            <a:chOff x="1589253" y="4362619"/>
            <a:chExt cx="7714399" cy="461665"/>
          </a:xfrm>
        </p:grpSpPr>
        <p:sp>
          <p:nvSpPr>
            <p:cNvPr id="6" name="Rectangle 5"/>
            <p:cNvSpPr/>
            <p:nvPr/>
          </p:nvSpPr>
          <p:spPr>
            <a:xfrm>
              <a:off x="2010167" y="4362619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Check No. of books issued by member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89253" y="4362619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4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589253" y="4888845"/>
            <a:ext cx="7714399" cy="461665"/>
            <a:chOff x="1589253" y="4858365"/>
            <a:chExt cx="7714399" cy="461665"/>
          </a:xfrm>
        </p:grpSpPr>
        <p:sp>
          <p:nvSpPr>
            <p:cNvPr id="7" name="Rectangle 6"/>
            <p:cNvSpPr/>
            <p:nvPr/>
          </p:nvSpPr>
          <p:spPr>
            <a:xfrm>
              <a:off x="2010167" y="4858365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Add book issue details to transaction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589253" y="4858366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5</a:t>
              </a:r>
              <a:endParaRPr lang="en-US" sz="2800" b="1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589253" y="5420786"/>
            <a:ext cx="7714399" cy="461665"/>
            <a:chOff x="1589253" y="5354111"/>
            <a:chExt cx="7714399" cy="461665"/>
          </a:xfrm>
        </p:grpSpPr>
        <p:sp>
          <p:nvSpPr>
            <p:cNvPr id="8" name="Rectangle 7"/>
            <p:cNvSpPr/>
            <p:nvPr/>
          </p:nvSpPr>
          <p:spPr>
            <a:xfrm>
              <a:off x="2010167" y="5354111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Update no of book issued by member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89253" y="5354111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6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589253" y="5952728"/>
            <a:ext cx="7714399" cy="461665"/>
            <a:chOff x="1589253" y="5849858"/>
            <a:chExt cx="7714399" cy="461665"/>
          </a:xfrm>
        </p:grpSpPr>
        <p:sp>
          <p:nvSpPr>
            <p:cNvPr id="9" name="Rectangle 8"/>
            <p:cNvSpPr/>
            <p:nvPr/>
          </p:nvSpPr>
          <p:spPr>
            <a:xfrm>
              <a:off x="2010167" y="5849858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Update book </a:t>
              </a:r>
              <a:r>
                <a:rPr lang="en-US" sz="2400" dirty="0" smtClean="0"/>
                <a:t>status</a:t>
              </a:r>
              <a:endParaRPr lang="en-US" sz="240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589253" y="5849859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7</a:t>
              </a:r>
              <a:endParaRPr 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7159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Sequence Diagram </a:t>
            </a:r>
            <a:r>
              <a:rPr lang="en-US" dirty="0" smtClean="0">
                <a:latin typeface="+mn-lt"/>
              </a:rPr>
              <a:t>for </a:t>
            </a:r>
            <a:r>
              <a:rPr lang="en-US" dirty="0">
                <a:latin typeface="+mn-lt"/>
              </a:rPr>
              <a:t>Book Issue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="" xmlns:a16="http://schemas.microsoft.com/office/drawing/2014/main" id="{6135762D-C12F-4083-907C-60AD94310741}"/>
              </a:ext>
            </a:extLst>
          </p:cNvPr>
          <p:cNvCxnSpPr>
            <a:stCxn id="135" idx="2"/>
          </p:cNvCxnSpPr>
          <p:nvPr/>
        </p:nvCxnSpPr>
        <p:spPr>
          <a:xfrm>
            <a:off x="9105900" y="1529178"/>
            <a:ext cx="0" cy="472440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="" xmlns:a16="http://schemas.microsoft.com/office/drawing/2014/main" id="{A2F6A2D4-D0E5-4ADC-9917-94473EDFC0B0}"/>
              </a:ext>
            </a:extLst>
          </p:cNvPr>
          <p:cNvSpPr/>
          <p:nvPr/>
        </p:nvSpPr>
        <p:spPr>
          <a:xfrm>
            <a:off x="1206500" y="1071979"/>
            <a:ext cx="18669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L:Librarian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="" xmlns:a16="http://schemas.microsoft.com/office/drawing/2014/main" id="{B2799F0A-18C5-4DBF-AF11-CAB8F53FAB45}"/>
              </a:ext>
            </a:extLst>
          </p:cNvPr>
          <p:cNvSpPr/>
          <p:nvPr/>
        </p:nvSpPr>
        <p:spPr>
          <a:xfrm>
            <a:off x="5016500" y="1081102"/>
            <a:ext cx="12954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B:Book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="" xmlns:a16="http://schemas.microsoft.com/office/drawing/2014/main" id="{ADCE78F4-A451-4D29-BBF1-8A972DA8B1CF}"/>
              </a:ext>
            </a:extLst>
          </p:cNvPr>
          <p:cNvSpPr/>
          <p:nvPr/>
        </p:nvSpPr>
        <p:spPr>
          <a:xfrm>
            <a:off x="7962900" y="1071978"/>
            <a:ext cx="22860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MR: Member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="" xmlns:a16="http://schemas.microsoft.com/office/drawing/2014/main" id="{1F91E5DA-F1FE-463F-96D2-02289BC0EC75}"/>
              </a:ext>
            </a:extLst>
          </p:cNvPr>
          <p:cNvCxnSpPr>
            <a:stCxn id="133" idx="2"/>
          </p:cNvCxnSpPr>
          <p:nvPr/>
        </p:nvCxnSpPr>
        <p:spPr>
          <a:xfrm flipH="1">
            <a:off x="2133600" y="1529179"/>
            <a:ext cx="6350" cy="464820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="" xmlns:a16="http://schemas.microsoft.com/office/drawing/2014/main" id="{60B17DEF-1588-42FD-A5D7-52854EAFECF4}"/>
              </a:ext>
            </a:extLst>
          </p:cNvPr>
          <p:cNvSpPr/>
          <p:nvPr/>
        </p:nvSpPr>
        <p:spPr>
          <a:xfrm>
            <a:off x="2057400" y="1615736"/>
            <a:ext cx="152389" cy="42568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="" xmlns:a16="http://schemas.microsoft.com/office/drawing/2014/main" id="{727A2D33-E598-42FC-AA77-E1D34CFAAD72}"/>
              </a:ext>
            </a:extLst>
          </p:cNvPr>
          <p:cNvCxnSpPr>
            <a:cxnSpLocks/>
          </p:cNvCxnSpPr>
          <p:nvPr/>
        </p:nvCxnSpPr>
        <p:spPr>
          <a:xfrm>
            <a:off x="2209789" y="2135831"/>
            <a:ext cx="3378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="" xmlns:a16="http://schemas.microsoft.com/office/drawing/2014/main" id="{07C33CBD-4916-4B32-A874-CA4D58933E35}"/>
              </a:ext>
            </a:extLst>
          </p:cNvPr>
          <p:cNvCxnSpPr/>
          <p:nvPr/>
        </p:nvCxnSpPr>
        <p:spPr>
          <a:xfrm flipH="1">
            <a:off x="2209789" y="2839387"/>
            <a:ext cx="337821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="" xmlns:a16="http://schemas.microsoft.com/office/drawing/2014/main" id="{8FD10839-7286-4679-A9B1-F9EA32C4AC2A}"/>
              </a:ext>
            </a:extLst>
          </p:cNvPr>
          <p:cNvSpPr/>
          <p:nvPr/>
        </p:nvSpPr>
        <p:spPr>
          <a:xfrm>
            <a:off x="9029700" y="3005841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="" xmlns:a16="http://schemas.microsoft.com/office/drawing/2014/main" id="{028A30DD-39C3-4D55-B3A9-75BBC3B65C94}"/>
              </a:ext>
            </a:extLst>
          </p:cNvPr>
          <p:cNvSpPr/>
          <p:nvPr/>
        </p:nvSpPr>
        <p:spPr>
          <a:xfrm>
            <a:off x="9029700" y="3615441"/>
            <a:ext cx="152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="" xmlns:a16="http://schemas.microsoft.com/office/drawing/2014/main" id="{EBEB2250-84BA-4BE7-896E-75A47B4019AB}"/>
              </a:ext>
            </a:extLst>
          </p:cNvPr>
          <p:cNvSpPr/>
          <p:nvPr/>
        </p:nvSpPr>
        <p:spPr>
          <a:xfrm>
            <a:off x="9029700" y="5520441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="" xmlns:a16="http://schemas.microsoft.com/office/drawing/2014/main" id="{F65F942E-2318-412F-94C9-9D44E3B71C5E}"/>
              </a:ext>
            </a:extLst>
          </p:cNvPr>
          <p:cNvCxnSpPr>
            <a:stCxn id="134" idx="2"/>
          </p:cNvCxnSpPr>
          <p:nvPr/>
        </p:nvCxnSpPr>
        <p:spPr>
          <a:xfrm>
            <a:off x="5664200" y="1538302"/>
            <a:ext cx="0" cy="463907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="" xmlns:a16="http://schemas.microsoft.com/office/drawing/2014/main" id="{A72CCAA6-C73D-4EA2-BA3C-1E7F6FE54B83}"/>
              </a:ext>
            </a:extLst>
          </p:cNvPr>
          <p:cNvSpPr/>
          <p:nvPr/>
        </p:nvSpPr>
        <p:spPr>
          <a:xfrm>
            <a:off x="5588000" y="2091441"/>
            <a:ext cx="152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="" xmlns:a16="http://schemas.microsoft.com/office/drawing/2014/main" id="{A38013FE-1D18-4A12-B010-006902551149}"/>
              </a:ext>
            </a:extLst>
          </p:cNvPr>
          <p:cNvSpPr/>
          <p:nvPr/>
        </p:nvSpPr>
        <p:spPr>
          <a:xfrm>
            <a:off x="5588000" y="5063241"/>
            <a:ext cx="1524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="" xmlns:a16="http://schemas.microsoft.com/office/drawing/2014/main" id="{2ACFFA1A-5AE4-44CB-A21A-4071201CAE17}"/>
              </a:ext>
            </a:extLst>
          </p:cNvPr>
          <p:cNvCxnSpPr/>
          <p:nvPr/>
        </p:nvCxnSpPr>
        <p:spPr>
          <a:xfrm>
            <a:off x="2209789" y="3005841"/>
            <a:ext cx="6807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="" xmlns:a16="http://schemas.microsoft.com/office/drawing/2014/main" id="{7C42070B-CA3C-4C1B-9DA6-7A645A0FEF42}"/>
              </a:ext>
            </a:extLst>
          </p:cNvPr>
          <p:cNvCxnSpPr/>
          <p:nvPr/>
        </p:nvCxnSpPr>
        <p:spPr>
          <a:xfrm>
            <a:off x="2209789" y="3691641"/>
            <a:ext cx="6807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="" xmlns:a16="http://schemas.microsoft.com/office/drawing/2014/main" id="{D1F3C4DF-4CEC-45F3-9260-90830A2261F6}"/>
              </a:ext>
            </a:extLst>
          </p:cNvPr>
          <p:cNvCxnSpPr/>
          <p:nvPr/>
        </p:nvCxnSpPr>
        <p:spPr>
          <a:xfrm flipH="1">
            <a:off x="2209789" y="4424051"/>
            <a:ext cx="6807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="" xmlns:a16="http://schemas.microsoft.com/office/drawing/2014/main" id="{37C2AA9F-612D-4893-9AC5-B32274440FD8}"/>
              </a:ext>
            </a:extLst>
          </p:cNvPr>
          <p:cNvCxnSpPr/>
          <p:nvPr/>
        </p:nvCxnSpPr>
        <p:spPr>
          <a:xfrm>
            <a:off x="2209789" y="5063241"/>
            <a:ext cx="3378211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="" xmlns:a16="http://schemas.microsoft.com/office/drawing/2014/main" id="{1855B5FD-0F05-4371-83A4-A8907B8CC2E6}"/>
              </a:ext>
            </a:extLst>
          </p:cNvPr>
          <p:cNvCxnSpPr/>
          <p:nvPr/>
        </p:nvCxnSpPr>
        <p:spPr>
          <a:xfrm>
            <a:off x="2209789" y="5520441"/>
            <a:ext cx="680721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="" xmlns:a16="http://schemas.microsoft.com/office/drawing/2014/main" id="{67FC9A57-B506-4E71-A96A-008DAB88BAD9}"/>
              </a:ext>
            </a:extLst>
          </p:cNvPr>
          <p:cNvSpPr txBox="1"/>
          <p:nvPr/>
        </p:nvSpPr>
        <p:spPr>
          <a:xfrm>
            <a:off x="2775385" y="1862356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Check availability of book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="" xmlns:a16="http://schemas.microsoft.com/office/drawing/2014/main" id="{A4A5C79A-B160-4176-8E4B-2654229582AF}"/>
              </a:ext>
            </a:extLst>
          </p:cNvPr>
          <p:cNvSpPr txBox="1"/>
          <p:nvPr/>
        </p:nvSpPr>
        <p:spPr>
          <a:xfrm>
            <a:off x="2775385" y="2559349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3. Book available rack no.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="" xmlns:a16="http://schemas.microsoft.com/office/drawing/2014/main" id="{BAE7F5FA-4794-442C-A17B-9C7DD0BEFD6B}"/>
              </a:ext>
            </a:extLst>
          </p:cNvPr>
          <p:cNvSpPr txBox="1"/>
          <p:nvPr/>
        </p:nvSpPr>
        <p:spPr>
          <a:xfrm>
            <a:off x="5816600" y="272644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4. Validate </a:t>
            </a:r>
            <a:r>
              <a:rPr lang="en-US" sz="1600" b="1" dirty="0" smtClean="0"/>
              <a:t>Member</a:t>
            </a:r>
            <a:endParaRPr lang="en-US" sz="1600" b="1" dirty="0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="" xmlns:a16="http://schemas.microsoft.com/office/drawing/2014/main" id="{91A6588F-D90D-4332-BD2A-24ED5E4FC7E9}"/>
              </a:ext>
            </a:extLst>
          </p:cNvPr>
          <p:cNvCxnSpPr/>
          <p:nvPr/>
        </p:nvCxnSpPr>
        <p:spPr>
          <a:xfrm flipH="1">
            <a:off x="2209789" y="3381665"/>
            <a:ext cx="6807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="" xmlns:a16="http://schemas.microsoft.com/office/drawing/2014/main" id="{67C59D48-402D-44C3-9125-07E539E94C11}"/>
              </a:ext>
            </a:extLst>
          </p:cNvPr>
          <p:cNvSpPr txBox="1"/>
          <p:nvPr/>
        </p:nvSpPr>
        <p:spPr>
          <a:xfrm>
            <a:off x="2775385" y="3102265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5. Response for validation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="" xmlns:a16="http://schemas.microsoft.com/office/drawing/2014/main" id="{9A78CDB9-EE1D-463B-AEB7-C9C2D6DFBD4D}"/>
              </a:ext>
            </a:extLst>
          </p:cNvPr>
          <p:cNvSpPr txBox="1"/>
          <p:nvPr/>
        </p:nvSpPr>
        <p:spPr>
          <a:xfrm>
            <a:off x="5816600" y="341224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6. Check no of book issued  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="" xmlns:a16="http://schemas.microsoft.com/office/drawing/2014/main" id="{4C6BABAE-E8AC-4F9D-9F9A-F780DFA3E9D1}"/>
              </a:ext>
            </a:extLst>
          </p:cNvPr>
          <p:cNvSpPr txBox="1"/>
          <p:nvPr/>
        </p:nvSpPr>
        <p:spPr>
          <a:xfrm>
            <a:off x="5816600" y="413195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7. Book can be issued  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F1E79E61-2D3F-49DC-8107-001D71C7C9E6}"/>
              </a:ext>
            </a:extLst>
          </p:cNvPr>
          <p:cNvSpPr txBox="1"/>
          <p:nvPr/>
        </p:nvSpPr>
        <p:spPr>
          <a:xfrm>
            <a:off x="2775385" y="4783842"/>
            <a:ext cx="2955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8. Update book status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="" xmlns:a16="http://schemas.microsoft.com/office/drawing/2014/main" id="{812CBED1-9731-47D4-B4E1-8BE98472859F}"/>
              </a:ext>
            </a:extLst>
          </p:cNvPr>
          <p:cNvSpPr txBox="1"/>
          <p:nvPr/>
        </p:nvSpPr>
        <p:spPr>
          <a:xfrm>
            <a:off x="2775385" y="5253741"/>
            <a:ext cx="2955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9. Update member status</a:t>
            </a:r>
          </a:p>
        </p:txBody>
      </p:sp>
      <p:sp>
        <p:nvSpPr>
          <p:cNvPr id="160" name="Multiply 80">
            <a:extLst>
              <a:ext uri="{FF2B5EF4-FFF2-40B4-BE49-F238E27FC236}">
                <a16:creationId xmlns="" xmlns:a16="http://schemas.microsoft.com/office/drawing/2014/main" id="{D0E71194-0573-4FA8-AEF4-2E3EB78B57E6}"/>
              </a:ext>
            </a:extLst>
          </p:cNvPr>
          <p:cNvSpPr/>
          <p:nvPr/>
        </p:nvSpPr>
        <p:spPr>
          <a:xfrm>
            <a:off x="2057400" y="6099134"/>
            <a:ext cx="152400" cy="228600"/>
          </a:xfrm>
          <a:prstGeom prst="mathMultiply">
            <a:avLst/>
          </a:prstGeom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Multiply 81">
            <a:extLst>
              <a:ext uri="{FF2B5EF4-FFF2-40B4-BE49-F238E27FC236}">
                <a16:creationId xmlns="" xmlns:a16="http://schemas.microsoft.com/office/drawing/2014/main" id="{EB27AD04-013A-4DF1-838A-6B098034D9CA}"/>
              </a:ext>
            </a:extLst>
          </p:cNvPr>
          <p:cNvSpPr/>
          <p:nvPr/>
        </p:nvSpPr>
        <p:spPr>
          <a:xfrm>
            <a:off x="5582097" y="6098596"/>
            <a:ext cx="152400" cy="228600"/>
          </a:xfrm>
          <a:prstGeom prst="mathMultiply">
            <a:avLst/>
          </a:prstGeom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Multiply 82">
            <a:extLst>
              <a:ext uri="{FF2B5EF4-FFF2-40B4-BE49-F238E27FC236}">
                <a16:creationId xmlns="" xmlns:a16="http://schemas.microsoft.com/office/drawing/2014/main" id="{AD611142-66D9-4D64-AD21-A45BAD159B08}"/>
              </a:ext>
            </a:extLst>
          </p:cNvPr>
          <p:cNvSpPr/>
          <p:nvPr/>
        </p:nvSpPr>
        <p:spPr>
          <a:xfrm>
            <a:off x="9029700" y="6136158"/>
            <a:ext cx="152400" cy="228600"/>
          </a:xfrm>
          <a:prstGeom prst="mathMultiply">
            <a:avLst/>
          </a:prstGeom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4F3278B8-933C-475D-9C50-34EB04B6E19A}"/>
              </a:ext>
            </a:extLst>
          </p:cNvPr>
          <p:cNvSpPr/>
          <p:nvPr/>
        </p:nvSpPr>
        <p:spPr>
          <a:xfrm>
            <a:off x="9029700" y="1766019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5DAA2E7D-28AC-480D-A47F-2618E75A3C00}"/>
              </a:ext>
            </a:extLst>
          </p:cNvPr>
          <p:cNvCxnSpPr>
            <a:cxnSpLocks/>
          </p:cNvCxnSpPr>
          <p:nvPr/>
        </p:nvCxnSpPr>
        <p:spPr>
          <a:xfrm>
            <a:off x="2209789" y="1814371"/>
            <a:ext cx="6807211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BD5D1877-14B7-444A-BBEE-FF343B7B9D68}"/>
              </a:ext>
            </a:extLst>
          </p:cNvPr>
          <p:cNvSpPr txBox="1"/>
          <p:nvPr/>
        </p:nvSpPr>
        <p:spPr>
          <a:xfrm>
            <a:off x="2775385" y="1538481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Request for a book</a:t>
            </a:r>
          </a:p>
        </p:txBody>
      </p:sp>
    </p:spTree>
    <p:extLst>
      <p:ext uri="{BB962C8B-B14F-4D97-AF65-F5344CB8AC3E}">
        <p14:creationId xmlns:p14="http://schemas.microsoft.com/office/powerpoint/2010/main" val="65019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4" grpId="0" animBg="1"/>
      <p:bldP spid="135" grpId="0" animBg="1"/>
      <p:bldP spid="137" grpId="0" animBg="1"/>
      <p:bldP spid="140" grpId="0" animBg="1"/>
      <p:bldP spid="141" grpId="0" animBg="1"/>
      <p:bldP spid="142" grpId="0" animBg="1"/>
      <p:bldP spid="144" grpId="0" animBg="1"/>
      <p:bldP spid="145" grpId="0" animBg="1"/>
      <p:bldP spid="151" grpId="0"/>
      <p:bldP spid="152" grpId="0"/>
      <p:bldP spid="153" grpId="0"/>
      <p:bldP spid="155" grpId="0"/>
      <p:bldP spid="156" grpId="0"/>
      <p:bldP spid="157" grpId="0"/>
      <p:bldP spid="158" grpId="0"/>
      <p:bldP spid="159" grpId="0"/>
      <p:bldP spid="160" grpId="0" animBg="1"/>
      <p:bldP spid="161" grpId="0" animBg="1"/>
      <p:bldP spid="162" grpId="0" animBg="1"/>
      <p:bldP spid="35" grpId="0" animBg="1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145" y="2421082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32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D4EBEFF7470478324E53EDEEEB054" ma:contentTypeVersion="3" ma:contentTypeDescription="Create a new document." ma:contentTypeScope="" ma:versionID="b6c877c1dc40e70caf4ed1441861c67a">
  <xsd:schema xmlns:xsd="http://www.w3.org/2001/XMLSchema" xmlns:xs="http://www.w3.org/2001/XMLSchema" xmlns:p="http://schemas.microsoft.com/office/2006/metadata/properties" xmlns:ns2="90f73b58-fc9b-41f5-a9d0-0306e47cdf01" targetNamespace="http://schemas.microsoft.com/office/2006/metadata/properties" ma:root="true" ma:fieldsID="d34ada8c5e7c47e334716a783ca32266" ns2:_="">
    <xsd:import namespace="90f73b58-fc9b-41f5-a9d0-0306e47cd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73b58-fc9b-41f5-a9d0-0306e47cd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773BD3-302F-4BE6-8CAD-800EBF271F1F}"/>
</file>

<file path=customXml/itemProps2.xml><?xml version="1.0" encoding="utf-8"?>
<ds:datastoreItem xmlns:ds="http://schemas.openxmlformats.org/officeDocument/2006/customXml" ds:itemID="{97169544-AD63-4BEC-B0AC-3B964062CC9A}"/>
</file>

<file path=customXml/itemProps3.xml><?xml version="1.0" encoding="utf-8"?>
<ds:datastoreItem xmlns:ds="http://schemas.openxmlformats.org/officeDocument/2006/customXml" ds:itemID="{E97161F5-F9B1-4C9A-8C54-C880A1F5AA82}"/>
</file>

<file path=docProps/app.xml><?xml version="1.0" encoding="utf-8"?>
<Properties xmlns="http://schemas.openxmlformats.org/officeDocument/2006/extended-properties" xmlns:vt="http://schemas.openxmlformats.org/officeDocument/2006/docPropsVTypes">
  <TotalTime>5165</TotalTime>
  <Words>745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Wingdings</vt:lpstr>
      <vt:lpstr>Wingdings 3</vt:lpstr>
      <vt:lpstr>Calibri</vt:lpstr>
      <vt:lpstr>Roboto Condensed</vt:lpstr>
      <vt:lpstr>Arial</vt:lpstr>
      <vt:lpstr>Office Theme</vt:lpstr>
      <vt:lpstr>Behavioral Model</vt:lpstr>
      <vt:lpstr>Sequence Diagram </vt:lpstr>
      <vt:lpstr>Components of Sequence Diagram</vt:lpstr>
      <vt:lpstr>Components of Sequence Diagram Cont.</vt:lpstr>
      <vt:lpstr>Components of Sequence Diagram Cont.</vt:lpstr>
      <vt:lpstr>Guideline for Sequence Diagram</vt:lpstr>
      <vt:lpstr>Steps to Draw a Sequence Diagram</vt:lpstr>
      <vt:lpstr>Example: Sequence Diagram for Book Issue</vt:lpstr>
      <vt:lpstr>Sequence Diagram for Book Issue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Hargeet Kaur</cp:lastModifiedBy>
  <cp:revision>2280</cp:revision>
  <dcterms:created xsi:type="dcterms:W3CDTF">2020-05-01T05:09:15Z</dcterms:created>
  <dcterms:modified xsi:type="dcterms:W3CDTF">2025-07-18T09:44:06Z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0x010100850D4EBEFF7470478324E53EDEEEB054</vt:lpwstr>
  </property>
</Properties>
</file>