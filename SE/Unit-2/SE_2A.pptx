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486" r:id="rId2"/>
    <p:sldId id="458" r:id="rId3"/>
    <p:sldId id="461" r:id="rId4"/>
    <p:sldId id="462" r:id="rId5"/>
    <p:sldId id="463" r:id="rId6"/>
    <p:sldId id="464" r:id="rId7"/>
    <p:sldId id="465" r:id="rId8"/>
    <p:sldId id="466" r:id="rId9"/>
    <p:sldId id="467" r:id="rId10"/>
    <p:sldId id="468" r:id="rId11"/>
    <p:sldId id="469" r:id="rId12"/>
    <p:sldId id="471" r:id="rId13"/>
    <p:sldId id="470" r:id="rId14"/>
    <p:sldId id="472" r:id="rId15"/>
    <p:sldId id="473" r:id="rId16"/>
    <p:sldId id="474" r:id="rId17"/>
    <p:sldId id="476" r:id="rId18"/>
    <p:sldId id="480" r:id="rId19"/>
    <p:sldId id="482" r:id="rId20"/>
    <p:sldId id="485" r:id="rId21"/>
  </p:sldIdLst>
  <p:sldSz cx="12192000" cy="6858000"/>
  <p:notesSz cx="6858000" cy="9144000"/>
  <p:embeddedFontLst>
    <p:embeddedFont>
      <p:font typeface="Wingdings 3" panose="05040102010807070707" pitchFamily="18" charset="2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Roboto Condensed" panose="020B060402020202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2323"/>
    <a:srgbClr val="80DEEA"/>
    <a:srgbClr val="EEEEEE"/>
    <a:srgbClr val="E1F5FE"/>
    <a:srgbClr val="301B92"/>
    <a:srgbClr val="673BB7"/>
    <a:srgbClr val="607D8B"/>
    <a:srgbClr val="ED524F"/>
    <a:srgbClr val="B71B1C"/>
    <a:srgbClr val="F54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2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53311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2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xmlns="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72" r:id="rId5"/>
    <p:sldLayoutId id="2147483689" r:id="rId6"/>
    <p:sldLayoutId id="2147483690" r:id="rId7"/>
    <p:sldLayoutId id="2147483673" r:id="rId8"/>
    <p:sldLayoutId id="2147483691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66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Function Oriented Approach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80" y="1451429"/>
            <a:ext cx="11929641" cy="5002580"/>
          </a:xfrm>
        </p:spPr>
        <p:txBody>
          <a:bodyPr/>
          <a:lstStyle/>
          <a:p>
            <a:pPr marL="274638" indent="-457200">
              <a:buFont typeface="+mj-lt"/>
              <a:buAutoNum type="arabicPeriod"/>
            </a:pPr>
            <a:r>
              <a:rPr lang="en-US" dirty="0"/>
              <a:t>A system is </a:t>
            </a:r>
            <a:r>
              <a:rPr lang="en-US" b="1" dirty="0">
                <a:solidFill>
                  <a:srgbClr val="C00000"/>
                </a:solidFill>
              </a:rPr>
              <a:t>viewed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something that </a:t>
            </a:r>
            <a:r>
              <a:rPr lang="en-US" b="1" dirty="0">
                <a:solidFill>
                  <a:srgbClr val="C00000"/>
                </a:solidFill>
              </a:rPr>
              <a:t>performs a set of functions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Starting at this high level view of the system, </a:t>
            </a:r>
            <a:r>
              <a:rPr lang="en-US" b="1" dirty="0">
                <a:solidFill>
                  <a:srgbClr val="C00000"/>
                </a:solidFill>
              </a:rPr>
              <a:t>each function</a:t>
            </a:r>
            <a:r>
              <a:rPr lang="en-US" dirty="0"/>
              <a:t> is successively </a:t>
            </a:r>
            <a:r>
              <a:rPr lang="en-US" b="1" dirty="0">
                <a:solidFill>
                  <a:srgbClr val="C00000"/>
                </a:solidFill>
              </a:rPr>
              <a:t>refined into more detailed functions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example, consider a </a:t>
            </a:r>
            <a:r>
              <a:rPr lang="en-US" b="1" dirty="0"/>
              <a:t>function create-new-library member </a:t>
            </a:r>
          </a:p>
          <a:p>
            <a:pPr lvl="2"/>
            <a:r>
              <a:rPr lang="en-US" dirty="0"/>
              <a:t>which essentially creates the record for a new member, assigns a unique membership number to him, and prints a bill towards his membership charge. </a:t>
            </a:r>
          </a:p>
          <a:p>
            <a:pPr lvl="2"/>
            <a:r>
              <a:rPr lang="en-US" dirty="0"/>
              <a:t>This function may consist of the following </a:t>
            </a:r>
            <a:r>
              <a:rPr lang="en-US" b="1" dirty="0">
                <a:solidFill>
                  <a:srgbClr val="C00000"/>
                </a:solidFill>
              </a:rPr>
              <a:t>sub-functions</a:t>
            </a:r>
            <a:r>
              <a:rPr lang="en-US" dirty="0"/>
              <a:t>:</a:t>
            </a:r>
          </a:p>
          <a:p>
            <a:pPr lvl="3"/>
            <a:r>
              <a:rPr lang="en-US" b="1" dirty="0">
                <a:solidFill>
                  <a:srgbClr val="C00000"/>
                </a:solidFill>
              </a:rPr>
              <a:t>assign-membership-number, create-member-record and print-bill</a:t>
            </a:r>
          </a:p>
          <a:p>
            <a:pPr lvl="1"/>
            <a:r>
              <a:rPr lang="en-US" dirty="0"/>
              <a:t>Each of these sub-functions may be split into more detailed sub-functions and so on</a:t>
            </a:r>
            <a:r>
              <a:rPr lang="en-US" dirty="0" smtClean="0"/>
              <a:t>.</a:t>
            </a:r>
          </a:p>
          <a:p>
            <a:pPr marL="274638" indent="-457200">
              <a:buFont typeface="+mj-lt"/>
              <a:buAutoNum type="arabicPeriod"/>
            </a:pPr>
            <a:r>
              <a:rPr lang="en-US" dirty="0"/>
              <a:t>The system </a:t>
            </a:r>
            <a:r>
              <a:rPr lang="en-US" b="1" dirty="0">
                <a:solidFill>
                  <a:srgbClr val="C00000"/>
                </a:solidFill>
              </a:rPr>
              <a:t>state is centralized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shared among different functions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Ex., data such as </a:t>
            </a:r>
            <a:r>
              <a:rPr lang="en-US" b="1" dirty="0">
                <a:solidFill>
                  <a:srgbClr val="C00000"/>
                </a:solidFill>
              </a:rPr>
              <a:t>member-records</a:t>
            </a:r>
            <a:r>
              <a:rPr lang="en-US" dirty="0"/>
              <a:t> is available for reference and updating to several functions such as:</a:t>
            </a:r>
          </a:p>
          <a:p>
            <a:pPr lvl="2"/>
            <a:r>
              <a:rPr lang="en-US" dirty="0"/>
              <a:t>create-new-member</a:t>
            </a:r>
          </a:p>
          <a:p>
            <a:pPr lvl="2"/>
            <a:r>
              <a:rPr lang="en-US" dirty="0"/>
              <a:t>delete-member</a:t>
            </a:r>
          </a:p>
          <a:p>
            <a:pPr lvl="2"/>
            <a:r>
              <a:rPr lang="en-US" dirty="0"/>
              <a:t>update-member-record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1179" y="797840"/>
            <a:ext cx="11929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following are the features of a typical function-oriented design approach:</a:t>
            </a:r>
          </a:p>
        </p:txBody>
      </p:sp>
    </p:spTree>
    <p:extLst>
      <p:ext uri="{BB962C8B-B14F-4D97-AF65-F5344CB8AC3E}">
        <p14:creationId xmlns:p14="http://schemas.microsoft.com/office/powerpoint/2010/main" val="266265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object-oriented design approach, the </a:t>
            </a:r>
            <a:r>
              <a:rPr lang="en-US" b="1" dirty="0">
                <a:solidFill>
                  <a:srgbClr val="C00000"/>
                </a:solidFill>
              </a:rPr>
              <a:t>system is viewed</a:t>
            </a:r>
            <a:r>
              <a:rPr lang="en-US" dirty="0"/>
              <a:t> as </a:t>
            </a:r>
            <a:r>
              <a:rPr lang="en-US" b="1" dirty="0">
                <a:solidFill>
                  <a:srgbClr val="C00000"/>
                </a:solidFill>
              </a:rPr>
              <a:t>collection of objects </a:t>
            </a:r>
            <a:r>
              <a:rPr lang="en-US" dirty="0"/>
              <a:t>(i.e., entities). 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state is decentralized</a:t>
            </a:r>
            <a:r>
              <a:rPr lang="en-US" dirty="0"/>
              <a:t> among the objects and </a:t>
            </a:r>
            <a:r>
              <a:rPr lang="en-US" b="1" dirty="0">
                <a:solidFill>
                  <a:srgbClr val="C00000"/>
                </a:solidFill>
              </a:rPr>
              <a:t>each object manages its own state</a:t>
            </a:r>
            <a:r>
              <a:rPr lang="en-US" dirty="0"/>
              <a:t> information.</a:t>
            </a:r>
          </a:p>
          <a:p>
            <a:r>
              <a:rPr lang="en-US" dirty="0"/>
              <a:t>For example, in a Library Automation Software, </a:t>
            </a:r>
          </a:p>
          <a:p>
            <a:pPr lvl="1"/>
            <a:r>
              <a:rPr lang="en-US" dirty="0"/>
              <a:t>each library member may be a separate object with its own data and functions to operate on these data. </a:t>
            </a:r>
          </a:p>
          <a:p>
            <a:pPr lvl="1"/>
            <a:r>
              <a:rPr lang="en-US" dirty="0"/>
              <a:t>In fact, the functions defined for one object cannot refer or change data of other objects.</a:t>
            </a:r>
          </a:p>
          <a:p>
            <a:r>
              <a:rPr lang="en-US" b="1" dirty="0">
                <a:solidFill>
                  <a:srgbClr val="C00000"/>
                </a:solidFill>
              </a:rPr>
              <a:t>Objects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have their </a:t>
            </a:r>
            <a:r>
              <a:rPr lang="en-US" b="1" dirty="0">
                <a:solidFill>
                  <a:srgbClr val="C00000"/>
                </a:solidFill>
              </a:rPr>
              <a:t>own internal data</a:t>
            </a:r>
            <a:r>
              <a:rPr lang="en-US" dirty="0"/>
              <a:t> which define their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93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Cohesion &amp; Coupling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182879" y="869328"/>
            <a:ext cx="5242561" cy="1650094"/>
          </a:xfrm>
          <a:prstGeom prst="wedgeRoundRectCallout">
            <a:avLst>
              <a:gd name="adj1" fmla="val 64894"/>
              <a:gd name="adj2" fmla="val 1403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good software design</a:t>
            </a:r>
            <a:r>
              <a:rPr lang="en-US" sz="2400" dirty="0"/>
              <a:t> implies </a:t>
            </a:r>
            <a:r>
              <a:rPr lang="en-US" sz="2400" b="1" dirty="0">
                <a:solidFill>
                  <a:srgbClr val="C00000"/>
                </a:solidFill>
              </a:rPr>
              <a:t>clean decomposition</a:t>
            </a:r>
            <a:r>
              <a:rPr lang="en-US" sz="2400" dirty="0"/>
              <a:t> of the </a:t>
            </a:r>
            <a:r>
              <a:rPr lang="en-US" sz="2400" b="1" dirty="0">
                <a:solidFill>
                  <a:srgbClr val="C00000"/>
                </a:solidFill>
              </a:rPr>
              <a:t>problem into modules</a:t>
            </a:r>
            <a:r>
              <a:rPr lang="en-US" sz="2400" dirty="0"/>
              <a:t>, and the </a:t>
            </a:r>
            <a:r>
              <a:rPr lang="en-US" sz="2400" b="1" dirty="0">
                <a:solidFill>
                  <a:srgbClr val="C00000"/>
                </a:solidFill>
              </a:rPr>
              <a:t>neat arrangement</a:t>
            </a:r>
            <a:r>
              <a:rPr lang="en-US" sz="2400" dirty="0"/>
              <a:t> of these </a:t>
            </a:r>
            <a:r>
              <a:rPr lang="en-US" sz="2400" b="1" dirty="0">
                <a:solidFill>
                  <a:srgbClr val="C00000"/>
                </a:solidFill>
              </a:rPr>
              <a:t>modules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in a </a:t>
            </a:r>
            <a:r>
              <a:rPr lang="en-US" sz="2400" b="1" dirty="0">
                <a:solidFill>
                  <a:srgbClr val="C00000"/>
                </a:solidFill>
              </a:rPr>
              <a:t>hierarchy</a:t>
            </a:r>
            <a:r>
              <a:rPr lang="en-US" sz="2400" dirty="0"/>
              <a:t>.</a:t>
            </a:r>
          </a:p>
          <a:p>
            <a:pPr algn="ctr"/>
            <a:endParaRPr lang="en-US" sz="2400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7823683" y="869328"/>
            <a:ext cx="4179631" cy="1650094"/>
          </a:xfrm>
          <a:prstGeom prst="wedgeRoundRectCallout">
            <a:avLst>
              <a:gd name="adj1" fmla="val -64633"/>
              <a:gd name="adj2" fmla="val 129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2400" dirty="0"/>
              <a:t>The primary </a:t>
            </a:r>
            <a:r>
              <a:rPr lang="en-US" sz="2400" b="1" dirty="0">
                <a:solidFill>
                  <a:srgbClr val="C00000"/>
                </a:solidFill>
              </a:rPr>
              <a:t>characteristics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of </a:t>
            </a:r>
            <a:r>
              <a:rPr lang="en-US" sz="2400" b="1" dirty="0">
                <a:solidFill>
                  <a:srgbClr val="C00000"/>
                </a:solidFill>
              </a:rPr>
              <a:t>neat module decomposition</a:t>
            </a:r>
            <a:r>
              <a:rPr lang="en-US" sz="2400" dirty="0"/>
              <a:t> are </a:t>
            </a:r>
            <a:r>
              <a:rPr lang="en-US" sz="2400" b="1" dirty="0">
                <a:solidFill>
                  <a:srgbClr val="C00000"/>
                </a:solidFill>
              </a:rPr>
              <a:t>high cohesion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low coupling</a:t>
            </a:r>
            <a:r>
              <a:rPr lang="en-US" sz="2400" dirty="0"/>
              <a:t>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6" t="8470" r="20666" b="8470"/>
          <a:stretch/>
        </p:blipFill>
        <p:spPr>
          <a:xfrm>
            <a:off x="6226919" y="1260022"/>
            <a:ext cx="968837" cy="83672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96342" y="4582647"/>
            <a:ext cx="1537051" cy="1537051"/>
            <a:chOff x="525439" y="1183654"/>
            <a:chExt cx="2585691" cy="258569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1600" y="1676400"/>
              <a:ext cx="838200" cy="145801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439" y="1183654"/>
              <a:ext cx="2585691" cy="2585691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396342" y="3075944"/>
            <a:ext cx="1537051" cy="1537051"/>
            <a:chOff x="525439" y="1183654"/>
            <a:chExt cx="2585691" cy="258569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1600" y="1676400"/>
              <a:ext cx="838200" cy="1458018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439" y="1183654"/>
              <a:ext cx="2585691" cy="2585691"/>
            </a:xfrm>
            <a:prstGeom prst="rect">
              <a:avLst/>
            </a:prstGeom>
          </p:spPr>
        </p:pic>
      </p:grpSp>
      <p:grpSp>
        <p:nvGrpSpPr>
          <p:cNvPr id="22" name="Group 21"/>
          <p:cNvGrpSpPr/>
          <p:nvPr/>
        </p:nvGrpSpPr>
        <p:grpSpPr>
          <a:xfrm>
            <a:off x="9612564" y="3360098"/>
            <a:ext cx="2055541" cy="2006600"/>
            <a:chOff x="9312193" y="3479800"/>
            <a:chExt cx="3200400" cy="312420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2193" y="4964580"/>
              <a:ext cx="838200" cy="1458018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1393" y="3479800"/>
              <a:ext cx="838200" cy="1458018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74393" y="5145982"/>
              <a:ext cx="838200" cy="1458018"/>
            </a:xfrm>
            <a:prstGeom prst="rect">
              <a:avLst/>
            </a:prstGeom>
          </p:spPr>
        </p:pic>
        <p:sp>
          <p:nvSpPr>
            <p:cNvPr id="17" name="Up-Down Arrow 16"/>
            <p:cNvSpPr/>
            <p:nvPr/>
          </p:nvSpPr>
          <p:spPr>
            <a:xfrm rot="2588511">
              <a:off x="9871064" y="3843021"/>
              <a:ext cx="419100" cy="1051704"/>
            </a:xfrm>
            <a:prstGeom prst="up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Up-Down Arrow 17"/>
            <p:cNvSpPr/>
            <p:nvPr/>
          </p:nvSpPr>
          <p:spPr>
            <a:xfrm rot="5400000">
              <a:off x="10740943" y="5139589"/>
              <a:ext cx="419100" cy="1051704"/>
            </a:xfrm>
            <a:prstGeom prst="up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Up-Down Arrow 18"/>
            <p:cNvSpPr/>
            <p:nvPr/>
          </p:nvSpPr>
          <p:spPr>
            <a:xfrm rot="19096203">
              <a:off x="11681230" y="3888613"/>
              <a:ext cx="419100" cy="1051704"/>
            </a:xfrm>
            <a:prstGeom prst="up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ounded Rectangular Callout 19"/>
          <p:cNvSpPr/>
          <p:nvPr/>
        </p:nvSpPr>
        <p:spPr>
          <a:xfrm>
            <a:off x="2545192" y="3216454"/>
            <a:ext cx="3097087" cy="2150244"/>
          </a:xfrm>
          <a:prstGeom prst="wedgeRoundRectCallout">
            <a:avLst>
              <a:gd name="adj1" fmla="val -73416"/>
              <a:gd name="adj2" fmla="val -606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cohesive module </a:t>
            </a:r>
            <a:r>
              <a:rPr lang="en-US" sz="2400" dirty="0"/>
              <a:t>performs a single task, requiring little interaction with other components. 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5974369" y="3194909"/>
            <a:ext cx="3019329" cy="2112121"/>
          </a:xfrm>
          <a:prstGeom prst="wedgeRoundRectCallout">
            <a:avLst>
              <a:gd name="adj1" fmla="val 79801"/>
              <a:gd name="adj2" fmla="val -1591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</a:rPr>
              <a:t>Coupling</a:t>
            </a:r>
            <a:r>
              <a:rPr lang="en-US" sz="2400" dirty="0" smtClean="0"/>
              <a:t> </a:t>
            </a:r>
            <a:r>
              <a:rPr lang="en-US" sz="2400" dirty="0"/>
              <a:t>is an indication of the relative interdependence among modules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182879" y="2772232"/>
            <a:ext cx="11820435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85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027266" cy="5590565"/>
          </a:xfrm>
        </p:spPr>
        <p:txBody>
          <a:bodyPr/>
          <a:lstStyle/>
          <a:p>
            <a:r>
              <a:rPr lang="en-US" dirty="0"/>
              <a:t>Cohesion is an </a:t>
            </a:r>
            <a:r>
              <a:rPr lang="en-US" b="1" dirty="0">
                <a:solidFill>
                  <a:srgbClr val="C00000"/>
                </a:solidFill>
              </a:rPr>
              <a:t>indication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relative functional strength</a:t>
            </a:r>
            <a:r>
              <a:rPr lang="en-US" dirty="0"/>
              <a:t> of a module.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cohesive module</a:t>
            </a:r>
            <a:r>
              <a:rPr lang="en-US" dirty="0"/>
              <a:t> performs a </a:t>
            </a:r>
            <a:r>
              <a:rPr lang="en-US" b="1" dirty="0">
                <a:solidFill>
                  <a:srgbClr val="C00000"/>
                </a:solidFill>
              </a:rPr>
              <a:t>single task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requiring little interaction</a:t>
            </a:r>
            <a:r>
              <a:rPr lang="en-US" dirty="0"/>
              <a:t> with other components. </a:t>
            </a:r>
          </a:p>
          <a:p>
            <a:r>
              <a:rPr lang="en-US" dirty="0"/>
              <a:t>Stated simply, a </a:t>
            </a:r>
            <a:r>
              <a:rPr lang="en-US" b="1" dirty="0">
                <a:solidFill>
                  <a:srgbClr val="C00000"/>
                </a:solidFill>
              </a:rPr>
              <a:t>cohesive module</a:t>
            </a:r>
            <a:r>
              <a:rPr lang="en-US" dirty="0"/>
              <a:t> should (ideally) </a:t>
            </a:r>
            <a:r>
              <a:rPr lang="en-US" b="1" dirty="0">
                <a:solidFill>
                  <a:srgbClr val="C00000"/>
                </a:solidFill>
              </a:rPr>
              <a:t>do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just one thing</a:t>
            </a:r>
            <a:r>
              <a:rPr lang="en-US" dirty="0"/>
              <a:t>.</a:t>
            </a:r>
          </a:p>
          <a:p>
            <a:r>
              <a:rPr lang="en-US" dirty="0"/>
              <a:t>A module having</a:t>
            </a:r>
            <a:r>
              <a:rPr lang="en-US" b="1" dirty="0">
                <a:solidFill>
                  <a:srgbClr val="C00000"/>
                </a:solidFill>
              </a:rPr>
              <a:t> high cohesion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low coupling</a:t>
            </a:r>
            <a:r>
              <a:rPr lang="en-US" dirty="0"/>
              <a:t> is said to be </a:t>
            </a:r>
            <a:r>
              <a:rPr lang="en-US" b="1" dirty="0">
                <a:solidFill>
                  <a:srgbClr val="C00000"/>
                </a:solidFill>
              </a:rPr>
              <a:t>functionally independent</a:t>
            </a:r>
            <a:r>
              <a:rPr lang="en-US" dirty="0"/>
              <a:t> of other modules. </a:t>
            </a:r>
          </a:p>
          <a:p>
            <a:r>
              <a:rPr lang="en-US" dirty="0"/>
              <a:t>By the term functional independence, we mean that a </a:t>
            </a:r>
            <a:r>
              <a:rPr lang="en-US" b="1" dirty="0">
                <a:solidFill>
                  <a:srgbClr val="C00000"/>
                </a:solidFill>
              </a:rPr>
              <a:t>cohesive module performs a single task or function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455684" y="1907178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Coincidental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5683" y="2424231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Logical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455683" y="2941284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Temporal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5682" y="3458337"/>
            <a:ext cx="25146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Procedural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5682" y="3975390"/>
            <a:ext cx="25146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Communicational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5681" y="4492443"/>
            <a:ext cx="251460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Sequential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5680" y="5009494"/>
            <a:ext cx="251460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Functional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1682" y="1907178"/>
            <a:ext cx="553998" cy="356398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>
            <a:spAutoFit/>
          </a:bodyPr>
          <a:lstStyle/>
          <a:p>
            <a:pPr algn="ctr"/>
            <a:r>
              <a:rPr lang="en-US" sz="2400" b="1" dirty="0"/>
              <a:t>Classification of Cohesion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96272" y="1907177"/>
            <a:ext cx="708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Low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70146" y="4984946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High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3" idx="0"/>
          </p:cNvCxnSpPr>
          <p:nvPr/>
        </p:nvCxnSpPr>
        <p:spPr>
          <a:xfrm>
            <a:off x="11550408" y="2368842"/>
            <a:ext cx="2215" cy="261610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519132" y="701684"/>
            <a:ext cx="467286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Classification of Cohesion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7519132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05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Cohesion cont.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Coincidental cohesion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330426" y="1350665"/>
            <a:ext cx="413568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90499" y="1528464"/>
            <a:ext cx="6367055" cy="3317856"/>
          </a:xfrm>
        </p:spPr>
        <p:txBody>
          <a:bodyPr/>
          <a:lstStyle/>
          <a:p>
            <a:r>
              <a:rPr lang="en-US" dirty="0"/>
              <a:t>A module is said to have coincidental cohesion, if </a:t>
            </a:r>
            <a:r>
              <a:rPr lang="en-US" dirty="0">
                <a:solidFill>
                  <a:srgbClr val="C00000"/>
                </a:solidFill>
              </a:rPr>
              <a:t>it performs a set of tasks</a:t>
            </a:r>
            <a:r>
              <a:rPr lang="en-US" dirty="0"/>
              <a:t> that </a:t>
            </a:r>
            <a:r>
              <a:rPr lang="en-US" dirty="0">
                <a:solidFill>
                  <a:srgbClr val="C00000"/>
                </a:solidFill>
              </a:rPr>
              <a:t>relate to each other very </a:t>
            </a:r>
            <a:r>
              <a:rPr lang="en-US" dirty="0" smtClean="0">
                <a:solidFill>
                  <a:srgbClr val="C00000"/>
                </a:solidFill>
              </a:rPr>
              <a:t>loosely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/>
              <a:t>this case, the module </a:t>
            </a:r>
            <a:r>
              <a:rPr lang="en-US" dirty="0">
                <a:solidFill>
                  <a:srgbClr val="C00000"/>
                </a:solidFill>
              </a:rPr>
              <a:t>contains </a:t>
            </a:r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random collection of </a:t>
            </a:r>
            <a:r>
              <a:rPr lang="en-US" dirty="0" smtClean="0">
                <a:solidFill>
                  <a:srgbClr val="C00000"/>
                </a:solidFill>
              </a:rPr>
              <a:t>functions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</a:t>
            </a:r>
            <a:r>
              <a:rPr lang="en-US" dirty="0"/>
              <a:t>is likely that the functions have been put </a:t>
            </a:r>
            <a:r>
              <a:rPr lang="en-US" dirty="0">
                <a:solidFill>
                  <a:srgbClr val="C00000"/>
                </a:solidFill>
              </a:rPr>
              <a:t>in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module</a:t>
            </a:r>
            <a:r>
              <a:rPr lang="en-US" dirty="0"/>
              <a:t> out of </a:t>
            </a:r>
            <a:r>
              <a:rPr lang="en-US" dirty="0">
                <a:solidFill>
                  <a:srgbClr val="C00000"/>
                </a:solidFill>
              </a:rPr>
              <a:t>pure coincidence without any thought</a:t>
            </a:r>
            <a:r>
              <a:rPr lang="en-US" dirty="0"/>
              <a:t> or </a:t>
            </a:r>
            <a:r>
              <a:rPr lang="en-US" dirty="0" smtClean="0"/>
              <a:t>design.</a:t>
            </a:r>
          </a:p>
          <a:p>
            <a:r>
              <a:rPr lang="en-US" dirty="0" smtClean="0"/>
              <a:t>For </a:t>
            </a:r>
            <a:r>
              <a:rPr lang="en-US" dirty="0"/>
              <a:t>Ex., in a transaction processing system (TPS), the get-input, print-error, and summarize-members functions are grouped into one module</a:t>
            </a:r>
            <a:endParaRPr lang="en-US" dirty="0" smtClean="0"/>
          </a:p>
          <a:p>
            <a:r>
              <a:rPr lang="en-US" dirty="0" smtClean="0"/>
              <a:t>At the </a:t>
            </a:r>
            <a:r>
              <a:rPr lang="en-US" b="1" dirty="0" smtClean="0">
                <a:solidFill>
                  <a:srgbClr val="C00000"/>
                </a:solidFill>
              </a:rPr>
              <a:t>outer layer</a:t>
            </a:r>
            <a:r>
              <a:rPr lang="en-US" dirty="0" smtClean="0"/>
              <a:t>, components service </a:t>
            </a:r>
            <a:r>
              <a:rPr lang="en-US" b="1" dirty="0" smtClean="0">
                <a:solidFill>
                  <a:srgbClr val="C00000"/>
                </a:solidFill>
              </a:rPr>
              <a:t>user interface</a:t>
            </a:r>
            <a:r>
              <a:rPr lang="en-US" dirty="0" smtClean="0"/>
              <a:t> operations.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874328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Logical </a:t>
            </a:r>
            <a:r>
              <a:rPr lang="en-US" sz="2400" b="1" dirty="0"/>
              <a:t>cohesion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9014255" y="1350665"/>
            <a:ext cx="292519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Content Placeholder 2"/>
          <p:cNvSpPr txBox="1">
            <a:spLocks/>
          </p:cNvSpPr>
          <p:nvPr/>
        </p:nvSpPr>
        <p:spPr>
          <a:xfrm>
            <a:off x="6874328" y="1528464"/>
            <a:ext cx="5065123" cy="33178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 </a:t>
            </a:r>
            <a:r>
              <a:rPr lang="en-US" dirty="0"/>
              <a:t>module is said to be logically cohesive, if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all elements of the module perform similar </a:t>
            </a:r>
            <a:r>
              <a:rPr lang="en-US" dirty="0" smtClean="0">
                <a:solidFill>
                  <a:srgbClr val="C00000"/>
                </a:solidFill>
              </a:rPr>
              <a:t>operations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</a:t>
            </a:r>
            <a:r>
              <a:rPr lang="en-US" dirty="0"/>
              <a:t>Ex., error handling, data input, data output, </a:t>
            </a:r>
            <a:r>
              <a:rPr lang="en-US" dirty="0" smtClean="0"/>
              <a:t>etc.</a:t>
            </a:r>
          </a:p>
          <a:p>
            <a:r>
              <a:rPr lang="en-US" dirty="0" smtClean="0"/>
              <a:t>An </a:t>
            </a:r>
            <a:r>
              <a:rPr lang="en-US" dirty="0">
                <a:solidFill>
                  <a:srgbClr val="C00000"/>
                </a:solidFill>
              </a:rPr>
              <a:t>example of logical cohesion</a:t>
            </a:r>
            <a:r>
              <a:rPr lang="en-US" dirty="0"/>
              <a:t> is the case where a </a:t>
            </a:r>
            <a:r>
              <a:rPr lang="en-US" dirty="0">
                <a:solidFill>
                  <a:srgbClr val="C00000"/>
                </a:solidFill>
              </a:rPr>
              <a:t>set of print functions</a:t>
            </a:r>
            <a:r>
              <a:rPr lang="en-US" dirty="0"/>
              <a:t> generating different output reports are </a:t>
            </a:r>
            <a:r>
              <a:rPr lang="en-US" dirty="0">
                <a:solidFill>
                  <a:srgbClr val="C00000"/>
                </a:solidFill>
              </a:rPr>
              <a:t>arranged into a single module </a:t>
            </a:r>
            <a:r>
              <a:rPr lang="en-US" dirty="0" smtClean="0"/>
              <a:t>In this case, the module </a:t>
            </a:r>
            <a:r>
              <a:rPr lang="en-US" dirty="0" smtClean="0">
                <a:solidFill>
                  <a:srgbClr val="C00000"/>
                </a:solidFill>
              </a:rPr>
              <a:t>contains </a:t>
            </a:r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random collection of functions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722295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50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build="p"/>
      <p:bldP spid="11" grpId="0" animBg="1"/>
      <p:bldP spid="1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Cohesion cont.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Temporal cohesion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50665"/>
            <a:ext cx="413568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0499" y="1528464"/>
            <a:ext cx="6367055" cy="2298953"/>
          </a:xfrm>
        </p:spPr>
        <p:txBody>
          <a:bodyPr/>
          <a:lstStyle/>
          <a:p>
            <a:r>
              <a:rPr lang="en-US" dirty="0" smtClean="0"/>
              <a:t>When </a:t>
            </a:r>
            <a:r>
              <a:rPr lang="en-US" dirty="0"/>
              <a:t>a module </a:t>
            </a:r>
            <a:r>
              <a:rPr lang="en-US" dirty="0">
                <a:solidFill>
                  <a:srgbClr val="C00000"/>
                </a:solidFill>
              </a:rPr>
              <a:t>contains functions</a:t>
            </a:r>
            <a:r>
              <a:rPr lang="en-US" dirty="0"/>
              <a:t> that are </a:t>
            </a:r>
            <a:r>
              <a:rPr lang="en-US" dirty="0">
                <a:solidFill>
                  <a:srgbClr val="C00000"/>
                </a:solidFill>
              </a:rPr>
              <a:t>related by the fact</a:t>
            </a:r>
            <a:r>
              <a:rPr lang="en-US" dirty="0"/>
              <a:t> that all the </a:t>
            </a:r>
            <a:r>
              <a:rPr lang="en-US" dirty="0">
                <a:solidFill>
                  <a:srgbClr val="C00000"/>
                </a:solidFill>
              </a:rPr>
              <a:t>functions</a:t>
            </a:r>
            <a:r>
              <a:rPr lang="en-US" dirty="0"/>
              <a:t> must be </a:t>
            </a:r>
            <a:r>
              <a:rPr lang="en-US" dirty="0">
                <a:solidFill>
                  <a:srgbClr val="C00000"/>
                </a:solidFill>
              </a:rPr>
              <a:t>executed </a:t>
            </a:r>
            <a:r>
              <a:rPr lang="en-US" dirty="0"/>
              <a:t>in the </a:t>
            </a:r>
            <a:r>
              <a:rPr lang="en-US" dirty="0">
                <a:solidFill>
                  <a:srgbClr val="C00000"/>
                </a:solidFill>
              </a:rPr>
              <a:t>same time </a:t>
            </a:r>
            <a:r>
              <a:rPr lang="en-US" dirty="0" smtClean="0">
                <a:solidFill>
                  <a:srgbClr val="C00000"/>
                </a:solidFill>
              </a:rPr>
              <a:t>span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</a:t>
            </a:r>
            <a:r>
              <a:rPr lang="en-US" dirty="0"/>
              <a:t>Ex., the set of functions responsible for initialization, start-up, shutdown of some process, etc.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74328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Procedural cohesion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9014255" y="1350665"/>
            <a:ext cx="292519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6874328" y="1528464"/>
            <a:ext cx="5065123" cy="26749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If </a:t>
            </a:r>
            <a:r>
              <a:rPr lang="en-US" dirty="0"/>
              <a:t>the set of </a:t>
            </a:r>
            <a:r>
              <a:rPr lang="en-US" dirty="0">
                <a:solidFill>
                  <a:srgbClr val="C00000"/>
                </a:solidFill>
              </a:rPr>
              <a:t>functions </a:t>
            </a:r>
            <a:r>
              <a:rPr lang="en-US" dirty="0"/>
              <a:t>of the module are </a:t>
            </a:r>
            <a:r>
              <a:rPr lang="en-US" dirty="0">
                <a:solidFill>
                  <a:srgbClr val="C00000"/>
                </a:solidFill>
              </a:rPr>
              <a:t>all part</a:t>
            </a:r>
            <a:r>
              <a:rPr lang="en-US" dirty="0"/>
              <a:t> of a </a:t>
            </a:r>
            <a:r>
              <a:rPr lang="en-US" dirty="0">
                <a:solidFill>
                  <a:srgbClr val="C00000"/>
                </a:solidFill>
              </a:rPr>
              <a:t>procedure </a:t>
            </a:r>
            <a:r>
              <a:rPr lang="en-US" dirty="0"/>
              <a:t>(algorithm) in which </a:t>
            </a:r>
            <a:r>
              <a:rPr lang="en-US" dirty="0">
                <a:solidFill>
                  <a:srgbClr val="C00000"/>
                </a:solidFill>
              </a:rPr>
              <a:t>certain sequence of steps have to be carried out </a:t>
            </a:r>
            <a:r>
              <a:rPr lang="en-US" dirty="0"/>
              <a:t>for </a:t>
            </a:r>
            <a:r>
              <a:rPr lang="en-US" dirty="0">
                <a:solidFill>
                  <a:srgbClr val="C00000"/>
                </a:solidFill>
              </a:rPr>
              <a:t>achieving an </a:t>
            </a:r>
            <a:r>
              <a:rPr lang="en-US" dirty="0" smtClean="0">
                <a:solidFill>
                  <a:srgbClr val="C00000"/>
                </a:solidFill>
              </a:rPr>
              <a:t>objective</a:t>
            </a:r>
          </a:p>
          <a:p>
            <a:r>
              <a:rPr lang="en-US" dirty="0" smtClean="0"/>
              <a:t>For </a:t>
            </a:r>
            <a:r>
              <a:rPr lang="en-US" dirty="0"/>
              <a:t>Ex., the algorithm for decoding a message.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6722295" y="711201"/>
            <a:ext cx="0" cy="3208382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7619" y="3919583"/>
            <a:ext cx="351916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Communicational cohesion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2317547" y="4381248"/>
            <a:ext cx="962190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Content Placeholder 2"/>
          <p:cNvSpPr txBox="1">
            <a:spLocks/>
          </p:cNvSpPr>
          <p:nvPr/>
        </p:nvSpPr>
        <p:spPr>
          <a:xfrm>
            <a:off x="190499" y="4559048"/>
            <a:ext cx="11748952" cy="1188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If </a:t>
            </a:r>
            <a:r>
              <a:rPr lang="en-US" b="1" dirty="0">
                <a:solidFill>
                  <a:srgbClr val="C00000"/>
                </a:solidFill>
              </a:rPr>
              <a:t>all functions</a:t>
            </a:r>
            <a:r>
              <a:rPr lang="en-US" dirty="0"/>
              <a:t> of the module </a:t>
            </a:r>
            <a:r>
              <a:rPr lang="en-US" b="1" dirty="0">
                <a:solidFill>
                  <a:srgbClr val="C00000"/>
                </a:solidFill>
              </a:rPr>
              <a:t>refer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the </a:t>
            </a:r>
            <a:r>
              <a:rPr lang="en-US" b="1" dirty="0">
                <a:solidFill>
                  <a:srgbClr val="C00000"/>
                </a:solidFill>
              </a:rPr>
              <a:t>same data </a:t>
            </a:r>
            <a:r>
              <a:rPr lang="en-US" b="1" dirty="0" smtClean="0">
                <a:solidFill>
                  <a:srgbClr val="C00000"/>
                </a:solidFill>
              </a:rPr>
              <a:t>structure</a:t>
            </a:r>
          </a:p>
          <a:p>
            <a:r>
              <a:rPr lang="en-US" dirty="0" smtClean="0"/>
              <a:t>For </a:t>
            </a:r>
            <a:r>
              <a:rPr lang="en-US" dirty="0"/>
              <a:t>Ex., the set of functions defined on an array or a stack.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87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7" grpId="0" animBg="1"/>
      <p:bldP spid="9" grpId="0" build="p"/>
      <p:bldP spid="11" grpId="0" animBg="1"/>
      <p:bldP spid="1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Cohesion cont.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Sequential cohesion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50665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03562" y="1423960"/>
            <a:ext cx="11709764" cy="1724189"/>
          </a:xfrm>
        </p:spPr>
        <p:txBody>
          <a:bodyPr/>
          <a:lstStyle/>
          <a:p>
            <a:r>
              <a:rPr lang="en-US" dirty="0" smtClean="0"/>
              <a:t>If </a:t>
            </a: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elements </a:t>
            </a:r>
            <a:r>
              <a:rPr lang="en-US" dirty="0"/>
              <a:t>of a </a:t>
            </a:r>
            <a:r>
              <a:rPr lang="en-US" dirty="0">
                <a:solidFill>
                  <a:srgbClr val="C00000"/>
                </a:solidFill>
              </a:rPr>
              <a:t>module form </a:t>
            </a:r>
            <a:r>
              <a:rPr lang="en-US" dirty="0"/>
              <a:t>the parts of </a:t>
            </a:r>
            <a:r>
              <a:rPr lang="en-US" dirty="0">
                <a:solidFill>
                  <a:srgbClr val="C00000"/>
                </a:solidFill>
              </a:rPr>
              <a:t>sequence</a:t>
            </a:r>
            <a:r>
              <a:rPr lang="en-US" dirty="0"/>
              <a:t>, where the </a:t>
            </a:r>
            <a:r>
              <a:rPr lang="en-US" dirty="0">
                <a:solidFill>
                  <a:srgbClr val="C00000"/>
                </a:solidFill>
              </a:rPr>
              <a:t>output from one element of the sequence is input to the </a:t>
            </a:r>
            <a:r>
              <a:rPr lang="en-US" dirty="0" smtClean="0">
                <a:solidFill>
                  <a:srgbClr val="C00000"/>
                </a:solidFill>
              </a:rPr>
              <a:t>next.</a:t>
            </a:r>
          </a:p>
          <a:p>
            <a:r>
              <a:rPr lang="en-US" dirty="0" smtClean="0"/>
              <a:t>For </a:t>
            </a:r>
            <a:r>
              <a:rPr lang="en-US" dirty="0"/>
              <a:t>Ex., In a Transaction Processing System, the get-input, validate-input, sort-input functions are grouped into one module.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90499" y="3413031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Functional</a:t>
            </a:r>
            <a:r>
              <a:rPr lang="en-US" sz="2400" b="1" dirty="0" smtClean="0"/>
              <a:t> </a:t>
            </a:r>
            <a:r>
              <a:rPr lang="en-US" sz="2400" b="1" dirty="0"/>
              <a:t>cohesion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330426" y="3874696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203562" y="3989193"/>
            <a:ext cx="11566072" cy="15494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If </a:t>
            </a:r>
            <a:r>
              <a:rPr lang="en-US" dirty="0"/>
              <a:t>different </a:t>
            </a:r>
            <a:r>
              <a:rPr lang="en-US" dirty="0">
                <a:solidFill>
                  <a:srgbClr val="C00000"/>
                </a:solidFill>
              </a:rPr>
              <a:t>elements </a:t>
            </a:r>
            <a:r>
              <a:rPr lang="en-US" dirty="0"/>
              <a:t>of a module </a:t>
            </a:r>
            <a:r>
              <a:rPr lang="en-US" dirty="0">
                <a:solidFill>
                  <a:srgbClr val="C00000"/>
                </a:solidFill>
              </a:rPr>
              <a:t>cooperate to achieve a single function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Ex., A module containing all the functions required to manage employees’ pay-roll exhibits functional cohesion.</a:t>
            </a:r>
          </a:p>
        </p:txBody>
      </p:sp>
    </p:spTree>
    <p:extLst>
      <p:ext uri="{BB962C8B-B14F-4D97-AF65-F5344CB8AC3E}">
        <p14:creationId xmlns:p14="http://schemas.microsoft.com/office/powerpoint/2010/main" val="77723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7" grpId="0" animBg="1"/>
      <p:bldP spid="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027266" cy="559056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Coupling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between two modules is a </a:t>
            </a:r>
            <a:r>
              <a:rPr lang="en-US" b="1" dirty="0">
                <a:solidFill>
                  <a:srgbClr val="C00000"/>
                </a:solidFill>
              </a:rPr>
              <a:t>measure of the degree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interdependence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or interaction </a:t>
            </a:r>
            <a:r>
              <a:rPr lang="en-US" b="1" dirty="0">
                <a:solidFill>
                  <a:srgbClr val="C00000"/>
                </a:solidFill>
              </a:rPr>
              <a:t>between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two modules</a:t>
            </a:r>
            <a:r>
              <a:rPr lang="en-US" dirty="0"/>
              <a:t>.</a:t>
            </a:r>
          </a:p>
          <a:p>
            <a:r>
              <a:rPr lang="en-US" dirty="0"/>
              <a:t>A module having high cohesion and low coupling is said to be functionally independent of other modules.</a:t>
            </a:r>
          </a:p>
          <a:p>
            <a:r>
              <a:rPr lang="en-US" dirty="0"/>
              <a:t>If </a:t>
            </a:r>
            <a:r>
              <a:rPr lang="en-US" b="1" dirty="0">
                <a:solidFill>
                  <a:srgbClr val="C00000"/>
                </a:solidFill>
              </a:rPr>
              <a:t>two modules interchange large amounts of data</a:t>
            </a:r>
            <a:r>
              <a:rPr lang="en-US" dirty="0"/>
              <a:t>, then they are </a:t>
            </a:r>
            <a:r>
              <a:rPr lang="en-US" b="1" dirty="0">
                <a:solidFill>
                  <a:srgbClr val="C00000"/>
                </a:solidFill>
              </a:rPr>
              <a:t>highly interdependent</a:t>
            </a:r>
            <a:r>
              <a:rPr lang="en-US" dirty="0"/>
              <a:t>.</a:t>
            </a:r>
          </a:p>
          <a:p>
            <a:r>
              <a:rPr lang="en-US" dirty="0"/>
              <a:t>The degree of coupling between two modules depends on their interface complexity.</a:t>
            </a:r>
          </a:p>
          <a:p>
            <a:r>
              <a:rPr lang="en-US" dirty="0"/>
              <a:t>The interface complexity is basically determined by the number of types of parameters that are interchanged while invoking the functions of the module.</a:t>
            </a:r>
          </a:p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519132" y="701684"/>
            <a:ext cx="467286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Classification of </a:t>
            </a:r>
            <a:r>
              <a:rPr lang="en-IN" sz="2400" b="1" dirty="0" smtClean="0">
                <a:solidFill>
                  <a:schemeClr val="bg1"/>
                </a:solidFill>
              </a:rPr>
              <a:t>Coupling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7519132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534059" y="1922740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Data</a:t>
            </a:r>
            <a:endParaRPr lang="en-US" sz="2400" b="1" dirty="0"/>
          </a:p>
        </p:txBody>
      </p:sp>
      <p:sp>
        <p:nvSpPr>
          <p:cNvPr id="19" name="Rectangle 18"/>
          <p:cNvSpPr/>
          <p:nvPr/>
        </p:nvSpPr>
        <p:spPr>
          <a:xfrm>
            <a:off x="8534058" y="2708036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Stamp</a:t>
            </a:r>
            <a:endParaRPr lang="en-US" sz="2400" b="1" dirty="0"/>
          </a:p>
        </p:txBody>
      </p:sp>
      <p:sp>
        <p:nvSpPr>
          <p:cNvPr id="20" name="Rectangle 19"/>
          <p:cNvSpPr/>
          <p:nvPr/>
        </p:nvSpPr>
        <p:spPr>
          <a:xfrm>
            <a:off x="8534058" y="3493332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Control</a:t>
            </a:r>
            <a:endParaRPr lang="en-US" sz="2400" b="1" dirty="0"/>
          </a:p>
        </p:txBody>
      </p:sp>
      <p:sp>
        <p:nvSpPr>
          <p:cNvPr id="21" name="Rectangle 20"/>
          <p:cNvSpPr/>
          <p:nvPr/>
        </p:nvSpPr>
        <p:spPr>
          <a:xfrm>
            <a:off x="8534057" y="4278628"/>
            <a:ext cx="25146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Common</a:t>
            </a:r>
            <a:endParaRPr lang="en-US" sz="2400" b="1" dirty="0"/>
          </a:p>
        </p:txBody>
      </p:sp>
      <p:sp>
        <p:nvSpPr>
          <p:cNvPr id="22" name="Rectangle 21"/>
          <p:cNvSpPr/>
          <p:nvPr/>
        </p:nvSpPr>
        <p:spPr>
          <a:xfrm>
            <a:off x="8534057" y="5063924"/>
            <a:ext cx="25146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Content</a:t>
            </a:r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7980057" y="1922740"/>
            <a:ext cx="553998" cy="36028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>
            <a:spAutoFit/>
          </a:bodyPr>
          <a:lstStyle/>
          <a:p>
            <a:pPr algn="ctr"/>
            <a:r>
              <a:rPr lang="en-US" sz="2400" b="1" dirty="0"/>
              <a:t>Classification of </a:t>
            </a:r>
            <a:r>
              <a:rPr lang="en-US" sz="2400" b="1" dirty="0" smtClean="0"/>
              <a:t>Coupling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1254789" y="1865032"/>
            <a:ext cx="708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Low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26447" y="5063923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High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26" name="Straight Arrow Connector 25"/>
          <p:cNvCxnSpPr>
            <a:stCxn id="24" idx="2"/>
            <a:endCxn id="25" idx="0"/>
          </p:cNvCxnSpPr>
          <p:nvPr/>
        </p:nvCxnSpPr>
        <p:spPr>
          <a:xfrm flipH="1">
            <a:off x="11608924" y="2326697"/>
            <a:ext cx="1" cy="273722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90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Coupling Cont.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Data coupling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330426" y="1350665"/>
            <a:ext cx="413568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190499" y="1528464"/>
            <a:ext cx="6275615" cy="2298953"/>
          </a:xfrm>
        </p:spPr>
        <p:txBody>
          <a:bodyPr/>
          <a:lstStyle/>
          <a:p>
            <a:r>
              <a:rPr lang="en-US" dirty="0" smtClean="0"/>
              <a:t>Two </a:t>
            </a:r>
            <a:r>
              <a:rPr lang="en-US" dirty="0"/>
              <a:t>modules are data coupled, if</a:t>
            </a:r>
            <a:r>
              <a:rPr lang="en-US" b="1" dirty="0">
                <a:solidFill>
                  <a:srgbClr val="C00000"/>
                </a:solidFill>
              </a:rPr>
              <a:t> they communicate through a parameter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example is an elementary (primal) data item passed as a parameter between two modules, e.g. an integer, a float, a character, etc.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874328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Stamp coupling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9014255" y="1350665"/>
            <a:ext cx="292519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Content Placeholder 2"/>
          <p:cNvSpPr txBox="1">
            <a:spLocks/>
          </p:cNvSpPr>
          <p:nvPr/>
        </p:nvSpPr>
        <p:spPr>
          <a:xfrm>
            <a:off x="6874328" y="1528464"/>
            <a:ext cx="5065123" cy="33178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This </a:t>
            </a:r>
            <a:r>
              <a:rPr lang="en-US" dirty="0"/>
              <a:t>is a special case (or extension) of data </a:t>
            </a:r>
            <a:r>
              <a:rPr lang="en-US" dirty="0" smtClean="0"/>
              <a:t>coupling</a:t>
            </a:r>
          </a:p>
          <a:p>
            <a:r>
              <a:rPr lang="en-US" dirty="0" smtClean="0"/>
              <a:t>Two </a:t>
            </a:r>
            <a:r>
              <a:rPr lang="en-US" dirty="0"/>
              <a:t>modules (``A'' and ``B'') exhibit stamp coupling if </a:t>
            </a:r>
            <a:r>
              <a:rPr lang="en-US" b="1" dirty="0">
                <a:solidFill>
                  <a:srgbClr val="C00000"/>
                </a:solidFill>
              </a:rPr>
              <a:t>one passes</a:t>
            </a:r>
            <a:r>
              <a:rPr lang="en-US" dirty="0"/>
              <a:t> directly to the other a </a:t>
            </a:r>
            <a:r>
              <a:rPr lang="en-US" b="1" dirty="0">
                <a:solidFill>
                  <a:srgbClr val="C00000"/>
                </a:solidFill>
              </a:rPr>
              <a:t>composite data item</a:t>
            </a:r>
            <a:r>
              <a:rPr lang="en-US" dirty="0"/>
              <a:t> - such as a record (or structure), array, or (pointer to) a list or </a:t>
            </a:r>
            <a:r>
              <a:rPr lang="en-US" dirty="0" smtClean="0"/>
              <a:t>tree.</a:t>
            </a:r>
          </a:p>
          <a:p>
            <a:r>
              <a:rPr lang="en-US" dirty="0" smtClean="0"/>
              <a:t>This </a:t>
            </a:r>
            <a:r>
              <a:rPr lang="en-US" dirty="0"/>
              <a:t>occurs when </a:t>
            </a:r>
            <a:r>
              <a:rPr lang="en-US" b="1" dirty="0" err="1">
                <a:solidFill>
                  <a:srgbClr val="C00000"/>
                </a:solidFill>
              </a:rPr>
              <a:t>ClassB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declared as a type </a:t>
            </a:r>
            <a:r>
              <a:rPr lang="en-US" dirty="0"/>
              <a:t>for an argument of an </a:t>
            </a:r>
            <a:r>
              <a:rPr lang="en-US" b="1" dirty="0">
                <a:solidFill>
                  <a:srgbClr val="C00000"/>
                </a:solidFill>
              </a:rPr>
              <a:t>operation of </a:t>
            </a:r>
            <a:r>
              <a:rPr lang="en-US" b="1" dirty="0" err="1">
                <a:solidFill>
                  <a:srgbClr val="C00000"/>
                </a:solidFill>
              </a:rPr>
              <a:t>ClassA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6722295" y="711201"/>
            <a:ext cx="0" cy="5885542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77619" y="3919583"/>
            <a:ext cx="351916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Control coupling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2317547" y="4381248"/>
            <a:ext cx="414856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190499" y="4559048"/>
            <a:ext cx="6275615" cy="1188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If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</a:t>
            </a:r>
            <a:r>
              <a:rPr lang="en-US" b="1" dirty="0">
                <a:solidFill>
                  <a:srgbClr val="C00000"/>
                </a:solidFill>
              </a:rPr>
              <a:t>one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module </a:t>
            </a:r>
            <a:r>
              <a:rPr lang="en-US" b="1" dirty="0">
                <a:solidFill>
                  <a:srgbClr val="C00000"/>
                </a:solidFill>
              </a:rPr>
              <a:t>is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used to direct the order of instruction</a:t>
            </a:r>
            <a:r>
              <a:rPr lang="en-US" dirty="0"/>
              <a:t>s execution </a:t>
            </a:r>
            <a:r>
              <a:rPr lang="en-US" b="1" dirty="0">
                <a:solidFill>
                  <a:srgbClr val="C00000"/>
                </a:solidFill>
              </a:rPr>
              <a:t>in </a:t>
            </a:r>
            <a:r>
              <a:rPr lang="en-US" b="1" dirty="0" smtClean="0">
                <a:solidFill>
                  <a:srgbClr val="C00000"/>
                </a:solidFill>
              </a:rPr>
              <a:t>another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An </a:t>
            </a:r>
            <a:r>
              <a:rPr lang="en-US" dirty="0"/>
              <a:t>example of control coupling is a flag set in one module and tested in another module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99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build="p"/>
      <p:bldP spid="17" grpId="0" animBg="1"/>
      <p:bldP spid="19" grpId="0" build="p"/>
      <p:bldP spid="21" grpId="0" animBg="1"/>
      <p:bldP spid="2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Coupling Cont.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Common coupling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50665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03562" y="1423960"/>
            <a:ext cx="11709764" cy="1724189"/>
          </a:xfrm>
        </p:spPr>
        <p:txBody>
          <a:bodyPr/>
          <a:lstStyle/>
          <a:p>
            <a:r>
              <a:rPr lang="en-US" dirty="0" smtClean="0"/>
              <a:t>If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</a:t>
            </a:r>
            <a:r>
              <a:rPr lang="en-US" b="1" dirty="0">
                <a:solidFill>
                  <a:srgbClr val="C00000"/>
                </a:solidFill>
              </a:rPr>
              <a:t>one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module </a:t>
            </a:r>
            <a:r>
              <a:rPr lang="en-US" b="1" dirty="0">
                <a:solidFill>
                  <a:srgbClr val="C00000"/>
                </a:solidFill>
              </a:rPr>
              <a:t>is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used to direct the order of instruction</a:t>
            </a:r>
            <a:r>
              <a:rPr lang="en-US" dirty="0"/>
              <a:t>s execution </a:t>
            </a:r>
            <a:r>
              <a:rPr lang="en-US" b="1" dirty="0">
                <a:solidFill>
                  <a:srgbClr val="C00000"/>
                </a:solidFill>
              </a:rPr>
              <a:t>in </a:t>
            </a:r>
            <a:r>
              <a:rPr lang="en-US" b="1" dirty="0" smtClean="0">
                <a:solidFill>
                  <a:srgbClr val="C00000"/>
                </a:solidFill>
              </a:rPr>
              <a:t>another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An </a:t>
            </a:r>
            <a:r>
              <a:rPr lang="en-US" dirty="0"/>
              <a:t>example of control coupling is a flag set in one module and tested in another module.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90499" y="264232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Content coupling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330426" y="3103985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203562" y="3218482"/>
            <a:ext cx="11566072" cy="15494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Content </a:t>
            </a:r>
            <a:r>
              <a:rPr lang="en-US" dirty="0"/>
              <a:t>coupling occurs when </a:t>
            </a:r>
            <a:r>
              <a:rPr lang="en-US" b="1" dirty="0">
                <a:solidFill>
                  <a:srgbClr val="C00000"/>
                </a:solidFill>
              </a:rPr>
              <a:t>one component secretly modifies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is</a:t>
            </a:r>
            <a:r>
              <a:rPr lang="en-US" b="1" dirty="0">
                <a:solidFill>
                  <a:srgbClr val="C00000"/>
                </a:solidFill>
              </a:rPr>
              <a:t> internal to another </a:t>
            </a:r>
            <a:r>
              <a:rPr lang="en-US" b="1" dirty="0" smtClean="0">
                <a:solidFill>
                  <a:srgbClr val="C00000"/>
                </a:solidFill>
              </a:rPr>
              <a:t>component.</a:t>
            </a:r>
          </a:p>
          <a:p>
            <a:r>
              <a:rPr lang="en-US" dirty="0" smtClean="0"/>
              <a:t>This </a:t>
            </a:r>
            <a:r>
              <a:rPr lang="en-US" dirty="0"/>
              <a:t>violets information hiding – a basic design </a:t>
            </a:r>
            <a:r>
              <a:rPr lang="en-US" dirty="0" smtClean="0"/>
              <a:t>concept</a:t>
            </a:r>
          </a:p>
          <a:p>
            <a:r>
              <a:rPr lang="en-US" dirty="0" smtClean="0"/>
              <a:t>Content </a:t>
            </a:r>
            <a:r>
              <a:rPr lang="en-US" dirty="0"/>
              <a:t>coupling exists between two modules, if they share code.</a:t>
            </a:r>
          </a:p>
        </p:txBody>
      </p:sp>
    </p:spTree>
    <p:extLst>
      <p:ext uri="{BB962C8B-B14F-4D97-AF65-F5344CB8AC3E}">
        <p14:creationId xmlns:p14="http://schemas.microsoft.com/office/powerpoint/2010/main" val="330057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7" grpId="0" animBg="1"/>
      <p:bldP spid="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User Interface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1000" y="727021"/>
            <a:ext cx="927100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Golden Rules of User Interface Design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2921000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49" y="857646"/>
            <a:ext cx="2538697" cy="25386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91" y="3870205"/>
            <a:ext cx="2246811" cy="189171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16779" y="1759905"/>
            <a:ext cx="4838700" cy="2355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359179" y="1751070"/>
            <a:ext cx="3657600" cy="23645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32"/>
          <a:stretch/>
        </p:blipFill>
        <p:spPr>
          <a:xfrm>
            <a:off x="8388643" y="1859292"/>
            <a:ext cx="1828535" cy="218285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80"/>
          <a:stretch/>
        </p:blipFill>
        <p:spPr>
          <a:xfrm>
            <a:off x="4064029" y="1825174"/>
            <a:ext cx="2247900" cy="209606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59179" y="1291774"/>
            <a:ext cx="36576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Place the User in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6779" y="1291773"/>
            <a:ext cx="48387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Reduce the User’s Memory 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9179" y="4572839"/>
            <a:ext cx="8496300" cy="19005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359179" y="4111174"/>
            <a:ext cx="84963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Make the Interface Consistent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34" b="3656"/>
          <a:stretch/>
        </p:blipFill>
        <p:spPr>
          <a:xfrm>
            <a:off x="8007380" y="4641868"/>
            <a:ext cx="3276600" cy="1800879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5" b="66103"/>
          <a:stretch/>
        </p:blipFill>
        <p:spPr>
          <a:xfrm>
            <a:off x="3574933" y="4847250"/>
            <a:ext cx="4278671" cy="139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1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21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Golden Rules of User Interface </a:t>
            </a:r>
            <a:r>
              <a:rPr lang="en-US" dirty="0" smtClean="0"/>
              <a:t>Design Cont.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499" y="859972"/>
            <a:ext cx="413475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Place the User in Control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21637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03562" y="1423961"/>
            <a:ext cx="11709764" cy="1304726"/>
          </a:xfrm>
        </p:spPr>
        <p:txBody>
          <a:bodyPr/>
          <a:lstStyle/>
          <a:p>
            <a:r>
              <a:rPr lang="en-US" dirty="0"/>
              <a:t>During a requirements-gathering session for a major new information system, a key user was asked about.</a:t>
            </a:r>
          </a:p>
          <a:p>
            <a:r>
              <a:rPr lang="en-US" dirty="0"/>
              <a:t>Following are the </a:t>
            </a:r>
            <a:r>
              <a:rPr lang="en-US" b="1" dirty="0">
                <a:solidFill>
                  <a:srgbClr val="C00000"/>
                </a:solidFill>
              </a:rPr>
              <a:t>design principles</a:t>
            </a:r>
            <a:r>
              <a:rPr lang="en-US" dirty="0"/>
              <a:t> that allow the </a:t>
            </a:r>
            <a:r>
              <a:rPr lang="en-US" b="1" dirty="0">
                <a:solidFill>
                  <a:srgbClr val="C00000"/>
                </a:solidFill>
              </a:rPr>
              <a:t>user to maintain control</a:t>
            </a:r>
            <a:r>
              <a:rPr lang="en-US" dirty="0"/>
              <a:t>: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40541" y="2881223"/>
            <a:ext cx="11435806" cy="43088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Define interaction modes</a:t>
            </a:r>
            <a:r>
              <a:rPr lang="en-US" sz="2200" dirty="0"/>
              <a:t> in a way that </a:t>
            </a:r>
            <a:r>
              <a:rPr lang="en-US" sz="2200" b="1" dirty="0">
                <a:solidFill>
                  <a:srgbClr val="C00000"/>
                </a:solidFill>
              </a:rPr>
              <a:t>does not force a user</a:t>
            </a:r>
            <a:r>
              <a:rPr lang="en-US" sz="2200" dirty="0"/>
              <a:t> into unnecessary or </a:t>
            </a:r>
            <a:r>
              <a:rPr lang="en-US" sz="2200" b="1" dirty="0">
                <a:solidFill>
                  <a:srgbClr val="C00000"/>
                </a:solidFill>
              </a:rPr>
              <a:t>undesired actions</a:t>
            </a:r>
            <a:r>
              <a:rPr lang="en-US" sz="22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827" y="3456529"/>
            <a:ext cx="3911648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Provide for </a:t>
            </a:r>
            <a:r>
              <a:rPr lang="en-US" sz="2400" b="1" dirty="0">
                <a:solidFill>
                  <a:srgbClr val="C00000"/>
                </a:solidFill>
              </a:rPr>
              <a:t>flexible interaction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4366038" y="3456529"/>
            <a:ext cx="7403595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Allow user </a:t>
            </a:r>
            <a:r>
              <a:rPr lang="en-US" sz="2400" b="1" dirty="0">
                <a:solidFill>
                  <a:srgbClr val="C00000"/>
                </a:solidFill>
              </a:rPr>
              <a:t>interaction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to be interruptible and </a:t>
            </a:r>
            <a:r>
              <a:rPr lang="en-US" sz="2400" b="1" dirty="0">
                <a:solidFill>
                  <a:srgbClr val="C00000"/>
                </a:solidFill>
              </a:rPr>
              <a:t>undoable</a:t>
            </a:r>
            <a:r>
              <a:rPr lang="en-US" sz="2400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827" y="4062613"/>
            <a:ext cx="8659767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/>
              <a:t>Streamline interaction as skill levels advance and allow the interaction to be customized.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340541" y="5038029"/>
            <a:ext cx="8666481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Hide technical internals</a:t>
            </a:r>
            <a:r>
              <a:rPr lang="en-US" sz="2400" dirty="0"/>
              <a:t> from the casual user.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113" y="5644114"/>
            <a:ext cx="8666481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Design for </a:t>
            </a:r>
            <a:r>
              <a:rPr lang="en-US" sz="2400" b="1" dirty="0">
                <a:solidFill>
                  <a:srgbClr val="C00000"/>
                </a:solidFill>
              </a:rPr>
              <a:t>direct interaction with objects </a:t>
            </a:r>
            <a:r>
              <a:rPr lang="en-US" sz="2400" dirty="0"/>
              <a:t>that appear on the screen.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80"/>
          <a:stretch/>
        </p:blipFill>
        <p:spPr>
          <a:xfrm>
            <a:off x="10021810" y="4150219"/>
            <a:ext cx="1891516" cy="176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2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Golden Rules of User Interface Design Cont.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499" y="859972"/>
            <a:ext cx="413475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Reduce the User’s Memory Load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21637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03562" y="1423961"/>
            <a:ext cx="11709764" cy="1304726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b="1" dirty="0">
                <a:solidFill>
                  <a:srgbClr val="C00000"/>
                </a:solidFill>
              </a:rPr>
              <a:t>more a user has to remember, the more error-prone</a:t>
            </a:r>
            <a:r>
              <a:rPr lang="en-US" dirty="0"/>
              <a:t> the interaction with the system will be.</a:t>
            </a:r>
          </a:p>
          <a:p>
            <a:r>
              <a:rPr lang="en-US" dirty="0"/>
              <a:t>Following are the design principles that enable an interface to reduce the user’s memory load: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32"/>
          <a:stretch/>
        </p:blipFill>
        <p:spPr>
          <a:xfrm>
            <a:off x="9938153" y="2873833"/>
            <a:ext cx="2195788" cy="262126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78343" y="2904252"/>
            <a:ext cx="9429184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b="1" dirty="0">
                <a:solidFill>
                  <a:srgbClr val="C00000"/>
                </a:solidFill>
              </a:rPr>
              <a:t>Reduce demand</a:t>
            </a:r>
            <a:r>
              <a:rPr lang="en-US" sz="2400" dirty="0"/>
              <a:t> on </a:t>
            </a:r>
            <a:r>
              <a:rPr lang="en-US" sz="2400" b="1" dirty="0">
                <a:solidFill>
                  <a:srgbClr val="C00000"/>
                </a:solidFill>
              </a:rPr>
              <a:t>short-term memory</a:t>
            </a:r>
            <a:r>
              <a:rPr lang="en-US" sz="24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343" y="3541482"/>
            <a:ext cx="3833101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Establish </a:t>
            </a:r>
            <a:r>
              <a:rPr lang="en-US" sz="2400" b="1" dirty="0">
                <a:solidFill>
                  <a:srgbClr val="C00000"/>
                </a:solidFill>
              </a:rPr>
              <a:t>meaningful defaults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4384286" y="3551497"/>
            <a:ext cx="5423241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b="1" dirty="0">
                <a:solidFill>
                  <a:srgbClr val="C00000"/>
                </a:solidFill>
              </a:rPr>
              <a:t>Define shortcuts </a:t>
            </a:r>
            <a:r>
              <a:rPr lang="en-US" sz="2400" dirty="0"/>
              <a:t>that are intuitive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343" y="4198742"/>
            <a:ext cx="9429184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visual layout </a:t>
            </a:r>
            <a:r>
              <a:rPr lang="en-US" sz="2400" dirty="0"/>
              <a:t>of the interface should be </a:t>
            </a:r>
            <a:r>
              <a:rPr lang="en-US" sz="2400" b="1" dirty="0">
                <a:solidFill>
                  <a:srgbClr val="C00000"/>
                </a:solidFill>
              </a:rPr>
              <a:t>based on</a:t>
            </a:r>
            <a:r>
              <a:rPr lang="en-US" sz="2400" dirty="0"/>
              <a:t> a </a:t>
            </a:r>
            <a:r>
              <a:rPr lang="en-US" sz="2400" b="1" dirty="0">
                <a:solidFill>
                  <a:srgbClr val="C00000"/>
                </a:solidFill>
              </a:rPr>
              <a:t>real-world metaphor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378343" y="4835971"/>
            <a:ext cx="9429184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Disclose </a:t>
            </a:r>
            <a:r>
              <a:rPr lang="en-US" sz="2400" b="1" dirty="0">
                <a:solidFill>
                  <a:srgbClr val="C00000"/>
                </a:solidFill>
              </a:rPr>
              <a:t>information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in a </a:t>
            </a:r>
            <a:r>
              <a:rPr lang="en-US" sz="2400" b="1" dirty="0">
                <a:solidFill>
                  <a:srgbClr val="C00000"/>
                </a:solidFill>
              </a:rPr>
              <a:t>progressive fashion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262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Golden Rules of User Interface Design Cont.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62359" y="1490402"/>
            <a:ext cx="11929641" cy="1367181"/>
          </a:xfrm>
        </p:spPr>
        <p:txBody>
          <a:bodyPr/>
          <a:lstStyle/>
          <a:p>
            <a:r>
              <a:rPr lang="en-US" dirty="0"/>
              <a:t>The interface should </a:t>
            </a:r>
            <a:r>
              <a:rPr lang="en-US" b="1" dirty="0">
                <a:solidFill>
                  <a:srgbClr val="C00000"/>
                </a:solidFill>
              </a:rPr>
              <a:t>present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acquire </a:t>
            </a:r>
            <a:r>
              <a:rPr lang="en-US" b="1" dirty="0">
                <a:solidFill>
                  <a:srgbClr val="C00000"/>
                </a:solidFill>
              </a:rPr>
              <a:t>information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a </a:t>
            </a:r>
            <a:r>
              <a:rPr lang="en-US" b="1" dirty="0">
                <a:solidFill>
                  <a:srgbClr val="C00000"/>
                </a:solidFill>
              </a:rPr>
              <a:t>consistent fashion</a:t>
            </a:r>
            <a:r>
              <a:rPr lang="en-US" dirty="0"/>
              <a:t>.</a:t>
            </a:r>
          </a:p>
          <a:p>
            <a:r>
              <a:rPr lang="en-US" dirty="0"/>
              <a:t>Following are the design principles that help make the interface consistent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499" y="859972"/>
            <a:ext cx="413475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Make the Interface Consistent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21637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8343" y="2628486"/>
            <a:ext cx="7420182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Maintain </a:t>
            </a:r>
            <a:r>
              <a:rPr lang="en-US" sz="2400" b="1" dirty="0">
                <a:solidFill>
                  <a:srgbClr val="C00000"/>
                </a:solidFill>
              </a:rPr>
              <a:t>consistency across a family of applications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378343" y="3251872"/>
            <a:ext cx="7420182" cy="1200329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If past interactive models have created user expectations, </a:t>
            </a:r>
            <a:r>
              <a:rPr lang="en-US" sz="2400" b="1" dirty="0">
                <a:solidFill>
                  <a:srgbClr val="C00000"/>
                </a:solidFill>
              </a:rPr>
              <a:t>do not make changes unless there is a compelling</a:t>
            </a:r>
            <a:r>
              <a:rPr lang="en-US" sz="2400" dirty="0"/>
              <a:t> (convincing) </a:t>
            </a:r>
            <a:r>
              <a:rPr lang="en-US" sz="2400" b="1" dirty="0">
                <a:solidFill>
                  <a:srgbClr val="C00000"/>
                </a:solidFill>
              </a:rPr>
              <a:t>reason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to do so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34" b="3656"/>
          <a:stretch/>
        </p:blipFill>
        <p:spPr>
          <a:xfrm>
            <a:off x="7798525" y="4195293"/>
            <a:ext cx="4114801" cy="22615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103"/>
          <a:stretch/>
        </p:blipFill>
        <p:spPr>
          <a:xfrm>
            <a:off x="7914637" y="3072448"/>
            <a:ext cx="3743325" cy="112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8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4" grpId="0" animBg="1"/>
      <p:bldP spid="9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User Interface Analysis and Design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71714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User profile model </a:t>
            </a:r>
            <a:r>
              <a:rPr lang="en-US" dirty="0"/>
              <a:t>– Established by a software engineer</a:t>
            </a:r>
          </a:p>
          <a:p>
            <a:pPr lvl="1"/>
            <a:r>
              <a:rPr lang="en-US" dirty="0"/>
              <a:t>Establishes the profile of the end-users of the system </a:t>
            </a:r>
          </a:p>
          <a:p>
            <a:pPr lvl="1"/>
            <a:r>
              <a:rPr lang="en-US" dirty="0"/>
              <a:t>based on age, gender, physical abilities, education, cultural background, motivation, goals, and personality.</a:t>
            </a:r>
          </a:p>
          <a:p>
            <a:r>
              <a:rPr lang="en-US" b="1" dirty="0">
                <a:solidFill>
                  <a:srgbClr val="C00000"/>
                </a:solidFill>
              </a:rPr>
              <a:t>Design model </a:t>
            </a:r>
            <a:r>
              <a:rPr lang="en-US" dirty="0"/>
              <a:t>– Created by a software engineer</a:t>
            </a:r>
          </a:p>
          <a:p>
            <a:pPr lvl="1"/>
            <a:r>
              <a:rPr lang="en-US" dirty="0"/>
              <a:t>Derived from the analysis model of the requirements.</a:t>
            </a:r>
          </a:p>
          <a:p>
            <a:pPr lvl="1"/>
            <a:r>
              <a:rPr lang="en-US" dirty="0"/>
              <a:t>Incorporates data, architectural, interface, and procedural representations of the software.</a:t>
            </a:r>
          </a:p>
          <a:p>
            <a:r>
              <a:rPr lang="en-US" b="1" dirty="0">
                <a:solidFill>
                  <a:srgbClr val="C00000"/>
                </a:solidFill>
              </a:rPr>
              <a:t>Implementation model</a:t>
            </a:r>
            <a:r>
              <a:rPr lang="en-US" dirty="0"/>
              <a:t> – Created by the software implementers</a:t>
            </a:r>
          </a:p>
          <a:p>
            <a:pPr lvl="1"/>
            <a:r>
              <a:rPr lang="en-US" dirty="0"/>
              <a:t>Consists of the look and feel of the interface combined with all supporting information (books, videos, help files) that describe system syntax and semantics.</a:t>
            </a:r>
          </a:p>
          <a:p>
            <a:r>
              <a:rPr lang="en-US" b="1" dirty="0">
                <a:solidFill>
                  <a:srgbClr val="C00000"/>
                </a:solidFill>
              </a:rPr>
              <a:t>User's mental model</a:t>
            </a:r>
            <a:r>
              <a:rPr lang="en-US" dirty="0"/>
              <a:t> – Developed by the user when interacting with the application</a:t>
            </a:r>
          </a:p>
          <a:p>
            <a:pPr lvl="1"/>
            <a:r>
              <a:rPr lang="en-US" dirty="0"/>
              <a:t>Often called the user's system perception. </a:t>
            </a:r>
          </a:p>
          <a:p>
            <a:pPr lvl="1"/>
            <a:r>
              <a:rPr lang="en-US" dirty="0"/>
              <a:t>Consists of the image of the system; that users carry in their heads.</a:t>
            </a:r>
          </a:p>
          <a:p>
            <a:endParaRPr lang="en-US" dirty="0"/>
          </a:p>
        </p:txBody>
      </p:sp>
      <p:sp>
        <p:nvSpPr>
          <p:cNvPr id="4" name="Rounded Rectangular Callout 3"/>
          <p:cNvSpPr/>
          <p:nvPr/>
        </p:nvSpPr>
        <p:spPr>
          <a:xfrm>
            <a:off x="391886" y="5580586"/>
            <a:ext cx="9927771" cy="830942"/>
          </a:xfrm>
          <a:prstGeom prst="wedgeRoundRectCallout">
            <a:avLst>
              <a:gd name="adj1" fmla="val 54280"/>
              <a:gd name="adj2" fmla="val -635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role of the interface designer</a:t>
            </a:r>
            <a:r>
              <a:rPr lang="en-US" sz="2400" dirty="0"/>
              <a:t> is to merge these differences and derive a consistent representation of the interface.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341" y="5185070"/>
            <a:ext cx="1226458" cy="122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9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Web Application Design	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285948" y="967919"/>
            <a:ext cx="8586738" cy="875395"/>
          </a:xfrm>
        </p:spPr>
        <p:txBody>
          <a:bodyPr/>
          <a:lstStyle/>
          <a:p>
            <a:r>
              <a:rPr lang="en-US" dirty="0"/>
              <a:t>Design for </a:t>
            </a:r>
            <a:r>
              <a:rPr lang="en-US" dirty="0" err="1"/>
              <a:t>WebApp</a:t>
            </a:r>
            <a:r>
              <a:rPr lang="en-US" dirty="0"/>
              <a:t> encompasses technical and nontechnical activities that include: 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116945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41" y="967919"/>
            <a:ext cx="2451064" cy="24510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43" y="3742618"/>
            <a:ext cx="2395125" cy="23951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525518" y="1869199"/>
            <a:ext cx="8347167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Establishing the look and feel </a:t>
            </a:r>
            <a:r>
              <a:rPr lang="en-US" sz="2400" dirty="0"/>
              <a:t>of the </a:t>
            </a:r>
            <a:r>
              <a:rPr lang="en-US" sz="2400" dirty="0" err="1"/>
              <a:t>WebApp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3525518" y="2436628"/>
            <a:ext cx="8347167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Defining the </a:t>
            </a:r>
            <a:r>
              <a:rPr lang="en-US" sz="2400" b="1" dirty="0">
                <a:solidFill>
                  <a:srgbClr val="C00000"/>
                </a:solidFill>
              </a:rPr>
              <a:t>overall architectural structure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3525518" y="3004057"/>
            <a:ext cx="8347167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Developing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content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functionality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reside within the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5518" y="3940818"/>
            <a:ext cx="8347167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Planning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navigation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occurs within the </a:t>
            </a:r>
            <a:r>
              <a:rPr lang="en-US" sz="2400" dirty="0" err="1"/>
              <a:t>WebApp</a:t>
            </a:r>
            <a:endParaRPr lang="en-US" sz="24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085" y="4508247"/>
            <a:ext cx="1371600" cy="13716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753" y="4669396"/>
            <a:ext cx="1163527" cy="116352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457" y="4618715"/>
            <a:ext cx="2065543" cy="136620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294" y="4669397"/>
            <a:ext cx="1163527" cy="116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3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 Interface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758" y="85788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objectives of a </a:t>
            </a:r>
            <a:r>
              <a:rPr lang="en-US" sz="2400" dirty="0" err="1"/>
              <a:t>WebApp</a:t>
            </a:r>
            <a:r>
              <a:rPr lang="en-US" sz="2400" dirty="0"/>
              <a:t> interface are </a:t>
            </a:r>
            <a:r>
              <a:rPr lang="en-US" sz="2400" dirty="0" smtClean="0"/>
              <a:t>to</a:t>
            </a:r>
            <a:endParaRPr lang="en-US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165" y="1225621"/>
            <a:ext cx="4133685" cy="4213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722295" y="715020"/>
            <a:ext cx="546970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Design pyramid for </a:t>
            </a:r>
            <a:r>
              <a:rPr lang="en-US" sz="2400" b="1" dirty="0" err="1"/>
              <a:t>WebApps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457527" y="1465334"/>
            <a:ext cx="6096000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2400" dirty="0"/>
              <a:t>Establish a </a:t>
            </a:r>
            <a:r>
              <a:rPr lang="en-US" sz="2400" b="1" dirty="0">
                <a:solidFill>
                  <a:srgbClr val="C00000"/>
                </a:solidFill>
              </a:rPr>
              <a:t>consistent window</a:t>
            </a:r>
            <a:r>
              <a:rPr lang="en-US" sz="2400" dirty="0"/>
              <a:t> into the </a:t>
            </a:r>
            <a:r>
              <a:rPr lang="en-US" sz="2400" b="1" dirty="0">
                <a:solidFill>
                  <a:srgbClr val="C00000"/>
                </a:solidFill>
              </a:rPr>
              <a:t>content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functionality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provided by the interface.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527" y="2501463"/>
            <a:ext cx="6096000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Guide the user</a:t>
            </a:r>
            <a:r>
              <a:rPr lang="en-US" sz="2400" dirty="0"/>
              <a:t> through a series of interactions with the </a:t>
            </a:r>
            <a:r>
              <a:rPr lang="en-US" sz="2400" dirty="0" err="1"/>
              <a:t>WebApp</a:t>
            </a:r>
            <a:r>
              <a:rPr lang="en-US" sz="24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527" y="3581399"/>
            <a:ext cx="6096000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Organize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navigation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options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content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available to the user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6722295" y="711201"/>
            <a:ext cx="0" cy="441324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69358" y="5602535"/>
            <a:ext cx="8965142" cy="947317"/>
          </a:xfrm>
        </p:spPr>
        <p:txBody>
          <a:bodyPr/>
          <a:lstStyle/>
          <a:p>
            <a:r>
              <a:rPr lang="en-US" dirty="0"/>
              <a:t>One of the challenges of interface design for </a:t>
            </a:r>
            <a:r>
              <a:rPr lang="en-US" dirty="0" err="1"/>
              <a:t>WebApps</a:t>
            </a:r>
            <a:r>
              <a:rPr lang="en-US" dirty="0"/>
              <a:t> is the </a:t>
            </a:r>
            <a:r>
              <a:rPr lang="en-US" b="1" dirty="0">
                <a:solidFill>
                  <a:srgbClr val="C00000"/>
                </a:solidFill>
              </a:rPr>
              <a:t>nature of the user’s entry </a:t>
            </a:r>
            <a:r>
              <a:rPr lang="en-US" b="1" dirty="0" smtClean="0">
                <a:solidFill>
                  <a:srgbClr val="C00000"/>
                </a:solidFill>
              </a:rPr>
              <a:t>point.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23623" y="5019459"/>
            <a:ext cx="285314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Interface Design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463550" y="5481124"/>
            <a:ext cx="960902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5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3" grpId="0" build="p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pyramid for </a:t>
            </a:r>
            <a:r>
              <a:rPr lang="en-US" dirty="0" err="1"/>
              <a:t>WebApps</a:t>
            </a:r>
            <a:r>
              <a:rPr lang="en-US" dirty="0"/>
              <a:t> Cont.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168900" y="1460316"/>
            <a:ext cx="3947462" cy="17491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Also called </a:t>
            </a:r>
            <a:r>
              <a:rPr lang="en-US" sz="2200" b="1" dirty="0">
                <a:solidFill>
                  <a:srgbClr val="C00000"/>
                </a:solidFill>
              </a:rPr>
              <a:t>graphic design</a:t>
            </a:r>
            <a:r>
              <a:rPr lang="en-US" sz="2200" dirty="0"/>
              <a:t>, is an </a:t>
            </a:r>
            <a:r>
              <a:rPr lang="en-US" sz="2200" b="1" dirty="0">
                <a:solidFill>
                  <a:srgbClr val="C00000"/>
                </a:solidFill>
              </a:rPr>
              <a:t>artistic endeavor</a:t>
            </a:r>
            <a:r>
              <a:rPr lang="en-US" sz="2200" dirty="0"/>
              <a:t> (offer) that </a:t>
            </a:r>
            <a:r>
              <a:rPr lang="en-US" sz="2200" b="1" dirty="0">
                <a:solidFill>
                  <a:srgbClr val="C00000"/>
                </a:solidFill>
              </a:rPr>
              <a:t>complements the technical aspects </a:t>
            </a:r>
            <a:r>
              <a:rPr lang="en-US" sz="2200" dirty="0"/>
              <a:t>of </a:t>
            </a:r>
            <a:r>
              <a:rPr lang="en-US" sz="2200" dirty="0" err="1"/>
              <a:t>WebApp</a:t>
            </a:r>
            <a:r>
              <a:rPr lang="en-US" sz="2200" dirty="0"/>
              <a:t> </a:t>
            </a:r>
            <a:r>
              <a:rPr lang="en-US" sz="2200" dirty="0" smtClean="0"/>
              <a:t>design.</a:t>
            </a:r>
            <a:endParaRPr lang="en-US" sz="2200" dirty="0"/>
          </a:p>
        </p:txBody>
      </p:sp>
      <p:sp>
        <p:nvSpPr>
          <p:cNvPr id="17" name="Rectangle 16"/>
          <p:cNvSpPr/>
          <p:nvPr/>
        </p:nvSpPr>
        <p:spPr>
          <a:xfrm>
            <a:off x="168899" y="921327"/>
            <a:ext cx="285314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Aesthetic Design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308826" y="1382992"/>
            <a:ext cx="161547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Content Placeholder 2"/>
          <p:cNvSpPr txBox="1">
            <a:spLocks/>
          </p:cNvSpPr>
          <p:nvPr/>
        </p:nvSpPr>
        <p:spPr>
          <a:xfrm>
            <a:off x="4398860" y="1445076"/>
            <a:ext cx="3561903" cy="1566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</a:rPr>
              <a:t>Generate content and design </a:t>
            </a:r>
            <a:r>
              <a:rPr lang="en-US" sz="2200" dirty="0"/>
              <a:t>the representation for content to be used within a </a:t>
            </a:r>
            <a:r>
              <a:rPr lang="en-US" sz="2200" dirty="0" err="1"/>
              <a:t>WebApp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sp>
        <p:nvSpPr>
          <p:cNvPr id="20" name="Rectangle 19"/>
          <p:cNvSpPr/>
          <p:nvPr/>
        </p:nvSpPr>
        <p:spPr>
          <a:xfrm>
            <a:off x="4385593" y="919150"/>
            <a:ext cx="2853147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Content Design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6614421" y="1380815"/>
            <a:ext cx="129460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" name="Content Placeholder 2"/>
          <p:cNvSpPr txBox="1">
            <a:spLocks/>
          </p:cNvSpPr>
          <p:nvPr/>
        </p:nvSpPr>
        <p:spPr>
          <a:xfrm>
            <a:off x="8235626" y="1409598"/>
            <a:ext cx="3796897" cy="1167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It is tied to the goals established for a </a:t>
            </a:r>
            <a:r>
              <a:rPr lang="en-US" sz="2200" dirty="0" err="1"/>
              <a:t>WebApp</a:t>
            </a:r>
            <a:r>
              <a:rPr lang="en-US" sz="2200" dirty="0"/>
              <a:t>, </a:t>
            </a:r>
            <a:r>
              <a:rPr lang="en-US" sz="2200" dirty="0" smtClean="0"/>
              <a:t> the </a:t>
            </a:r>
            <a:r>
              <a:rPr lang="en-US" sz="2200" dirty="0"/>
              <a:t>content to be presented, the users who will visit, and the navigation that has been established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sp>
        <p:nvSpPr>
          <p:cNvPr id="23" name="Rectangle 22"/>
          <p:cNvSpPr/>
          <p:nvPr/>
        </p:nvSpPr>
        <p:spPr>
          <a:xfrm>
            <a:off x="8235626" y="842581"/>
            <a:ext cx="283033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Architecture Design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10352735" y="1304246"/>
            <a:ext cx="167978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Content Placeholder 2"/>
          <p:cNvSpPr txBox="1">
            <a:spLocks/>
          </p:cNvSpPr>
          <p:nvPr/>
        </p:nvSpPr>
        <p:spPr>
          <a:xfrm>
            <a:off x="8311826" y="3907310"/>
            <a:ext cx="3720697" cy="17491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Define navigation pathways </a:t>
            </a:r>
            <a:r>
              <a:rPr lang="en-US" dirty="0"/>
              <a:t>that enable users to access </a:t>
            </a:r>
            <a:r>
              <a:rPr lang="en-US" dirty="0" err="1"/>
              <a:t>WebApp</a:t>
            </a:r>
            <a:r>
              <a:rPr lang="en-US" dirty="0"/>
              <a:t> content and functions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8301092" y="3307198"/>
            <a:ext cx="285314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Navigation Design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10441019" y="3768863"/>
            <a:ext cx="159150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Content Placeholder 2"/>
          <p:cNvSpPr txBox="1">
            <a:spLocks/>
          </p:cNvSpPr>
          <p:nvPr/>
        </p:nvSpPr>
        <p:spPr>
          <a:xfrm>
            <a:off x="168899" y="3774680"/>
            <a:ext cx="7755730" cy="4759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/>
              <a:t>Modern </a:t>
            </a:r>
            <a:r>
              <a:rPr lang="en-US" sz="1900" dirty="0" err="1"/>
              <a:t>WebApps</a:t>
            </a:r>
            <a:r>
              <a:rPr lang="en-US" sz="1900" dirty="0"/>
              <a:t> deliver increasingly sophisticated processing functions that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8899" y="3261680"/>
            <a:ext cx="338233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Component-Level Design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2341862" y="3723345"/>
            <a:ext cx="560558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8899" y="4176643"/>
            <a:ext cx="7778546" cy="707886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Perform localized processing </a:t>
            </a:r>
            <a:r>
              <a:rPr lang="en-US" sz="2000" dirty="0"/>
              <a:t>to generate content and navigation capability in a dynamic fashion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8899" y="4949492"/>
            <a:ext cx="7778546" cy="707886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Provide </a:t>
            </a:r>
            <a:r>
              <a:rPr lang="en-US" sz="2000" b="1" dirty="0">
                <a:solidFill>
                  <a:srgbClr val="C00000"/>
                </a:solidFill>
              </a:rPr>
              <a:t>computation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or </a:t>
            </a:r>
            <a:r>
              <a:rPr lang="en-US" sz="2000" b="1" dirty="0">
                <a:solidFill>
                  <a:srgbClr val="C00000"/>
                </a:solidFill>
              </a:rPr>
              <a:t>data processing capability</a:t>
            </a:r>
            <a:r>
              <a:rPr lang="en-US" sz="2000" dirty="0"/>
              <a:t> that are appropriate for the </a:t>
            </a:r>
            <a:r>
              <a:rPr lang="en-US" sz="2000" dirty="0" err="1"/>
              <a:t>WebApp’s</a:t>
            </a:r>
            <a:r>
              <a:rPr lang="en-US" sz="2000" dirty="0"/>
              <a:t> business domain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8899" y="5722341"/>
            <a:ext cx="7778546" cy="40011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/>
              <a:t>Provide </a:t>
            </a:r>
            <a:r>
              <a:rPr lang="en-US" sz="2000" b="1" dirty="0" smtClean="0">
                <a:solidFill>
                  <a:srgbClr val="C00000"/>
                </a:solidFill>
              </a:rPr>
              <a:t>sophisticated database query</a:t>
            </a:r>
            <a:r>
              <a:rPr lang="en-US" sz="2000" dirty="0" smtClean="0"/>
              <a:t> and access</a:t>
            </a:r>
            <a:endParaRPr lang="en-US" sz="2000" dirty="0"/>
          </a:p>
        </p:txBody>
      </p:sp>
      <p:sp>
        <p:nvSpPr>
          <p:cNvPr id="39" name="Rectangle 38"/>
          <p:cNvSpPr/>
          <p:nvPr/>
        </p:nvSpPr>
        <p:spPr>
          <a:xfrm>
            <a:off x="168899" y="6187414"/>
            <a:ext cx="7755730" cy="369332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Establish </a:t>
            </a:r>
            <a:r>
              <a:rPr lang="en-US" b="1" dirty="0">
                <a:solidFill>
                  <a:srgbClr val="C00000"/>
                </a:solidFill>
              </a:rPr>
              <a:t>data interfaces with external corporate</a:t>
            </a:r>
            <a:r>
              <a:rPr lang="en-US" dirty="0"/>
              <a:t> systems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168899" y="3123581"/>
            <a:ext cx="11715023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162348" y="919150"/>
            <a:ext cx="0" cy="22044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8130927" y="919150"/>
            <a:ext cx="0" cy="53798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70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animBg="1"/>
      <p:bldP spid="19" grpId="0" build="p"/>
      <p:bldP spid="20" grpId="0" animBg="1"/>
      <p:bldP spid="22" grpId="0" build="p"/>
      <p:bldP spid="23" grpId="0" animBg="1"/>
      <p:bldP spid="28" grpId="0" build="p"/>
      <p:bldP spid="29" grpId="0" animBg="1"/>
      <p:bldP spid="31" grpId="0" build="p"/>
      <p:bldP spid="32" grpId="0" animBg="1"/>
      <p:bldP spid="14" grpId="0" animBg="1"/>
      <p:bldP spid="15" grpId="0" animBg="1"/>
      <p:bldP spid="37" grpId="0" animBg="1"/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4145" y="2421082"/>
            <a:ext cx="548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6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159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D4EBEFF7470478324E53EDEEEB054" ma:contentTypeVersion="3" ma:contentTypeDescription="Create a new document." ma:contentTypeScope="" ma:versionID="b6c877c1dc40e70caf4ed1441861c67a">
  <xsd:schema xmlns:xsd="http://www.w3.org/2001/XMLSchema" xmlns:xs="http://www.w3.org/2001/XMLSchema" xmlns:p="http://schemas.microsoft.com/office/2006/metadata/properties" xmlns:ns2="90f73b58-fc9b-41f5-a9d0-0306e47cdf01" targetNamespace="http://schemas.microsoft.com/office/2006/metadata/properties" ma:root="true" ma:fieldsID="d34ada8c5e7c47e334716a783ca32266" ns2:_="">
    <xsd:import namespace="90f73b58-fc9b-41f5-a9d0-0306e47cd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f73b58-fc9b-41f5-a9d0-0306e47cd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CAA320-E1ED-497B-B945-9648472CD48E}"/>
</file>

<file path=customXml/itemProps2.xml><?xml version="1.0" encoding="utf-8"?>
<ds:datastoreItem xmlns:ds="http://schemas.openxmlformats.org/officeDocument/2006/customXml" ds:itemID="{D31D22F2-5148-4217-807E-363F17F9B4E5}"/>
</file>

<file path=customXml/itemProps3.xml><?xml version="1.0" encoding="utf-8"?>
<ds:datastoreItem xmlns:ds="http://schemas.openxmlformats.org/officeDocument/2006/customXml" ds:itemID="{669144AA-644B-485B-81AB-002003585C44}"/>
</file>

<file path=docProps/app.xml><?xml version="1.0" encoding="utf-8"?>
<Properties xmlns="http://schemas.openxmlformats.org/officeDocument/2006/extended-properties" xmlns:vt="http://schemas.openxmlformats.org/officeDocument/2006/docPropsVTypes">
  <TotalTime>3331</TotalTime>
  <Words>1851</Words>
  <Application>Microsoft Office PowerPoint</Application>
  <PresentationFormat>Widescreen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Wingdings</vt:lpstr>
      <vt:lpstr>Wingdings 3</vt:lpstr>
      <vt:lpstr>Calibri</vt:lpstr>
      <vt:lpstr>Roboto Condensed</vt:lpstr>
      <vt:lpstr>Arial</vt:lpstr>
      <vt:lpstr>Office Theme</vt:lpstr>
      <vt:lpstr>Software Design</vt:lpstr>
      <vt:lpstr>Function Oriented Approach</vt:lpstr>
      <vt:lpstr>Object Oriented Approach</vt:lpstr>
      <vt:lpstr>Cohesion &amp; Coupling</vt:lpstr>
      <vt:lpstr>Cohesion</vt:lpstr>
      <vt:lpstr>Classification of Cohesion cont.</vt:lpstr>
      <vt:lpstr>Classification of Cohesion cont.</vt:lpstr>
      <vt:lpstr>Classification of Cohesion cont.</vt:lpstr>
      <vt:lpstr>Coupling</vt:lpstr>
      <vt:lpstr>Classification of Coupling Cont.</vt:lpstr>
      <vt:lpstr>Classification of Coupling Cont.</vt:lpstr>
      <vt:lpstr>User Interface Design</vt:lpstr>
      <vt:lpstr>Golden Rules of User Interface Design Cont.</vt:lpstr>
      <vt:lpstr>Golden Rules of User Interface Design Cont.</vt:lpstr>
      <vt:lpstr>Golden Rules of User Interface Design Cont.</vt:lpstr>
      <vt:lpstr>User Interface Analysis and Design Models</vt:lpstr>
      <vt:lpstr>Web Application Design </vt:lpstr>
      <vt:lpstr>Web App Interface Design</vt:lpstr>
      <vt:lpstr>Design pyramid for WebApps Cont.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Hargeet Kaur</cp:lastModifiedBy>
  <cp:revision>3505</cp:revision>
  <dcterms:created xsi:type="dcterms:W3CDTF">2020-05-01T05:09:15Z</dcterms:created>
  <dcterms:modified xsi:type="dcterms:W3CDTF">2025-07-18T08:58:03Z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0x010100850D4EBEFF7470478324E53EDEEEB054</vt:lpwstr>
  </property>
</Properties>
</file>