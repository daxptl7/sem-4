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s/slide1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1.xml" ContentType="application/vnd.openxmlformats-officedocument.presentationml.slide+xml"/>
  <Override PartName="/ppt/slides/slide5.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notesSlides/notesSlide1.xml" ContentType="application/vnd.openxmlformats-officedocument.presentationml.notesSlide+xml"/>
  <Override PartName="/ppt/notesSlides/notesSlide6.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notesSlides/notesSlide7.xml" ContentType="application/vnd.openxmlformats-officedocument.presentationml.notesSlide+xml"/>
  <Override PartName="/ppt/slideLayouts/slideLayout12.xml" ContentType="application/vnd.openxmlformats-officedocument.presentationml.slideLayout+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2.xml" ContentType="application/vnd.openxmlformats-officedocument.presentationml.notesSlid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3.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6"/>
  </p:notesMasterIdLst>
  <p:sldIdLst>
    <p:sldId id="421" r:id="rId2"/>
    <p:sldId id="337" r:id="rId3"/>
    <p:sldId id="401" r:id="rId4"/>
    <p:sldId id="402" r:id="rId5"/>
    <p:sldId id="403" r:id="rId6"/>
    <p:sldId id="339" r:id="rId7"/>
    <p:sldId id="404" r:id="rId8"/>
    <p:sldId id="408" r:id="rId9"/>
    <p:sldId id="412" r:id="rId10"/>
    <p:sldId id="413" r:id="rId11"/>
    <p:sldId id="419" r:id="rId12"/>
    <p:sldId id="416" r:id="rId13"/>
    <p:sldId id="409" r:id="rId14"/>
    <p:sldId id="410" r:id="rId15"/>
    <p:sldId id="423" r:id="rId16"/>
    <p:sldId id="424" r:id="rId17"/>
    <p:sldId id="425" r:id="rId18"/>
    <p:sldId id="426" r:id="rId19"/>
    <p:sldId id="427" r:id="rId20"/>
    <p:sldId id="428" r:id="rId21"/>
    <p:sldId id="429" r:id="rId22"/>
    <p:sldId id="411" r:id="rId23"/>
    <p:sldId id="414" r:id="rId24"/>
    <p:sldId id="422" r:id="rId25"/>
  </p:sldIdLst>
  <p:sldSz cx="12192000" cy="6858000"/>
  <p:notesSz cx="6858000" cy="9144000"/>
  <p:embeddedFontLst>
    <p:embeddedFont>
      <p:font typeface="Book Antiqua" panose="02040602050305030304" pitchFamily="18" charset="0"/>
      <p:regular r:id="rId27"/>
      <p:bold r:id="rId28"/>
      <p:italic r:id="rId29"/>
      <p:boldItalic r:id="rId30"/>
    </p:embeddedFont>
    <p:embeddedFont>
      <p:font typeface="Wingdings 3" panose="05040102010807070707" pitchFamily="18" charset="2"/>
      <p:regular r:id="rId31"/>
    </p:embeddedFont>
    <p:embeddedFont>
      <p:font typeface="Times" panose="02020603050405020304" pitchFamily="18" charset="0"/>
      <p:regular r:id="rId32"/>
      <p:bold r:id="rId33"/>
      <p:italic r:id="rId34"/>
      <p:boldItalic r:id="rId35"/>
    </p:embeddedFont>
    <p:embeddedFont>
      <p:font typeface="Calibri" panose="020F0502020204030204" pitchFamily="34" charset="0"/>
      <p:regular r:id="rId36"/>
      <p:bold r:id="rId37"/>
      <p:italic r:id="rId38"/>
      <p:boldItalic r:id="rId39"/>
    </p:embeddedFont>
    <p:embeddedFont>
      <p:font typeface="Roboto Condensed" panose="020B0604020202020204" charset="0"/>
      <p:regular r:id="rId40"/>
      <p:bold r:id="rId41"/>
      <p:italic r:id="rId42"/>
      <p:boldItalic r:id="rId43"/>
    </p:embeddedFont>
    <p:embeddedFont>
      <p:font typeface="Open Sans" panose="020B0604020202020204" charset="0"/>
      <p:regular r:id="rId44"/>
      <p:bold r:id="rId45"/>
      <p:italic r:id="rId46"/>
      <p:boldItalic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32D19"/>
    <a:srgbClr val="F94343"/>
    <a:srgbClr val="EEEEEE"/>
    <a:srgbClr val="B84742"/>
    <a:srgbClr val="BF2323"/>
    <a:srgbClr val="ED524F"/>
    <a:srgbClr val="5C2321"/>
    <a:srgbClr val="80DEEA"/>
    <a:srgbClr val="E1F5FE"/>
    <a:srgbClr val="301B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662" autoAdjust="0"/>
    <p:restoredTop sz="94660"/>
  </p:normalViewPr>
  <p:slideViewPr>
    <p:cSldViewPr snapToGrid="0">
      <p:cViewPr varScale="1">
        <p:scale>
          <a:sx n="92" d="100"/>
          <a:sy n="92" d="100"/>
        </p:scale>
        <p:origin x="276"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47" Type="http://schemas.openxmlformats.org/officeDocument/2006/relationships/font" Target="fonts/font21.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font" Target="fonts/font19.fntdata"/><Relationship Id="rId53" Type="http://schemas.openxmlformats.org/officeDocument/2006/relationships/customXml" Target="../customXml/item2.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52"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font" Target="fonts/font20.fntdata"/><Relationship Id="rId20" Type="http://schemas.openxmlformats.org/officeDocument/2006/relationships/slide" Target="slides/slide19.xml"/><Relationship Id="rId41" Type="http://schemas.openxmlformats.org/officeDocument/2006/relationships/font" Target="fonts/font15.fntdata"/><Relationship Id="rId54"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4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7/18/2025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3" name="Google Shape;413;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912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9" name="Google Shape;419;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86900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2" name="Google Shape;43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81882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06032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1" name="Google Shape;45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24864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7" name="Google Shape;45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52662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9" name="Google Shape;46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2495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pic>
        <p:nvPicPr>
          <p:cNvPr id="18" name="Shape 56">
            <a:extLst>
              <a:ext uri="{FF2B5EF4-FFF2-40B4-BE49-F238E27FC236}">
                <a16:creationId xmlns=""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 xmlns:a16="http://schemas.microsoft.com/office/drawing/2014/main" id="{DC6F4971-704E-42EF-A852-52D75741FB7C}"/>
              </a:ext>
            </a:extLst>
          </p:cNvPr>
          <p:cNvSpPr>
            <a:spLocks noGrp="1"/>
          </p:cNvSpPr>
          <p:nvPr>
            <p:ph idx="1"/>
          </p:nvPr>
        </p:nvSpPr>
        <p:spPr>
          <a:xfrm>
            <a:off x="131178" y="761686"/>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33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pic>
        <p:nvPicPr>
          <p:cNvPr id="18" name="Shape 56">
            <a:extLst>
              <a:ext uri="{FF2B5EF4-FFF2-40B4-BE49-F238E27FC236}">
                <a16:creationId xmlns=""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 xmlns:a16="http://schemas.microsoft.com/office/drawing/2014/main" id="{DC6F4971-704E-42EF-A852-52D75741FB7C}"/>
              </a:ext>
            </a:extLst>
          </p:cNvPr>
          <p:cNvSpPr>
            <a:spLocks noGrp="1"/>
          </p:cNvSpPr>
          <p:nvPr>
            <p:ph idx="1"/>
          </p:nvPr>
        </p:nvSpPr>
        <p:spPr>
          <a:xfrm>
            <a:off x="131178" y="773828"/>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2761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pic>
        <p:nvPicPr>
          <p:cNvPr id="18" name="Shape 56">
            <a:extLst>
              <a:ext uri="{FF2B5EF4-FFF2-40B4-BE49-F238E27FC236}">
                <a16:creationId xmlns=""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 xmlns:a16="http://schemas.microsoft.com/office/drawing/2014/main" id="{DC6F4971-704E-42EF-A852-52D75741FB7C}"/>
              </a:ext>
            </a:extLst>
          </p:cNvPr>
          <p:cNvSpPr>
            <a:spLocks noGrp="1"/>
          </p:cNvSpPr>
          <p:nvPr>
            <p:ph idx="1"/>
          </p:nvPr>
        </p:nvSpPr>
        <p:spPr>
          <a:xfrm>
            <a:off x="131178" y="761686"/>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862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10" name="Freeform 17">
            <a:extLst>
              <a:ext uri="{FF2B5EF4-FFF2-40B4-BE49-F238E27FC236}">
                <a16:creationId xmlns=""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Tree>
    <p:extLst>
      <p:ext uri="{BB962C8B-B14F-4D97-AF65-F5344CB8AC3E}">
        <p14:creationId xmlns:p14="http://schemas.microsoft.com/office/powerpoint/2010/main" val="2001692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cxnSp>
        <p:nvCxnSpPr>
          <p:cNvPr id="22" name="Straight Connector 21">
            <a:extLst>
              <a:ext uri="{FF2B5EF4-FFF2-40B4-BE49-F238E27FC236}">
                <a16:creationId xmlns=""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1972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6247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3314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43"/>
        <p:cNvGrpSpPr/>
        <p:nvPr/>
      </p:nvGrpSpPr>
      <p:grpSpPr>
        <a:xfrm>
          <a:off x="0" y="0"/>
          <a:ext cx="0" cy="0"/>
          <a:chOff x="0" y="0"/>
          <a:chExt cx="0" cy="0"/>
        </a:xfrm>
      </p:grpSpPr>
      <p:sp>
        <p:nvSpPr>
          <p:cNvPr id="44" name="Google Shape;44;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3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A8A8A"/>
                </a:solidFill>
                <a:latin typeface="Roboto Condensed"/>
                <a:ea typeface="Roboto Condensed"/>
                <a:cs typeface="Roboto Condensed"/>
                <a:sym typeface="Roboto Condensed"/>
              </a:defRPr>
            </a:lvl1pPr>
            <a:lvl2pPr marL="0" lvl="1" indent="0" algn="r">
              <a:spcBef>
                <a:spcPts val="0"/>
              </a:spcBef>
              <a:buNone/>
              <a:defRPr sz="1200">
                <a:solidFill>
                  <a:srgbClr val="8A8A8A"/>
                </a:solidFill>
                <a:latin typeface="Roboto Condensed"/>
                <a:ea typeface="Roboto Condensed"/>
                <a:cs typeface="Roboto Condensed"/>
                <a:sym typeface="Roboto Condensed"/>
              </a:defRPr>
            </a:lvl2pPr>
            <a:lvl3pPr marL="0" lvl="2" indent="0" algn="r">
              <a:spcBef>
                <a:spcPts val="0"/>
              </a:spcBef>
              <a:buNone/>
              <a:defRPr sz="1200">
                <a:solidFill>
                  <a:srgbClr val="8A8A8A"/>
                </a:solidFill>
                <a:latin typeface="Roboto Condensed"/>
                <a:ea typeface="Roboto Condensed"/>
                <a:cs typeface="Roboto Condensed"/>
                <a:sym typeface="Roboto Condensed"/>
              </a:defRPr>
            </a:lvl3pPr>
            <a:lvl4pPr marL="0" lvl="3" indent="0" algn="r">
              <a:spcBef>
                <a:spcPts val="0"/>
              </a:spcBef>
              <a:buNone/>
              <a:defRPr sz="1200">
                <a:solidFill>
                  <a:srgbClr val="8A8A8A"/>
                </a:solidFill>
                <a:latin typeface="Roboto Condensed"/>
                <a:ea typeface="Roboto Condensed"/>
                <a:cs typeface="Roboto Condensed"/>
                <a:sym typeface="Roboto Condensed"/>
              </a:defRPr>
            </a:lvl4pPr>
            <a:lvl5pPr marL="0" lvl="4" indent="0" algn="r">
              <a:spcBef>
                <a:spcPts val="0"/>
              </a:spcBef>
              <a:buNone/>
              <a:defRPr sz="1200">
                <a:solidFill>
                  <a:srgbClr val="8A8A8A"/>
                </a:solidFill>
                <a:latin typeface="Roboto Condensed"/>
                <a:ea typeface="Roboto Condensed"/>
                <a:cs typeface="Roboto Condensed"/>
                <a:sym typeface="Roboto Condensed"/>
              </a:defRPr>
            </a:lvl5pPr>
            <a:lvl6pPr marL="0" lvl="5" indent="0" algn="r">
              <a:spcBef>
                <a:spcPts val="0"/>
              </a:spcBef>
              <a:buNone/>
              <a:defRPr sz="1200">
                <a:solidFill>
                  <a:srgbClr val="8A8A8A"/>
                </a:solidFill>
                <a:latin typeface="Roboto Condensed"/>
                <a:ea typeface="Roboto Condensed"/>
                <a:cs typeface="Roboto Condensed"/>
                <a:sym typeface="Roboto Condensed"/>
              </a:defRPr>
            </a:lvl6pPr>
            <a:lvl7pPr marL="0" lvl="6" indent="0" algn="r">
              <a:spcBef>
                <a:spcPts val="0"/>
              </a:spcBef>
              <a:buNone/>
              <a:defRPr sz="1200">
                <a:solidFill>
                  <a:srgbClr val="8A8A8A"/>
                </a:solidFill>
                <a:latin typeface="Roboto Condensed"/>
                <a:ea typeface="Roboto Condensed"/>
                <a:cs typeface="Roboto Condensed"/>
                <a:sym typeface="Roboto Condensed"/>
              </a:defRPr>
            </a:lvl7pPr>
            <a:lvl8pPr marL="0" lvl="7" indent="0" algn="r">
              <a:spcBef>
                <a:spcPts val="0"/>
              </a:spcBef>
              <a:buNone/>
              <a:defRPr sz="1200">
                <a:solidFill>
                  <a:srgbClr val="8A8A8A"/>
                </a:solidFill>
                <a:latin typeface="Roboto Condensed"/>
                <a:ea typeface="Roboto Condensed"/>
                <a:cs typeface="Roboto Condensed"/>
                <a:sym typeface="Roboto Condensed"/>
              </a:defRPr>
            </a:lvl8pPr>
            <a:lvl9pPr marL="0" lvl="8" indent="0" algn="r">
              <a:spcBef>
                <a:spcPts val="0"/>
              </a:spcBef>
              <a:buNone/>
              <a:defRPr sz="1200">
                <a:solidFill>
                  <a:srgbClr val="8A8A8A"/>
                </a:solidFill>
                <a:latin typeface="Roboto Condensed"/>
                <a:ea typeface="Roboto Condensed"/>
                <a:cs typeface="Roboto Condensed"/>
                <a:sym typeface="Roboto Condensed"/>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4420545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9"/>
        <p:cNvGrpSpPr/>
        <p:nvPr/>
      </p:nvGrpSpPr>
      <p:grpSpPr>
        <a:xfrm>
          <a:off x="0" y="0"/>
          <a:ext cx="0" cy="0"/>
          <a:chOff x="0" y="0"/>
          <a:chExt cx="0" cy="0"/>
        </a:xfrm>
      </p:grpSpPr>
      <p:sp>
        <p:nvSpPr>
          <p:cNvPr id="50" name="Google Shape;50;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A8A8A"/>
                </a:solidFill>
                <a:latin typeface="Roboto Condensed"/>
                <a:ea typeface="Roboto Condensed"/>
                <a:cs typeface="Roboto Condensed"/>
                <a:sym typeface="Roboto Condensed"/>
              </a:defRPr>
            </a:lvl1pPr>
            <a:lvl2pPr marL="0" lvl="1" indent="0" algn="r">
              <a:spcBef>
                <a:spcPts val="0"/>
              </a:spcBef>
              <a:buNone/>
              <a:defRPr sz="1200">
                <a:solidFill>
                  <a:srgbClr val="8A8A8A"/>
                </a:solidFill>
                <a:latin typeface="Roboto Condensed"/>
                <a:ea typeface="Roboto Condensed"/>
                <a:cs typeface="Roboto Condensed"/>
                <a:sym typeface="Roboto Condensed"/>
              </a:defRPr>
            </a:lvl2pPr>
            <a:lvl3pPr marL="0" lvl="2" indent="0" algn="r">
              <a:spcBef>
                <a:spcPts val="0"/>
              </a:spcBef>
              <a:buNone/>
              <a:defRPr sz="1200">
                <a:solidFill>
                  <a:srgbClr val="8A8A8A"/>
                </a:solidFill>
                <a:latin typeface="Roboto Condensed"/>
                <a:ea typeface="Roboto Condensed"/>
                <a:cs typeface="Roboto Condensed"/>
                <a:sym typeface="Roboto Condensed"/>
              </a:defRPr>
            </a:lvl3pPr>
            <a:lvl4pPr marL="0" lvl="3" indent="0" algn="r">
              <a:spcBef>
                <a:spcPts val="0"/>
              </a:spcBef>
              <a:buNone/>
              <a:defRPr sz="1200">
                <a:solidFill>
                  <a:srgbClr val="8A8A8A"/>
                </a:solidFill>
                <a:latin typeface="Roboto Condensed"/>
                <a:ea typeface="Roboto Condensed"/>
                <a:cs typeface="Roboto Condensed"/>
                <a:sym typeface="Roboto Condensed"/>
              </a:defRPr>
            </a:lvl4pPr>
            <a:lvl5pPr marL="0" lvl="4" indent="0" algn="r">
              <a:spcBef>
                <a:spcPts val="0"/>
              </a:spcBef>
              <a:buNone/>
              <a:defRPr sz="1200">
                <a:solidFill>
                  <a:srgbClr val="8A8A8A"/>
                </a:solidFill>
                <a:latin typeface="Roboto Condensed"/>
                <a:ea typeface="Roboto Condensed"/>
                <a:cs typeface="Roboto Condensed"/>
                <a:sym typeface="Roboto Condensed"/>
              </a:defRPr>
            </a:lvl5pPr>
            <a:lvl6pPr marL="0" lvl="5" indent="0" algn="r">
              <a:spcBef>
                <a:spcPts val="0"/>
              </a:spcBef>
              <a:buNone/>
              <a:defRPr sz="1200">
                <a:solidFill>
                  <a:srgbClr val="8A8A8A"/>
                </a:solidFill>
                <a:latin typeface="Roboto Condensed"/>
                <a:ea typeface="Roboto Condensed"/>
                <a:cs typeface="Roboto Condensed"/>
                <a:sym typeface="Roboto Condensed"/>
              </a:defRPr>
            </a:lvl6pPr>
            <a:lvl7pPr marL="0" lvl="6" indent="0" algn="r">
              <a:spcBef>
                <a:spcPts val="0"/>
              </a:spcBef>
              <a:buNone/>
              <a:defRPr sz="1200">
                <a:solidFill>
                  <a:srgbClr val="8A8A8A"/>
                </a:solidFill>
                <a:latin typeface="Roboto Condensed"/>
                <a:ea typeface="Roboto Condensed"/>
                <a:cs typeface="Roboto Condensed"/>
                <a:sym typeface="Roboto Condensed"/>
              </a:defRPr>
            </a:lvl7pPr>
            <a:lvl8pPr marL="0" lvl="7" indent="0" algn="r">
              <a:spcBef>
                <a:spcPts val="0"/>
              </a:spcBef>
              <a:buNone/>
              <a:defRPr sz="1200">
                <a:solidFill>
                  <a:srgbClr val="8A8A8A"/>
                </a:solidFill>
                <a:latin typeface="Roboto Condensed"/>
                <a:ea typeface="Roboto Condensed"/>
                <a:cs typeface="Roboto Condensed"/>
                <a:sym typeface="Roboto Condensed"/>
              </a:defRPr>
            </a:lvl8pPr>
            <a:lvl9pPr marL="0" lvl="8" indent="0" algn="r">
              <a:spcBef>
                <a:spcPts val="0"/>
              </a:spcBef>
              <a:buNone/>
              <a:defRPr sz="1200">
                <a:solidFill>
                  <a:srgbClr val="8A8A8A"/>
                </a:solidFill>
                <a:latin typeface="Roboto Condensed"/>
                <a:ea typeface="Roboto Condensed"/>
                <a:cs typeface="Roboto Condensed"/>
                <a:sym typeface="Roboto Condensed"/>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9450091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ck - Logo on TR">
  <p:cSld name="1_Blanck - Logo on TR">
    <p:spTree>
      <p:nvGrpSpPr>
        <p:cNvPr id="1" name="Shape 23"/>
        <p:cNvGrpSpPr/>
        <p:nvPr/>
      </p:nvGrpSpPr>
      <p:grpSpPr>
        <a:xfrm>
          <a:off x="0" y="0"/>
          <a:ext cx="0" cy="0"/>
          <a:chOff x="0" y="0"/>
          <a:chExt cx="0" cy="0"/>
        </a:xfrm>
      </p:grpSpPr>
      <p:sp>
        <p:nvSpPr>
          <p:cNvPr id="24" name="Google Shape;24;p29"/>
          <p:cNvSpPr/>
          <p:nvPr/>
        </p:nvSpPr>
        <p:spPr>
          <a:xfrm>
            <a:off x="0" y="6604000"/>
            <a:ext cx="12191998" cy="254000"/>
          </a:xfrm>
          <a:prstGeom prst="roundRect">
            <a:avLst>
              <a:gd name="adj" fmla="val 0"/>
            </a:avLst>
          </a:prstGeom>
          <a:solidFill>
            <a:srgbClr val="DFDFD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Roboto Condensed"/>
              <a:ea typeface="Roboto Condensed"/>
              <a:cs typeface="Roboto Condensed"/>
              <a:sym typeface="Roboto Condensed"/>
            </a:endParaRPr>
          </a:p>
        </p:txBody>
      </p:sp>
      <p:sp>
        <p:nvSpPr>
          <p:cNvPr id="25" name="Google Shape;25;p29"/>
          <p:cNvSpPr txBox="1"/>
          <p:nvPr/>
        </p:nvSpPr>
        <p:spPr>
          <a:xfrm>
            <a:off x="8610600" y="6604000"/>
            <a:ext cx="2743200" cy="25512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1">
                <a:solidFill>
                  <a:srgbClr val="363636"/>
                </a:solidFill>
                <a:latin typeface="Roboto Condensed"/>
                <a:ea typeface="Roboto Condensed"/>
                <a:cs typeface="Roboto Condensed"/>
                <a:sym typeface="Roboto Condensed"/>
              </a:rPr>
              <a:t>‹#›</a:t>
            </a:fld>
            <a:endParaRPr sz="1200" b="1">
              <a:solidFill>
                <a:srgbClr val="363636"/>
              </a:solidFill>
              <a:latin typeface="Roboto Condensed"/>
              <a:ea typeface="Roboto Condensed"/>
              <a:cs typeface="Roboto Condensed"/>
              <a:sym typeface="Roboto Condensed"/>
            </a:endParaRPr>
          </a:p>
        </p:txBody>
      </p:sp>
      <p:cxnSp>
        <p:nvCxnSpPr>
          <p:cNvPr id="26" name="Google Shape;26;p29"/>
          <p:cNvCxnSpPr/>
          <p:nvPr/>
        </p:nvCxnSpPr>
        <p:spPr>
          <a:xfrm>
            <a:off x="0" y="6606251"/>
            <a:ext cx="12192000" cy="0"/>
          </a:xfrm>
          <a:prstGeom prst="straightConnector1">
            <a:avLst/>
          </a:prstGeom>
          <a:noFill/>
          <a:ln w="12700" cap="flat" cmpd="sng">
            <a:solidFill>
              <a:srgbClr val="BFBFBF">
                <a:alpha val="69803"/>
              </a:srgbClr>
            </a:solidFill>
            <a:prstDash val="solid"/>
            <a:miter lim="800000"/>
            <a:headEnd type="none" w="sm" len="sm"/>
            <a:tailEnd type="none" w="sm" len="sm"/>
          </a:ln>
        </p:spPr>
      </p:cxnSp>
    </p:spTree>
    <p:extLst>
      <p:ext uri="{BB962C8B-B14F-4D97-AF65-F5344CB8AC3E}">
        <p14:creationId xmlns:p14="http://schemas.microsoft.com/office/powerpoint/2010/main" val="2999559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7/18/2025</a:t>
            </a:fld>
            <a:endParaRPr lang="en-US"/>
          </a:p>
        </p:txBody>
      </p:sp>
      <p:sp>
        <p:nvSpPr>
          <p:cNvPr id="5" name="Footer Placeholder 4">
            <a:extLst>
              <a:ext uri="{FF2B5EF4-FFF2-40B4-BE49-F238E27FC236}">
                <a16:creationId xmlns=""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70" r:id="rId1"/>
    <p:sldLayoutId id="2147483687" r:id="rId2"/>
    <p:sldLayoutId id="2147483688" r:id="rId3"/>
    <p:sldLayoutId id="2147483671" r:id="rId4"/>
    <p:sldLayoutId id="2147483672" r:id="rId5"/>
    <p:sldLayoutId id="2147483689" r:id="rId6"/>
    <p:sldLayoutId id="2147483690" r:id="rId7"/>
    <p:sldLayoutId id="2147483673" r:id="rId8"/>
    <p:sldLayoutId id="2147483691" r:id="rId9"/>
    <p:sldLayoutId id="2147483693" r:id="rId10"/>
    <p:sldLayoutId id="2147483694" r:id="rId11"/>
    <p:sldLayoutId id="214748369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Class-Based Modeling</a:t>
            </a:r>
            <a:endParaRPr lang="en-IN" dirty="0"/>
          </a:p>
        </p:txBody>
      </p:sp>
      <p:sp>
        <p:nvSpPr>
          <p:cNvPr id="3" name="Text Placeholder 2"/>
          <p:cNvSpPr>
            <a:spLocks noGrp="1"/>
          </p:cNvSpPr>
          <p:nvPr>
            <p:ph type="body" idx="1"/>
          </p:nvPr>
        </p:nvSpPr>
        <p:spPr/>
        <p:txBody>
          <a:bodyPr/>
          <a:lstStyle/>
          <a:p>
            <a:r>
              <a:rPr lang="en-US" dirty="0" smtClean="0"/>
              <a:t>Analysis Models Part 1</a:t>
            </a:r>
            <a:endParaRPr lang="en-IN" dirty="0"/>
          </a:p>
        </p:txBody>
      </p:sp>
    </p:spTree>
    <p:extLst>
      <p:ext uri="{BB962C8B-B14F-4D97-AF65-F5344CB8AC3E}">
        <p14:creationId xmlns:p14="http://schemas.microsoft.com/office/powerpoint/2010/main" val="2522793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diagram </a:t>
            </a:r>
          </a:p>
        </p:txBody>
      </p:sp>
      <p:sp>
        <p:nvSpPr>
          <p:cNvPr id="10" name="Content Placeholder 12">
            <a:extLst>
              <a:ext uri="{FF2B5EF4-FFF2-40B4-BE49-F238E27FC236}">
                <a16:creationId xmlns="" xmlns:a16="http://schemas.microsoft.com/office/drawing/2014/main" id="{61FBC286-D163-4541-9A3A-31743E81A469}"/>
              </a:ext>
            </a:extLst>
          </p:cNvPr>
          <p:cNvSpPr>
            <a:spLocks noGrp="1"/>
          </p:cNvSpPr>
          <p:nvPr>
            <p:ph idx="1"/>
          </p:nvPr>
        </p:nvSpPr>
        <p:spPr>
          <a:xfrm>
            <a:off x="142042" y="2441529"/>
            <a:ext cx="11929641" cy="3169160"/>
          </a:xfrm>
        </p:spPr>
        <p:txBody>
          <a:bodyPr/>
          <a:lstStyle/>
          <a:p>
            <a:r>
              <a:rPr lang="en-US" dirty="0"/>
              <a:t>Class modeling is used to </a:t>
            </a:r>
            <a:r>
              <a:rPr lang="en-US" dirty="0">
                <a:solidFill>
                  <a:srgbClr val="C00000"/>
                </a:solidFill>
              </a:rPr>
              <a:t>specify</a:t>
            </a:r>
            <a:r>
              <a:rPr lang="en-US" dirty="0"/>
              <a:t> the </a:t>
            </a:r>
            <a:r>
              <a:rPr lang="en-US" dirty="0">
                <a:solidFill>
                  <a:srgbClr val="C00000"/>
                </a:solidFill>
              </a:rPr>
              <a:t>structure of </a:t>
            </a:r>
            <a:r>
              <a:rPr lang="en-US" dirty="0"/>
              <a:t>the </a:t>
            </a:r>
            <a:r>
              <a:rPr lang="en-US" dirty="0">
                <a:solidFill>
                  <a:srgbClr val="C00000"/>
                </a:solidFill>
              </a:rPr>
              <a:t>objects</a:t>
            </a:r>
            <a:r>
              <a:rPr lang="en-US" dirty="0"/>
              <a:t>, </a:t>
            </a:r>
            <a:r>
              <a:rPr lang="en-US" dirty="0">
                <a:solidFill>
                  <a:srgbClr val="C00000"/>
                </a:solidFill>
              </a:rPr>
              <a:t>classes</a:t>
            </a:r>
            <a:r>
              <a:rPr lang="en-US" dirty="0"/>
              <a:t>, or </a:t>
            </a:r>
            <a:r>
              <a:rPr lang="en-US" dirty="0">
                <a:solidFill>
                  <a:srgbClr val="C00000"/>
                </a:solidFill>
              </a:rPr>
              <a:t>components</a:t>
            </a:r>
            <a:r>
              <a:rPr lang="en-US" dirty="0"/>
              <a:t> that exist </a:t>
            </a:r>
            <a:r>
              <a:rPr lang="en-US" dirty="0">
                <a:solidFill>
                  <a:srgbClr val="C00000"/>
                </a:solidFill>
              </a:rPr>
              <a:t>in the problem domain</a:t>
            </a:r>
            <a:r>
              <a:rPr lang="en-US" dirty="0"/>
              <a:t> or system.</a:t>
            </a:r>
          </a:p>
          <a:p>
            <a:r>
              <a:rPr lang="en-US" dirty="0"/>
              <a:t>Class diagram provides a </a:t>
            </a:r>
            <a:r>
              <a:rPr lang="en-US" dirty="0">
                <a:solidFill>
                  <a:srgbClr val="C00000"/>
                </a:solidFill>
              </a:rPr>
              <a:t>graphic notation </a:t>
            </a:r>
            <a:r>
              <a:rPr lang="en-US" dirty="0"/>
              <a:t>for </a:t>
            </a:r>
            <a:r>
              <a:rPr lang="en-US" dirty="0">
                <a:solidFill>
                  <a:srgbClr val="C00000"/>
                </a:solidFill>
              </a:rPr>
              <a:t>modeling classes and their relationships</a:t>
            </a:r>
            <a:r>
              <a:rPr lang="en-US" dirty="0"/>
              <a:t>.</a:t>
            </a:r>
          </a:p>
          <a:p>
            <a:r>
              <a:rPr lang="en-US" dirty="0"/>
              <a:t>Class is a </a:t>
            </a:r>
            <a:r>
              <a:rPr lang="en-US" dirty="0">
                <a:solidFill>
                  <a:srgbClr val="C00000"/>
                </a:solidFill>
              </a:rPr>
              <a:t>blueprint of an object</a:t>
            </a:r>
            <a:r>
              <a:rPr lang="en-US" dirty="0"/>
              <a:t>.</a:t>
            </a:r>
          </a:p>
          <a:p>
            <a:r>
              <a:rPr lang="en-US" dirty="0"/>
              <a:t>An object is a </a:t>
            </a:r>
            <a:r>
              <a:rPr lang="en-US" dirty="0">
                <a:solidFill>
                  <a:srgbClr val="C00000"/>
                </a:solidFill>
              </a:rPr>
              <a:t>concept</a:t>
            </a:r>
            <a:r>
              <a:rPr lang="en-US" dirty="0"/>
              <a:t>, </a:t>
            </a:r>
            <a:r>
              <a:rPr lang="en-US" dirty="0">
                <a:solidFill>
                  <a:srgbClr val="C00000"/>
                </a:solidFill>
              </a:rPr>
              <a:t>abstraction</a:t>
            </a:r>
            <a:r>
              <a:rPr lang="en-US" dirty="0"/>
              <a:t>, or </a:t>
            </a:r>
            <a:r>
              <a:rPr lang="en-US" dirty="0">
                <a:solidFill>
                  <a:srgbClr val="C00000"/>
                </a:solidFill>
              </a:rPr>
              <a:t>thing with an identity </a:t>
            </a:r>
            <a:r>
              <a:rPr lang="en-US" dirty="0"/>
              <a:t>that has </a:t>
            </a:r>
            <a:r>
              <a:rPr lang="en-US" dirty="0">
                <a:solidFill>
                  <a:srgbClr val="C00000"/>
                </a:solidFill>
              </a:rPr>
              <a:t>meaning for an application</a:t>
            </a:r>
            <a:r>
              <a:rPr lang="en-US" dirty="0"/>
              <a:t>.</a:t>
            </a:r>
          </a:p>
          <a:p>
            <a:r>
              <a:rPr lang="en-US" dirty="0"/>
              <a:t>Class diagrams represent an overview of the system like </a:t>
            </a:r>
            <a:r>
              <a:rPr lang="en-US" dirty="0">
                <a:solidFill>
                  <a:srgbClr val="C00000"/>
                </a:solidFill>
              </a:rPr>
              <a:t>classes</a:t>
            </a:r>
            <a:r>
              <a:rPr lang="en-US" dirty="0"/>
              <a:t>, </a:t>
            </a:r>
            <a:r>
              <a:rPr lang="en-US" dirty="0">
                <a:solidFill>
                  <a:srgbClr val="C00000"/>
                </a:solidFill>
              </a:rPr>
              <a:t>attributes</a:t>
            </a:r>
            <a:r>
              <a:rPr lang="en-US" dirty="0"/>
              <a:t>, </a:t>
            </a:r>
            <a:r>
              <a:rPr lang="en-US" dirty="0">
                <a:solidFill>
                  <a:srgbClr val="C00000"/>
                </a:solidFill>
              </a:rPr>
              <a:t>operations</a:t>
            </a:r>
            <a:r>
              <a:rPr lang="en-US" dirty="0"/>
              <a:t>, and </a:t>
            </a:r>
            <a:r>
              <a:rPr lang="en-US" dirty="0">
                <a:solidFill>
                  <a:srgbClr val="C00000"/>
                </a:solidFill>
              </a:rPr>
              <a:t>relationships</a:t>
            </a:r>
            <a:r>
              <a:rPr lang="en-US" dirty="0"/>
              <a:t>.</a:t>
            </a:r>
          </a:p>
          <a:p>
            <a:endParaRPr lang="en-US" dirty="0"/>
          </a:p>
        </p:txBody>
      </p:sp>
      <p:sp>
        <p:nvSpPr>
          <p:cNvPr id="3" name="Speech Bubble: Rectangle with Corners Rounded 2">
            <a:extLst>
              <a:ext uri="{FF2B5EF4-FFF2-40B4-BE49-F238E27FC236}">
                <a16:creationId xmlns="" xmlns:a16="http://schemas.microsoft.com/office/drawing/2014/main" id="{4ECEE23B-30E0-497F-A702-7C0B02AD1238}"/>
              </a:ext>
            </a:extLst>
          </p:cNvPr>
          <p:cNvSpPr/>
          <p:nvPr/>
        </p:nvSpPr>
        <p:spPr>
          <a:xfrm>
            <a:off x="131180" y="816746"/>
            <a:ext cx="11929640" cy="941033"/>
          </a:xfrm>
          <a:prstGeom prst="wedgeRoundRectCallout">
            <a:avLst>
              <a:gd name="adj1" fmla="val -39617"/>
              <a:gd name="adj2" fmla="val -83426"/>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The </a:t>
            </a:r>
            <a:r>
              <a:rPr lang="en-US" sz="2400" b="1" dirty="0">
                <a:solidFill>
                  <a:srgbClr val="C00000"/>
                </a:solidFill>
              </a:rPr>
              <a:t>purpose</a:t>
            </a:r>
            <a:r>
              <a:rPr lang="en-US" sz="2400" dirty="0"/>
              <a:t> of class modeling is to describe </a:t>
            </a:r>
            <a:r>
              <a:rPr lang="en-US" sz="2400" b="1" dirty="0">
                <a:solidFill>
                  <a:srgbClr val="C00000"/>
                </a:solidFill>
              </a:rPr>
              <a:t>objects in systems</a:t>
            </a:r>
            <a:r>
              <a:rPr lang="en-US" sz="2400" dirty="0"/>
              <a:t> and </a:t>
            </a:r>
            <a:r>
              <a:rPr lang="en-US" sz="2400" b="1" dirty="0">
                <a:solidFill>
                  <a:srgbClr val="C00000"/>
                </a:solidFill>
              </a:rPr>
              <a:t>different types of relationships between them</a:t>
            </a:r>
            <a:r>
              <a:rPr lang="en-US" sz="2400" b="1" dirty="0"/>
              <a:t>.</a:t>
            </a:r>
          </a:p>
        </p:txBody>
      </p:sp>
      <p:sp>
        <p:nvSpPr>
          <p:cNvPr id="4" name="Rectangle 3">
            <a:extLst>
              <a:ext uri="{FF2B5EF4-FFF2-40B4-BE49-F238E27FC236}">
                <a16:creationId xmlns="" xmlns:a16="http://schemas.microsoft.com/office/drawing/2014/main" id="{59C02AC0-7415-45F5-8394-5E4E67C1B843}"/>
              </a:ext>
            </a:extLst>
          </p:cNvPr>
          <p:cNvSpPr/>
          <p:nvPr/>
        </p:nvSpPr>
        <p:spPr>
          <a:xfrm>
            <a:off x="131180" y="1851945"/>
            <a:ext cx="11929640"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400" dirty="0"/>
              <a:t>The class diagram is used to </a:t>
            </a:r>
            <a:r>
              <a:rPr lang="en-US" sz="2400" b="1" dirty="0">
                <a:solidFill>
                  <a:srgbClr val="C00000"/>
                </a:solidFill>
              </a:rPr>
              <a:t>construct</a:t>
            </a:r>
            <a:r>
              <a:rPr lang="en-US" sz="2400" dirty="0"/>
              <a:t> and </a:t>
            </a:r>
            <a:r>
              <a:rPr lang="en-US" sz="2400" b="1" dirty="0">
                <a:solidFill>
                  <a:srgbClr val="C00000"/>
                </a:solidFill>
              </a:rPr>
              <a:t>visualize</a:t>
            </a:r>
            <a:r>
              <a:rPr lang="en-US" sz="2400" dirty="0"/>
              <a:t> object-oriented systems.</a:t>
            </a:r>
          </a:p>
        </p:txBody>
      </p:sp>
    </p:spTree>
    <p:extLst>
      <p:ext uri="{BB962C8B-B14F-4D97-AF65-F5344CB8AC3E}">
        <p14:creationId xmlns:p14="http://schemas.microsoft.com/office/powerpoint/2010/main" val="2057980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0">
                                            <p:txEl>
                                              <p:pRg st="0" end="0"/>
                                            </p:txEl>
                                          </p:spTgt>
                                        </p:tgtEl>
                                        <p:attrNameLst>
                                          <p:attrName>style.visibility</p:attrName>
                                        </p:attrNameLst>
                                      </p:cBhvr>
                                      <p:to>
                                        <p:strVal val="visible"/>
                                      </p:to>
                                    </p:set>
                                    <p:animEffect transition="in" filter="fade">
                                      <p:cBhvr>
                                        <p:cTn id="16" dur="500"/>
                                        <p:tgtEl>
                                          <p:spTgt spid="10">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Effect transition="in" filter="fade">
                                      <p:cBhvr>
                                        <p:cTn id="21" dur="500"/>
                                        <p:tgtEl>
                                          <p:spTgt spid="10">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xEl>
                                              <p:pRg st="2" end="2"/>
                                            </p:txEl>
                                          </p:spTgt>
                                        </p:tgtEl>
                                        <p:attrNameLst>
                                          <p:attrName>style.visibility</p:attrName>
                                        </p:attrNameLst>
                                      </p:cBhvr>
                                      <p:to>
                                        <p:strVal val="visible"/>
                                      </p:to>
                                    </p:set>
                                    <p:animEffect transition="in" filter="fade">
                                      <p:cBhvr>
                                        <p:cTn id="26" dur="500"/>
                                        <p:tgtEl>
                                          <p:spTgt spid="10">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xEl>
                                              <p:pRg st="3" end="3"/>
                                            </p:txEl>
                                          </p:spTgt>
                                        </p:tgtEl>
                                        <p:attrNameLst>
                                          <p:attrName>style.visibility</p:attrName>
                                        </p:attrNameLst>
                                      </p:cBhvr>
                                      <p:to>
                                        <p:strVal val="visible"/>
                                      </p:to>
                                    </p:set>
                                    <p:animEffect transition="in" filter="fade">
                                      <p:cBhvr>
                                        <p:cTn id="31" dur="500"/>
                                        <p:tgtEl>
                                          <p:spTgt spid="10">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0">
                                            <p:txEl>
                                              <p:pRg st="4" end="4"/>
                                            </p:txEl>
                                          </p:spTgt>
                                        </p:tgtEl>
                                        <p:attrNameLst>
                                          <p:attrName>style.visibility</p:attrName>
                                        </p:attrNameLst>
                                      </p:cBhvr>
                                      <p:to>
                                        <p:strVal val="visible"/>
                                      </p:to>
                                    </p:set>
                                    <p:animEffect transition="in" filter="fade">
                                      <p:cBhvr>
                                        <p:cTn id="36"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3" grpId="0" animBg="1"/>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Class Diagram </a:t>
            </a:r>
            <a:r>
              <a:rPr lang="en-US" sz="3200" b="0" dirty="0"/>
              <a:t>(Class Name)</a:t>
            </a:r>
            <a:endParaRPr lang="en-US" b="0" dirty="0"/>
          </a:p>
        </p:txBody>
      </p:sp>
      <p:grpSp>
        <p:nvGrpSpPr>
          <p:cNvPr id="4" name="Group 3">
            <a:extLst>
              <a:ext uri="{FF2B5EF4-FFF2-40B4-BE49-F238E27FC236}">
                <a16:creationId xmlns="" xmlns:a16="http://schemas.microsoft.com/office/drawing/2014/main" id="{9E1D79E9-6354-4035-B5B3-5B3DB6B9FC05}"/>
              </a:ext>
            </a:extLst>
          </p:cNvPr>
          <p:cNvGrpSpPr/>
          <p:nvPr/>
        </p:nvGrpSpPr>
        <p:grpSpPr>
          <a:xfrm>
            <a:off x="191286" y="2039660"/>
            <a:ext cx="1997476" cy="1772840"/>
            <a:chOff x="772357" y="1393794"/>
            <a:chExt cx="1997476" cy="1772840"/>
          </a:xfrm>
        </p:grpSpPr>
        <p:sp>
          <p:nvSpPr>
            <p:cNvPr id="3" name="Rectangle 2">
              <a:extLst>
                <a:ext uri="{FF2B5EF4-FFF2-40B4-BE49-F238E27FC236}">
                  <a16:creationId xmlns="" xmlns:a16="http://schemas.microsoft.com/office/drawing/2014/main" id="{EB07FAA4-FA90-4BB9-B641-4D62D4972CEE}"/>
                </a:ext>
              </a:extLst>
            </p:cNvPr>
            <p:cNvSpPr/>
            <p:nvPr/>
          </p:nvSpPr>
          <p:spPr>
            <a:xfrm>
              <a:off x="772357" y="1393794"/>
              <a:ext cx="1997476" cy="58592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IN" sz="2400" b="1" dirty="0"/>
                <a:t>Class Name</a:t>
              </a:r>
            </a:p>
          </p:txBody>
        </p:sp>
        <p:sp>
          <p:nvSpPr>
            <p:cNvPr id="5" name="Rectangle 4">
              <a:extLst>
                <a:ext uri="{FF2B5EF4-FFF2-40B4-BE49-F238E27FC236}">
                  <a16:creationId xmlns="" xmlns:a16="http://schemas.microsoft.com/office/drawing/2014/main" id="{FFD0FB7F-2AD2-4664-874B-D04E0636A260}"/>
                </a:ext>
              </a:extLst>
            </p:cNvPr>
            <p:cNvSpPr/>
            <p:nvPr/>
          </p:nvSpPr>
          <p:spPr>
            <a:xfrm>
              <a:off x="772357" y="1982679"/>
              <a:ext cx="1997476" cy="58592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2400" dirty="0">
                  <a:solidFill>
                    <a:schemeClr val="tx1"/>
                  </a:solidFill>
                </a:rPr>
                <a:t>Attributes</a:t>
              </a:r>
            </a:p>
          </p:txBody>
        </p:sp>
        <p:sp>
          <p:nvSpPr>
            <p:cNvPr id="6" name="Rectangle 5">
              <a:extLst>
                <a:ext uri="{FF2B5EF4-FFF2-40B4-BE49-F238E27FC236}">
                  <a16:creationId xmlns="" xmlns:a16="http://schemas.microsoft.com/office/drawing/2014/main" id="{75925664-D8C2-4D09-93B4-3D508873B956}"/>
                </a:ext>
              </a:extLst>
            </p:cNvPr>
            <p:cNvSpPr/>
            <p:nvPr/>
          </p:nvSpPr>
          <p:spPr>
            <a:xfrm>
              <a:off x="772357" y="2580708"/>
              <a:ext cx="1997476" cy="58592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2400" dirty="0">
                  <a:solidFill>
                    <a:schemeClr val="tx1"/>
                  </a:solidFill>
                </a:rPr>
                <a:t>Operations</a:t>
              </a:r>
            </a:p>
          </p:txBody>
        </p:sp>
      </p:grpSp>
      <p:sp>
        <p:nvSpPr>
          <p:cNvPr id="16" name="Speech Bubble: Rectangle 15">
            <a:extLst>
              <a:ext uri="{FF2B5EF4-FFF2-40B4-BE49-F238E27FC236}">
                <a16:creationId xmlns="" xmlns:a16="http://schemas.microsoft.com/office/drawing/2014/main" id="{686A013A-7532-496E-B757-F24A81432CEE}"/>
              </a:ext>
            </a:extLst>
          </p:cNvPr>
          <p:cNvSpPr/>
          <p:nvPr/>
        </p:nvSpPr>
        <p:spPr>
          <a:xfrm>
            <a:off x="2864680" y="865867"/>
            <a:ext cx="9136034" cy="5589798"/>
          </a:xfrm>
          <a:prstGeom prst="wedgeRectCallout">
            <a:avLst>
              <a:gd name="adj1" fmla="val -57152"/>
              <a:gd name="adj2" fmla="val -23265"/>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17" name="Content Placeholder 8">
            <a:extLst>
              <a:ext uri="{FF2B5EF4-FFF2-40B4-BE49-F238E27FC236}">
                <a16:creationId xmlns="" xmlns:a16="http://schemas.microsoft.com/office/drawing/2014/main" id="{BFFBE752-73E4-435C-AE34-FE0BBD6B7C5A}"/>
              </a:ext>
            </a:extLst>
          </p:cNvPr>
          <p:cNvSpPr txBox="1">
            <a:spLocks/>
          </p:cNvSpPr>
          <p:nvPr/>
        </p:nvSpPr>
        <p:spPr>
          <a:xfrm>
            <a:off x="2864681" y="865868"/>
            <a:ext cx="8839640" cy="5589798"/>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a:t>
            </a:r>
            <a:r>
              <a:rPr lang="en-US" dirty="0">
                <a:solidFill>
                  <a:srgbClr val="C00000"/>
                </a:solidFill>
              </a:rPr>
              <a:t>name</a:t>
            </a:r>
            <a:r>
              <a:rPr lang="en-US" dirty="0"/>
              <a:t> of the class appears in the </a:t>
            </a:r>
            <a:r>
              <a:rPr lang="en-US" dirty="0">
                <a:solidFill>
                  <a:srgbClr val="C00000"/>
                </a:solidFill>
              </a:rPr>
              <a:t>upper</a:t>
            </a:r>
            <a:r>
              <a:rPr lang="en-US" b="1" dirty="0"/>
              <a:t> </a:t>
            </a:r>
            <a:r>
              <a:rPr lang="en-US" dirty="0">
                <a:solidFill>
                  <a:srgbClr val="C00000"/>
                </a:solidFill>
              </a:rPr>
              <a:t>section</a:t>
            </a:r>
            <a:r>
              <a:rPr lang="en-US" dirty="0"/>
              <a:t>.</a:t>
            </a:r>
          </a:p>
          <a:p>
            <a:r>
              <a:rPr lang="en-US" dirty="0">
                <a:solidFill>
                  <a:schemeClr val="dk1"/>
                </a:solidFill>
                <a:ea typeface="Calibri"/>
                <a:cs typeface="Calibri"/>
                <a:sym typeface="Calibri"/>
              </a:rPr>
              <a:t>Class name should be </a:t>
            </a:r>
            <a:r>
              <a:rPr lang="en-US" dirty="0">
                <a:solidFill>
                  <a:srgbClr val="C00000"/>
                </a:solidFill>
                <a:ea typeface="Calibri"/>
                <a:cs typeface="Calibri"/>
                <a:sym typeface="Calibri"/>
              </a:rPr>
              <a:t>meaningful</a:t>
            </a:r>
            <a:r>
              <a:rPr lang="en-US" dirty="0">
                <a:solidFill>
                  <a:schemeClr val="dk1"/>
                </a:solidFill>
                <a:ea typeface="Calibri"/>
                <a:cs typeface="Calibri"/>
                <a:sym typeface="Calibri"/>
              </a:rPr>
              <a:t>.</a:t>
            </a:r>
          </a:p>
          <a:p>
            <a:r>
              <a:rPr lang="en-US" dirty="0"/>
              <a:t>Class name should always be aligned </a:t>
            </a:r>
            <a:r>
              <a:rPr lang="en-US" dirty="0">
                <a:solidFill>
                  <a:srgbClr val="C00000"/>
                </a:solidFill>
              </a:rPr>
              <a:t>center</a:t>
            </a:r>
            <a:r>
              <a:rPr lang="en-US" dirty="0"/>
              <a:t> of the upper section.</a:t>
            </a:r>
          </a:p>
          <a:p>
            <a:r>
              <a:rPr lang="en-US" dirty="0"/>
              <a:t>Class name should </a:t>
            </a:r>
            <a:r>
              <a:rPr lang="en-US" dirty="0">
                <a:solidFill>
                  <a:srgbClr val="C00000"/>
                </a:solidFill>
              </a:rPr>
              <a:t>start with capital letters</a:t>
            </a:r>
            <a:r>
              <a:rPr lang="en-US" dirty="0"/>
              <a:t>, and </a:t>
            </a:r>
            <a:r>
              <a:rPr lang="en-US" dirty="0">
                <a:solidFill>
                  <a:srgbClr val="C00000"/>
                </a:solidFill>
              </a:rPr>
              <a:t>intermediate letter is a capital.</a:t>
            </a:r>
            <a:r>
              <a:rPr lang="en-US" dirty="0"/>
              <a:t> </a:t>
            </a:r>
          </a:p>
          <a:p>
            <a:r>
              <a:rPr lang="en-US" dirty="0"/>
              <a:t>Class name should be always </a:t>
            </a:r>
            <a:r>
              <a:rPr lang="en-US" dirty="0">
                <a:solidFill>
                  <a:srgbClr val="C00000"/>
                </a:solidFill>
              </a:rPr>
              <a:t>bold format</a:t>
            </a:r>
            <a:r>
              <a:rPr lang="en-US" dirty="0"/>
              <a:t>.</a:t>
            </a:r>
          </a:p>
          <a:p>
            <a:r>
              <a:rPr lang="en-US" dirty="0"/>
              <a:t>For e.g.:</a:t>
            </a:r>
          </a:p>
          <a:p>
            <a:endParaRPr lang="en-US" dirty="0"/>
          </a:p>
          <a:p>
            <a:endParaRPr lang="en-US" dirty="0"/>
          </a:p>
          <a:p>
            <a:endParaRPr lang="en-US" dirty="0"/>
          </a:p>
          <a:p>
            <a:r>
              <a:rPr lang="en-US" dirty="0"/>
              <a:t>Abstract class name should be written in </a:t>
            </a:r>
            <a:r>
              <a:rPr lang="en-US" dirty="0">
                <a:solidFill>
                  <a:srgbClr val="C00000"/>
                </a:solidFill>
              </a:rPr>
              <a:t>italic format</a:t>
            </a:r>
            <a:r>
              <a:rPr lang="en-US" dirty="0"/>
              <a:t>.</a:t>
            </a:r>
          </a:p>
          <a:p>
            <a:endParaRPr lang="en-US" dirty="0"/>
          </a:p>
          <a:p>
            <a:endParaRPr lang="en-US" dirty="0"/>
          </a:p>
          <a:p>
            <a:pPr marL="0" indent="0">
              <a:buFont typeface="Wingdings 3" panose="05040102010807070707" pitchFamily="18" charset="2"/>
              <a:buNone/>
            </a:pPr>
            <a:endParaRPr lang="en-IN" dirty="0"/>
          </a:p>
        </p:txBody>
      </p:sp>
      <p:grpSp>
        <p:nvGrpSpPr>
          <p:cNvPr id="13" name="Group 12">
            <a:extLst>
              <a:ext uri="{FF2B5EF4-FFF2-40B4-BE49-F238E27FC236}">
                <a16:creationId xmlns="" xmlns:a16="http://schemas.microsoft.com/office/drawing/2014/main" id="{2BAD2C7E-CA99-4B7F-814E-D4BAC9724150}"/>
              </a:ext>
            </a:extLst>
          </p:cNvPr>
          <p:cNvGrpSpPr/>
          <p:nvPr/>
        </p:nvGrpSpPr>
        <p:grpSpPr>
          <a:xfrm>
            <a:off x="3320221" y="4001181"/>
            <a:ext cx="6979672" cy="961623"/>
            <a:chOff x="3311077" y="4750989"/>
            <a:chExt cx="6979672" cy="961623"/>
          </a:xfrm>
        </p:grpSpPr>
        <p:grpSp>
          <p:nvGrpSpPr>
            <p:cNvPr id="20" name="Group 19">
              <a:extLst>
                <a:ext uri="{FF2B5EF4-FFF2-40B4-BE49-F238E27FC236}">
                  <a16:creationId xmlns="" xmlns:a16="http://schemas.microsoft.com/office/drawing/2014/main" id="{BC28C02B-8AEF-4052-89DD-DD0CCB568A5A}"/>
                </a:ext>
              </a:extLst>
            </p:cNvPr>
            <p:cNvGrpSpPr/>
            <p:nvPr/>
          </p:nvGrpSpPr>
          <p:grpSpPr>
            <a:xfrm>
              <a:off x="3311077" y="4750989"/>
              <a:ext cx="1835420" cy="959053"/>
              <a:chOff x="8523691" y="3072190"/>
              <a:chExt cx="1835420" cy="959053"/>
            </a:xfrm>
          </p:grpSpPr>
          <p:sp>
            <p:nvSpPr>
              <p:cNvPr id="21" name="Google Shape;200;p27">
                <a:extLst>
                  <a:ext uri="{FF2B5EF4-FFF2-40B4-BE49-F238E27FC236}">
                    <a16:creationId xmlns="" xmlns:a16="http://schemas.microsoft.com/office/drawing/2014/main" id="{812C379E-ABAB-4B33-88E7-B4DFFE502720}"/>
                  </a:ext>
                </a:extLst>
              </p:cNvPr>
              <p:cNvSpPr/>
              <p:nvPr/>
            </p:nvSpPr>
            <p:spPr>
              <a:xfrm>
                <a:off x="8523691" y="3072190"/>
                <a:ext cx="1835420" cy="482097"/>
              </a:xfrm>
              <a:prstGeom prst="rect">
                <a:avLst/>
              </a:prstGeom>
              <a:solidFill>
                <a:srgbClr val="B84742"/>
              </a:solidFill>
              <a:ln w="28575" cap="flat" cmpd="sng">
                <a:solidFill>
                  <a:srgbClr val="8C3A38"/>
                </a:solidFill>
                <a:prstDash val="solid"/>
                <a:round/>
                <a:headEnd type="none" w="sm" len="sm"/>
                <a:tailEnd type="none" w="sm" len="sm"/>
              </a:ln>
            </p:spPr>
            <p:txBody>
              <a:bodyPr spcFirstLastPara="1" wrap="square" lIns="91425" tIns="45700" rIns="91425" bIns="45700" anchor="ctr" anchorCtr="0">
                <a:noAutofit/>
              </a:bodyPr>
              <a:lstStyle/>
              <a:p>
                <a:pPr lvl="0" algn="ctr"/>
                <a:r>
                  <a:rPr lang="en-IN" b="1" i="1" dirty="0">
                    <a:solidFill>
                      <a:schemeClr val="bg1"/>
                    </a:solidFill>
                  </a:rPr>
                  <a:t>Account</a:t>
                </a:r>
                <a:endParaRPr b="1" i="1" dirty="0">
                  <a:solidFill>
                    <a:schemeClr val="bg1"/>
                  </a:solidFill>
                </a:endParaRPr>
              </a:p>
            </p:txBody>
          </p:sp>
          <p:sp>
            <p:nvSpPr>
              <p:cNvPr id="22" name="Google Shape;200;p27">
                <a:extLst>
                  <a:ext uri="{FF2B5EF4-FFF2-40B4-BE49-F238E27FC236}">
                    <a16:creationId xmlns="" xmlns:a16="http://schemas.microsoft.com/office/drawing/2014/main" id="{DF82B69A-93E8-4BC3-A817-0A61E744A4A5}"/>
                  </a:ext>
                </a:extLst>
              </p:cNvPr>
              <p:cNvSpPr/>
              <p:nvPr/>
            </p:nvSpPr>
            <p:spPr>
              <a:xfrm>
                <a:off x="8523691" y="3554287"/>
                <a:ext cx="1835420" cy="241049"/>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lvl="0" algn="ctr"/>
                <a:endParaRPr b="1" i="1" dirty="0">
                  <a:solidFill>
                    <a:schemeClr val="bg1"/>
                  </a:solidFill>
                </a:endParaRPr>
              </a:p>
            </p:txBody>
          </p:sp>
          <p:sp>
            <p:nvSpPr>
              <p:cNvPr id="23" name="Google Shape;200;p27">
                <a:extLst>
                  <a:ext uri="{FF2B5EF4-FFF2-40B4-BE49-F238E27FC236}">
                    <a16:creationId xmlns="" xmlns:a16="http://schemas.microsoft.com/office/drawing/2014/main" id="{2B54B802-A8D8-4E38-BE7C-CE84359BD428}"/>
                  </a:ext>
                </a:extLst>
              </p:cNvPr>
              <p:cNvSpPr/>
              <p:nvPr/>
            </p:nvSpPr>
            <p:spPr>
              <a:xfrm>
                <a:off x="8523691" y="3790194"/>
                <a:ext cx="1835420" cy="241049"/>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lvl="0" algn="ctr"/>
                <a:endParaRPr b="1" i="1" dirty="0">
                  <a:solidFill>
                    <a:schemeClr val="bg1"/>
                  </a:solidFill>
                </a:endParaRPr>
              </a:p>
            </p:txBody>
          </p:sp>
        </p:grpSp>
        <p:grpSp>
          <p:nvGrpSpPr>
            <p:cNvPr id="24" name="Group 23">
              <a:extLst>
                <a:ext uri="{FF2B5EF4-FFF2-40B4-BE49-F238E27FC236}">
                  <a16:creationId xmlns="" xmlns:a16="http://schemas.microsoft.com/office/drawing/2014/main" id="{DDB32962-C05D-417D-B05F-2551034A610F}"/>
                </a:ext>
              </a:extLst>
            </p:cNvPr>
            <p:cNvGrpSpPr/>
            <p:nvPr/>
          </p:nvGrpSpPr>
          <p:grpSpPr>
            <a:xfrm>
              <a:off x="5939622" y="4750989"/>
              <a:ext cx="1835420" cy="959053"/>
              <a:chOff x="8523691" y="3072190"/>
              <a:chExt cx="1835420" cy="959053"/>
            </a:xfrm>
          </p:grpSpPr>
          <p:sp>
            <p:nvSpPr>
              <p:cNvPr id="25" name="Google Shape;200;p27">
                <a:extLst>
                  <a:ext uri="{FF2B5EF4-FFF2-40B4-BE49-F238E27FC236}">
                    <a16:creationId xmlns="" xmlns:a16="http://schemas.microsoft.com/office/drawing/2014/main" id="{84FFF456-D852-4C11-A45F-2CB471DC39C0}"/>
                  </a:ext>
                </a:extLst>
              </p:cNvPr>
              <p:cNvSpPr/>
              <p:nvPr/>
            </p:nvSpPr>
            <p:spPr>
              <a:xfrm>
                <a:off x="8523691" y="3072190"/>
                <a:ext cx="1835420" cy="482097"/>
              </a:xfrm>
              <a:prstGeom prst="rect">
                <a:avLst/>
              </a:prstGeom>
              <a:solidFill>
                <a:srgbClr val="B84742"/>
              </a:solidFill>
              <a:ln w="28575" cap="flat" cmpd="sng">
                <a:solidFill>
                  <a:srgbClr val="8C3A38"/>
                </a:solidFill>
                <a:prstDash val="solid"/>
                <a:round/>
                <a:headEnd type="none" w="sm" len="sm"/>
                <a:tailEnd type="none" w="sm" len="sm"/>
              </a:ln>
            </p:spPr>
            <p:txBody>
              <a:bodyPr spcFirstLastPara="1" wrap="square" lIns="91425" tIns="45700" rIns="91425" bIns="45700" anchor="ctr" anchorCtr="0">
                <a:noAutofit/>
              </a:bodyPr>
              <a:lstStyle/>
              <a:p>
                <a:pPr lvl="0" algn="ctr"/>
                <a:r>
                  <a:rPr lang="en-IN" b="1" dirty="0">
                    <a:solidFill>
                      <a:schemeClr val="bg1"/>
                    </a:solidFill>
                  </a:rPr>
                  <a:t>Customer</a:t>
                </a:r>
                <a:endParaRPr b="1" dirty="0">
                  <a:solidFill>
                    <a:schemeClr val="bg1"/>
                  </a:solidFill>
                </a:endParaRPr>
              </a:p>
            </p:txBody>
          </p:sp>
          <p:sp>
            <p:nvSpPr>
              <p:cNvPr id="27" name="Google Shape;200;p27">
                <a:extLst>
                  <a:ext uri="{FF2B5EF4-FFF2-40B4-BE49-F238E27FC236}">
                    <a16:creationId xmlns="" xmlns:a16="http://schemas.microsoft.com/office/drawing/2014/main" id="{3357E3CA-4F2E-4E81-88EC-23FD15F3847B}"/>
                  </a:ext>
                </a:extLst>
              </p:cNvPr>
              <p:cNvSpPr/>
              <p:nvPr/>
            </p:nvSpPr>
            <p:spPr>
              <a:xfrm>
                <a:off x="8523691" y="3554287"/>
                <a:ext cx="1835420" cy="241049"/>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lvl="0" algn="ctr"/>
                <a:endParaRPr b="1" i="1" dirty="0">
                  <a:solidFill>
                    <a:schemeClr val="bg1"/>
                  </a:solidFill>
                </a:endParaRPr>
              </a:p>
            </p:txBody>
          </p:sp>
          <p:sp>
            <p:nvSpPr>
              <p:cNvPr id="28" name="Google Shape;200;p27">
                <a:extLst>
                  <a:ext uri="{FF2B5EF4-FFF2-40B4-BE49-F238E27FC236}">
                    <a16:creationId xmlns="" xmlns:a16="http://schemas.microsoft.com/office/drawing/2014/main" id="{AACAA6AD-1839-4252-96C3-14999718B654}"/>
                  </a:ext>
                </a:extLst>
              </p:cNvPr>
              <p:cNvSpPr/>
              <p:nvPr/>
            </p:nvSpPr>
            <p:spPr>
              <a:xfrm>
                <a:off x="8523691" y="3790194"/>
                <a:ext cx="1835420" cy="241049"/>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lvl="0" algn="ctr"/>
                <a:endParaRPr b="1" i="1" dirty="0">
                  <a:solidFill>
                    <a:schemeClr val="bg1"/>
                  </a:solidFill>
                </a:endParaRPr>
              </a:p>
            </p:txBody>
          </p:sp>
        </p:grpSp>
        <p:grpSp>
          <p:nvGrpSpPr>
            <p:cNvPr id="29" name="Group 28">
              <a:extLst>
                <a:ext uri="{FF2B5EF4-FFF2-40B4-BE49-F238E27FC236}">
                  <a16:creationId xmlns="" xmlns:a16="http://schemas.microsoft.com/office/drawing/2014/main" id="{F0D4C997-77D3-4029-A16B-C8F149AB50B3}"/>
                </a:ext>
              </a:extLst>
            </p:cNvPr>
            <p:cNvGrpSpPr/>
            <p:nvPr/>
          </p:nvGrpSpPr>
          <p:grpSpPr>
            <a:xfrm>
              <a:off x="8455329" y="4753559"/>
              <a:ext cx="1835420" cy="959053"/>
              <a:chOff x="8523691" y="3072190"/>
              <a:chExt cx="1835420" cy="959053"/>
            </a:xfrm>
          </p:grpSpPr>
          <p:sp>
            <p:nvSpPr>
              <p:cNvPr id="30" name="Google Shape;200;p27">
                <a:extLst>
                  <a:ext uri="{FF2B5EF4-FFF2-40B4-BE49-F238E27FC236}">
                    <a16:creationId xmlns="" xmlns:a16="http://schemas.microsoft.com/office/drawing/2014/main" id="{05167717-D1E8-4809-A3CB-7106EDDE920A}"/>
                  </a:ext>
                </a:extLst>
              </p:cNvPr>
              <p:cNvSpPr/>
              <p:nvPr/>
            </p:nvSpPr>
            <p:spPr>
              <a:xfrm>
                <a:off x="8523691" y="3072190"/>
                <a:ext cx="1835420" cy="482097"/>
              </a:xfrm>
              <a:prstGeom prst="rect">
                <a:avLst/>
              </a:prstGeom>
              <a:solidFill>
                <a:srgbClr val="B84742"/>
              </a:solidFill>
              <a:ln w="28575" cap="flat" cmpd="sng">
                <a:solidFill>
                  <a:srgbClr val="8C3A38"/>
                </a:solidFill>
                <a:prstDash val="solid"/>
                <a:round/>
                <a:headEnd type="none" w="sm" len="sm"/>
                <a:tailEnd type="none" w="sm" len="sm"/>
              </a:ln>
            </p:spPr>
            <p:txBody>
              <a:bodyPr spcFirstLastPara="1" wrap="square" lIns="91425" tIns="45700" rIns="91425" bIns="45700" anchor="ctr" anchorCtr="0">
                <a:noAutofit/>
              </a:bodyPr>
              <a:lstStyle/>
              <a:p>
                <a:pPr lvl="0" algn="ctr"/>
                <a:r>
                  <a:rPr lang="en-IN" b="1" dirty="0">
                    <a:solidFill>
                      <a:schemeClr val="bg1"/>
                    </a:solidFill>
                  </a:rPr>
                  <a:t>Employee</a:t>
                </a:r>
                <a:endParaRPr b="1" dirty="0">
                  <a:solidFill>
                    <a:schemeClr val="bg1"/>
                  </a:solidFill>
                </a:endParaRPr>
              </a:p>
            </p:txBody>
          </p:sp>
          <p:sp>
            <p:nvSpPr>
              <p:cNvPr id="31" name="Google Shape;200;p27">
                <a:extLst>
                  <a:ext uri="{FF2B5EF4-FFF2-40B4-BE49-F238E27FC236}">
                    <a16:creationId xmlns="" xmlns:a16="http://schemas.microsoft.com/office/drawing/2014/main" id="{0F0CF29E-FEDB-432A-9925-A93904F671A7}"/>
                  </a:ext>
                </a:extLst>
              </p:cNvPr>
              <p:cNvSpPr/>
              <p:nvPr/>
            </p:nvSpPr>
            <p:spPr>
              <a:xfrm>
                <a:off x="8523691" y="3554287"/>
                <a:ext cx="1835420" cy="241049"/>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lvl="0" algn="ctr"/>
                <a:endParaRPr b="1" i="1" dirty="0">
                  <a:solidFill>
                    <a:schemeClr val="bg1"/>
                  </a:solidFill>
                </a:endParaRPr>
              </a:p>
            </p:txBody>
          </p:sp>
          <p:sp>
            <p:nvSpPr>
              <p:cNvPr id="33" name="Google Shape;200;p27">
                <a:extLst>
                  <a:ext uri="{FF2B5EF4-FFF2-40B4-BE49-F238E27FC236}">
                    <a16:creationId xmlns="" xmlns:a16="http://schemas.microsoft.com/office/drawing/2014/main" id="{2F5239A0-5423-4D31-A4F3-FC21C57A274D}"/>
                  </a:ext>
                </a:extLst>
              </p:cNvPr>
              <p:cNvSpPr/>
              <p:nvPr/>
            </p:nvSpPr>
            <p:spPr>
              <a:xfrm>
                <a:off x="8523691" y="3790194"/>
                <a:ext cx="1835420" cy="241049"/>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lvl="0" algn="ctr"/>
                <a:endParaRPr b="1" i="1" dirty="0">
                  <a:solidFill>
                    <a:schemeClr val="bg1"/>
                  </a:solidFill>
                </a:endParaRPr>
              </a:p>
            </p:txBody>
          </p:sp>
        </p:grpSp>
      </p:grpSp>
    </p:spTree>
    <p:extLst>
      <p:ext uri="{BB962C8B-B14F-4D97-AF65-F5344CB8AC3E}">
        <p14:creationId xmlns:p14="http://schemas.microsoft.com/office/powerpoint/2010/main" val="2164981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xEl>
                                              <p:pRg st="0" end="0"/>
                                            </p:txEl>
                                          </p:spTgt>
                                        </p:tgtEl>
                                        <p:attrNameLst>
                                          <p:attrName>style.visibility</p:attrName>
                                        </p:attrNameLst>
                                      </p:cBhvr>
                                      <p:to>
                                        <p:strVal val="visible"/>
                                      </p:to>
                                    </p:set>
                                    <p:animEffect transition="in" filter="fade">
                                      <p:cBhvr>
                                        <p:cTn id="15" dur="500"/>
                                        <p:tgtEl>
                                          <p:spTgt spid="1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xEl>
                                              <p:pRg st="1" end="1"/>
                                            </p:txEl>
                                          </p:spTgt>
                                        </p:tgtEl>
                                        <p:attrNameLst>
                                          <p:attrName>style.visibility</p:attrName>
                                        </p:attrNameLst>
                                      </p:cBhvr>
                                      <p:to>
                                        <p:strVal val="visible"/>
                                      </p:to>
                                    </p:set>
                                    <p:animEffect transition="in" filter="fade">
                                      <p:cBhvr>
                                        <p:cTn id="20" dur="500"/>
                                        <p:tgtEl>
                                          <p:spTgt spid="17">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7">
                                            <p:txEl>
                                              <p:pRg st="2" end="2"/>
                                            </p:txEl>
                                          </p:spTgt>
                                        </p:tgtEl>
                                        <p:attrNameLst>
                                          <p:attrName>style.visibility</p:attrName>
                                        </p:attrNameLst>
                                      </p:cBhvr>
                                      <p:to>
                                        <p:strVal val="visible"/>
                                      </p:to>
                                    </p:set>
                                    <p:animEffect transition="in" filter="fade">
                                      <p:cBhvr>
                                        <p:cTn id="25" dur="500"/>
                                        <p:tgtEl>
                                          <p:spTgt spid="17">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7">
                                            <p:txEl>
                                              <p:pRg st="3" end="3"/>
                                            </p:txEl>
                                          </p:spTgt>
                                        </p:tgtEl>
                                        <p:attrNameLst>
                                          <p:attrName>style.visibility</p:attrName>
                                        </p:attrNameLst>
                                      </p:cBhvr>
                                      <p:to>
                                        <p:strVal val="visible"/>
                                      </p:to>
                                    </p:set>
                                    <p:animEffect transition="in" filter="fade">
                                      <p:cBhvr>
                                        <p:cTn id="30" dur="500"/>
                                        <p:tgtEl>
                                          <p:spTgt spid="17">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7">
                                            <p:txEl>
                                              <p:pRg st="4" end="4"/>
                                            </p:txEl>
                                          </p:spTgt>
                                        </p:tgtEl>
                                        <p:attrNameLst>
                                          <p:attrName>style.visibility</p:attrName>
                                        </p:attrNameLst>
                                      </p:cBhvr>
                                      <p:to>
                                        <p:strVal val="visible"/>
                                      </p:to>
                                    </p:set>
                                    <p:animEffect transition="in" filter="fade">
                                      <p:cBhvr>
                                        <p:cTn id="35" dur="500"/>
                                        <p:tgtEl>
                                          <p:spTgt spid="17">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7">
                                            <p:txEl>
                                              <p:pRg st="5" end="5"/>
                                            </p:txEl>
                                          </p:spTgt>
                                        </p:tgtEl>
                                        <p:attrNameLst>
                                          <p:attrName>style.visibility</p:attrName>
                                        </p:attrNameLst>
                                      </p:cBhvr>
                                      <p:to>
                                        <p:strVal val="visible"/>
                                      </p:to>
                                    </p:set>
                                    <p:animEffect transition="in" filter="fade">
                                      <p:cBhvr>
                                        <p:cTn id="40" dur="500"/>
                                        <p:tgtEl>
                                          <p:spTgt spid="17">
                                            <p:txEl>
                                              <p:pRg st="5" end="5"/>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7">
                                            <p:txEl>
                                              <p:pRg st="9" end="9"/>
                                            </p:txEl>
                                          </p:spTgt>
                                        </p:tgtEl>
                                        <p:attrNameLst>
                                          <p:attrName>style.visibility</p:attrName>
                                        </p:attrNameLst>
                                      </p:cBhvr>
                                      <p:to>
                                        <p:strVal val="visible"/>
                                      </p:to>
                                    </p:set>
                                    <p:animEffect transition="in" filter="fade">
                                      <p:cBhvr>
                                        <p:cTn id="48" dur="500"/>
                                        <p:tgtEl>
                                          <p:spTgt spid="1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Class Diagram </a:t>
            </a:r>
            <a:r>
              <a:rPr lang="en-US" sz="3200" b="0" dirty="0"/>
              <a:t>(Class Name) </a:t>
            </a:r>
            <a:r>
              <a:rPr lang="en-US" dirty="0"/>
              <a:t>Cont</a:t>
            </a:r>
            <a:r>
              <a:rPr lang="en-US" sz="3200" dirty="0"/>
              <a:t>.</a:t>
            </a:r>
            <a:endParaRPr lang="en-US" dirty="0"/>
          </a:p>
        </p:txBody>
      </p:sp>
      <p:sp>
        <p:nvSpPr>
          <p:cNvPr id="10" name="Content Placeholder 9">
            <a:extLst>
              <a:ext uri="{FF2B5EF4-FFF2-40B4-BE49-F238E27FC236}">
                <a16:creationId xmlns="" xmlns:a16="http://schemas.microsoft.com/office/drawing/2014/main" id="{1C528A1E-8A94-4A43-B8E9-853B9043E01E}"/>
              </a:ext>
            </a:extLst>
          </p:cNvPr>
          <p:cNvSpPr>
            <a:spLocks noGrp="1"/>
          </p:cNvSpPr>
          <p:nvPr>
            <p:ph idx="1"/>
          </p:nvPr>
        </p:nvSpPr>
        <p:spPr/>
        <p:txBody>
          <a:bodyPr/>
          <a:lstStyle/>
          <a:p>
            <a:r>
              <a:rPr lang="en-US" dirty="0"/>
              <a:t>For e.g. in the </a:t>
            </a:r>
            <a:r>
              <a:rPr lang="en-US" dirty="0">
                <a:solidFill>
                  <a:srgbClr val="C00000"/>
                </a:solidFill>
              </a:rPr>
              <a:t>banking system</a:t>
            </a:r>
            <a:r>
              <a:rPr lang="en-US" dirty="0"/>
              <a:t>, there are </a:t>
            </a:r>
            <a:r>
              <a:rPr lang="en-US" dirty="0">
                <a:solidFill>
                  <a:srgbClr val="C00000"/>
                </a:solidFill>
              </a:rPr>
              <a:t>two types of accounts</a:t>
            </a:r>
            <a:r>
              <a:rPr lang="en-US" dirty="0"/>
              <a:t>; one is a </a:t>
            </a:r>
            <a:r>
              <a:rPr lang="en-US" dirty="0">
                <a:solidFill>
                  <a:srgbClr val="C00000"/>
                </a:solidFill>
              </a:rPr>
              <a:t>saving account</a:t>
            </a:r>
            <a:r>
              <a:rPr lang="en-US" dirty="0"/>
              <a:t> and another is a </a:t>
            </a:r>
            <a:r>
              <a:rPr lang="en-US" dirty="0">
                <a:solidFill>
                  <a:srgbClr val="C00000"/>
                </a:solidFill>
              </a:rPr>
              <a:t>current account</a:t>
            </a:r>
            <a:r>
              <a:rPr lang="en-US" dirty="0"/>
              <a:t>.</a:t>
            </a:r>
          </a:p>
          <a:p>
            <a:r>
              <a:rPr lang="en-US" b="1" dirty="0">
                <a:solidFill>
                  <a:srgbClr val="C00000"/>
                </a:solidFill>
              </a:rPr>
              <a:t>Account is an abstract class</a:t>
            </a:r>
            <a:r>
              <a:rPr lang="en-US" dirty="0"/>
              <a:t> and </a:t>
            </a:r>
            <a:r>
              <a:rPr lang="en-US" dirty="0">
                <a:solidFill>
                  <a:srgbClr val="C00000"/>
                </a:solidFill>
              </a:rPr>
              <a:t>saving account</a:t>
            </a:r>
            <a:r>
              <a:rPr lang="en-US" dirty="0"/>
              <a:t> and the </a:t>
            </a:r>
            <a:r>
              <a:rPr lang="en-US" dirty="0">
                <a:solidFill>
                  <a:srgbClr val="C00000"/>
                </a:solidFill>
              </a:rPr>
              <a:t>current account </a:t>
            </a:r>
            <a:r>
              <a:rPr lang="en-US" dirty="0"/>
              <a:t>is a subclass of Account.</a:t>
            </a:r>
          </a:p>
          <a:p>
            <a:r>
              <a:rPr lang="en-US" dirty="0"/>
              <a:t>The system </a:t>
            </a:r>
            <a:r>
              <a:rPr lang="en-US" dirty="0">
                <a:solidFill>
                  <a:srgbClr val="C00000"/>
                </a:solidFill>
              </a:rPr>
              <a:t>can’t directly access </a:t>
            </a:r>
            <a:r>
              <a:rPr lang="en-US" dirty="0"/>
              <a:t>the Account class. It is accessible by only </a:t>
            </a:r>
            <a:r>
              <a:rPr lang="en-US" dirty="0">
                <a:solidFill>
                  <a:srgbClr val="C00000"/>
                </a:solidFill>
              </a:rPr>
              <a:t>saving accounts </a:t>
            </a:r>
            <a:r>
              <a:rPr lang="en-US" dirty="0"/>
              <a:t>and </a:t>
            </a:r>
            <a:r>
              <a:rPr lang="en-US" dirty="0">
                <a:solidFill>
                  <a:srgbClr val="C00000"/>
                </a:solidFill>
              </a:rPr>
              <a:t>current accounts</a:t>
            </a:r>
            <a:r>
              <a:rPr lang="en-US" dirty="0"/>
              <a:t>.</a:t>
            </a:r>
          </a:p>
        </p:txBody>
      </p:sp>
      <p:grpSp>
        <p:nvGrpSpPr>
          <p:cNvPr id="42" name="Group 41">
            <a:extLst>
              <a:ext uri="{FF2B5EF4-FFF2-40B4-BE49-F238E27FC236}">
                <a16:creationId xmlns="" xmlns:a16="http://schemas.microsoft.com/office/drawing/2014/main" id="{D4EE37A7-E2AC-4586-BB1F-11AAB41236B4}"/>
              </a:ext>
            </a:extLst>
          </p:cNvPr>
          <p:cNvGrpSpPr/>
          <p:nvPr/>
        </p:nvGrpSpPr>
        <p:grpSpPr>
          <a:xfrm>
            <a:off x="4487057" y="4127167"/>
            <a:ext cx="2639981" cy="1082284"/>
            <a:chOff x="4487057" y="3967363"/>
            <a:chExt cx="2639981" cy="1082284"/>
          </a:xfrm>
        </p:grpSpPr>
        <p:cxnSp>
          <p:nvCxnSpPr>
            <p:cNvPr id="12" name="Straight Connector 11">
              <a:extLst>
                <a:ext uri="{FF2B5EF4-FFF2-40B4-BE49-F238E27FC236}">
                  <a16:creationId xmlns="" xmlns:a16="http://schemas.microsoft.com/office/drawing/2014/main" id="{987B7A71-5BF1-448C-BDDE-89804711A328}"/>
                </a:ext>
              </a:extLst>
            </p:cNvPr>
            <p:cNvCxnSpPr>
              <a:cxnSpLocks/>
            </p:cNvCxnSpPr>
            <p:nvPr/>
          </p:nvCxnSpPr>
          <p:spPr>
            <a:xfrm>
              <a:off x="4487057" y="4618074"/>
              <a:ext cx="2639980"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14" name="Straight Connector 13">
              <a:extLst>
                <a:ext uri="{FF2B5EF4-FFF2-40B4-BE49-F238E27FC236}">
                  <a16:creationId xmlns="" xmlns:a16="http://schemas.microsoft.com/office/drawing/2014/main" id="{81C62133-F527-45BB-A050-6A27EBB07711}"/>
                </a:ext>
              </a:extLst>
            </p:cNvPr>
            <p:cNvCxnSpPr>
              <a:cxnSpLocks/>
              <a:endCxn id="37" idx="0"/>
            </p:cNvCxnSpPr>
            <p:nvPr/>
          </p:nvCxnSpPr>
          <p:spPr>
            <a:xfrm>
              <a:off x="4487058" y="4618074"/>
              <a:ext cx="0" cy="431573"/>
            </a:xfrm>
            <a:prstGeom prst="line">
              <a:avLst/>
            </a:prstGeom>
          </p:spPr>
          <p:style>
            <a:lnRef idx="3">
              <a:schemeClr val="accent6"/>
            </a:lnRef>
            <a:fillRef idx="0">
              <a:schemeClr val="accent6"/>
            </a:fillRef>
            <a:effectRef idx="2">
              <a:schemeClr val="accent6"/>
            </a:effectRef>
            <a:fontRef idx="minor">
              <a:schemeClr val="tx1"/>
            </a:fontRef>
          </p:style>
        </p:cxnSp>
        <p:cxnSp>
          <p:nvCxnSpPr>
            <p:cNvPr id="19" name="Straight Connector 18">
              <a:extLst>
                <a:ext uri="{FF2B5EF4-FFF2-40B4-BE49-F238E27FC236}">
                  <a16:creationId xmlns="" xmlns:a16="http://schemas.microsoft.com/office/drawing/2014/main" id="{877ECF46-BC4E-478A-BDE6-591D04965453}"/>
                </a:ext>
              </a:extLst>
            </p:cNvPr>
            <p:cNvCxnSpPr>
              <a:cxnSpLocks/>
              <a:endCxn id="36" idx="0"/>
            </p:cNvCxnSpPr>
            <p:nvPr/>
          </p:nvCxnSpPr>
          <p:spPr>
            <a:xfrm>
              <a:off x="7127038" y="4618074"/>
              <a:ext cx="0" cy="431573"/>
            </a:xfrm>
            <a:prstGeom prst="line">
              <a:avLst/>
            </a:prstGeom>
          </p:spPr>
          <p:style>
            <a:lnRef idx="3">
              <a:schemeClr val="accent6"/>
            </a:lnRef>
            <a:fillRef idx="0">
              <a:schemeClr val="accent6"/>
            </a:fillRef>
            <a:effectRef idx="2">
              <a:schemeClr val="accent6"/>
            </a:effectRef>
            <a:fontRef idx="minor">
              <a:schemeClr val="tx1"/>
            </a:fontRef>
          </p:style>
        </p:cxnSp>
        <p:sp>
          <p:nvSpPr>
            <p:cNvPr id="25" name="Isosceles Triangle 24">
              <a:extLst>
                <a:ext uri="{FF2B5EF4-FFF2-40B4-BE49-F238E27FC236}">
                  <a16:creationId xmlns="" xmlns:a16="http://schemas.microsoft.com/office/drawing/2014/main" id="{54E22854-30F5-448B-9963-58235AB50313}"/>
                </a:ext>
              </a:extLst>
            </p:cNvPr>
            <p:cNvSpPr/>
            <p:nvPr/>
          </p:nvSpPr>
          <p:spPr>
            <a:xfrm>
              <a:off x="5681707" y="3967363"/>
              <a:ext cx="239697" cy="133165"/>
            </a:xfrm>
            <a:prstGeom prs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a:p>
          </p:txBody>
        </p:sp>
        <p:cxnSp>
          <p:nvCxnSpPr>
            <p:cNvPr id="27" name="Straight Connector 26">
              <a:extLst>
                <a:ext uri="{FF2B5EF4-FFF2-40B4-BE49-F238E27FC236}">
                  <a16:creationId xmlns="" xmlns:a16="http://schemas.microsoft.com/office/drawing/2014/main" id="{80FE1CE6-15E9-43C3-9527-E2A10FD371EB}"/>
                </a:ext>
              </a:extLst>
            </p:cNvPr>
            <p:cNvCxnSpPr>
              <a:stCxn id="25" idx="3"/>
            </p:cNvCxnSpPr>
            <p:nvPr/>
          </p:nvCxnSpPr>
          <p:spPr>
            <a:xfrm flipH="1">
              <a:off x="5801555" y="4100528"/>
              <a:ext cx="1" cy="517546"/>
            </a:xfrm>
            <a:prstGeom prst="line">
              <a:avLst/>
            </a:prstGeom>
          </p:spPr>
          <p:style>
            <a:lnRef idx="3">
              <a:schemeClr val="accent6"/>
            </a:lnRef>
            <a:fillRef idx="0">
              <a:schemeClr val="accent6"/>
            </a:fillRef>
            <a:effectRef idx="2">
              <a:schemeClr val="accent6"/>
            </a:effectRef>
            <a:fontRef idx="minor">
              <a:schemeClr val="tx1"/>
            </a:fontRef>
          </p:style>
        </p:cxnSp>
      </p:grpSp>
      <p:grpSp>
        <p:nvGrpSpPr>
          <p:cNvPr id="29" name="Group 28">
            <a:extLst>
              <a:ext uri="{FF2B5EF4-FFF2-40B4-BE49-F238E27FC236}">
                <a16:creationId xmlns="" xmlns:a16="http://schemas.microsoft.com/office/drawing/2014/main" id="{44D103C4-49AC-4F64-800D-53CD26E8797E}"/>
              </a:ext>
            </a:extLst>
          </p:cNvPr>
          <p:cNvGrpSpPr/>
          <p:nvPr/>
        </p:nvGrpSpPr>
        <p:grpSpPr>
          <a:xfrm>
            <a:off x="3569347" y="5209451"/>
            <a:ext cx="1835421" cy="931425"/>
            <a:chOff x="3551592" y="4569989"/>
            <a:chExt cx="1835421" cy="931425"/>
          </a:xfrm>
        </p:grpSpPr>
        <p:sp>
          <p:nvSpPr>
            <p:cNvPr id="37" name="Google Shape;200;p27">
              <a:extLst>
                <a:ext uri="{FF2B5EF4-FFF2-40B4-BE49-F238E27FC236}">
                  <a16:creationId xmlns="" xmlns:a16="http://schemas.microsoft.com/office/drawing/2014/main" id="{98668CBE-B948-488E-8342-2F7572B4EE02}"/>
                </a:ext>
              </a:extLst>
            </p:cNvPr>
            <p:cNvSpPr/>
            <p:nvPr/>
          </p:nvSpPr>
          <p:spPr>
            <a:xfrm>
              <a:off x="3551592" y="4569989"/>
              <a:ext cx="1835421" cy="482097"/>
            </a:xfrm>
            <a:prstGeom prst="rect">
              <a:avLst/>
            </a:prstGeom>
            <a:solidFill>
              <a:srgbClr val="B84742"/>
            </a:solidFill>
            <a:ln w="28575" cap="flat" cmpd="sng">
              <a:solidFill>
                <a:srgbClr val="8C3A3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b="1" dirty="0" err="1">
                  <a:solidFill>
                    <a:schemeClr val="bg1"/>
                  </a:solidFill>
                </a:rPr>
                <a:t>SavingAccount</a:t>
              </a:r>
              <a:endParaRPr b="1" dirty="0">
                <a:solidFill>
                  <a:schemeClr val="bg1"/>
                </a:solidFill>
              </a:endParaRPr>
            </a:p>
          </p:txBody>
        </p:sp>
        <p:sp>
          <p:nvSpPr>
            <p:cNvPr id="31" name="Google Shape;200;p27">
              <a:extLst>
                <a:ext uri="{FF2B5EF4-FFF2-40B4-BE49-F238E27FC236}">
                  <a16:creationId xmlns="" xmlns:a16="http://schemas.microsoft.com/office/drawing/2014/main" id="{E4C17599-0CCD-4380-9C87-3A597B0182B8}"/>
                </a:ext>
              </a:extLst>
            </p:cNvPr>
            <p:cNvSpPr/>
            <p:nvPr/>
          </p:nvSpPr>
          <p:spPr>
            <a:xfrm>
              <a:off x="3551592" y="5024458"/>
              <a:ext cx="1835420" cy="241049"/>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lvl="0" algn="ctr"/>
              <a:endParaRPr b="1" i="1" dirty="0">
                <a:solidFill>
                  <a:schemeClr val="bg1"/>
                </a:solidFill>
              </a:endParaRPr>
            </a:p>
          </p:txBody>
        </p:sp>
        <p:sp>
          <p:nvSpPr>
            <p:cNvPr id="33" name="Google Shape;200;p27">
              <a:extLst>
                <a:ext uri="{FF2B5EF4-FFF2-40B4-BE49-F238E27FC236}">
                  <a16:creationId xmlns="" xmlns:a16="http://schemas.microsoft.com/office/drawing/2014/main" id="{209A8ABC-56E7-4012-A255-2E39EB438301}"/>
                </a:ext>
              </a:extLst>
            </p:cNvPr>
            <p:cNvSpPr/>
            <p:nvPr/>
          </p:nvSpPr>
          <p:spPr>
            <a:xfrm>
              <a:off x="3551592" y="5260365"/>
              <a:ext cx="1835420" cy="241049"/>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lvl="0" algn="ctr"/>
              <a:endParaRPr b="1" i="1" dirty="0">
                <a:solidFill>
                  <a:schemeClr val="bg1"/>
                </a:solidFill>
              </a:endParaRPr>
            </a:p>
          </p:txBody>
        </p:sp>
      </p:grpSp>
      <p:grpSp>
        <p:nvGrpSpPr>
          <p:cNvPr id="30" name="Group 29">
            <a:extLst>
              <a:ext uri="{FF2B5EF4-FFF2-40B4-BE49-F238E27FC236}">
                <a16:creationId xmlns="" xmlns:a16="http://schemas.microsoft.com/office/drawing/2014/main" id="{E2BBD763-D9CD-4A43-9F1C-2F7EBE61CC46}"/>
              </a:ext>
            </a:extLst>
          </p:cNvPr>
          <p:cNvGrpSpPr/>
          <p:nvPr/>
        </p:nvGrpSpPr>
        <p:grpSpPr>
          <a:xfrm>
            <a:off x="4883845" y="3146001"/>
            <a:ext cx="1835420" cy="959053"/>
            <a:chOff x="8523691" y="3072190"/>
            <a:chExt cx="1835420" cy="959053"/>
          </a:xfrm>
        </p:grpSpPr>
        <p:sp>
          <p:nvSpPr>
            <p:cNvPr id="32" name="Google Shape;200;p27">
              <a:extLst>
                <a:ext uri="{FF2B5EF4-FFF2-40B4-BE49-F238E27FC236}">
                  <a16:creationId xmlns="" xmlns:a16="http://schemas.microsoft.com/office/drawing/2014/main" id="{8568A4DB-845A-45F7-94EF-11E412529F92}"/>
                </a:ext>
              </a:extLst>
            </p:cNvPr>
            <p:cNvSpPr/>
            <p:nvPr/>
          </p:nvSpPr>
          <p:spPr>
            <a:xfrm>
              <a:off x="8523691" y="3072190"/>
              <a:ext cx="1835420" cy="482097"/>
            </a:xfrm>
            <a:prstGeom prst="rect">
              <a:avLst/>
            </a:prstGeom>
            <a:solidFill>
              <a:srgbClr val="B84742"/>
            </a:solidFill>
            <a:ln w="28575" cap="flat" cmpd="sng">
              <a:solidFill>
                <a:srgbClr val="8C3A38"/>
              </a:solidFill>
              <a:prstDash val="solid"/>
              <a:round/>
              <a:headEnd type="none" w="sm" len="sm"/>
              <a:tailEnd type="none" w="sm" len="sm"/>
            </a:ln>
          </p:spPr>
          <p:txBody>
            <a:bodyPr spcFirstLastPara="1" wrap="square" lIns="91425" tIns="45700" rIns="91425" bIns="45700" anchor="ctr" anchorCtr="0">
              <a:noAutofit/>
            </a:bodyPr>
            <a:lstStyle/>
            <a:p>
              <a:pPr lvl="0" algn="ctr"/>
              <a:r>
                <a:rPr lang="en-IN" b="1" i="1" dirty="0">
                  <a:solidFill>
                    <a:schemeClr val="bg1"/>
                  </a:solidFill>
                </a:rPr>
                <a:t>Account</a:t>
              </a:r>
              <a:endParaRPr b="1" i="1" dirty="0">
                <a:solidFill>
                  <a:schemeClr val="bg1"/>
                </a:solidFill>
              </a:endParaRPr>
            </a:p>
          </p:txBody>
        </p:sp>
        <p:sp>
          <p:nvSpPr>
            <p:cNvPr id="38" name="Google Shape;200;p27">
              <a:extLst>
                <a:ext uri="{FF2B5EF4-FFF2-40B4-BE49-F238E27FC236}">
                  <a16:creationId xmlns="" xmlns:a16="http://schemas.microsoft.com/office/drawing/2014/main" id="{5A72C858-940C-4DBF-B7E3-BFD9B826E22D}"/>
                </a:ext>
              </a:extLst>
            </p:cNvPr>
            <p:cNvSpPr/>
            <p:nvPr/>
          </p:nvSpPr>
          <p:spPr>
            <a:xfrm>
              <a:off x="8523691" y="3554287"/>
              <a:ext cx="1835420" cy="241049"/>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lvl="0" algn="ctr"/>
              <a:endParaRPr b="1" i="1" dirty="0">
                <a:solidFill>
                  <a:schemeClr val="bg1"/>
                </a:solidFill>
              </a:endParaRPr>
            </a:p>
          </p:txBody>
        </p:sp>
        <p:sp>
          <p:nvSpPr>
            <p:cNvPr id="39" name="Google Shape;200;p27">
              <a:extLst>
                <a:ext uri="{FF2B5EF4-FFF2-40B4-BE49-F238E27FC236}">
                  <a16:creationId xmlns="" xmlns:a16="http://schemas.microsoft.com/office/drawing/2014/main" id="{F87E8E32-DE77-4B71-B792-AFC8A9D0BE1A}"/>
                </a:ext>
              </a:extLst>
            </p:cNvPr>
            <p:cNvSpPr/>
            <p:nvPr/>
          </p:nvSpPr>
          <p:spPr>
            <a:xfrm>
              <a:off x="8523691" y="3790194"/>
              <a:ext cx="1835420" cy="241049"/>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lvl="0" algn="ctr"/>
              <a:endParaRPr b="1" i="1" dirty="0">
                <a:solidFill>
                  <a:schemeClr val="bg1"/>
                </a:solidFill>
              </a:endParaRPr>
            </a:p>
          </p:txBody>
        </p:sp>
      </p:grpSp>
      <p:grpSp>
        <p:nvGrpSpPr>
          <p:cNvPr id="28" name="Group 27">
            <a:extLst>
              <a:ext uri="{FF2B5EF4-FFF2-40B4-BE49-F238E27FC236}">
                <a16:creationId xmlns="" xmlns:a16="http://schemas.microsoft.com/office/drawing/2014/main" id="{5549B9C0-A3E0-4FBD-BD86-2980FD32C87C}"/>
              </a:ext>
            </a:extLst>
          </p:cNvPr>
          <p:cNvGrpSpPr/>
          <p:nvPr/>
        </p:nvGrpSpPr>
        <p:grpSpPr>
          <a:xfrm>
            <a:off x="6209326" y="5209451"/>
            <a:ext cx="1835422" cy="944908"/>
            <a:chOff x="6191571" y="4569989"/>
            <a:chExt cx="1835422" cy="944908"/>
          </a:xfrm>
        </p:grpSpPr>
        <p:sp>
          <p:nvSpPr>
            <p:cNvPr id="36" name="Google Shape;200;p27">
              <a:extLst>
                <a:ext uri="{FF2B5EF4-FFF2-40B4-BE49-F238E27FC236}">
                  <a16:creationId xmlns="" xmlns:a16="http://schemas.microsoft.com/office/drawing/2014/main" id="{48BB5ACB-25BA-4584-B2AB-0C9DB8060467}"/>
                </a:ext>
              </a:extLst>
            </p:cNvPr>
            <p:cNvSpPr/>
            <p:nvPr/>
          </p:nvSpPr>
          <p:spPr>
            <a:xfrm>
              <a:off x="6191572" y="4569989"/>
              <a:ext cx="1835421" cy="482097"/>
            </a:xfrm>
            <a:prstGeom prst="rect">
              <a:avLst/>
            </a:prstGeom>
            <a:solidFill>
              <a:srgbClr val="B84742"/>
            </a:solidFill>
            <a:ln w="28575" cap="flat" cmpd="sng">
              <a:solidFill>
                <a:srgbClr val="8C3A3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b="1" dirty="0" err="1">
                  <a:solidFill>
                    <a:schemeClr val="bg1"/>
                  </a:solidFill>
                </a:rPr>
                <a:t>CurrentAccount</a:t>
              </a:r>
              <a:endParaRPr b="1" dirty="0">
                <a:solidFill>
                  <a:schemeClr val="bg1"/>
                </a:solidFill>
              </a:endParaRPr>
            </a:p>
          </p:txBody>
        </p:sp>
        <p:sp>
          <p:nvSpPr>
            <p:cNvPr id="40" name="Google Shape;200;p27">
              <a:extLst>
                <a:ext uri="{FF2B5EF4-FFF2-40B4-BE49-F238E27FC236}">
                  <a16:creationId xmlns="" xmlns:a16="http://schemas.microsoft.com/office/drawing/2014/main" id="{2F160CB1-8C3A-44AD-BEEF-3F3B3FCB5A80}"/>
                </a:ext>
              </a:extLst>
            </p:cNvPr>
            <p:cNvSpPr/>
            <p:nvPr/>
          </p:nvSpPr>
          <p:spPr>
            <a:xfrm>
              <a:off x="6191571" y="5037941"/>
              <a:ext cx="1835420" cy="241049"/>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lvl="0" algn="ctr"/>
              <a:endParaRPr b="1" i="1" dirty="0">
                <a:solidFill>
                  <a:schemeClr val="bg1"/>
                </a:solidFill>
              </a:endParaRPr>
            </a:p>
          </p:txBody>
        </p:sp>
        <p:sp>
          <p:nvSpPr>
            <p:cNvPr id="41" name="Google Shape;200;p27">
              <a:extLst>
                <a:ext uri="{FF2B5EF4-FFF2-40B4-BE49-F238E27FC236}">
                  <a16:creationId xmlns="" xmlns:a16="http://schemas.microsoft.com/office/drawing/2014/main" id="{163AA4E9-953B-490A-9B0B-BB1AA0890702}"/>
                </a:ext>
              </a:extLst>
            </p:cNvPr>
            <p:cNvSpPr/>
            <p:nvPr/>
          </p:nvSpPr>
          <p:spPr>
            <a:xfrm>
              <a:off x="6191571" y="5273848"/>
              <a:ext cx="1835420" cy="241049"/>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lvl="0" algn="ctr"/>
              <a:endParaRPr b="1" i="1" dirty="0">
                <a:solidFill>
                  <a:schemeClr val="bg1"/>
                </a:solidFill>
              </a:endParaRPr>
            </a:p>
          </p:txBody>
        </p:sp>
      </p:grpSp>
      <p:sp>
        <p:nvSpPr>
          <p:cNvPr id="43" name="Speech Bubble: Oval 42">
            <a:extLst>
              <a:ext uri="{FF2B5EF4-FFF2-40B4-BE49-F238E27FC236}">
                <a16:creationId xmlns="" xmlns:a16="http://schemas.microsoft.com/office/drawing/2014/main" id="{A781D18E-9AC3-4E05-8F43-2EE4C5CC620A}"/>
              </a:ext>
            </a:extLst>
          </p:cNvPr>
          <p:cNvSpPr/>
          <p:nvPr/>
        </p:nvSpPr>
        <p:spPr>
          <a:xfrm>
            <a:off x="6921720" y="2883887"/>
            <a:ext cx="2246051" cy="648820"/>
          </a:xfrm>
          <a:prstGeom prst="wedgeEllipseCallout">
            <a:avLst>
              <a:gd name="adj1" fmla="val -83679"/>
              <a:gd name="adj2" fmla="val 29496"/>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Abstract class </a:t>
            </a:r>
            <a:r>
              <a:rPr lang="en-IN" b="1" dirty="0"/>
              <a:t>italic font</a:t>
            </a:r>
          </a:p>
        </p:txBody>
      </p:sp>
      <p:sp>
        <p:nvSpPr>
          <p:cNvPr id="44" name="Speech Bubble: Oval 43">
            <a:extLst>
              <a:ext uri="{FF2B5EF4-FFF2-40B4-BE49-F238E27FC236}">
                <a16:creationId xmlns="" xmlns:a16="http://schemas.microsoft.com/office/drawing/2014/main" id="{D5E54AE7-B2C5-490C-A7B1-79AB290B2E3F}"/>
              </a:ext>
            </a:extLst>
          </p:cNvPr>
          <p:cNvSpPr/>
          <p:nvPr/>
        </p:nvSpPr>
        <p:spPr>
          <a:xfrm>
            <a:off x="8651288" y="4885041"/>
            <a:ext cx="2246051" cy="648820"/>
          </a:xfrm>
          <a:prstGeom prst="wedgeEllipseCallout">
            <a:avLst>
              <a:gd name="adj1" fmla="val -83679"/>
              <a:gd name="adj2" fmla="val 29496"/>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Normal class </a:t>
            </a:r>
            <a:r>
              <a:rPr lang="en-IN" b="1" dirty="0"/>
              <a:t>non italic font</a:t>
            </a:r>
          </a:p>
        </p:txBody>
      </p:sp>
    </p:spTree>
    <p:extLst>
      <p:ext uri="{BB962C8B-B14F-4D97-AF65-F5344CB8AC3E}">
        <p14:creationId xmlns:p14="http://schemas.microsoft.com/office/powerpoint/2010/main" val="3527957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fade">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fade">
                                      <p:cBhvr>
                                        <p:cTn id="17" dur="500"/>
                                        <p:tgtEl>
                                          <p:spTgt spid="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fade">
                                      <p:cBhvr>
                                        <p:cTn id="27" dur="500"/>
                                        <p:tgtEl>
                                          <p:spTgt spid="4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fade">
                                      <p:cBhvr>
                                        <p:cTn id="32" dur="500"/>
                                        <p:tgtEl>
                                          <p:spTgt spid="42"/>
                                        </p:tgtEl>
                                      </p:cBhvr>
                                    </p:animEffect>
                                  </p:childTnLst>
                                </p:cTn>
                              </p:par>
                              <p:par>
                                <p:cTn id="33" presetID="10" presetClass="entr" presetSubtype="0" fill="hold" nodeType="with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500"/>
                                        <p:tgtEl>
                                          <p:spTgt spid="29"/>
                                        </p:tgtEl>
                                      </p:cBhvr>
                                    </p:animEffect>
                                  </p:childTnLst>
                                </p:cTn>
                              </p:par>
                              <p:par>
                                <p:cTn id="36" presetID="10" presetClass="entr" presetSubtype="0" fill="hold" nodeType="with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fade">
                                      <p:cBhvr>
                                        <p:cTn id="38" dur="500"/>
                                        <p:tgtEl>
                                          <p:spTgt spid="2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44"/>
                                        </p:tgtEl>
                                        <p:attrNameLst>
                                          <p:attrName>style.visibility</p:attrName>
                                        </p:attrNameLst>
                                      </p:cBhvr>
                                      <p:to>
                                        <p:strVal val="visible"/>
                                      </p:to>
                                    </p:set>
                                    <p:animEffect transition="in" filter="fade">
                                      <p:cBhvr>
                                        <p:cTn id="43"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43" grpId="0" animBg="1"/>
      <p:bldP spid="4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Class Diagram </a:t>
            </a:r>
            <a:r>
              <a:rPr lang="en-US" sz="3200" b="0" dirty="0"/>
              <a:t>(Attributes)</a:t>
            </a:r>
            <a:endParaRPr lang="en-US" dirty="0"/>
          </a:p>
        </p:txBody>
      </p:sp>
      <p:grpSp>
        <p:nvGrpSpPr>
          <p:cNvPr id="4" name="Group 3">
            <a:extLst>
              <a:ext uri="{FF2B5EF4-FFF2-40B4-BE49-F238E27FC236}">
                <a16:creationId xmlns="" xmlns:a16="http://schemas.microsoft.com/office/drawing/2014/main" id="{9E1D79E9-6354-4035-B5B3-5B3DB6B9FC05}"/>
              </a:ext>
            </a:extLst>
          </p:cNvPr>
          <p:cNvGrpSpPr/>
          <p:nvPr/>
        </p:nvGrpSpPr>
        <p:grpSpPr>
          <a:xfrm>
            <a:off x="191286" y="1656160"/>
            <a:ext cx="1997476" cy="1759588"/>
            <a:chOff x="772357" y="1393794"/>
            <a:chExt cx="1997476" cy="1759588"/>
          </a:xfrm>
        </p:grpSpPr>
        <p:sp>
          <p:nvSpPr>
            <p:cNvPr id="3" name="Rectangle 2">
              <a:extLst>
                <a:ext uri="{FF2B5EF4-FFF2-40B4-BE49-F238E27FC236}">
                  <a16:creationId xmlns="" xmlns:a16="http://schemas.microsoft.com/office/drawing/2014/main" id="{EB07FAA4-FA90-4BB9-B641-4D62D4972CEE}"/>
                </a:ext>
              </a:extLst>
            </p:cNvPr>
            <p:cNvSpPr/>
            <p:nvPr/>
          </p:nvSpPr>
          <p:spPr>
            <a:xfrm>
              <a:off x="772357" y="1393794"/>
              <a:ext cx="1997476" cy="58592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IN" sz="2400" b="1" dirty="0"/>
                <a:t>Class Name</a:t>
              </a:r>
            </a:p>
          </p:txBody>
        </p:sp>
        <p:sp>
          <p:nvSpPr>
            <p:cNvPr id="5" name="Rectangle 4">
              <a:extLst>
                <a:ext uri="{FF2B5EF4-FFF2-40B4-BE49-F238E27FC236}">
                  <a16:creationId xmlns="" xmlns:a16="http://schemas.microsoft.com/office/drawing/2014/main" id="{FFD0FB7F-2AD2-4664-874B-D04E0636A260}"/>
                </a:ext>
              </a:extLst>
            </p:cNvPr>
            <p:cNvSpPr/>
            <p:nvPr/>
          </p:nvSpPr>
          <p:spPr>
            <a:xfrm>
              <a:off x="772357" y="1982679"/>
              <a:ext cx="1997476" cy="58592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2400" dirty="0">
                  <a:solidFill>
                    <a:schemeClr val="tx1"/>
                  </a:solidFill>
                </a:rPr>
                <a:t>Attributes</a:t>
              </a:r>
            </a:p>
          </p:txBody>
        </p:sp>
        <p:sp>
          <p:nvSpPr>
            <p:cNvPr id="6" name="Rectangle 5">
              <a:extLst>
                <a:ext uri="{FF2B5EF4-FFF2-40B4-BE49-F238E27FC236}">
                  <a16:creationId xmlns="" xmlns:a16="http://schemas.microsoft.com/office/drawing/2014/main" id="{75925664-D8C2-4D09-93B4-3D508873B956}"/>
                </a:ext>
              </a:extLst>
            </p:cNvPr>
            <p:cNvSpPr/>
            <p:nvPr/>
          </p:nvSpPr>
          <p:spPr>
            <a:xfrm>
              <a:off x="772357" y="2567456"/>
              <a:ext cx="1997476" cy="58592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2400" dirty="0">
                  <a:solidFill>
                    <a:schemeClr val="tx1"/>
                  </a:solidFill>
                </a:rPr>
                <a:t>Operations</a:t>
              </a:r>
            </a:p>
          </p:txBody>
        </p:sp>
      </p:grpSp>
      <p:sp>
        <p:nvSpPr>
          <p:cNvPr id="16" name="Speech Bubble: Rectangle 15">
            <a:extLst>
              <a:ext uri="{FF2B5EF4-FFF2-40B4-BE49-F238E27FC236}">
                <a16:creationId xmlns="" xmlns:a16="http://schemas.microsoft.com/office/drawing/2014/main" id="{686A013A-7532-496E-B757-F24A81432CEE}"/>
              </a:ext>
            </a:extLst>
          </p:cNvPr>
          <p:cNvSpPr/>
          <p:nvPr/>
        </p:nvSpPr>
        <p:spPr>
          <a:xfrm>
            <a:off x="2864680" y="865867"/>
            <a:ext cx="9136034" cy="5589798"/>
          </a:xfrm>
          <a:prstGeom prst="wedgeRectCallout">
            <a:avLst>
              <a:gd name="adj1" fmla="val -57152"/>
              <a:gd name="adj2" fmla="val -20484"/>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17" name="Content Placeholder 8">
            <a:extLst>
              <a:ext uri="{FF2B5EF4-FFF2-40B4-BE49-F238E27FC236}">
                <a16:creationId xmlns="" xmlns:a16="http://schemas.microsoft.com/office/drawing/2014/main" id="{BFFBE752-73E4-435C-AE34-FE0BBD6B7C5A}"/>
              </a:ext>
            </a:extLst>
          </p:cNvPr>
          <p:cNvSpPr txBox="1">
            <a:spLocks/>
          </p:cNvSpPr>
          <p:nvPr/>
        </p:nvSpPr>
        <p:spPr>
          <a:xfrm>
            <a:off x="2864681" y="865868"/>
            <a:ext cx="8839640" cy="5589798"/>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An attribute is a named </a:t>
            </a:r>
            <a:r>
              <a:rPr lang="en-US" b="1" dirty="0">
                <a:solidFill>
                  <a:srgbClr val="C00000"/>
                </a:solidFill>
              </a:rPr>
              <a:t>property of a class</a:t>
            </a:r>
            <a:r>
              <a:rPr lang="en-US" dirty="0">
                <a:solidFill>
                  <a:srgbClr val="C00000"/>
                </a:solidFill>
              </a:rPr>
              <a:t> </a:t>
            </a:r>
            <a:r>
              <a:rPr lang="en-US" dirty="0"/>
              <a:t>that describes a value held by each object of the class.</a:t>
            </a:r>
          </a:p>
          <a:p>
            <a:r>
              <a:rPr lang="en-US" dirty="0"/>
              <a:t>The UML notation lists attributes in the </a:t>
            </a:r>
            <a:r>
              <a:rPr lang="en-US" dirty="0">
                <a:solidFill>
                  <a:srgbClr val="C00000"/>
                </a:solidFill>
              </a:rPr>
              <a:t>second compartment </a:t>
            </a:r>
            <a:r>
              <a:rPr lang="en-US" dirty="0"/>
              <a:t>of the class box.</a:t>
            </a:r>
          </a:p>
          <a:p>
            <a:r>
              <a:rPr lang="en-US" dirty="0"/>
              <a:t>The attribute name should be in the </a:t>
            </a:r>
            <a:r>
              <a:rPr lang="en-US" dirty="0">
                <a:solidFill>
                  <a:srgbClr val="C00000"/>
                </a:solidFill>
              </a:rPr>
              <a:t>regular face, left align </a:t>
            </a:r>
            <a:r>
              <a:rPr lang="en-US" dirty="0"/>
              <a:t>in the box &amp; use the </a:t>
            </a:r>
            <a:r>
              <a:rPr lang="en-US" dirty="0">
                <a:solidFill>
                  <a:srgbClr val="C00000"/>
                </a:solidFill>
              </a:rPr>
              <a:t>lowercase letters </a:t>
            </a:r>
            <a:r>
              <a:rPr lang="en-US" dirty="0"/>
              <a:t>for the </a:t>
            </a:r>
            <a:r>
              <a:rPr lang="en-US" dirty="0">
                <a:solidFill>
                  <a:srgbClr val="C00000"/>
                </a:solidFill>
              </a:rPr>
              <a:t>first character</a:t>
            </a:r>
            <a:r>
              <a:rPr lang="en-US" dirty="0"/>
              <a:t>.</a:t>
            </a:r>
          </a:p>
          <a:p>
            <a:r>
              <a:rPr lang="en-US" dirty="0"/>
              <a:t>The </a:t>
            </a:r>
            <a:r>
              <a:rPr lang="en-US" dirty="0">
                <a:solidFill>
                  <a:srgbClr val="C00000"/>
                </a:solidFill>
              </a:rPr>
              <a:t>data type </a:t>
            </a:r>
            <a:r>
              <a:rPr lang="en-US" dirty="0"/>
              <a:t>for the attribute should be written </a:t>
            </a:r>
            <a:r>
              <a:rPr lang="en-US" dirty="0">
                <a:solidFill>
                  <a:srgbClr val="C00000"/>
                </a:solidFill>
              </a:rPr>
              <a:t>after the colon</a:t>
            </a:r>
            <a:r>
              <a:rPr lang="en-US" dirty="0"/>
              <a:t>.</a:t>
            </a:r>
          </a:p>
          <a:p>
            <a:r>
              <a:rPr lang="en-US" b="1" dirty="0">
                <a:solidFill>
                  <a:srgbClr val="C00000"/>
                </a:solidFill>
              </a:rPr>
              <a:t>Accessibility</a:t>
            </a:r>
            <a:r>
              <a:rPr lang="en-US" dirty="0"/>
              <a:t> of attribute must be defined using a member access modifier.</a:t>
            </a:r>
          </a:p>
          <a:p>
            <a:r>
              <a:rPr lang="en-US" dirty="0"/>
              <a:t>Syntax : </a:t>
            </a:r>
            <a:r>
              <a:rPr lang="en-US" dirty="0" err="1">
                <a:solidFill>
                  <a:srgbClr val="C00000"/>
                </a:solidFill>
              </a:rPr>
              <a:t>accessModifier</a:t>
            </a:r>
            <a:r>
              <a:rPr lang="en-US" dirty="0">
                <a:solidFill>
                  <a:srgbClr val="C00000"/>
                </a:solidFill>
              </a:rPr>
              <a:t> </a:t>
            </a:r>
            <a:r>
              <a:rPr lang="en-US" dirty="0" err="1">
                <a:solidFill>
                  <a:srgbClr val="C00000"/>
                </a:solidFill>
              </a:rPr>
              <a:t>attributeName:dataType</a:t>
            </a:r>
            <a:r>
              <a:rPr lang="en-US" dirty="0">
                <a:solidFill>
                  <a:srgbClr val="C00000"/>
                </a:solidFill>
              </a:rPr>
              <a:t>=</a:t>
            </a:r>
            <a:r>
              <a:rPr lang="en-US" dirty="0" err="1">
                <a:solidFill>
                  <a:srgbClr val="C00000"/>
                </a:solidFill>
              </a:rPr>
              <a:t>defaultValue</a:t>
            </a:r>
            <a:endParaRPr lang="en-US" dirty="0">
              <a:solidFill>
                <a:srgbClr val="C00000"/>
              </a:solidFill>
            </a:endParaRPr>
          </a:p>
          <a:p>
            <a:r>
              <a:rPr lang="en-US" dirty="0"/>
              <a:t>For e.g.  </a:t>
            </a:r>
            <a:r>
              <a:rPr lang="en-US" sz="1800" i="1" dirty="0"/>
              <a:t>in this example ‘–’ represents private access modifier</a:t>
            </a:r>
          </a:p>
          <a:p>
            <a:endParaRPr lang="en-US" dirty="0"/>
          </a:p>
          <a:p>
            <a:endParaRPr lang="en-US" dirty="0"/>
          </a:p>
          <a:p>
            <a:endParaRPr lang="en-US" dirty="0"/>
          </a:p>
          <a:p>
            <a:pPr marL="0" indent="0">
              <a:buFont typeface="Wingdings 3" panose="05040102010807070707" pitchFamily="18" charset="2"/>
              <a:buNone/>
            </a:pPr>
            <a:endParaRPr lang="en-IN" dirty="0"/>
          </a:p>
        </p:txBody>
      </p:sp>
      <p:grpSp>
        <p:nvGrpSpPr>
          <p:cNvPr id="24" name="Group 23">
            <a:extLst>
              <a:ext uri="{FF2B5EF4-FFF2-40B4-BE49-F238E27FC236}">
                <a16:creationId xmlns="" xmlns:a16="http://schemas.microsoft.com/office/drawing/2014/main" id="{F2EFECD6-24EF-4B07-8E13-2C57AF6BB2C7}"/>
              </a:ext>
            </a:extLst>
          </p:cNvPr>
          <p:cNvGrpSpPr/>
          <p:nvPr/>
        </p:nvGrpSpPr>
        <p:grpSpPr>
          <a:xfrm>
            <a:off x="3471168" y="5406501"/>
            <a:ext cx="8353917" cy="852461"/>
            <a:chOff x="3078396" y="4746231"/>
            <a:chExt cx="8746690" cy="1156115"/>
          </a:xfrm>
        </p:grpSpPr>
        <p:grpSp>
          <p:nvGrpSpPr>
            <p:cNvPr id="7" name="Group 6">
              <a:extLst>
                <a:ext uri="{FF2B5EF4-FFF2-40B4-BE49-F238E27FC236}">
                  <a16:creationId xmlns="" xmlns:a16="http://schemas.microsoft.com/office/drawing/2014/main" id="{FFC7B354-E2B6-4ABA-8DFD-899474071E7E}"/>
                </a:ext>
              </a:extLst>
            </p:cNvPr>
            <p:cNvGrpSpPr/>
            <p:nvPr/>
          </p:nvGrpSpPr>
          <p:grpSpPr>
            <a:xfrm>
              <a:off x="3078396" y="4761686"/>
              <a:ext cx="2797184" cy="1137333"/>
              <a:chOff x="3713413" y="4796709"/>
              <a:chExt cx="1835420" cy="1137333"/>
            </a:xfrm>
          </p:grpSpPr>
          <p:sp>
            <p:nvSpPr>
              <p:cNvPr id="10" name="Google Shape;200;p27">
                <a:extLst>
                  <a:ext uri="{FF2B5EF4-FFF2-40B4-BE49-F238E27FC236}">
                    <a16:creationId xmlns="" xmlns:a16="http://schemas.microsoft.com/office/drawing/2014/main" id="{0E50598F-9882-40FA-AD84-93968799B960}"/>
                  </a:ext>
                </a:extLst>
              </p:cNvPr>
              <p:cNvSpPr/>
              <p:nvPr/>
            </p:nvSpPr>
            <p:spPr>
              <a:xfrm>
                <a:off x="3713413" y="4796709"/>
                <a:ext cx="1835420" cy="482097"/>
              </a:xfrm>
              <a:prstGeom prst="rect">
                <a:avLst/>
              </a:prstGeom>
              <a:solidFill>
                <a:srgbClr val="B84742"/>
              </a:solidFill>
              <a:ln w="28575" cap="flat" cmpd="sng">
                <a:solidFill>
                  <a:srgbClr val="8C3A38"/>
                </a:solidFill>
                <a:prstDash val="solid"/>
                <a:round/>
                <a:headEnd type="none" w="sm" len="sm"/>
                <a:tailEnd type="none" w="sm" len="sm"/>
              </a:ln>
            </p:spPr>
            <p:txBody>
              <a:bodyPr spcFirstLastPara="1" wrap="square" lIns="91425" tIns="45700" rIns="91425" bIns="45700" anchor="ctr" anchorCtr="0">
                <a:noAutofit/>
              </a:bodyPr>
              <a:lstStyle/>
              <a:p>
                <a:pPr lvl="0" algn="ctr"/>
                <a:r>
                  <a:rPr lang="en-IN" sz="2000" b="1" i="1" dirty="0">
                    <a:solidFill>
                      <a:schemeClr val="bg1"/>
                    </a:solidFill>
                  </a:rPr>
                  <a:t>Account</a:t>
                </a:r>
                <a:endParaRPr sz="2000" b="1" i="1" dirty="0">
                  <a:solidFill>
                    <a:schemeClr val="bg1"/>
                  </a:solidFill>
                </a:endParaRPr>
              </a:p>
            </p:txBody>
          </p:sp>
          <p:sp>
            <p:nvSpPr>
              <p:cNvPr id="11" name="Google Shape;200;p27">
                <a:extLst>
                  <a:ext uri="{FF2B5EF4-FFF2-40B4-BE49-F238E27FC236}">
                    <a16:creationId xmlns="" xmlns:a16="http://schemas.microsoft.com/office/drawing/2014/main" id="{1DE84030-8A07-46A3-841D-A3A196112590}"/>
                  </a:ext>
                </a:extLst>
              </p:cNvPr>
              <p:cNvSpPr/>
              <p:nvPr/>
            </p:nvSpPr>
            <p:spPr>
              <a:xfrm>
                <a:off x="3713413" y="5269479"/>
                <a:ext cx="1835420" cy="424296"/>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lvl="0"/>
                <a:r>
                  <a:rPr lang="en-IN" sz="1400" dirty="0"/>
                  <a:t>- </a:t>
                </a:r>
                <a:r>
                  <a:rPr lang="en-IN" dirty="0" err="1"/>
                  <a:t>accountNumber:long</a:t>
                </a:r>
                <a:endParaRPr dirty="0"/>
              </a:p>
            </p:txBody>
          </p:sp>
          <p:sp>
            <p:nvSpPr>
              <p:cNvPr id="12" name="Google Shape;200;p27">
                <a:extLst>
                  <a:ext uri="{FF2B5EF4-FFF2-40B4-BE49-F238E27FC236}">
                    <a16:creationId xmlns="" xmlns:a16="http://schemas.microsoft.com/office/drawing/2014/main" id="{9B0AD228-DDC6-4B57-9CDF-C657BF28B575}"/>
                  </a:ext>
                </a:extLst>
              </p:cNvPr>
              <p:cNvSpPr/>
              <p:nvPr/>
            </p:nvSpPr>
            <p:spPr>
              <a:xfrm>
                <a:off x="3713413" y="5692993"/>
                <a:ext cx="1835420" cy="241049"/>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lvl="0" algn="ctr"/>
                <a:endParaRPr sz="1400" b="1" i="1" dirty="0"/>
              </a:p>
            </p:txBody>
          </p:sp>
        </p:grpSp>
        <p:grpSp>
          <p:nvGrpSpPr>
            <p:cNvPr id="8" name="Group 7">
              <a:extLst>
                <a:ext uri="{FF2B5EF4-FFF2-40B4-BE49-F238E27FC236}">
                  <a16:creationId xmlns="" xmlns:a16="http://schemas.microsoft.com/office/drawing/2014/main" id="{21A09A37-409A-4D5E-A5F7-9FA2B5252BE6}"/>
                </a:ext>
              </a:extLst>
            </p:cNvPr>
            <p:cNvGrpSpPr/>
            <p:nvPr/>
          </p:nvGrpSpPr>
          <p:grpSpPr>
            <a:xfrm>
              <a:off x="6068568" y="4746231"/>
              <a:ext cx="2797184" cy="1152788"/>
              <a:chOff x="6341958" y="4796709"/>
              <a:chExt cx="1835420" cy="1152788"/>
            </a:xfrm>
          </p:grpSpPr>
          <p:sp>
            <p:nvSpPr>
              <p:cNvPr id="14" name="Google Shape;200;p27">
                <a:extLst>
                  <a:ext uri="{FF2B5EF4-FFF2-40B4-BE49-F238E27FC236}">
                    <a16:creationId xmlns="" xmlns:a16="http://schemas.microsoft.com/office/drawing/2014/main" id="{020B5752-17DD-4408-B326-7DBFCD1C4135}"/>
                  </a:ext>
                </a:extLst>
              </p:cNvPr>
              <p:cNvSpPr/>
              <p:nvPr/>
            </p:nvSpPr>
            <p:spPr>
              <a:xfrm>
                <a:off x="6341958" y="4796709"/>
                <a:ext cx="1835420" cy="482097"/>
              </a:xfrm>
              <a:prstGeom prst="rect">
                <a:avLst/>
              </a:prstGeom>
              <a:solidFill>
                <a:srgbClr val="B84742"/>
              </a:solidFill>
              <a:ln w="28575" cap="flat" cmpd="sng">
                <a:solidFill>
                  <a:srgbClr val="8C3A38"/>
                </a:solidFill>
                <a:prstDash val="solid"/>
                <a:round/>
                <a:headEnd type="none" w="sm" len="sm"/>
                <a:tailEnd type="none" w="sm" len="sm"/>
              </a:ln>
            </p:spPr>
            <p:txBody>
              <a:bodyPr spcFirstLastPara="1" wrap="square" lIns="91425" tIns="45700" rIns="91425" bIns="45700" anchor="ctr" anchorCtr="0">
                <a:noAutofit/>
              </a:bodyPr>
              <a:lstStyle/>
              <a:p>
                <a:pPr lvl="0" algn="ctr"/>
                <a:r>
                  <a:rPr lang="en-IN" sz="2000" b="1" dirty="0">
                    <a:solidFill>
                      <a:schemeClr val="bg1"/>
                    </a:solidFill>
                  </a:rPr>
                  <a:t>Customer</a:t>
                </a:r>
                <a:endParaRPr sz="2000" b="1" dirty="0">
                  <a:solidFill>
                    <a:schemeClr val="bg1"/>
                  </a:solidFill>
                </a:endParaRPr>
              </a:p>
            </p:txBody>
          </p:sp>
          <p:sp>
            <p:nvSpPr>
              <p:cNvPr id="15" name="Google Shape;200;p27">
                <a:extLst>
                  <a:ext uri="{FF2B5EF4-FFF2-40B4-BE49-F238E27FC236}">
                    <a16:creationId xmlns="" xmlns:a16="http://schemas.microsoft.com/office/drawing/2014/main" id="{2C82DB9C-9036-47E2-8F3F-E77D36E84B6C}"/>
                  </a:ext>
                </a:extLst>
              </p:cNvPr>
              <p:cNvSpPr/>
              <p:nvPr/>
            </p:nvSpPr>
            <p:spPr>
              <a:xfrm>
                <a:off x="6341958" y="5278371"/>
                <a:ext cx="1835420" cy="424296"/>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lvl="0"/>
                <a:r>
                  <a:rPr lang="en-IN" sz="1400" dirty="0">
                    <a:solidFill>
                      <a:schemeClr val="tx1"/>
                    </a:solidFill>
                  </a:rPr>
                  <a:t>- </a:t>
                </a:r>
                <a:r>
                  <a:rPr lang="en-IN" dirty="0" err="1">
                    <a:solidFill>
                      <a:schemeClr val="tx1"/>
                    </a:solidFill>
                  </a:rPr>
                  <a:t>customerName:String</a:t>
                </a:r>
                <a:endParaRPr dirty="0">
                  <a:solidFill>
                    <a:schemeClr val="tx1"/>
                  </a:solidFill>
                </a:endParaRPr>
              </a:p>
            </p:txBody>
          </p:sp>
          <p:sp>
            <p:nvSpPr>
              <p:cNvPr id="18" name="Google Shape;200;p27">
                <a:extLst>
                  <a:ext uri="{FF2B5EF4-FFF2-40B4-BE49-F238E27FC236}">
                    <a16:creationId xmlns="" xmlns:a16="http://schemas.microsoft.com/office/drawing/2014/main" id="{DA9706FB-6373-4FD5-BA3B-C7BFEB9DC55E}"/>
                  </a:ext>
                </a:extLst>
              </p:cNvPr>
              <p:cNvSpPr/>
              <p:nvPr/>
            </p:nvSpPr>
            <p:spPr>
              <a:xfrm>
                <a:off x="6341958" y="5708448"/>
                <a:ext cx="1835420" cy="241049"/>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lvl="0" algn="ctr"/>
                <a:endParaRPr sz="1400" b="1" i="1" dirty="0">
                  <a:solidFill>
                    <a:schemeClr val="tx1"/>
                  </a:solidFill>
                </a:endParaRPr>
              </a:p>
            </p:txBody>
          </p:sp>
        </p:grpSp>
        <p:grpSp>
          <p:nvGrpSpPr>
            <p:cNvPr id="23" name="Group 22">
              <a:extLst>
                <a:ext uri="{FF2B5EF4-FFF2-40B4-BE49-F238E27FC236}">
                  <a16:creationId xmlns="" xmlns:a16="http://schemas.microsoft.com/office/drawing/2014/main" id="{B61448CA-F403-488C-A0A6-7F291AD2125C}"/>
                </a:ext>
              </a:extLst>
            </p:cNvPr>
            <p:cNvGrpSpPr/>
            <p:nvPr/>
          </p:nvGrpSpPr>
          <p:grpSpPr>
            <a:xfrm>
              <a:off x="9027902" y="4752542"/>
              <a:ext cx="2797184" cy="1149804"/>
              <a:chOff x="8857665" y="4799279"/>
              <a:chExt cx="1835420" cy="1149804"/>
            </a:xfrm>
          </p:grpSpPr>
          <p:sp>
            <p:nvSpPr>
              <p:cNvPr id="20" name="Google Shape;200;p27">
                <a:extLst>
                  <a:ext uri="{FF2B5EF4-FFF2-40B4-BE49-F238E27FC236}">
                    <a16:creationId xmlns="" xmlns:a16="http://schemas.microsoft.com/office/drawing/2014/main" id="{F476CD89-6500-4181-8729-283986A6D952}"/>
                  </a:ext>
                </a:extLst>
              </p:cNvPr>
              <p:cNvSpPr/>
              <p:nvPr/>
            </p:nvSpPr>
            <p:spPr>
              <a:xfrm>
                <a:off x="8857665" y="4799279"/>
                <a:ext cx="1835420" cy="482097"/>
              </a:xfrm>
              <a:prstGeom prst="rect">
                <a:avLst/>
              </a:prstGeom>
              <a:solidFill>
                <a:srgbClr val="B84742"/>
              </a:solidFill>
              <a:ln w="28575" cap="flat" cmpd="sng">
                <a:solidFill>
                  <a:srgbClr val="8C3A38"/>
                </a:solidFill>
                <a:prstDash val="solid"/>
                <a:round/>
                <a:headEnd type="none" w="sm" len="sm"/>
                <a:tailEnd type="none" w="sm" len="sm"/>
              </a:ln>
            </p:spPr>
            <p:txBody>
              <a:bodyPr spcFirstLastPara="1" wrap="square" lIns="91425" tIns="45700" rIns="91425" bIns="45700" anchor="ctr" anchorCtr="0">
                <a:noAutofit/>
              </a:bodyPr>
              <a:lstStyle/>
              <a:p>
                <a:pPr lvl="0" algn="ctr"/>
                <a:r>
                  <a:rPr lang="en-IN" sz="2000" b="1" dirty="0">
                    <a:solidFill>
                      <a:schemeClr val="bg1"/>
                    </a:solidFill>
                  </a:rPr>
                  <a:t>Employee</a:t>
                </a:r>
                <a:endParaRPr sz="2000" b="1" dirty="0">
                  <a:solidFill>
                    <a:schemeClr val="bg1"/>
                  </a:solidFill>
                </a:endParaRPr>
              </a:p>
            </p:txBody>
          </p:sp>
          <p:sp>
            <p:nvSpPr>
              <p:cNvPr id="21" name="Google Shape;200;p27">
                <a:extLst>
                  <a:ext uri="{FF2B5EF4-FFF2-40B4-BE49-F238E27FC236}">
                    <a16:creationId xmlns="" xmlns:a16="http://schemas.microsoft.com/office/drawing/2014/main" id="{FF5CE000-73C1-408B-BC26-D2BCFB103FF2}"/>
                  </a:ext>
                </a:extLst>
              </p:cNvPr>
              <p:cNvSpPr/>
              <p:nvPr/>
            </p:nvSpPr>
            <p:spPr>
              <a:xfrm>
                <a:off x="8857665" y="5281193"/>
                <a:ext cx="1835420" cy="424296"/>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lvl="0"/>
                <a:r>
                  <a:rPr lang="en-IN" sz="1400" dirty="0"/>
                  <a:t>- </a:t>
                </a:r>
                <a:r>
                  <a:rPr lang="en-IN" dirty="0" err="1"/>
                  <a:t>employeeName:String</a:t>
                </a:r>
                <a:endParaRPr dirty="0"/>
              </a:p>
            </p:txBody>
          </p:sp>
          <p:sp>
            <p:nvSpPr>
              <p:cNvPr id="22" name="Google Shape;200;p27">
                <a:extLst>
                  <a:ext uri="{FF2B5EF4-FFF2-40B4-BE49-F238E27FC236}">
                    <a16:creationId xmlns="" xmlns:a16="http://schemas.microsoft.com/office/drawing/2014/main" id="{B424BE09-D25C-437E-B6FB-F827CADCA81D}"/>
                  </a:ext>
                </a:extLst>
              </p:cNvPr>
              <p:cNvSpPr/>
              <p:nvPr/>
            </p:nvSpPr>
            <p:spPr>
              <a:xfrm>
                <a:off x="8857665" y="5708034"/>
                <a:ext cx="1835420" cy="241049"/>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lvl="0" algn="ctr"/>
                <a:endParaRPr sz="1400" b="1" i="1" dirty="0"/>
              </a:p>
            </p:txBody>
          </p:sp>
        </p:grpSp>
      </p:grpSp>
    </p:spTree>
    <p:extLst>
      <p:ext uri="{BB962C8B-B14F-4D97-AF65-F5344CB8AC3E}">
        <p14:creationId xmlns:p14="http://schemas.microsoft.com/office/powerpoint/2010/main" val="1889282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xEl>
                                              <p:pRg st="0" end="0"/>
                                            </p:txEl>
                                          </p:spTgt>
                                        </p:tgtEl>
                                        <p:attrNameLst>
                                          <p:attrName>style.visibility</p:attrName>
                                        </p:attrNameLst>
                                      </p:cBhvr>
                                      <p:to>
                                        <p:strVal val="visible"/>
                                      </p:to>
                                    </p:set>
                                    <p:animEffect transition="in" filter="fade">
                                      <p:cBhvr>
                                        <p:cTn id="15" dur="500"/>
                                        <p:tgtEl>
                                          <p:spTgt spid="1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xEl>
                                              <p:pRg st="1" end="1"/>
                                            </p:txEl>
                                          </p:spTgt>
                                        </p:tgtEl>
                                        <p:attrNameLst>
                                          <p:attrName>style.visibility</p:attrName>
                                        </p:attrNameLst>
                                      </p:cBhvr>
                                      <p:to>
                                        <p:strVal val="visible"/>
                                      </p:to>
                                    </p:set>
                                    <p:animEffect transition="in" filter="fade">
                                      <p:cBhvr>
                                        <p:cTn id="20" dur="500"/>
                                        <p:tgtEl>
                                          <p:spTgt spid="17">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7">
                                            <p:txEl>
                                              <p:pRg st="2" end="2"/>
                                            </p:txEl>
                                          </p:spTgt>
                                        </p:tgtEl>
                                        <p:attrNameLst>
                                          <p:attrName>style.visibility</p:attrName>
                                        </p:attrNameLst>
                                      </p:cBhvr>
                                      <p:to>
                                        <p:strVal val="visible"/>
                                      </p:to>
                                    </p:set>
                                    <p:animEffect transition="in" filter="fade">
                                      <p:cBhvr>
                                        <p:cTn id="25" dur="500"/>
                                        <p:tgtEl>
                                          <p:spTgt spid="17">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7">
                                            <p:txEl>
                                              <p:pRg st="3" end="3"/>
                                            </p:txEl>
                                          </p:spTgt>
                                        </p:tgtEl>
                                        <p:attrNameLst>
                                          <p:attrName>style.visibility</p:attrName>
                                        </p:attrNameLst>
                                      </p:cBhvr>
                                      <p:to>
                                        <p:strVal val="visible"/>
                                      </p:to>
                                    </p:set>
                                    <p:animEffect transition="in" filter="fade">
                                      <p:cBhvr>
                                        <p:cTn id="30" dur="500"/>
                                        <p:tgtEl>
                                          <p:spTgt spid="17">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7">
                                            <p:txEl>
                                              <p:pRg st="4" end="4"/>
                                            </p:txEl>
                                          </p:spTgt>
                                        </p:tgtEl>
                                        <p:attrNameLst>
                                          <p:attrName>style.visibility</p:attrName>
                                        </p:attrNameLst>
                                      </p:cBhvr>
                                      <p:to>
                                        <p:strVal val="visible"/>
                                      </p:to>
                                    </p:set>
                                    <p:animEffect transition="in" filter="fade">
                                      <p:cBhvr>
                                        <p:cTn id="35" dur="500"/>
                                        <p:tgtEl>
                                          <p:spTgt spid="17">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7">
                                            <p:txEl>
                                              <p:pRg st="5" end="5"/>
                                            </p:txEl>
                                          </p:spTgt>
                                        </p:tgtEl>
                                        <p:attrNameLst>
                                          <p:attrName>style.visibility</p:attrName>
                                        </p:attrNameLst>
                                      </p:cBhvr>
                                      <p:to>
                                        <p:strVal val="visible"/>
                                      </p:to>
                                    </p:set>
                                    <p:animEffect transition="in" filter="fade">
                                      <p:cBhvr>
                                        <p:cTn id="40" dur="500"/>
                                        <p:tgtEl>
                                          <p:spTgt spid="17">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7">
                                            <p:txEl>
                                              <p:pRg st="6" end="6"/>
                                            </p:txEl>
                                          </p:spTgt>
                                        </p:tgtEl>
                                        <p:attrNameLst>
                                          <p:attrName>style.visibility</p:attrName>
                                        </p:attrNameLst>
                                      </p:cBhvr>
                                      <p:to>
                                        <p:strVal val="visible"/>
                                      </p:to>
                                    </p:set>
                                    <p:animEffect transition="in" filter="fade">
                                      <p:cBhvr>
                                        <p:cTn id="45" dur="500"/>
                                        <p:tgtEl>
                                          <p:spTgt spid="17">
                                            <p:txEl>
                                              <p:pRg st="6" end="6"/>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Class Diagram </a:t>
            </a:r>
            <a:r>
              <a:rPr lang="en-US" b="0" dirty="0"/>
              <a:t>(Access Modifiers)</a:t>
            </a:r>
          </a:p>
        </p:txBody>
      </p:sp>
      <p:sp>
        <p:nvSpPr>
          <p:cNvPr id="10" name="Content Placeholder 9">
            <a:extLst>
              <a:ext uri="{FF2B5EF4-FFF2-40B4-BE49-F238E27FC236}">
                <a16:creationId xmlns="" xmlns:a16="http://schemas.microsoft.com/office/drawing/2014/main" id="{D6A9284D-27A3-428D-8876-25743A68F0EC}"/>
              </a:ext>
            </a:extLst>
          </p:cNvPr>
          <p:cNvSpPr>
            <a:spLocks noGrp="1"/>
          </p:cNvSpPr>
          <p:nvPr>
            <p:ph idx="1"/>
          </p:nvPr>
        </p:nvSpPr>
        <p:spPr/>
        <p:txBody>
          <a:bodyPr/>
          <a:lstStyle/>
          <a:p>
            <a:r>
              <a:rPr lang="en-US" dirty="0">
                <a:solidFill>
                  <a:srgbClr val="A32D19"/>
                </a:solidFill>
              </a:rPr>
              <a:t>Public (+): </a:t>
            </a:r>
            <a:r>
              <a:rPr lang="en-US" dirty="0"/>
              <a:t>Member accessible by </a:t>
            </a:r>
            <a:r>
              <a:rPr lang="en-US" dirty="0">
                <a:solidFill>
                  <a:srgbClr val="C00000"/>
                </a:solidFill>
              </a:rPr>
              <a:t>all classes</a:t>
            </a:r>
            <a:r>
              <a:rPr lang="en-US" dirty="0"/>
              <a:t>, whether these classes are in the same package or in another package. </a:t>
            </a:r>
          </a:p>
          <a:p>
            <a:r>
              <a:rPr lang="en-US" dirty="0">
                <a:solidFill>
                  <a:srgbClr val="A32D19"/>
                </a:solidFill>
              </a:rPr>
              <a:t>Private (-): </a:t>
            </a:r>
            <a:r>
              <a:rPr lang="en-US" dirty="0"/>
              <a:t>Member </a:t>
            </a:r>
            <a:r>
              <a:rPr lang="en-US" dirty="0">
                <a:solidFill>
                  <a:srgbClr val="C00000"/>
                </a:solidFill>
              </a:rPr>
              <a:t>cannot be accessed outside</a:t>
            </a:r>
            <a:r>
              <a:rPr lang="en-US" b="1" dirty="0"/>
              <a:t> </a:t>
            </a:r>
            <a:r>
              <a:rPr lang="en-US" dirty="0"/>
              <a:t>the enclosing/declaring class.</a:t>
            </a:r>
          </a:p>
          <a:p>
            <a:r>
              <a:rPr lang="en-US" dirty="0">
                <a:solidFill>
                  <a:srgbClr val="A32D19"/>
                </a:solidFill>
              </a:rPr>
              <a:t>Protected (#): </a:t>
            </a:r>
            <a:r>
              <a:rPr lang="en-US" dirty="0"/>
              <a:t>Member can be </a:t>
            </a:r>
            <a:r>
              <a:rPr lang="en-US" dirty="0">
                <a:solidFill>
                  <a:srgbClr val="C00000"/>
                </a:solidFill>
              </a:rPr>
              <a:t>accessed only by subclasses </a:t>
            </a:r>
            <a:r>
              <a:rPr lang="en-US" dirty="0"/>
              <a:t>and within a class.</a:t>
            </a:r>
          </a:p>
          <a:p>
            <a:r>
              <a:rPr lang="en-US" dirty="0">
                <a:solidFill>
                  <a:srgbClr val="A32D19"/>
                </a:solidFill>
              </a:rPr>
              <a:t>Package (~): </a:t>
            </a:r>
            <a:r>
              <a:rPr lang="en-US" dirty="0"/>
              <a:t>Member can be accessible by all classes, </a:t>
            </a:r>
            <a:r>
              <a:rPr lang="en-US" dirty="0">
                <a:solidFill>
                  <a:srgbClr val="C00000"/>
                </a:solidFill>
              </a:rPr>
              <a:t>within the package</a:t>
            </a:r>
            <a:r>
              <a:rPr lang="en-US" dirty="0"/>
              <a:t>. Outside package member not accessible.</a:t>
            </a:r>
          </a:p>
          <a:p>
            <a:r>
              <a:rPr lang="en-US" dirty="0">
                <a:solidFill>
                  <a:srgbClr val="A32D19"/>
                </a:solidFill>
              </a:rPr>
              <a:t>Static (underlined) : </a:t>
            </a:r>
            <a:r>
              <a:rPr lang="en-US" dirty="0"/>
              <a:t>Member can be </a:t>
            </a:r>
            <a:r>
              <a:rPr lang="en-US" dirty="0">
                <a:solidFill>
                  <a:srgbClr val="C00000"/>
                </a:solidFill>
              </a:rPr>
              <a:t>accessed</a:t>
            </a:r>
            <a:r>
              <a:rPr lang="en-US" dirty="0"/>
              <a:t> using </a:t>
            </a:r>
            <a:r>
              <a:rPr lang="en-US" dirty="0">
                <a:solidFill>
                  <a:srgbClr val="C00000"/>
                </a:solidFill>
              </a:rPr>
              <a:t>class name only</a:t>
            </a:r>
            <a:r>
              <a:rPr lang="en-US" dirty="0"/>
              <a:t>.</a:t>
            </a:r>
          </a:p>
          <a:p>
            <a:r>
              <a:rPr lang="en-US" dirty="0"/>
              <a:t>In example you can see how to use access specifier</a:t>
            </a:r>
          </a:p>
          <a:p>
            <a:endParaRPr lang="en-IN" dirty="0"/>
          </a:p>
        </p:txBody>
      </p:sp>
      <p:grpSp>
        <p:nvGrpSpPr>
          <p:cNvPr id="4" name="Group 3">
            <a:extLst>
              <a:ext uri="{FF2B5EF4-FFF2-40B4-BE49-F238E27FC236}">
                <a16:creationId xmlns="" xmlns:a16="http://schemas.microsoft.com/office/drawing/2014/main" id="{1DF010A3-BD25-4DCC-AEEE-7085F6206910}"/>
              </a:ext>
            </a:extLst>
          </p:cNvPr>
          <p:cNvGrpSpPr/>
          <p:nvPr/>
        </p:nvGrpSpPr>
        <p:grpSpPr>
          <a:xfrm>
            <a:off x="9263636" y="3316954"/>
            <a:ext cx="2797184" cy="2273674"/>
            <a:chOff x="3713413" y="4796709"/>
            <a:chExt cx="1835420" cy="1017271"/>
          </a:xfrm>
        </p:grpSpPr>
        <p:sp>
          <p:nvSpPr>
            <p:cNvPr id="5" name="Google Shape;200;p27">
              <a:extLst>
                <a:ext uri="{FF2B5EF4-FFF2-40B4-BE49-F238E27FC236}">
                  <a16:creationId xmlns="" xmlns:a16="http://schemas.microsoft.com/office/drawing/2014/main" id="{B1A2DA2F-9C91-4621-B0A0-807B2156E50C}"/>
                </a:ext>
              </a:extLst>
            </p:cNvPr>
            <p:cNvSpPr/>
            <p:nvPr/>
          </p:nvSpPr>
          <p:spPr>
            <a:xfrm>
              <a:off x="3713413" y="4796709"/>
              <a:ext cx="1835420" cy="232503"/>
            </a:xfrm>
            <a:prstGeom prst="rect">
              <a:avLst/>
            </a:prstGeom>
            <a:solidFill>
              <a:srgbClr val="B84742"/>
            </a:solidFill>
            <a:ln w="28575" cap="flat" cmpd="sng">
              <a:solidFill>
                <a:srgbClr val="8C3A38"/>
              </a:solidFill>
              <a:prstDash val="solid"/>
              <a:round/>
              <a:headEnd type="none" w="sm" len="sm"/>
              <a:tailEnd type="none" w="sm" len="sm"/>
            </a:ln>
          </p:spPr>
          <p:txBody>
            <a:bodyPr spcFirstLastPara="1" wrap="square" lIns="91425" tIns="45700" rIns="91425" bIns="45700" anchor="ctr" anchorCtr="0">
              <a:noAutofit/>
            </a:bodyPr>
            <a:lstStyle/>
            <a:p>
              <a:pPr lvl="0" algn="ctr"/>
              <a:r>
                <a:rPr lang="en-IN" sz="2400" b="1" dirty="0" err="1">
                  <a:solidFill>
                    <a:schemeClr val="bg1"/>
                  </a:solidFill>
                </a:rPr>
                <a:t>SavingAccount</a:t>
              </a:r>
              <a:endParaRPr sz="2400" b="1" dirty="0">
                <a:solidFill>
                  <a:schemeClr val="bg1"/>
                </a:solidFill>
              </a:endParaRPr>
            </a:p>
          </p:txBody>
        </p:sp>
        <p:sp>
          <p:nvSpPr>
            <p:cNvPr id="6" name="Google Shape;200;p27">
              <a:extLst>
                <a:ext uri="{FF2B5EF4-FFF2-40B4-BE49-F238E27FC236}">
                  <a16:creationId xmlns="" xmlns:a16="http://schemas.microsoft.com/office/drawing/2014/main" id="{1BEDC747-16E8-41A6-A9DD-FD08C1A0F0E9}"/>
                </a:ext>
              </a:extLst>
            </p:cNvPr>
            <p:cNvSpPr/>
            <p:nvPr/>
          </p:nvSpPr>
          <p:spPr>
            <a:xfrm>
              <a:off x="3713413" y="5029212"/>
              <a:ext cx="1835420" cy="544820"/>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r>
                <a:rPr lang="en-IN" dirty="0"/>
                <a:t>+ </a:t>
              </a:r>
              <a:r>
                <a:rPr lang="en-IN" dirty="0" err="1"/>
                <a:t>accountNumber:long</a:t>
              </a:r>
              <a:endParaRPr lang="en-IN" dirty="0"/>
            </a:p>
            <a:p>
              <a:r>
                <a:rPr lang="en-IN" dirty="0"/>
                <a:t>+ </a:t>
              </a:r>
              <a:r>
                <a:rPr lang="en-IN" dirty="0" err="1"/>
                <a:t>name:String</a:t>
              </a:r>
              <a:endParaRPr lang="en-IN" dirty="0"/>
            </a:p>
            <a:p>
              <a:r>
                <a:rPr lang="en-IN" dirty="0"/>
                <a:t># dob: Date</a:t>
              </a:r>
            </a:p>
            <a:p>
              <a:r>
                <a:rPr lang="en-IN" dirty="0"/>
                <a:t>~ </a:t>
              </a:r>
              <a:r>
                <a:rPr lang="en-IN" dirty="0" err="1"/>
                <a:t>panNumber:String</a:t>
              </a:r>
              <a:endParaRPr lang="en-IN" dirty="0"/>
            </a:p>
          </p:txBody>
        </p:sp>
        <p:sp>
          <p:nvSpPr>
            <p:cNvPr id="7" name="Google Shape;200;p27">
              <a:extLst>
                <a:ext uri="{FF2B5EF4-FFF2-40B4-BE49-F238E27FC236}">
                  <a16:creationId xmlns="" xmlns:a16="http://schemas.microsoft.com/office/drawing/2014/main" id="{C7626B2C-7426-46F2-ADAD-C784BB8972B4}"/>
                </a:ext>
              </a:extLst>
            </p:cNvPr>
            <p:cNvSpPr/>
            <p:nvPr/>
          </p:nvSpPr>
          <p:spPr>
            <a:xfrm>
              <a:off x="3713413" y="5572931"/>
              <a:ext cx="1835420" cy="241049"/>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lvl="0" algn="ctr"/>
              <a:endParaRPr b="1" i="1" dirty="0"/>
            </a:p>
          </p:txBody>
        </p:sp>
      </p:grpSp>
    </p:spTree>
    <p:extLst>
      <p:ext uri="{BB962C8B-B14F-4D97-AF65-F5344CB8AC3E}">
        <p14:creationId xmlns:p14="http://schemas.microsoft.com/office/powerpoint/2010/main" val="1214806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fade">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fade">
                                      <p:cBhvr>
                                        <p:cTn id="17" dur="500"/>
                                        <p:tgtEl>
                                          <p:spTgt spid="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fade">
                                      <p:cBhvr>
                                        <p:cTn id="22" dur="500"/>
                                        <p:tgtEl>
                                          <p:spTgt spid="1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fade">
                                      <p:cBhvr>
                                        <p:cTn id="27" dur="500"/>
                                        <p:tgtEl>
                                          <p:spTgt spid="1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xEl>
                                              <p:pRg st="5" end="5"/>
                                            </p:txEl>
                                          </p:spTgt>
                                        </p:tgtEl>
                                        <p:attrNameLst>
                                          <p:attrName>style.visibility</p:attrName>
                                        </p:attrNameLst>
                                      </p:cBhvr>
                                      <p:to>
                                        <p:strVal val="visible"/>
                                      </p:to>
                                    </p:set>
                                    <p:animEffect transition="in" filter="fade">
                                      <p:cBhvr>
                                        <p:cTn id="32" dur="500"/>
                                        <p:tgtEl>
                                          <p:spTgt spid="10">
                                            <p:txEl>
                                              <p:pRg st="5" end="5"/>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Class Diagram </a:t>
            </a:r>
            <a:r>
              <a:rPr lang="en-US" sz="3200" b="0" dirty="0"/>
              <a:t>(Operation)</a:t>
            </a:r>
            <a:endParaRPr lang="en-US" dirty="0"/>
          </a:p>
        </p:txBody>
      </p:sp>
      <p:grpSp>
        <p:nvGrpSpPr>
          <p:cNvPr id="4" name="Group 3">
            <a:extLst>
              <a:ext uri="{FF2B5EF4-FFF2-40B4-BE49-F238E27FC236}">
                <a16:creationId xmlns="" xmlns:a16="http://schemas.microsoft.com/office/drawing/2014/main" id="{9E1D79E9-6354-4035-B5B3-5B3DB6B9FC05}"/>
              </a:ext>
            </a:extLst>
          </p:cNvPr>
          <p:cNvGrpSpPr/>
          <p:nvPr/>
        </p:nvGrpSpPr>
        <p:grpSpPr>
          <a:xfrm>
            <a:off x="191286" y="1107519"/>
            <a:ext cx="2205685" cy="1786729"/>
            <a:chOff x="772357" y="1393794"/>
            <a:chExt cx="1997476" cy="1746926"/>
          </a:xfrm>
        </p:grpSpPr>
        <p:sp>
          <p:nvSpPr>
            <p:cNvPr id="3" name="Rectangle 2">
              <a:extLst>
                <a:ext uri="{FF2B5EF4-FFF2-40B4-BE49-F238E27FC236}">
                  <a16:creationId xmlns="" xmlns:a16="http://schemas.microsoft.com/office/drawing/2014/main" id="{EB07FAA4-FA90-4BB9-B641-4D62D4972CEE}"/>
                </a:ext>
              </a:extLst>
            </p:cNvPr>
            <p:cNvSpPr/>
            <p:nvPr/>
          </p:nvSpPr>
          <p:spPr>
            <a:xfrm>
              <a:off x="772357" y="1393794"/>
              <a:ext cx="1997476" cy="58592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IN" sz="2400" b="1" dirty="0"/>
                <a:t>Class Name</a:t>
              </a:r>
            </a:p>
          </p:txBody>
        </p:sp>
        <p:sp>
          <p:nvSpPr>
            <p:cNvPr id="5" name="Rectangle 4">
              <a:extLst>
                <a:ext uri="{FF2B5EF4-FFF2-40B4-BE49-F238E27FC236}">
                  <a16:creationId xmlns="" xmlns:a16="http://schemas.microsoft.com/office/drawing/2014/main" id="{FFD0FB7F-2AD2-4664-874B-D04E0636A260}"/>
                </a:ext>
              </a:extLst>
            </p:cNvPr>
            <p:cNvSpPr/>
            <p:nvPr/>
          </p:nvSpPr>
          <p:spPr>
            <a:xfrm>
              <a:off x="772357" y="1982679"/>
              <a:ext cx="1997476" cy="58592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2400" dirty="0">
                  <a:solidFill>
                    <a:schemeClr val="tx1"/>
                  </a:solidFill>
                </a:rPr>
                <a:t>Attributes</a:t>
              </a:r>
            </a:p>
          </p:txBody>
        </p:sp>
        <p:sp>
          <p:nvSpPr>
            <p:cNvPr id="6" name="Rectangle 5">
              <a:extLst>
                <a:ext uri="{FF2B5EF4-FFF2-40B4-BE49-F238E27FC236}">
                  <a16:creationId xmlns="" xmlns:a16="http://schemas.microsoft.com/office/drawing/2014/main" id="{75925664-D8C2-4D09-93B4-3D508873B956}"/>
                </a:ext>
              </a:extLst>
            </p:cNvPr>
            <p:cNvSpPr/>
            <p:nvPr/>
          </p:nvSpPr>
          <p:spPr>
            <a:xfrm>
              <a:off x="772357" y="2554794"/>
              <a:ext cx="1997476" cy="58592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2400" dirty="0">
                  <a:solidFill>
                    <a:schemeClr val="tx1"/>
                  </a:solidFill>
                </a:rPr>
                <a:t>Operations</a:t>
              </a:r>
            </a:p>
          </p:txBody>
        </p:sp>
      </p:grpSp>
      <p:sp>
        <p:nvSpPr>
          <p:cNvPr id="16" name="Speech Bubble: Rectangle 15">
            <a:extLst>
              <a:ext uri="{FF2B5EF4-FFF2-40B4-BE49-F238E27FC236}">
                <a16:creationId xmlns="" xmlns:a16="http://schemas.microsoft.com/office/drawing/2014/main" id="{686A013A-7532-496E-B757-F24A81432CEE}"/>
              </a:ext>
            </a:extLst>
          </p:cNvPr>
          <p:cNvSpPr/>
          <p:nvPr/>
        </p:nvSpPr>
        <p:spPr>
          <a:xfrm>
            <a:off x="2716566" y="865866"/>
            <a:ext cx="9401451" cy="5659219"/>
          </a:xfrm>
          <a:prstGeom prst="wedgeRectCallout">
            <a:avLst>
              <a:gd name="adj1" fmla="val -53271"/>
              <a:gd name="adj2" fmla="val -19690"/>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17" name="Content Placeholder 8">
            <a:extLst>
              <a:ext uri="{FF2B5EF4-FFF2-40B4-BE49-F238E27FC236}">
                <a16:creationId xmlns="" xmlns:a16="http://schemas.microsoft.com/office/drawing/2014/main" id="{BFFBE752-73E4-435C-AE34-FE0BBD6B7C5A}"/>
              </a:ext>
            </a:extLst>
          </p:cNvPr>
          <p:cNvSpPr txBox="1">
            <a:spLocks/>
          </p:cNvSpPr>
          <p:nvPr/>
        </p:nvSpPr>
        <p:spPr>
          <a:xfrm>
            <a:off x="2787589" y="865867"/>
            <a:ext cx="9213126" cy="565921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operation is a </a:t>
            </a:r>
            <a:r>
              <a:rPr lang="en-US" dirty="0">
                <a:solidFill>
                  <a:srgbClr val="C00000"/>
                </a:solidFill>
              </a:rPr>
              <a:t>function or procedure</a:t>
            </a:r>
            <a:r>
              <a:rPr lang="en-US" dirty="0"/>
              <a:t> that may be applied to objects in a class.</a:t>
            </a:r>
          </a:p>
          <a:p>
            <a:r>
              <a:rPr lang="en-US" dirty="0"/>
              <a:t>The UML notation is to list operations in the </a:t>
            </a:r>
            <a:r>
              <a:rPr lang="en-US" dirty="0">
                <a:solidFill>
                  <a:srgbClr val="C00000"/>
                </a:solidFill>
              </a:rPr>
              <a:t>third compartment </a:t>
            </a:r>
            <a:r>
              <a:rPr lang="en-US" dirty="0"/>
              <a:t>of the class box.</a:t>
            </a:r>
          </a:p>
          <a:p>
            <a:r>
              <a:rPr lang="en-US" dirty="0"/>
              <a:t>The operation name in the </a:t>
            </a:r>
            <a:r>
              <a:rPr lang="en-US" dirty="0">
                <a:solidFill>
                  <a:srgbClr val="C00000"/>
                </a:solidFill>
              </a:rPr>
              <a:t>regular face</a:t>
            </a:r>
            <a:r>
              <a:rPr lang="en-US" dirty="0"/>
              <a:t>, </a:t>
            </a:r>
            <a:r>
              <a:rPr lang="en-US" dirty="0">
                <a:solidFill>
                  <a:srgbClr val="C00000"/>
                </a:solidFill>
              </a:rPr>
              <a:t>left align </a:t>
            </a:r>
            <a:r>
              <a:rPr lang="en-US" dirty="0"/>
              <a:t>the name in the box, and use a </a:t>
            </a:r>
            <a:r>
              <a:rPr lang="en-US" dirty="0">
                <a:solidFill>
                  <a:srgbClr val="C00000"/>
                </a:solidFill>
              </a:rPr>
              <a:t>lowercase letter </a:t>
            </a:r>
            <a:r>
              <a:rPr lang="en-US" dirty="0"/>
              <a:t>for the </a:t>
            </a:r>
            <a:r>
              <a:rPr lang="en-US" dirty="0">
                <a:solidFill>
                  <a:srgbClr val="C00000"/>
                </a:solidFill>
              </a:rPr>
              <a:t>first character</a:t>
            </a:r>
            <a:r>
              <a:rPr lang="en-US" dirty="0"/>
              <a:t>.</a:t>
            </a:r>
          </a:p>
          <a:p>
            <a:r>
              <a:rPr lang="en-US" dirty="0"/>
              <a:t>Optional detail, such as an argument list and result type, may follow each operation name.</a:t>
            </a:r>
          </a:p>
          <a:p>
            <a:r>
              <a:rPr lang="en-US" dirty="0"/>
              <a:t>The </a:t>
            </a:r>
            <a:r>
              <a:rPr lang="en-US" dirty="0">
                <a:solidFill>
                  <a:srgbClr val="C00000"/>
                </a:solidFill>
              </a:rPr>
              <a:t>return type</a:t>
            </a:r>
            <a:r>
              <a:rPr lang="en-US" dirty="0"/>
              <a:t> of method should be written after colon.</a:t>
            </a:r>
          </a:p>
          <a:p>
            <a:r>
              <a:rPr lang="en-US" b="1" dirty="0">
                <a:solidFill>
                  <a:srgbClr val="C00000"/>
                </a:solidFill>
              </a:rPr>
              <a:t>Accessibility</a:t>
            </a:r>
            <a:r>
              <a:rPr lang="en-US" dirty="0"/>
              <a:t> of operation must be defined using a member access modifier.</a:t>
            </a:r>
          </a:p>
          <a:p>
            <a:r>
              <a:rPr lang="en-US" dirty="0"/>
              <a:t>Syntax : </a:t>
            </a:r>
            <a:r>
              <a:rPr lang="en-US" dirty="0" err="1">
                <a:solidFill>
                  <a:srgbClr val="C00000"/>
                </a:solidFill>
              </a:rPr>
              <a:t>accessModifier</a:t>
            </a:r>
            <a:r>
              <a:rPr lang="en-US" dirty="0">
                <a:solidFill>
                  <a:srgbClr val="C00000"/>
                </a:solidFill>
              </a:rPr>
              <a:t> </a:t>
            </a:r>
            <a:r>
              <a:rPr lang="en-US" dirty="0" err="1">
                <a:solidFill>
                  <a:srgbClr val="C00000"/>
                </a:solidFill>
              </a:rPr>
              <a:t>methodName</a:t>
            </a:r>
            <a:r>
              <a:rPr lang="en-US" dirty="0">
                <a:solidFill>
                  <a:srgbClr val="C00000"/>
                </a:solidFill>
              </a:rPr>
              <a:t>(</a:t>
            </a:r>
            <a:r>
              <a:rPr lang="en-US" dirty="0" err="1">
                <a:solidFill>
                  <a:srgbClr val="C00000"/>
                </a:solidFill>
              </a:rPr>
              <a:t>argumentList</a:t>
            </a:r>
            <a:r>
              <a:rPr lang="en-US" dirty="0">
                <a:solidFill>
                  <a:srgbClr val="C00000"/>
                </a:solidFill>
              </a:rPr>
              <a:t>):</a:t>
            </a:r>
            <a:r>
              <a:rPr lang="en-US" dirty="0" err="1">
                <a:solidFill>
                  <a:srgbClr val="C00000"/>
                </a:solidFill>
              </a:rPr>
              <a:t>returnType</a:t>
            </a:r>
            <a:endParaRPr lang="en-US" dirty="0"/>
          </a:p>
          <a:p>
            <a:endParaRPr lang="en-US" dirty="0"/>
          </a:p>
          <a:p>
            <a:endParaRPr lang="en-US" dirty="0"/>
          </a:p>
          <a:p>
            <a:endParaRPr lang="en-US" dirty="0"/>
          </a:p>
          <a:p>
            <a:pPr marL="0" indent="0">
              <a:buFont typeface="Wingdings 3" panose="05040102010807070707" pitchFamily="18" charset="2"/>
              <a:buNone/>
            </a:pPr>
            <a:endParaRPr lang="en-IN" dirty="0"/>
          </a:p>
        </p:txBody>
      </p:sp>
      <p:grpSp>
        <p:nvGrpSpPr>
          <p:cNvPr id="7" name="Group 6">
            <a:extLst>
              <a:ext uri="{FF2B5EF4-FFF2-40B4-BE49-F238E27FC236}">
                <a16:creationId xmlns="" xmlns:a16="http://schemas.microsoft.com/office/drawing/2014/main" id="{FFC7B354-E2B6-4ABA-8DFD-899474071E7E}"/>
              </a:ext>
            </a:extLst>
          </p:cNvPr>
          <p:cNvGrpSpPr/>
          <p:nvPr/>
        </p:nvGrpSpPr>
        <p:grpSpPr>
          <a:xfrm>
            <a:off x="7684231" y="5652247"/>
            <a:ext cx="3858411" cy="786007"/>
            <a:chOff x="3124835" y="4916953"/>
            <a:chExt cx="3012576" cy="1062224"/>
          </a:xfrm>
        </p:grpSpPr>
        <p:sp>
          <p:nvSpPr>
            <p:cNvPr id="10" name="Google Shape;200;p27">
              <a:extLst>
                <a:ext uri="{FF2B5EF4-FFF2-40B4-BE49-F238E27FC236}">
                  <a16:creationId xmlns="" xmlns:a16="http://schemas.microsoft.com/office/drawing/2014/main" id="{0E50598F-9882-40FA-AD84-93968799B960}"/>
                </a:ext>
              </a:extLst>
            </p:cNvPr>
            <p:cNvSpPr/>
            <p:nvPr/>
          </p:nvSpPr>
          <p:spPr>
            <a:xfrm>
              <a:off x="3124835" y="4916953"/>
              <a:ext cx="3012576" cy="446563"/>
            </a:xfrm>
            <a:prstGeom prst="rect">
              <a:avLst/>
            </a:prstGeom>
            <a:solidFill>
              <a:srgbClr val="B84742"/>
            </a:solidFill>
            <a:ln w="28575" cap="flat" cmpd="sng">
              <a:solidFill>
                <a:srgbClr val="8C3A38"/>
              </a:solidFill>
              <a:prstDash val="solid"/>
              <a:round/>
              <a:headEnd type="none" w="sm" len="sm"/>
              <a:tailEnd type="none" w="sm" len="sm"/>
            </a:ln>
          </p:spPr>
          <p:txBody>
            <a:bodyPr spcFirstLastPara="1" wrap="square" lIns="91425" tIns="45700" rIns="91425" bIns="45700" anchor="t" anchorCtr="0">
              <a:noAutofit/>
            </a:bodyPr>
            <a:lstStyle/>
            <a:p>
              <a:pPr lvl="0" algn="ctr"/>
              <a:r>
                <a:rPr lang="en-IN" sz="1400" b="1" i="1" dirty="0">
                  <a:solidFill>
                    <a:schemeClr val="bg1"/>
                  </a:solidFill>
                </a:rPr>
                <a:t>Account</a:t>
              </a:r>
              <a:endParaRPr sz="1400" b="1" i="1" dirty="0">
                <a:solidFill>
                  <a:schemeClr val="bg1"/>
                </a:solidFill>
              </a:endParaRPr>
            </a:p>
          </p:txBody>
        </p:sp>
        <p:sp>
          <p:nvSpPr>
            <p:cNvPr id="11" name="Google Shape;200;p27">
              <a:extLst>
                <a:ext uri="{FF2B5EF4-FFF2-40B4-BE49-F238E27FC236}">
                  <a16:creationId xmlns="" xmlns:a16="http://schemas.microsoft.com/office/drawing/2014/main" id="{1DE84030-8A07-46A3-841D-A3A196112590}"/>
                </a:ext>
              </a:extLst>
            </p:cNvPr>
            <p:cNvSpPr/>
            <p:nvPr/>
          </p:nvSpPr>
          <p:spPr>
            <a:xfrm>
              <a:off x="3124835" y="5363516"/>
              <a:ext cx="3012576" cy="324016"/>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lvl="0"/>
              <a:endParaRPr sz="1400" b="1" i="1" dirty="0"/>
            </a:p>
          </p:txBody>
        </p:sp>
        <p:sp>
          <p:nvSpPr>
            <p:cNvPr id="12" name="Google Shape;200;p27">
              <a:extLst>
                <a:ext uri="{FF2B5EF4-FFF2-40B4-BE49-F238E27FC236}">
                  <a16:creationId xmlns="" xmlns:a16="http://schemas.microsoft.com/office/drawing/2014/main" id="{9B0AD228-DDC6-4B57-9CDF-C657BF28B575}"/>
                </a:ext>
              </a:extLst>
            </p:cNvPr>
            <p:cNvSpPr/>
            <p:nvPr/>
          </p:nvSpPr>
          <p:spPr>
            <a:xfrm>
              <a:off x="3124835" y="5557106"/>
              <a:ext cx="3012576" cy="422071"/>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lvl="0"/>
              <a:r>
                <a:rPr lang="en-IN" sz="1400" dirty="0"/>
                <a:t>+ </a:t>
              </a:r>
              <a:r>
                <a:rPr lang="en-IN" sz="1400" dirty="0" err="1"/>
                <a:t>changePhoneNumber</a:t>
              </a:r>
              <a:r>
                <a:rPr lang="en-IN" sz="1400" dirty="0"/>
                <a:t>(</a:t>
              </a:r>
              <a:r>
                <a:rPr lang="en-IN" sz="1400" dirty="0" err="1"/>
                <a:t>phoneNumber:String</a:t>
              </a:r>
              <a:r>
                <a:rPr lang="en-IN" sz="1400" dirty="0"/>
                <a:t>):int</a:t>
              </a:r>
              <a:endParaRPr sz="1400" dirty="0"/>
            </a:p>
          </p:txBody>
        </p:sp>
      </p:grpSp>
      <p:sp>
        <p:nvSpPr>
          <p:cNvPr id="8" name="TextBox 7">
            <a:extLst>
              <a:ext uri="{FF2B5EF4-FFF2-40B4-BE49-F238E27FC236}">
                <a16:creationId xmlns="" xmlns:a16="http://schemas.microsoft.com/office/drawing/2014/main" id="{78D40E49-01D9-4A7B-9218-C96108DEE9BC}"/>
              </a:ext>
            </a:extLst>
          </p:cNvPr>
          <p:cNvSpPr txBox="1"/>
          <p:nvPr/>
        </p:nvSpPr>
        <p:spPr>
          <a:xfrm>
            <a:off x="3130332" y="5607257"/>
            <a:ext cx="4553900" cy="830997"/>
          </a:xfrm>
          <a:prstGeom prst="rect">
            <a:avLst/>
          </a:prstGeom>
          <a:noFill/>
        </p:spPr>
        <p:txBody>
          <a:bodyPr wrap="square" rtlCol="0">
            <a:spAutoFit/>
          </a:bodyPr>
          <a:lstStyle/>
          <a:p>
            <a:r>
              <a:rPr lang="en-US" sz="1600" dirty="0"/>
              <a:t>For e.g.: you can see </a:t>
            </a:r>
            <a:r>
              <a:rPr lang="en-US" sz="1600" dirty="0">
                <a:solidFill>
                  <a:srgbClr val="C00000"/>
                </a:solidFill>
              </a:rPr>
              <a:t>change phone number</a:t>
            </a:r>
            <a:r>
              <a:rPr lang="en-US" sz="1600" dirty="0"/>
              <a:t> is a </a:t>
            </a:r>
            <a:r>
              <a:rPr lang="en-US" sz="1600" dirty="0">
                <a:solidFill>
                  <a:srgbClr val="C00000"/>
                </a:solidFill>
              </a:rPr>
              <a:t>method</a:t>
            </a:r>
            <a:r>
              <a:rPr lang="en-US" sz="1600" dirty="0"/>
              <a:t> that accepts </a:t>
            </a:r>
            <a:r>
              <a:rPr lang="en-US" sz="1600" dirty="0">
                <a:solidFill>
                  <a:srgbClr val="C00000"/>
                </a:solidFill>
              </a:rPr>
              <a:t>phone number </a:t>
            </a:r>
            <a:r>
              <a:rPr lang="en-US" sz="1600" dirty="0"/>
              <a:t>as an </a:t>
            </a:r>
            <a:r>
              <a:rPr lang="en-US" sz="1600" dirty="0">
                <a:solidFill>
                  <a:srgbClr val="C00000"/>
                </a:solidFill>
              </a:rPr>
              <a:t>argument</a:t>
            </a:r>
            <a:r>
              <a:rPr lang="en-US" sz="1600" dirty="0"/>
              <a:t> and </a:t>
            </a:r>
            <a:r>
              <a:rPr lang="en-US" sz="1600" dirty="0">
                <a:solidFill>
                  <a:srgbClr val="C00000"/>
                </a:solidFill>
              </a:rPr>
              <a:t>return</a:t>
            </a:r>
            <a:r>
              <a:rPr lang="en-US" sz="1600" dirty="0"/>
              <a:t> the </a:t>
            </a:r>
            <a:r>
              <a:rPr lang="en-US" sz="1600" dirty="0">
                <a:solidFill>
                  <a:srgbClr val="C00000"/>
                </a:solidFill>
              </a:rPr>
              <a:t>int value</a:t>
            </a:r>
            <a:r>
              <a:rPr lang="en-US" sz="1600" dirty="0"/>
              <a:t> as a response.</a:t>
            </a:r>
            <a:endParaRPr lang="en-IN" sz="1600" dirty="0">
              <a:solidFill>
                <a:srgbClr val="C00000"/>
              </a:solidFill>
            </a:endParaRPr>
          </a:p>
        </p:txBody>
      </p:sp>
    </p:spTree>
    <p:extLst>
      <p:ext uri="{BB962C8B-B14F-4D97-AF65-F5344CB8AC3E}">
        <p14:creationId xmlns:p14="http://schemas.microsoft.com/office/powerpoint/2010/main" val="3295083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xEl>
                                              <p:pRg st="0" end="0"/>
                                            </p:txEl>
                                          </p:spTgt>
                                        </p:tgtEl>
                                        <p:attrNameLst>
                                          <p:attrName>style.visibility</p:attrName>
                                        </p:attrNameLst>
                                      </p:cBhvr>
                                      <p:to>
                                        <p:strVal val="visible"/>
                                      </p:to>
                                    </p:set>
                                    <p:animEffect transition="in" filter="fade">
                                      <p:cBhvr>
                                        <p:cTn id="15" dur="500"/>
                                        <p:tgtEl>
                                          <p:spTgt spid="1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xEl>
                                              <p:pRg st="1" end="1"/>
                                            </p:txEl>
                                          </p:spTgt>
                                        </p:tgtEl>
                                        <p:attrNameLst>
                                          <p:attrName>style.visibility</p:attrName>
                                        </p:attrNameLst>
                                      </p:cBhvr>
                                      <p:to>
                                        <p:strVal val="visible"/>
                                      </p:to>
                                    </p:set>
                                    <p:animEffect transition="in" filter="fade">
                                      <p:cBhvr>
                                        <p:cTn id="20" dur="500"/>
                                        <p:tgtEl>
                                          <p:spTgt spid="17">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7">
                                            <p:txEl>
                                              <p:pRg st="2" end="2"/>
                                            </p:txEl>
                                          </p:spTgt>
                                        </p:tgtEl>
                                        <p:attrNameLst>
                                          <p:attrName>style.visibility</p:attrName>
                                        </p:attrNameLst>
                                      </p:cBhvr>
                                      <p:to>
                                        <p:strVal val="visible"/>
                                      </p:to>
                                    </p:set>
                                    <p:animEffect transition="in" filter="fade">
                                      <p:cBhvr>
                                        <p:cTn id="25" dur="500"/>
                                        <p:tgtEl>
                                          <p:spTgt spid="17">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7">
                                            <p:txEl>
                                              <p:pRg st="3" end="3"/>
                                            </p:txEl>
                                          </p:spTgt>
                                        </p:tgtEl>
                                        <p:attrNameLst>
                                          <p:attrName>style.visibility</p:attrName>
                                        </p:attrNameLst>
                                      </p:cBhvr>
                                      <p:to>
                                        <p:strVal val="visible"/>
                                      </p:to>
                                    </p:set>
                                    <p:animEffect transition="in" filter="fade">
                                      <p:cBhvr>
                                        <p:cTn id="30" dur="500"/>
                                        <p:tgtEl>
                                          <p:spTgt spid="17">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7">
                                            <p:txEl>
                                              <p:pRg st="4" end="4"/>
                                            </p:txEl>
                                          </p:spTgt>
                                        </p:tgtEl>
                                        <p:attrNameLst>
                                          <p:attrName>style.visibility</p:attrName>
                                        </p:attrNameLst>
                                      </p:cBhvr>
                                      <p:to>
                                        <p:strVal val="visible"/>
                                      </p:to>
                                    </p:set>
                                    <p:animEffect transition="in" filter="fade">
                                      <p:cBhvr>
                                        <p:cTn id="35" dur="500"/>
                                        <p:tgtEl>
                                          <p:spTgt spid="17">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7">
                                            <p:txEl>
                                              <p:pRg st="5" end="5"/>
                                            </p:txEl>
                                          </p:spTgt>
                                        </p:tgtEl>
                                        <p:attrNameLst>
                                          <p:attrName>style.visibility</p:attrName>
                                        </p:attrNameLst>
                                      </p:cBhvr>
                                      <p:to>
                                        <p:strVal val="visible"/>
                                      </p:to>
                                    </p:set>
                                    <p:animEffect transition="in" filter="fade">
                                      <p:cBhvr>
                                        <p:cTn id="40" dur="500"/>
                                        <p:tgtEl>
                                          <p:spTgt spid="17">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7">
                                            <p:txEl>
                                              <p:pRg st="6" end="6"/>
                                            </p:txEl>
                                          </p:spTgt>
                                        </p:tgtEl>
                                        <p:attrNameLst>
                                          <p:attrName>style.visibility</p:attrName>
                                        </p:attrNameLst>
                                      </p:cBhvr>
                                      <p:to>
                                        <p:strVal val="visible"/>
                                      </p:to>
                                    </p:set>
                                    <p:animEffect transition="in" filter="fade">
                                      <p:cBhvr>
                                        <p:cTn id="45" dur="500"/>
                                        <p:tgtEl>
                                          <p:spTgt spid="17">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fade">
                                      <p:cBhvr>
                                        <p:cTn id="50" dur="500"/>
                                        <p:tgtEl>
                                          <p:spTgt spid="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8"/>
                                        </p:tgtEl>
                                        <p:attrNameLst>
                                          <p:attrName>style.visibility</p:attrName>
                                        </p:attrNameLst>
                                      </p:cBhvr>
                                      <p:to>
                                        <p:strVal val="visible"/>
                                      </p:to>
                                    </p:set>
                                    <p:animEffect transition="in" filter="fade">
                                      <p:cBhvr>
                                        <p:cTn id="5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build="p"/>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76CC519-DC58-45F1-814B-D74516B572BC}"/>
              </a:ext>
            </a:extLst>
          </p:cNvPr>
          <p:cNvSpPr>
            <a:spLocks noGrp="1"/>
          </p:cNvSpPr>
          <p:nvPr>
            <p:ph type="title"/>
          </p:nvPr>
        </p:nvSpPr>
        <p:spPr/>
        <p:txBody>
          <a:bodyPr>
            <a:normAutofit/>
          </a:bodyPr>
          <a:lstStyle/>
          <a:p>
            <a:r>
              <a:rPr lang="en-IN" dirty="0"/>
              <a:t>Generalization &amp; Specialization</a:t>
            </a:r>
          </a:p>
        </p:txBody>
      </p:sp>
      <p:sp>
        <p:nvSpPr>
          <p:cNvPr id="3" name="Content Placeholder 2">
            <a:extLst>
              <a:ext uri="{FF2B5EF4-FFF2-40B4-BE49-F238E27FC236}">
                <a16:creationId xmlns="" xmlns:a16="http://schemas.microsoft.com/office/drawing/2014/main" id="{9FC832B3-0E09-473C-9EE4-F6A3ABB41D3C}"/>
              </a:ext>
            </a:extLst>
          </p:cNvPr>
          <p:cNvSpPr>
            <a:spLocks noGrp="1"/>
          </p:cNvSpPr>
          <p:nvPr>
            <p:ph idx="1"/>
          </p:nvPr>
        </p:nvSpPr>
        <p:spPr>
          <a:xfrm>
            <a:off x="131180" y="863444"/>
            <a:ext cx="5512243" cy="5590565"/>
          </a:xfrm>
        </p:spPr>
        <p:txBody>
          <a:bodyPr/>
          <a:lstStyle/>
          <a:p>
            <a:r>
              <a:rPr lang="en-US" dirty="0"/>
              <a:t>Generalization is the </a:t>
            </a:r>
            <a:r>
              <a:rPr lang="en-US" b="1" dirty="0">
                <a:solidFill>
                  <a:srgbClr val="C00000"/>
                </a:solidFill>
              </a:rPr>
              <a:t>process of extracting shared characteristics </a:t>
            </a:r>
            <a:r>
              <a:rPr lang="en-US" dirty="0"/>
              <a:t>from two or more classes and </a:t>
            </a:r>
            <a:r>
              <a:rPr lang="en-US" dirty="0">
                <a:solidFill>
                  <a:srgbClr val="C00000"/>
                </a:solidFill>
              </a:rPr>
              <a:t>combining them</a:t>
            </a:r>
            <a:r>
              <a:rPr lang="en-US" b="1" dirty="0"/>
              <a:t> </a:t>
            </a:r>
            <a:r>
              <a:rPr lang="en-US" dirty="0"/>
              <a:t>into a generalized superclass</a:t>
            </a:r>
          </a:p>
          <a:p>
            <a:r>
              <a:rPr lang="en-US" dirty="0"/>
              <a:t>Shared characteristics can be attributes or methods.</a:t>
            </a:r>
          </a:p>
          <a:p>
            <a:r>
              <a:rPr lang="en-US" dirty="0"/>
              <a:t>Represents an </a:t>
            </a:r>
            <a:r>
              <a:rPr lang="en-US" dirty="0">
                <a:solidFill>
                  <a:srgbClr val="C00000"/>
                </a:solidFill>
              </a:rPr>
              <a:t>"is-a"</a:t>
            </a:r>
            <a:r>
              <a:rPr lang="en-US" dirty="0"/>
              <a:t> relationship</a:t>
            </a:r>
          </a:p>
          <a:p>
            <a:r>
              <a:rPr lang="en-US" dirty="0"/>
              <a:t>For example, a </a:t>
            </a:r>
            <a:r>
              <a:rPr lang="en-US" dirty="0">
                <a:solidFill>
                  <a:srgbClr val="C00000"/>
                </a:solidFill>
              </a:rPr>
              <a:t>car</a:t>
            </a:r>
            <a:r>
              <a:rPr lang="en-US" dirty="0"/>
              <a:t> is a </a:t>
            </a:r>
            <a:r>
              <a:rPr lang="en-US" dirty="0">
                <a:solidFill>
                  <a:srgbClr val="C00000"/>
                </a:solidFill>
              </a:rPr>
              <a:t>vehicle</a:t>
            </a:r>
            <a:r>
              <a:rPr lang="en-US" dirty="0"/>
              <a:t> and a </a:t>
            </a:r>
            <a:r>
              <a:rPr lang="en-US" dirty="0">
                <a:solidFill>
                  <a:srgbClr val="C00000"/>
                </a:solidFill>
              </a:rPr>
              <a:t>truck</a:t>
            </a:r>
            <a:r>
              <a:rPr lang="en-US" dirty="0"/>
              <a:t> is a </a:t>
            </a:r>
            <a:r>
              <a:rPr lang="en-US" dirty="0">
                <a:solidFill>
                  <a:srgbClr val="C00000"/>
                </a:solidFill>
              </a:rPr>
              <a:t>vehicle</a:t>
            </a:r>
            <a:r>
              <a:rPr lang="en-US" dirty="0"/>
              <a:t>. In this case, </a:t>
            </a:r>
            <a:r>
              <a:rPr lang="en-US" dirty="0">
                <a:solidFill>
                  <a:srgbClr val="C00000"/>
                </a:solidFill>
              </a:rPr>
              <a:t>vehicle is the general thing</a:t>
            </a:r>
            <a:r>
              <a:rPr lang="en-US" dirty="0"/>
              <a:t>, whereas car and truck are the </a:t>
            </a:r>
            <a:r>
              <a:rPr lang="en-US" dirty="0">
                <a:solidFill>
                  <a:srgbClr val="C00000"/>
                </a:solidFill>
              </a:rPr>
              <a:t>more specific things</a:t>
            </a:r>
            <a:r>
              <a:rPr lang="en-US" dirty="0"/>
              <a:t>.</a:t>
            </a:r>
          </a:p>
          <a:p>
            <a:r>
              <a:rPr lang="en-US" dirty="0"/>
              <a:t>Specialization is the </a:t>
            </a:r>
            <a:r>
              <a:rPr lang="en-US" b="1" dirty="0">
                <a:solidFill>
                  <a:srgbClr val="C00000"/>
                </a:solidFill>
              </a:rPr>
              <a:t>reverse process of Generalization</a:t>
            </a:r>
            <a:r>
              <a:rPr lang="en-US" dirty="0"/>
              <a:t> means creating new sub-classes from an existing class.</a:t>
            </a:r>
          </a:p>
          <a:p>
            <a:endParaRPr lang="en-US" dirty="0"/>
          </a:p>
          <a:p>
            <a:pPr marL="0" indent="0">
              <a:buNone/>
            </a:pPr>
            <a:endParaRPr lang="en-IN" dirty="0"/>
          </a:p>
        </p:txBody>
      </p:sp>
      <p:sp>
        <p:nvSpPr>
          <p:cNvPr id="4" name="Content Placeholder 2">
            <a:extLst>
              <a:ext uri="{FF2B5EF4-FFF2-40B4-BE49-F238E27FC236}">
                <a16:creationId xmlns="" xmlns:a16="http://schemas.microsoft.com/office/drawing/2014/main" id="{80688D1E-2E17-4802-89FD-412AA9EC3175}"/>
              </a:ext>
            </a:extLst>
          </p:cNvPr>
          <p:cNvSpPr txBox="1">
            <a:spLocks/>
          </p:cNvSpPr>
          <p:nvPr/>
        </p:nvSpPr>
        <p:spPr>
          <a:xfrm>
            <a:off x="6093038" y="863443"/>
            <a:ext cx="5914514"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grpSp>
        <p:nvGrpSpPr>
          <p:cNvPr id="17" name="Group 16">
            <a:extLst>
              <a:ext uri="{FF2B5EF4-FFF2-40B4-BE49-F238E27FC236}">
                <a16:creationId xmlns="" xmlns:a16="http://schemas.microsoft.com/office/drawing/2014/main" id="{43BFEFBA-FF7C-4E03-96A6-0E479E080936}"/>
              </a:ext>
            </a:extLst>
          </p:cNvPr>
          <p:cNvGrpSpPr/>
          <p:nvPr/>
        </p:nvGrpSpPr>
        <p:grpSpPr>
          <a:xfrm>
            <a:off x="7696928" y="814361"/>
            <a:ext cx="2546930" cy="2115268"/>
            <a:chOff x="3713413" y="4796709"/>
            <a:chExt cx="1835420" cy="946398"/>
          </a:xfrm>
        </p:grpSpPr>
        <p:sp>
          <p:nvSpPr>
            <p:cNvPr id="18" name="Google Shape;200;p27">
              <a:extLst>
                <a:ext uri="{FF2B5EF4-FFF2-40B4-BE49-F238E27FC236}">
                  <a16:creationId xmlns="" xmlns:a16="http://schemas.microsoft.com/office/drawing/2014/main" id="{0E63886C-EA2D-4E01-AE60-FE9A23B96190}"/>
                </a:ext>
              </a:extLst>
            </p:cNvPr>
            <p:cNvSpPr/>
            <p:nvPr/>
          </p:nvSpPr>
          <p:spPr>
            <a:xfrm>
              <a:off x="3713413" y="4796709"/>
              <a:ext cx="1835420" cy="232503"/>
            </a:xfrm>
            <a:prstGeom prst="rect">
              <a:avLst/>
            </a:prstGeom>
            <a:solidFill>
              <a:srgbClr val="B84742"/>
            </a:solidFill>
            <a:ln w="28575" cap="flat" cmpd="sng">
              <a:solidFill>
                <a:srgbClr val="8C3A38"/>
              </a:solidFill>
              <a:prstDash val="solid"/>
              <a:round/>
              <a:headEnd type="none" w="sm" len="sm"/>
              <a:tailEnd type="none" w="sm" len="sm"/>
            </a:ln>
          </p:spPr>
          <p:txBody>
            <a:bodyPr spcFirstLastPara="1" wrap="square" lIns="91425" tIns="45700" rIns="91425" bIns="45700" anchor="ctr" anchorCtr="0">
              <a:noAutofit/>
            </a:bodyPr>
            <a:lstStyle/>
            <a:p>
              <a:pPr lvl="0" algn="ctr"/>
              <a:r>
                <a:rPr lang="en-IN" sz="2400" b="1" i="1" dirty="0" err="1">
                  <a:solidFill>
                    <a:schemeClr val="bg1"/>
                  </a:solidFill>
                </a:rPr>
                <a:t>Vehical</a:t>
              </a:r>
              <a:endParaRPr sz="2400" b="1" i="1" dirty="0">
                <a:solidFill>
                  <a:schemeClr val="bg1"/>
                </a:solidFill>
              </a:endParaRPr>
            </a:p>
          </p:txBody>
        </p:sp>
        <p:sp>
          <p:nvSpPr>
            <p:cNvPr id="19" name="Google Shape;200;p27">
              <a:extLst>
                <a:ext uri="{FF2B5EF4-FFF2-40B4-BE49-F238E27FC236}">
                  <a16:creationId xmlns="" xmlns:a16="http://schemas.microsoft.com/office/drawing/2014/main" id="{4792DBBB-1997-4A93-A5B3-7B073302928E}"/>
                </a:ext>
              </a:extLst>
            </p:cNvPr>
            <p:cNvSpPr/>
            <p:nvPr/>
          </p:nvSpPr>
          <p:spPr>
            <a:xfrm>
              <a:off x="3713413" y="5029212"/>
              <a:ext cx="1835420" cy="152389"/>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r>
                <a:rPr lang="en-IN" dirty="0"/>
                <a:t>+ no of </a:t>
              </a:r>
              <a:r>
                <a:rPr lang="en-IN" dirty="0" err="1"/>
                <a:t>wheels:int</a:t>
              </a:r>
              <a:endParaRPr lang="en-IN" dirty="0"/>
            </a:p>
          </p:txBody>
        </p:sp>
        <p:sp>
          <p:nvSpPr>
            <p:cNvPr id="20" name="Google Shape;200;p27">
              <a:extLst>
                <a:ext uri="{FF2B5EF4-FFF2-40B4-BE49-F238E27FC236}">
                  <a16:creationId xmlns="" xmlns:a16="http://schemas.microsoft.com/office/drawing/2014/main" id="{8A37359E-3330-4F36-900E-673C011A3FCE}"/>
                </a:ext>
              </a:extLst>
            </p:cNvPr>
            <p:cNvSpPr/>
            <p:nvPr/>
          </p:nvSpPr>
          <p:spPr>
            <a:xfrm>
              <a:off x="3713413" y="5181601"/>
              <a:ext cx="1835420" cy="561506"/>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lvl="0"/>
              <a:r>
                <a:rPr lang="en-IN" dirty="0"/>
                <a:t>+start() : void</a:t>
              </a:r>
            </a:p>
            <a:p>
              <a:pPr lvl="0"/>
              <a:r>
                <a:rPr lang="en-IN" dirty="0"/>
                <a:t>+stop() : void</a:t>
              </a:r>
            </a:p>
            <a:p>
              <a:pPr lvl="0"/>
              <a:r>
                <a:rPr lang="en-IN" dirty="0"/>
                <a:t>+</a:t>
              </a:r>
              <a:r>
                <a:rPr lang="en-IN" dirty="0" err="1"/>
                <a:t>applyBreak</a:t>
              </a:r>
              <a:r>
                <a:rPr lang="en-IN" dirty="0"/>
                <a:t>() : void</a:t>
              </a:r>
            </a:p>
            <a:p>
              <a:pPr lvl="0"/>
              <a:r>
                <a:rPr lang="en-IN" dirty="0"/>
                <a:t>+</a:t>
              </a:r>
              <a:r>
                <a:rPr lang="en-IN" dirty="0" err="1"/>
                <a:t>refilllFule</a:t>
              </a:r>
              <a:r>
                <a:rPr lang="en-IN" dirty="0"/>
                <a:t>() : int  </a:t>
              </a:r>
              <a:endParaRPr dirty="0"/>
            </a:p>
          </p:txBody>
        </p:sp>
      </p:grpSp>
      <p:grpSp>
        <p:nvGrpSpPr>
          <p:cNvPr id="37" name="Group 36">
            <a:extLst>
              <a:ext uri="{FF2B5EF4-FFF2-40B4-BE49-F238E27FC236}">
                <a16:creationId xmlns="" xmlns:a16="http://schemas.microsoft.com/office/drawing/2014/main" id="{BC254FA3-87F5-4382-B694-8A787879872D}"/>
              </a:ext>
            </a:extLst>
          </p:cNvPr>
          <p:cNvGrpSpPr/>
          <p:nvPr/>
        </p:nvGrpSpPr>
        <p:grpSpPr>
          <a:xfrm>
            <a:off x="6208026" y="4127392"/>
            <a:ext cx="2479344" cy="1255007"/>
            <a:chOff x="5753361" y="4367090"/>
            <a:chExt cx="2797184" cy="1255007"/>
          </a:xfrm>
        </p:grpSpPr>
        <p:sp>
          <p:nvSpPr>
            <p:cNvPr id="22" name="Google Shape;200;p27">
              <a:extLst>
                <a:ext uri="{FF2B5EF4-FFF2-40B4-BE49-F238E27FC236}">
                  <a16:creationId xmlns="" xmlns:a16="http://schemas.microsoft.com/office/drawing/2014/main" id="{096EF109-7776-4081-8802-F0D1622D5FC0}"/>
                </a:ext>
              </a:extLst>
            </p:cNvPr>
            <p:cNvSpPr/>
            <p:nvPr/>
          </p:nvSpPr>
          <p:spPr>
            <a:xfrm>
              <a:off x="5753361" y="4367090"/>
              <a:ext cx="2797184" cy="519661"/>
            </a:xfrm>
            <a:prstGeom prst="rect">
              <a:avLst/>
            </a:prstGeom>
            <a:solidFill>
              <a:srgbClr val="B84742"/>
            </a:solidFill>
            <a:ln w="28575" cap="flat" cmpd="sng">
              <a:solidFill>
                <a:srgbClr val="8C3A38"/>
              </a:solidFill>
              <a:prstDash val="solid"/>
              <a:round/>
              <a:headEnd type="none" w="sm" len="sm"/>
              <a:tailEnd type="none" w="sm" len="sm"/>
            </a:ln>
          </p:spPr>
          <p:txBody>
            <a:bodyPr spcFirstLastPara="1" wrap="square" lIns="91425" tIns="45700" rIns="91425" bIns="45700" anchor="ctr" anchorCtr="0">
              <a:noAutofit/>
            </a:bodyPr>
            <a:lstStyle/>
            <a:p>
              <a:pPr lvl="0" algn="ctr"/>
              <a:r>
                <a:rPr lang="en-IN" sz="2400" b="1" dirty="0">
                  <a:solidFill>
                    <a:schemeClr val="bg1"/>
                  </a:solidFill>
                </a:rPr>
                <a:t>Car</a:t>
              </a:r>
              <a:endParaRPr sz="2400" b="1" dirty="0">
                <a:solidFill>
                  <a:schemeClr val="bg1"/>
                </a:solidFill>
              </a:endParaRPr>
            </a:p>
          </p:txBody>
        </p:sp>
        <p:sp>
          <p:nvSpPr>
            <p:cNvPr id="23" name="Google Shape;200;p27">
              <a:extLst>
                <a:ext uri="{FF2B5EF4-FFF2-40B4-BE49-F238E27FC236}">
                  <a16:creationId xmlns="" xmlns:a16="http://schemas.microsoft.com/office/drawing/2014/main" id="{F54ACD01-5C41-4385-98F9-E911E3E3FB08}"/>
                </a:ext>
              </a:extLst>
            </p:cNvPr>
            <p:cNvSpPr/>
            <p:nvPr/>
          </p:nvSpPr>
          <p:spPr>
            <a:xfrm>
              <a:off x="5753361" y="4886751"/>
              <a:ext cx="2797184" cy="340601"/>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endParaRPr lang="en-IN" i="1" dirty="0"/>
            </a:p>
          </p:txBody>
        </p:sp>
        <p:sp>
          <p:nvSpPr>
            <p:cNvPr id="24" name="Google Shape;200;p27">
              <a:extLst>
                <a:ext uri="{FF2B5EF4-FFF2-40B4-BE49-F238E27FC236}">
                  <a16:creationId xmlns="" xmlns:a16="http://schemas.microsoft.com/office/drawing/2014/main" id="{80D58345-4058-4FE2-8BC8-E044B7719188}"/>
                </a:ext>
              </a:extLst>
            </p:cNvPr>
            <p:cNvSpPr/>
            <p:nvPr/>
          </p:nvSpPr>
          <p:spPr>
            <a:xfrm>
              <a:off x="5753361" y="5227352"/>
              <a:ext cx="2797184" cy="394745"/>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lvl="0"/>
              <a:r>
                <a:rPr lang="en-IN" dirty="0"/>
                <a:t>+</a:t>
              </a:r>
              <a:r>
                <a:rPr lang="en-IN" dirty="0" err="1"/>
                <a:t>parkAtHome</a:t>
              </a:r>
              <a:r>
                <a:rPr lang="en-IN" dirty="0"/>
                <a:t>() : void</a:t>
              </a:r>
            </a:p>
          </p:txBody>
        </p:sp>
      </p:grpSp>
      <p:grpSp>
        <p:nvGrpSpPr>
          <p:cNvPr id="38" name="Group 37">
            <a:extLst>
              <a:ext uri="{FF2B5EF4-FFF2-40B4-BE49-F238E27FC236}">
                <a16:creationId xmlns="" xmlns:a16="http://schemas.microsoft.com/office/drawing/2014/main" id="{09037080-69C2-4015-9B55-A0FE0DF47113}"/>
              </a:ext>
            </a:extLst>
          </p:cNvPr>
          <p:cNvGrpSpPr/>
          <p:nvPr/>
        </p:nvGrpSpPr>
        <p:grpSpPr>
          <a:xfrm>
            <a:off x="9479688" y="4145876"/>
            <a:ext cx="2231813" cy="1595607"/>
            <a:chOff x="9119347" y="4385574"/>
            <a:chExt cx="2797184" cy="1595607"/>
          </a:xfrm>
        </p:grpSpPr>
        <p:sp>
          <p:nvSpPr>
            <p:cNvPr id="26" name="Google Shape;200;p27">
              <a:extLst>
                <a:ext uri="{FF2B5EF4-FFF2-40B4-BE49-F238E27FC236}">
                  <a16:creationId xmlns="" xmlns:a16="http://schemas.microsoft.com/office/drawing/2014/main" id="{9916831C-BBF4-426F-9EC5-59EA97F17E41}"/>
                </a:ext>
              </a:extLst>
            </p:cNvPr>
            <p:cNvSpPr/>
            <p:nvPr/>
          </p:nvSpPr>
          <p:spPr>
            <a:xfrm>
              <a:off x="9119347" y="4385574"/>
              <a:ext cx="2797184" cy="519661"/>
            </a:xfrm>
            <a:prstGeom prst="rect">
              <a:avLst/>
            </a:prstGeom>
            <a:solidFill>
              <a:srgbClr val="B84742"/>
            </a:solidFill>
            <a:ln w="28575" cap="flat" cmpd="sng">
              <a:solidFill>
                <a:srgbClr val="8C3A38"/>
              </a:solidFill>
              <a:prstDash val="solid"/>
              <a:round/>
              <a:headEnd type="none" w="sm" len="sm"/>
              <a:tailEnd type="none" w="sm" len="sm"/>
            </a:ln>
          </p:spPr>
          <p:txBody>
            <a:bodyPr spcFirstLastPara="1" wrap="square" lIns="91425" tIns="45700" rIns="91425" bIns="45700" anchor="ctr" anchorCtr="0">
              <a:noAutofit/>
            </a:bodyPr>
            <a:lstStyle/>
            <a:p>
              <a:pPr lvl="0" algn="ctr"/>
              <a:r>
                <a:rPr lang="en-IN" sz="2400" b="1" dirty="0">
                  <a:solidFill>
                    <a:schemeClr val="bg1"/>
                  </a:solidFill>
                </a:rPr>
                <a:t>Truck</a:t>
              </a:r>
              <a:endParaRPr sz="2400" b="1" dirty="0">
                <a:solidFill>
                  <a:schemeClr val="bg1"/>
                </a:solidFill>
              </a:endParaRPr>
            </a:p>
          </p:txBody>
        </p:sp>
        <p:sp>
          <p:nvSpPr>
            <p:cNvPr id="27" name="Google Shape;200;p27">
              <a:extLst>
                <a:ext uri="{FF2B5EF4-FFF2-40B4-BE49-F238E27FC236}">
                  <a16:creationId xmlns="" xmlns:a16="http://schemas.microsoft.com/office/drawing/2014/main" id="{6762E17C-FD8A-404A-96C6-A740333E2CAE}"/>
                </a:ext>
              </a:extLst>
            </p:cNvPr>
            <p:cNvSpPr/>
            <p:nvPr/>
          </p:nvSpPr>
          <p:spPr>
            <a:xfrm>
              <a:off x="9119347" y="4905235"/>
              <a:ext cx="2797184" cy="340600"/>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endParaRPr lang="en-IN" i="1" dirty="0">
                <a:solidFill>
                  <a:schemeClr val="tx1"/>
                </a:solidFill>
              </a:endParaRPr>
            </a:p>
          </p:txBody>
        </p:sp>
        <p:sp>
          <p:nvSpPr>
            <p:cNvPr id="28" name="Google Shape;200;p27">
              <a:extLst>
                <a:ext uri="{FF2B5EF4-FFF2-40B4-BE49-F238E27FC236}">
                  <a16:creationId xmlns="" xmlns:a16="http://schemas.microsoft.com/office/drawing/2014/main" id="{9B5E3582-AD40-4344-9773-03DEA68D0DCE}"/>
                </a:ext>
              </a:extLst>
            </p:cNvPr>
            <p:cNvSpPr/>
            <p:nvPr/>
          </p:nvSpPr>
          <p:spPr>
            <a:xfrm>
              <a:off x="9119347" y="5245835"/>
              <a:ext cx="2797184" cy="735346"/>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lvl="0"/>
              <a:r>
                <a:rPr lang="en-IN" dirty="0">
                  <a:solidFill>
                    <a:schemeClr val="tx1"/>
                  </a:solidFill>
                </a:rPr>
                <a:t>+ </a:t>
              </a:r>
              <a:r>
                <a:rPr lang="en-IN" dirty="0" err="1">
                  <a:solidFill>
                    <a:schemeClr val="tx1"/>
                  </a:solidFill>
                </a:rPr>
                <a:t>loadGoods</a:t>
              </a:r>
              <a:r>
                <a:rPr lang="en-IN" dirty="0">
                  <a:solidFill>
                    <a:schemeClr val="tx1"/>
                  </a:solidFill>
                </a:rPr>
                <a:t>() : void</a:t>
              </a:r>
            </a:p>
            <a:p>
              <a:pPr lvl="0"/>
              <a:r>
                <a:rPr lang="en-IN" dirty="0">
                  <a:solidFill>
                    <a:schemeClr val="tx1"/>
                  </a:solidFill>
                </a:rPr>
                <a:t>+ </a:t>
              </a:r>
              <a:r>
                <a:rPr lang="en-IN" dirty="0" err="1">
                  <a:solidFill>
                    <a:schemeClr val="tx1"/>
                  </a:solidFill>
                </a:rPr>
                <a:t>unloadGoods</a:t>
              </a:r>
              <a:r>
                <a:rPr lang="en-IN" dirty="0">
                  <a:solidFill>
                    <a:schemeClr val="tx1"/>
                  </a:solidFill>
                </a:rPr>
                <a:t>() : void</a:t>
              </a:r>
            </a:p>
          </p:txBody>
        </p:sp>
      </p:grpSp>
      <p:grpSp>
        <p:nvGrpSpPr>
          <p:cNvPr id="29" name="Group 28">
            <a:extLst>
              <a:ext uri="{FF2B5EF4-FFF2-40B4-BE49-F238E27FC236}">
                <a16:creationId xmlns="" xmlns:a16="http://schemas.microsoft.com/office/drawing/2014/main" id="{A7FA3ADA-F970-406C-941F-BA0CF236FFBA}"/>
              </a:ext>
            </a:extLst>
          </p:cNvPr>
          <p:cNvGrpSpPr/>
          <p:nvPr/>
        </p:nvGrpSpPr>
        <p:grpSpPr>
          <a:xfrm>
            <a:off x="7445576" y="2929629"/>
            <a:ext cx="2939875" cy="1214768"/>
            <a:chOff x="4669589" y="3967363"/>
            <a:chExt cx="2457449" cy="1082284"/>
          </a:xfrm>
        </p:grpSpPr>
        <p:cxnSp>
          <p:nvCxnSpPr>
            <p:cNvPr id="30" name="Straight Connector 29">
              <a:extLst>
                <a:ext uri="{FF2B5EF4-FFF2-40B4-BE49-F238E27FC236}">
                  <a16:creationId xmlns="" xmlns:a16="http://schemas.microsoft.com/office/drawing/2014/main" id="{03875BE8-D7D6-4F38-95CA-16E2224DDBD8}"/>
                </a:ext>
              </a:extLst>
            </p:cNvPr>
            <p:cNvCxnSpPr>
              <a:cxnSpLocks/>
            </p:cNvCxnSpPr>
            <p:nvPr/>
          </p:nvCxnSpPr>
          <p:spPr>
            <a:xfrm>
              <a:off x="4669589" y="4618074"/>
              <a:ext cx="2457448"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31" name="Straight Connector 30">
              <a:extLst>
                <a:ext uri="{FF2B5EF4-FFF2-40B4-BE49-F238E27FC236}">
                  <a16:creationId xmlns="" xmlns:a16="http://schemas.microsoft.com/office/drawing/2014/main" id="{33BE67E1-D355-4C44-BFA2-EF24EF002AA6}"/>
                </a:ext>
              </a:extLst>
            </p:cNvPr>
            <p:cNvCxnSpPr>
              <a:cxnSpLocks/>
            </p:cNvCxnSpPr>
            <p:nvPr/>
          </p:nvCxnSpPr>
          <p:spPr>
            <a:xfrm>
              <a:off x="4669589" y="4618074"/>
              <a:ext cx="1" cy="431573"/>
            </a:xfrm>
            <a:prstGeom prst="line">
              <a:avLst/>
            </a:prstGeom>
          </p:spPr>
          <p:style>
            <a:lnRef idx="3">
              <a:schemeClr val="accent6"/>
            </a:lnRef>
            <a:fillRef idx="0">
              <a:schemeClr val="accent6"/>
            </a:fillRef>
            <a:effectRef idx="2">
              <a:schemeClr val="accent6"/>
            </a:effectRef>
            <a:fontRef idx="minor">
              <a:schemeClr val="tx1"/>
            </a:fontRef>
          </p:style>
        </p:cxnSp>
        <p:cxnSp>
          <p:nvCxnSpPr>
            <p:cNvPr id="32" name="Straight Connector 31">
              <a:extLst>
                <a:ext uri="{FF2B5EF4-FFF2-40B4-BE49-F238E27FC236}">
                  <a16:creationId xmlns="" xmlns:a16="http://schemas.microsoft.com/office/drawing/2014/main" id="{399BE818-EEE2-48B5-8721-63C67499646E}"/>
                </a:ext>
              </a:extLst>
            </p:cNvPr>
            <p:cNvCxnSpPr>
              <a:cxnSpLocks/>
            </p:cNvCxnSpPr>
            <p:nvPr/>
          </p:nvCxnSpPr>
          <p:spPr>
            <a:xfrm>
              <a:off x="7127038" y="4618074"/>
              <a:ext cx="0" cy="431573"/>
            </a:xfrm>
            <a:prstGeom prst="line">
              <a:avLst/>
            </a:prstGeom>
          </p:spPr>
          <p:style>
            <a:lnRef idx="3">
              <a:schemeClr val="accent6"/>
            </a:lnRef>
            <a:fillRef idx="0">
              <a:schemeClr val="accent6"/>
            </a:fillRef>
            <a:effectRef idx="2">
              <a:schemeClr val="accent6"/>
            </a:effectRef>
            <a:fontRef idx="minor">
              <a:schemeClr val="tx1"/>
            </a:fontRef>
          </p:style>
        </p:cxnSp>
        <p:sp>
          <p:nvSpPr>
            <p:cNvPr id="33" name="Isosceles Triangle 32">
              <a:extLst>
                <a:ext uri="{FF2B5EF4-FFF2-40B4-BE49-F238E27FC236}">
                  <a16:creationId xmlns="" xmlns:a16="http://schemas.microsoft.com/office/drawing/2014/main" id="{38B1B8E5-BDE9-4493-A833-AA693EB7B4C2}"/>
                </a:ext>
              </a:extLst>
            </p:cNvPr>
            <p:cNvSpPr/>
            <p:nvPr/>
          </p:nvSpPr>
          <p:spPr>
            <a:xfrm>
              <a:off x="5681707" y="3967363"/>
              <a:ext cx="239697" cy="133165"/>
            </a:xfrm>
            <a:prstGeom prs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a:p>
          </p:txBody>
        </p:sp>
        <p:cxnSp>
          <p:nvCxnSpPr>
            <p:cNvPr id="34" name="Straight Connector 33">
              <a:extLst>
                <a:ext uri="{FF2B5EF4-FFF2-40B4-BE49-F238E27FC236}">
                  <a16:creationId xmlns="" xmlns:a16="http://schemas.microsoft.com/office/drawing/2014/main" id="{F7EBDF44-C6CD-4339-8BD5-5186F49873DA}"/>
                </a:ext>
              </a:extLst>
            </p:cNvPr>
            <p:cNvCxnSpPr>
              <a:stCxn id="33" idx="3"/>
            </p:cNvCxnSpPr>
            <p:nvPr/>
          </p:nvCxnSpPr>
          <p:spPr>
            <a:xfrm flipH="1">
              <a:off x="5801555" y="4100528"/>
              <a:ext cx="1" cy="517546"/>
            </a:xfrm>
            <a:prstGeom prst="line">
              <a:avLst/>
            </a:prstGeom>
          </p:spPr>
          <p:style>
            <a:lnRef idx="3">
              <a:schemeClr val="accent6"/>
            </a:lnRef>
            <a:fillRef idx="0">
              <a:schemeClr val="accent6"/>
            </a:fillRef>
            <a:effectRef idx="2">
              <a:schemeClr val="accent6"/>
            </a:effectRef>
            <a:fontRef idx="minor">
              <a:schemeClr val="tx1"/>
            </a:fontRef>
          </p:style>
        </p:cxnSp>
      </p:grpSp>
      <p:cxnSp>
        <p:nvCxnSpPr>
          <p:cNvPr id="40" name="Straight Arrow Connector 39">
            <a:extLst>
              <a:ext uri="{FF2B5EF4-FFF2-40B4-BE49-F238E27FC236}">
                <a16:creationId xmlns="" xmlns:a16="http://schemas.microsoft.com/office/drawing/2014/main" id="{DA93683F-001C-4BE1-A9DC-2873A119C148}"/>
              </a:ext>
            </a:extLst>
          </p:cNvPr>
          <p:cNvCxnSpPr>
            <a:cxnSpLocks/>
          </p:cNvCxnSpPr>
          <p:nvPr/>
        </p:nvCxnSpPr>
        <p:spPr>
          <a:xfrm flipV="1">
            <a:off x="6060408" y="1917577"/>
            <a:ext cx="0" cy="2833943"/>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43" name="Straight Arrow Connector 42">
            <a:extLst>
              <a:ext uri="{FF2B5EF4-FFF2-40B4-BE49-F238E27FC236}">
                <a16:creationId xmlns="" xmlns:a16="http://schemas.microsoft.com/office/drawing/2014/main" id="{3723D4DC-C9F9-4F13-B444-BB835AD5A90A}"/>
              </a:ext>
            </a:extLst>
          </p:cNvPr>
          <p:cNvCxnSpPr>
            <a:cxnSpLocks/>
          </p:cNvCxnSpPr>
          <p:nvPr/>
        </p:nvCxnSpPr>
        <p:spPr>
          <a:xfrm>
            <a:off x="11941946" y="1917577"/>
            <a:ext cx="0" cy="295626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46" name="Rectangle 45">
            <a:extLst>
              <a:ext uri="{FF2B5EF4-FFF2-40B4-BE49-F238E27FC236}">
                <a16:creationId xmlns="" xmlns:a16="http://schemas.microsoft.com/office/drawing/2014/main" id="{9930EE5D-AD5E-434E-BAF4-303181EA0BA1}"/>
              </a:ext>
            </a:extLst>
          </p:cNvPr>
          <p:cNvSpPr/>
          <p:nvPr/>
        </p:nvSpPr>
        <p:spPr>
          <a:xfrm rot="16200000">
            <a:off x="10980634" y="2882599"/>
            <a:ext cx="1582484" cy="369332"/>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b="1" spc="50" dirty="0">
                <a:ln w="0"/>
                <a:solidFill>
                  <a:srgbClr val="A32D19"/>
                </a:solidFill>
                <a:effectLst>
                  <a:innerShdw blurRad="63500" dist="50800" dir="13500000">
                    <a:srgbClr val="000000">
                      <a:alpha val="50000"/>
                    </a:srgbClr>
                  </a:innerShdw>
                </a:effectLst>
              </a:rPr>
              <a:t>Specialization</a:t>
            </a:r>
          </a:p>
        </p:txBody>
      </p:sp>
      <p:sp>
        <p:nvSpPr>
          <p:cNvPr id="47" name="Rectangle 46">
            <a:extLst>
              <a:ext uri="{FF2B5EF4-FFF2-40B4-BE49-F238E27FC236}">
                <a16:creationId xmlns="" xmlns:a16="http://schemas.microsoft.com/office/drawing/2014/main" id="{9AB67301-E0F1-4E99-AB87-C90DCCD18E8A}"/>
              </a:ext>
            </a:extLst>
          </p:cNvPr>
          <p:cNvSpPr/>
          <p:nvPr/>
        </p:nvSpPr>
        <p:spPr>
          <a:xfrm rot="16200000">
            <a:off x="5419156" y="3114519"/>
            <a:ext cx="1616147" cy="369332"/>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b="1" spc="50" dirty="0">
                <a:ln w="0"/>
                <a:solidFill>
                  <a:srgbClr val="A32D19"/>
                </a:solidFill>
                <a:effectLst>
                  <a:innerShdw blurRad="63500" dist="50800" dir="13500000">
                    <a:srgbClr val="000000">
                      <a:alpha val="50000"/>
                    </a:srgbClr>
                  </a:innerShdw>
                </a:effectLst>
              </a:rPr>
              <a:t>Generalization</a:t>
            </a:r>
          </a:p>
        </p:txBody>
      </p:sp>
      <p:cxnSp>
        <p:nvCxnSpPr>
          <p:cNvPr id="35" name="Straight Connector 34"/>
          <p:cNvCxnSpPr/>
          <p:nvPr/>
        </p:nvCxnSpPr>
        <p:spPr>
          <a:xfrm>
            <a:off x="5842993" y="698138"/>
            <a:ext cx="0" cy="5924730"/>
          </a:xfrm>
          <a:prstGeom prst="line">
            <a:avLst/>
          </a:prstGeom>
          <a:ln w="3810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18580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par>
                                <p:cTn id="28" presetID="22" presetClass="entr" presetSubtype="1" fill="hold" nodeType="with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wipe(up)">
                                      <p:cBhvr>
                                        <p:cTn id="30" dur="500"/>
                                        <p:tgtEl>
                                          <p:spTgt spid="3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wipe(down)">
                                      <p:cBhvr>
                                        <p:cTn id="40" dur="500"/>
                                        <p:tgtEl>
                                          <p:spTgt spid="29"/>
                                        </p:tgtEl>
                                      </p:cBhvr>
                                    </p:animEffect>
                                  </p:childTnLst>
                                </p:cTn>
                              </p:par>
                              <p:par>
                                <p:cTn id="41" presetID="10" presetClass="entr" presetSubtype="0" fill="hold" nodeType="with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fade">
                                      <p:cBhvr>
                                        <p:cTn id="43" dur="500"/>
                                        <p:tgtEl>
                                          <p:spTgt spid="38"/>
                                        </p:tgtEl>
                                      </p:cBhvr>
                                    </p:animEffect>
                                  </p:childTnLst>
                                </p:cTn>
                              </p:par>
                              <p:par>
                                <p:cTn id="44" presetID="10" presetClass="entr" presetSubtype="0" fill="hold" nodeType="with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500"/>
                                        <p:tgtEl>
                                          <p:spTgt spid="3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46"/>
                                        </p:tgtEl>
                                        <p:attrNameLst>
                                          <p:attrName>style.visibility</p:attrName>
                                        </p:attrNameLst>
                                      </p:cBhvr>
                                      <p:to>
                                        <p:strVal val="visible"/>
                                      </p:to>
                                    </p:set>
                                    <p:animEffect transition="in" filter="fade">
                                      <p:cBhvr>
                                        <p:cTn id="51" dur="500"/>
                                        <p:tgtEl>
                                          <p:spTgt spid="46"/>
                                        </p:tgtEl>
                                      </p:cBhvr>
                                    </p:animEffect>
                                  </p:childTnLst>
                                </p:cTn>
                              </p:par>
                              <p:par>
                                <p:cTn id="52" presetID="10" presetClass="entr" presetSubtype="0" fill="hold" nodeType="withEffect">
                                  <p:stCondLst>
                                    <p:cond delay="0"/>
                                  </p:stCondLst>
                                  <p:childTnLst>
                                    <p:set>
                                      <p:cBhvr>
                                        <p:cTn id="53" dur="1" fill="hold">
                                          <p:stCondLst>
                                            <p:cond delay="0"/>
                                          </p:stCondLst>
                                        </p:cTn>
                                        <p:tgtEl>
                                          <p:spTgt spid="43"/>
                                        </p:tgtEl>
                                        <p:attrNameLst>
                                          <p:attrName>style.visibility</p:attrName>
                                        </p:attrNameLst>
                                      </p:cBhvr>
                                      <p:to>
                                        <p:strVal val="visible"/>
                                      </p:to>
                                    </p:set>
                                    <p:animEffect transition="in" filter="fade">
                                      <p:cBhvr>
                                        <p:cTn id="54" dur="500"/>
                                        <p:tgtEl>
                                          <p:spTgt spid="4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7"/>
                                        </p:tgtEl>
                                        <p:attrNameLst>
                                          <p:attrName>style.visibility</p:attrName>
                                        </p:attrNameLst>
                                      </p:cBhvr>
                                      <p:to>
                                        <p:strVal val="visible"/>
                                      </p:to>
                                    </p:set>
                                    <p:animEffect transition="in" filter="fade">
                                      <p:cBhvr>
                                        <p:cTn id="57" dur="500"/>
                                        <p:tgtEl>
                                          <p:spTgt spid="47"/>
                                        </p:tgtEl>
                                      </p:cBhvr>
                                    </p:animEffect>
                                  </p:childTnLst>
                                </p:cTn>
                              </p:par>
                              <p:par>
                                <p:cTn id="58" presetID="10" presetClass="entr" presetSubtype="0" fill="hold" nodeType="with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fade">
                                      <p:cBhvr>
                                        <p:cTn id="60"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6" grpId="0"/>
      <p:bldP spid="4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72BC2FA-AD7E-496A-BEB8-6B2FACD911FE}"/>
              </a:ext>
            </a:extLst>
          </p:cNvPr>
          <p:cNvSpPr>
            <a:spLocks noGrp="1"/>
          </p:cNvSpPr>
          <p:nvPr>
            <p:ph type="title"/>
          </p:nvPr>
        </p:nvSpPr>
        <p:spPr/>
        <p:txBody>
          <a:bodyPr/>
          <a:lstStyle/>
          <a:p>
            <a:r>
              <a:rPr lang="en-IN" dirty="0"/>
              <a:t>Generalization &amp; Specialization</a:t>
            </a:r>
          </a:p>
        </p:txBody>
      </p:sp>
      <p:sp>
        <p:nvSpPr>
          <p:cNvPr id="3" name="Content Placeholder 2">
            <a:extLst>
              <a:ext uri="{FF2B5EF4-FFF2-40B4-BE49-F238E27FC236}">
                <a16:creationId xmlns="" xmlns:a16="http://schemas.microsoft.com/office/drawing/2014/main" id="{27DB4466-D3B5-4090-9785-F9CEAAEF5BA0}"/>
              </a:ext>
            </a:extLst>
          </p:cNvPr>
          <p:cNvSpPr>
            <a:spLocks noGrp="1"/>
          </p:cNvSpPr>
          <p:nvPr>
            <p:ph idx="1"/>
          </p:nvPr>
        </p:nvSpPr>
        <p:spPr>
          <a:xfrm>
            <a:off x="131181" y="863444"/>
            <a:ext cx="4418786" cy="5590565"/>
          </a:xfrm>
        </p:spPr>
        <p:txBody>
          <a:bodyPr/>
          <a:lstStyle/>
          <a:p>
            <a:r>
              <a:rPr lang="en-IN" dirty="0"/>
              <a:t>For example in a bank, any Customer opens an account.</a:t>
            </a:r>
          </a:p>
          <a:p>
            <a:r>
              <a:rPr lang="en-US" dirty="0"/>
              <a:t>The account can be either a </a:t>
            </a:r>
            <a:r>
              <a:rPr lang="en-US" dirty="0">
                <a:solidFill>
                  <a:srgbClr val="C00000"/>
                </a:solidFill>
              </a:rPr>
              <a:t>savings account </a:t>
            </a:r>
            <a:r>
              <a:rPr lang="en-US" dirty="0"/>
              <a:t>or a </a:t>
            </a:r>
            <a:r>
              <a:rPr lang="en-US" dirty="0">
                <a:solidFill>
                  <a:srgbClr val="C00000"/>
                </a:solidFill>
              </a:rPr>
              <a:t>current account</a:t>
            </a:r>
            <a:r>
              <a:rPr lang="en-US" dirty="0"/>
              <a:t>. In saving account, customer </a:t>
            </a:r>
            <a:r>
              <a:rPr lang="en-US" dirty="0">
                <a:solidFill>
                  <a:srgbClr val="C00000"/>
                </a:solidFill>
              </a:rPr>
              <a:t>earns fixed interest</a:t>
            </a:r>
            <a:r>
              <a:rPr lang="en-US" dirty="0"/>
              <a:t> on the deposit. But this </a:t>
            </a:r>
            <a:r>
              <a:rPr lang="en-US" dirty="0">
                <a:solidFill>
                  <a:srgbClr val="C00000"/>
                </a:solidFill>
              </a:rPr>
              <a:t>facility is not available in the current account</a:t>
            </a:r>
            <a:r>
              <a:rPr lang="en-US" dirty="0"/>
              <a:t>. </a:t>
            </a:r>
            <a:r>
              <a:rPr lang="en-IN" dirty="0"/>
              <a:t> </a:t>
            </a:r>
          </a:p>
        </p:txBody>
      </p:sp>
      <p:grpSp>
        <p:nvGrpSpPr>
          <p:cNvPr id="50" name="Group 49">
            <a:extLst>
              <a:ext uri="{FF2B5EF4-FFF2-40B4-BE49-F238E27FC236}">
                <a16:creationId xmlns="" xmlns:a16="http://schemas.microsoft.com/office/drawing/2014/main" id="{FA171786-9E04-444A-9290-1F5E006495B7}"/>
              </a:ext>
            </a:extLst>
          </p:cNvPr>
          <p:cNvGrpSpPr/>
          <p:nvPr/>
        </p:nvGrpSpPr>
        <p:grpSpPr>
          <a:xfrm>
            <a:off x="7230846" y="1275921"/>
            <a:ext cx="3378406" cy="1618725"/>
            <a:chOff x="3713413" y="4796709"/>
            <a:chExt cx="1835420" cy="946998"/>
          </a:xfrm>
        </p:grpSpPr>
        <p:sp>
          <p:nvSpPr>
            <p:cNvPr id="51" name="Google Shape;200;p27">
              <a:extLst>
                <a:ext uri="{FF2B5EF4-FFF2-40B4-BE49-F238E27FC236}">
                  <a16:creationId xmlns="" xmlns:a16="http://schemas.microsoft.com/office/drawing/2014/main" id="{0AEA6DFE-0EA0-4C85-A8A7-0F4BFAA308C7}"/>
                </a:ext>
              </a:extLst>
            </p:cNvPr>
            <p:cNvSpPr/>
            <p:nvPr/>
          </p:nvSpPr>
          <p:spPr>
            <a:xfrm>
              <a:off x="3713413" y="4796709"/>
              <a:ext cx="1835420" cy="232503"/>
            </a:xfrm>
            <a:prstGeom prst="rect">
              <a:avLst/>
            </a:prstGeom>
            <a:ln>
              <a:headEnd type="none" w="sm" len="sm"/>
              <a:tailEnd type="none" w="sm" len="sm"/>
            </a:ln>
          </p:spPr>
          <p:style>
            <a:lnRef idx="2">
              <a:schemeClr val="accent6">
                <a:shade val="50000"/>
              </a:schemeClr>
            </a:lnRef>
            <a:fillRef idx="1">
              <a:schemeClr val="accent6"/>
            </a:fillRef>
            <a:effectRef idx="0">
              <a:schemeClr val="accent6"/>
            </a:effectRef>
            <a:fontRef idx="minor">
              <a:schemeClr val="lt1"/>
            </a:fontRef>
          </p:style>
          <p:txBody>
            <a:bodyPr spcFirstLastPara="1" wrap="square" lIns="91425" tIns="45700" rIns="91425" bIns="45700" anchor="ctr" anchorCtr="0">
              <a:noAutofit/>
            </a:bodyPr>
            <a:lstStyle/>
            <a:p>
              <a:pPr lvl="0" algn="ctr"/>
              <a:r>
                <a:rPr lang="en-IN" sz="2400" b="1" i="1" dirty="0">
                  <a:solidFill>
                    <a:schemeClr val="bg1"/>
                  </a:solidFill>
                </a:rPr>
                <a:t>Account</a:t>
              </a:r>
              <a:endParaRPr sz="2400" b="1" i="1" dirty="0">
                <a:solidFill>
                  <a:schemeClr val="bg1"/>
                </a:solidFill>
              </a:endParaRPr>
            </a:p>
          </p:txBody>
        </p:sp>
        <p:sp>
          <p:nvSpPr>
            <p:cNvPr id="52" name="Google Shape;200;p27">
              <a:extLst>
                <a:ext uri="{FF2B5EF4-FFF2-40B4-BE49-F238E27FC236}">
                  <a16:creationId xmlns="" xmlns:a16="http://schemas.microsoft.com/office/drawing/2014/main" id="{69228244-FA09-4F4E-ABD3-43F7A27C185D}"/>
                </a:ext>
              </a:extLst>
            </p:cNvPr>
            <p:cNvSpPr/>
            <p:nvPr/>
          </p:nvSpPr>
          <p:spPr>
            <a:xfrm>
              <a:off x="3713413" y="5029212"/>
              <a:ext cx="1835420" cy="272273"/>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t" anchorCtr="0">
              <a:noAutofit/>
            </a:bodyPr>
            <a:lstStyle/>
            <a:p>
              <a:r>
                <a:rPr lang="en-IN" sz="1400" i="1" dirty="0">
                  <a:solidFill>
                    <a:schemeClr val="tx1"/>
                  </a:solidFill>
                </a:rPr>
                <a:t>+ </a:t>
              </a:r>
              <a:r>
                <a:rPr lang="en-IN" sz="1400" dirty="0" err="1">
                  <a:solidFill>
                    <a:schemeClr val="tx1"/>
                  </a:solidFill>
                </a:rPr>
                <a:t>accountNo:long</a:t>
              </a:r>
              <a:endParaRPr lang="en-IN" sz="1400" dirty="0">
                <a:solidFill>
                  <a:schemeClr val="tx1"/>
                </a:solidFill>
              </a:endParaRPr>
            </a:p>
            <a:p>
              <a:r>
                <a:rPr lang="en-IN" sz="1400" dirty="0">
                  <a:solidFill>
                    <a:schemeClr val="tx1"/>
                  </a:solidFill>
                </a:rPr>
                <a:t>+ </a:t>
              </a:r>
              <a:r>
                <a:rPr lang="en-IN" sz="1400" dirty="0" err="1">
                  <a:solidFill>
                    <a:schemeClr val="tx1"/>
                  </a:solidFill>
                </a:rPr>
                <a:t>balance:double</a:t>
              </a:r>
              <a:endParaRPr lang="en-IN" sz="1400" dirty="0">
                <a:solidFill>
                  <a:schemeClr val="tx1"/>
                </a:solidFill>
              </a:endParaRPr>
            </a:p>
          </p:txBody>
        </p:sp>
        <p:sp>
          <p:nvSpPr>
            <p:cNvPr id="53" name="Google Shape;200;p27">
              <a:extLst>
                <a:ext uri="{FF2B5EF4-FFF2-40B4-BE49-F238E27FC236}">
                  <a16:creationId xmlns="" xmlns:a16="http://schemas.microsoft.com/office/drawing/2014/main" id="{93705C5A-3030-47F0-9973-30877B827B42}"/>
                </a:ext>
              </a:extLst>
            </p:cNvPr>
            <p:cNvSpPr/>
            <p:nvPr/>
          </p:nvSpPr>
          <p:spPr>
            <a:xfrm>
              <a:off x="3713413" y="5299921"/>
              <a:ext cx="1835420" cy="443786"/>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t" anchorCtr="0">
              <a:noAutofit/>
            </a:bodyPr>
            <a:lstStyle/>
            <a:p>
              <a:pPr lvl="0"/>
              <a:r>
                <a:rPr lang="en-IN" sz="1400" dirty="0">
                  <a:solidFill>
                    <a:schemeClr val="tx1"/>
                  </a:solidFill>
                </a:rPr>
                <a:t>+</a:t>
              </a:r>
              <a:r>
                <a:rPr lang="en-IN" sz="1400" dirty="0" err="1">
                  <a:solidFill>
                    <a:schemeClr val="tx1"/>
                  </a:solidFill>
                </a:rPr>
                <a:t>debitAmount</a:t>
              </a:r>
              <a:r>
                <a:rPr lang="en-IN" sz="1400" dirty="0">
                  <a:solidFill>
                    <a:schemeClr val="tx1"/>
                  </a:solidFill>
                </a:rPr>
                <a:t>(</a:t>
              </a:r>
              <a:r>
                <a:rPr lang="en-IN" sz="1400" dirty="0" err="1">
                  <a:solidFill>
                    <a:schemeClr val="tx1"/>
                  </a:solidFill>
                </a:rPr>
                <a:t>amount:double</a:t>
              </a:r>
              <a:r>
                <a:rPr lang="en-IN" sz="1400" dirty="0">
                  <a:solidFill>
                    <a:schemeClr val="tx1"/>
                  </a:solidFill>
                </a:rPr>
                <a:t>): void</a:t>
              </a:r>
            </a:p>
            <a:p>
              <a:pPr lvl="0"/>
              <a:r>
                <a:rPr lang="en-IN" sz="1400" dirty="0">
                  <a:solidFill>
                    <a:schemeClr val="tx1"/>
                  </a:solidFill>
                </a:rPr>
                <a:t>+</a:t>
              </a:r>
              <a:r>
                <a:rPr lang="en-IN" sz="1400" dirty="0" err="1">
                  <a:solidFill>
                    <a:schemeClr val="tx1"/>
                  </a:solidFill>
                </a:rPr>
                <a:t>creditAmount</a:t>
              </a:r>
              <a:r>
                <a:rPr lang="en-IN" sz="1400" dirty="0">
                  <a:solidFill>
                    <a:schemeClr val="tx1"/>
                  </a:solidFill>
                </a:rPr>
                <a:t>(</a:t>
              </a:r>
              <a:r>
                <a:rPr lang="en-IN" sz="1400" dirty="0" err="1">
                  <a:solidFill>
                    <a:schemeClr val="tx1"/>
                  </a:solidFill>
                </a:rPr>
                <a:t>amount:double</a:t>
              </a:r>
              <a:r>
                <a:rPr lang="en-IN" sz="1400" dirty="0">
                  <a:solidFill>
                    <a:schemeClr val="tx1"/>
                  </a:solidFill>
                </a:rPr>
                <a:t>) : int</a:t>
              </a:r>
            </a:p>
            <a:p>
              <a:pPr lvl="0"/>
              <a:r>
                <a:rPr lang="en-IN" sz="1400" dirty="0">
                  <a:solidFill>
                    <a:schemeClr val="tx1"/>
                  </a:solidFill>
                </a:rPr>
                <a:t>+</a:t>
              </a:r>
              <a:r>
                <a:rPr lang="en-IN" sz="1400" dirty="0" err="1">
                  <a:solidFill>
                    <a:schemeClr val="tx1"/>
                  </a:solidFill>
                </a:rPr>
                <a:t>getBalance</a:t>
              </a:r>
              <a:r>
                <a:rPr lang="en-IN" sz="1400" dirty="0">
                  <a:solidFill>
                    <a:schemeClr val="tx1"/>
                  </a:solidFill>
                </a:rPr>
                <a:t>(</a:t>
              </a:r>
              <a:r>
                <a:rPr lang="en-IN" sz="1400" dirty="0" err="1">
                  <a:solidFill>
                    <a:schemeClr val="tx1"/>
                  </a:solidFill>
                </a:rPr>
                <a:t>accountNo:long</a:t>
              </a:r>
              <a:r>
                <a:rPr lang="en-IN" sz="1400" dirty="0">
                  <a:solidFill>
                    <a:schemeClr val="tx1"/>
                  </a:solidFill>
                </a:rPr>
                <a:t>) : double </a:t>
              </a:r>
              <a:endParaRPr sz="1400" dirty="0">
                <a:solidFill>
                  <a:schemeClr val="tx1"/>
                </a:solidFill>
              </a:endParaRPr>
            </a:p>
          </p:txBody>
        </p:sp>
      </p:grpSp>
      <p:grpSp>
        <p:nvGrpSpPr>
          <p:cNvPr id="54" name="Group 53">
            <a:extLst>
              <a:ext uri="{FF2B5EF4-FFF2-40B4-BE49-F238E27FC236}">
                <a16:creationId xmlns="" xmlns:a16="http://schemas.microsoft.com/office/drawing/2014/main" id="{DBAF93CB-75F5-42B3-B483-FED3C056AED5}"/>
              </a:ext>
            </a:extLst>
          </p:cNvPr>
          <p:cNvGrpSpPr/>
          <p:nvPr/>
        </p:nvGrpSpPr>
        <p:grpSpPr>
          <a:xfrm>
            <a:off x="4951742" y="3548413"/>
            <a:ext cx="3993565" cy="1040128"/>
            <a:chOff x="5753361" y="4367090"/>
            <a:chExt cx="2797184" cy="773745"/>
          </a:xfrm>
        </p:grpSpPr>
        <p:sp>
          <p:nvSpPr>
            <p:cNvPr id="55" name="Google Shape;200;p27">
              <a:extLst>
                <a:ext uri="{FF2B5EF4-FFF2-40B4-BE49-F238E27FC236}">
                  <a16:creationId xmlns="" xmlns:a16="http://schemas.microsoft.com/office/drawing/2014/main" id="{B8ED8D7D-7F1B-44F5-B74A-AF413FF3E8CC}"/>
                </a:ext>
              </a:extLst>
            </p:cNvPr>
            <p:cNvSpPr/>
            <p:nvPr/>
          </p:nvSpPr>
          <p:spPr>
            <a:xfrm>
              <a:off x="5753361" y="4367090"/>
              <a:ext cx="2797184" cy="287413"/>
            </a:xfrm>
            <a:prstGeom prst="rect">
              <a:avLst/>
            </a:prstGeom>
            <a:solidFill>
              <a:srgbClr val="B84742"/>
            </a:solidFill>
            <a:ln w="28575" cap="flat" cmpd="sng">
              <a:solidFill>
                <a:srgbClr val="8C3A38"/>
              </a:solidFill>
              <a:prstDash val="solid"/>
              <a:round/>
              <a:headEnd type="none" w="sm" len="sm"/>
              <a:tailEnd type="none" w="sm" len="sm"/>
            </a:ln>
          </p:spPr>
          <p:txBody>
            <a:bodyPr spcFirstLastPara="1" wrap="square" lIns="91425" tIns="45700" rIns="91425" bIns="45700" anchor="ctr" anchorCtr="0">
              <a:noAutofit/>
            </a:bodyPr>
            <a:lstStyle/>
            <a:p>
              <a:pPr lvl="0" algn="ctr"/>
              <a:r>
                <a:rPr lang="en-IN" sz="2400" b="1" dirty="0" err="1">
                  <a:solidFill>
                    <a:schemeClr val="bg1"/>
                  </a:solidFill>
                </a:rPr>
                <a:t>SavingAccount</a:t>
              </a:r>
              <a:endParaRPr sz="2400" b="1" dirty="0">
                <a:solidFill>
                  <a:schemeClr val="bg1"/>
                </a:solidFill>
              </a:endParaRPr>
            </a:p>
          </p:txBody>
        </p:sp>
        <p:sp>
          <p:nvSpPr>
            <p:cNvPr id="56" name="Google Shape;200;p27">
              <a:extLst>
                <a:ext uri="{FF2B5EF4-FFF2-40B4-BE49-F238E27FC236}">
                  <a16:creationId xmlns="" xmlns:a16="http://schemas.microsoft.com/office/drawing/2014/main" id="{DE20083C-9786-4F79-B8DD-B89664D93340}"/>
                </a:ext>
              </a:extLst>
            </p:cNvPr>
            <p:cNvSpPr/>
            <p:nvPr/>
          </p:nvSpPr>
          <p:spPr>
            <a:xfrm>
              <a:off x="5753361" y="4654503"/>
              <a:ext cx="2797184" cy="236916"/>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t" anchorCtr="0">
              <a:noAutofit/>
            </a:bodyPr>
            <a:lstStyle/>
            <a:p>
              <a:r>
                <a:rPr lang="en-IN" sz="1400" dirty="0">
                  <a:solidFill>
                    <a:schemeClr val="tx1"/>
                  </a:solidFill>
                </a:rPr>
                <a:t>+ </a:t>
              </a:r>
              <a:r>
                <a:rPr lang="en-IN" sz="1400" dirty="0" err="1">
                  <a:solidFill>
                    <a:schemeClr val="tx1"/>
                  </a:solidFill>
                </a:rPr>
                <a:t>interestRate:double</a:t>
              </a:r>
              <a:endParaRPr lang="en-IN" sz="1400" dirty="0">
                <a:solidFill>
                  <a:schemeClr val="tx1"/>
                </a:solidFill>
              </a:endParaRPr>
            </a:p>
          </p:txBody>
        </p:sp>
        <p:sp>
          <p:nvSpPr>
            <p:cNvPr id="57" name="Google Shape;200;p27">
              <a:extLst>
                <a:ext uri="{FF2B5EF4-FFF2-40B4-BE49-F238E27FC236}">
                  <a16:creationId xmlns="" xmlns:a16="http://schemas.microsoft.com/office/drawing/2014/main" id="{F0A50E83-26D6-48AF-8D68-70ACA6D1553E}"/>
                </a:ext>
              </a:extLst>
            </p:cNvPr>
            <p:cNvSpPr/>
            <p:nvPr/>
          </p:nvSpPr>
          <p:spPr>
            <a:xfrm>
              <a:off x="5753361" y="4887916"/>
              <a:ext cx="2797184" cy="252919"/>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t" anchorCtr="0">
              <a:noAutofit/>
            </a:bodyPr>
            <a:lstStyle/>
            <a:p>
              <a:pPr lvl="0"/>
              <a:r>
                <a:rPr lang="en-IN" sz="1400" dirty="0">
                  <a:solidFill>
                    <a:schemeClr val="tx1"/>
                  </a:solidFill>
                </a:rPr>
                <a:t>+ </a:t>
              </a:r>
              <a:r>
                <a:rPr lang="en-IN" sz="1400" dirty="0" err="1">
                  <a:solidFill>
                    <a:schemeClr val="tx1"/>
                  </a:solidFill>
                </a:rPr>
                <a:t>isTransactionLimitOut</a:t>
              </a:r>
              <a:r>
                <a:rPr lang="en-IN" sz="1400" dirty="0">
                  <a:solidFill>
                    <a:schemeClr val="tx1"/>
                  </a:solidFill>
                </a:rPr>
                <a:t>(</a:t>
              </a:r>
              <a:r>
                <a:rPr lang="en-IN" sz="1400" dirty="0" err="1">
                  <a:solidFill>
                    <a:schemeClr val="tx1"/>
                  </a:solidFill>
                </a:rPr>
                <a:t>accountNo:long</a:t>
              </a:r>
              <a:r>
                <a:rPr lang="en-IN" sz="1400" dirty="0">
                  <a:solidFill>
                    <a:schemeClr val="tx1"/>
                  </a:solidFill>
                </a:rPr>
                <a:t>) : int</a:t>
              </a:r>
            </a:p>
          </p:txBody>
        </p:sp>
      </p:grpSp>
      <p:grpSp>
        <p:nvGrpSpPr>
          <p:cNvPr id="58" name="Group 57">
            <a:extLst>
              <a:ext uri="{FF2B5EF4-FFF2-40B4-BE49-F238E27FC236}">
                <a16:creationId xmlns="" xmlns:a16="http://schemas.microsoft.com/office/drawing/2014/main" id="{F2CE4EE2-1B49-45BC-8B15-B3903E412CFE}"/>
              </a:ext>
            </a:extLst>
          </p:cNvPr>
          <p:cNvGrpSpPr/>
          <p:nvPr/>
        </p:nvGrpSpPr>
        <p:grpSpPr>
          <a:xfrm>
            <a:off x="7230846" y="2929671"/>
            <a:ext cx="3342247" cy="599918"/>
            <a:chOff x="4487057" y="3981744"/>
            <a:chExt cx="2639981" cy="1067903"/>
          </a:xfrm>
        </p:grpSpPr>
        <p:cxnSp>
          <p:nvCxnSpPr>
            <p:cNvPr id="59" name="Straight Connector 58">
              <a:extLst>
                <a:ext uri="{FF2B5EF4-FFF2-40B4-BE49-F238E27FC236}">
                  <a16:creationId xmlns="" xmlns:a16="http://schemas.microsoft.com/office/drawing/2014/main" id="{74554CEB-52AE-40C2-987C-51510CF8E714}"/>
                </a:ext>
              </a:extLst>
            </p:cNvPr>
            <p:cNvCxnSpPr>
              <a:cxnSpLocks/>
            </p:cNvCxnSpPr>
            <p:nvPr/>
          </p:nvCxnSpPr>
          <p:spPr>
            <a:xfrm>
              <a:off x="4487057" y="4618074"/>
              <a:ext cx="2639980"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60" name="Straight Connector 59">
              <a:extLst>
                <a:ext uri="{FF2B5EF4-FFF2-40B4-BE49-F238E27FC236}">
                  <a16:creationId xmlns="" xmlns:a16="http://schemas.microsoft.com/office/drawing/2014/main" id="{B52BED1C-E024-44FF-86A2-00F2A25B5152}"/>
                </a:ext>
              </a:extLst>
            </p:cNvPr>
            <p:cNvCxnSpPr>
              <a:cxnSpLocks/>
            </p:cNvCxnSpPr>
            <p:nvPr/>
          </p:nvCxnSpPr>
          <p:spPr>
            <a:xfrm>
              <a:off x="4487057" y="4618074"/>
              <a:ext cx="1" cy="431573"/>
            </a:xfrm>
            <a:prstGeom prst="line">
              <a:avLst/>
            </a:prstGeom>
          </p:spPr>
          <p:style>
            <a:lnRef idx="3">
              <a:schemeClr val="accent6"/>
            </a:lnRef>
            <a:fillRef idx="0">
              <a:schemeClr val="accent6"/>
            </a:fillRef>
            <a:effectRef idx="2">
              <a:schemeClr val="accent6"/>
            </a:effectRef>
            <a:fontRef idx="minor">
              <a:schemeClr val="tx1"/>
            </a:fontRef>
          </p:style>
        </p:cxnSp>
        <p:cxnSp>
          <p:nvCxnSpPr>
            <p:cNvPr id="61" name="Straight Connector 60">
              <a:extLst>
                <a:ext uri="{FF2B5EF4-FFF2-40B4-BE49-F238E27FC236}">
                  <a16:creationId xmlns="" xmlns:a16="http://schemas.microsoft.com/office/drawing/2014/main" id="{A47C3CB9-FE72-4552-A7D1-A42F2748F3AC}"/>
                </a:ext>
              </a:extLst>
            </p:cNvPr>
            <p:cNvCxnSpPr>
              <a:cxnSpLocks/>
            </p:cNvCxnSpPr>
            <p:nvPr/>
          </p:nvCxnSpPr>
          <p:spPr>
            <a:xfrm>
              <a:off x="7127038" y="4618074"/>
              <a:ext cx="0" cy="431573"/>
            </a:xfrm>
            <a:prstGeom prst="line">
              <a:avLst/>
            </a:prstGeom>
          </p:spPr>
          <p:style>
            <a:lnRef idx="3">
              <a:schemeClr val="accent6"/>
            </a:lnRef>
            <a:fillRef idx="0">
              <a:schemeClr val="accent6"/>
            </a:fillRef>
            <a:effectRef idx="2">
              <a:schemeClr val="accent6"/>
            </a:effectRef>
            <a:fontRef idx="minor">
              <a:schemeClr val="tx1"/>
            </a:fontRef>
          </p:style>
        </p:cxnSp>
        <p:sp>
          <p:nvSpPr>
            <p:cNvPr id="62" name="Isosceles Triangle 61">
              <a:extLst>
                <a:ext uri="{FF2B5EF4-FFF2-40B4-BE49-F238E27FC236}">
                  <a16:creationId xmlns="" xmlns:a16="http://schemas.microsoft.com/office/drawing/2014/main" id="{C6992EC1-7C8D-43EC-9BAF-BDA9B376F3BA}"/>
                </a:ext>
              </a:extLst>
            </p:cNvPr>
            <p:cNvSpPr/>
            <p:nvPr/>
          </p:nvSpPr>
          <p:spPr>
            <a:xfrm>
              <a:off x="5681707" y="3981744"/>
              <a:ext cx="233702" cy="118783"/>
            </a:xfrm>
            <a:prstGeom prs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sz="1400"/>
            </a:p>
          </p:txBody>
        </p:sp>
        <p:cxnSp>
          <p:nvCxnSpPr>
            <p:cNvPr id="63" name="Straight Connector 62">
              <a:extLst>
                <a:ext uri="{FF2B5EF4-FFF2-40B4-BE49-F238E27FC236}">
                  <a16:creationId xmlns="" xmlns:a16="http://schemas.microsoft.com/office/drawing/2014/main" id="{26D05762-E714-400F-A134-4BC3A69E24F9}"/>
                </a:ext>
              </a:extLst>
            </p:cNvPr>
            <p:cNvCxnSpPr>
              <a:cxnSpLocks/>
              <a:stCxn id="62" idx="3"/>
            </p:cNvCxnSpPr>
            <p:nvPr/>
          </p:nvCxnSpPr>
          <p:spPr>
            <a:xfrm>
              <a:off x="5798558" y="4100527"/>
              <a:ext cx="2998" cy="517548"/>
            </a:xfrm>
            <a:prstGeom prst="line">
              <a:avLst/>
            </a:prstGeom>
          </p:spPr>
          <p:style>
            <a:lnRef idx="3">
              <a:schemeClr val="accent6"/>
            </a:lnRef>
            <a:fillRef idx="0">
              <a:schemeClr val="accent6"/>
            </a:fillRef>
            <a:effectRef idx="2">
              <a:schemeClr val="accent6"/>
            </a:effectRef>
            <a:fontRef idx="minor">
              <a:schemeClr val="tx1"/>
            </a:fontRef>
          </p:style>
        </p:cxnSp>
      </p:grpSp>
      <p:grpSp>
        <p:nvGrpSpPr>
          <p:cNvPr id="64" name="Group 63">
            <a:extLst>
              <a:ext uri="{FF2B5EF4-FFF2-40B4-BE49-F238E27FC236}">
                <a16:creationId xmlns="" xmlns:a16="http://schemas.microsoft.com/office/drawing/2014/main" id="{839ABC00-F05B-4D27-8141-178D123AB6A4}"/>
              </a:ext>
            </a:extLst>
          </p:cNvPr>
          <p:cNvGrpSpPr/>
          <p:nvPr/>
        </p:nvGrpSpPr>
        <p:grpSpPr>
          <a:xfrm>
            <a:off x="9347083" y="3529588"/>
            <a:ext cx="2567413" cy="1148398"/>
            <a:chOff x="5753361" y="4367090"/>
            <a:chExt cx="2797184" cy="854287"/>
          </a:xfrm>
        </p:grpSpPr>
        <p:sp>
          <p:nvSpPr>
            <p:cNvPr id="65" name="Google Shape;200;p27">
              <a:extLst>
                <a:ext uri="{FF2B5EF4-FFF2-40B4-BE49-F238E27FC236}">
                  <a16:creationId xmlns="" xmlns:a16="http://schemas.microsoft.com/office/drawing/2014/main" id="{677509C2-3C67-4137-A1A1-1604BA062B37}"/>
                </a:ext>
              </a:extLst>
            </p:cNvPr>
            <p:cNvSpPr/>
            <p:nvPr/>
          </p:nvSpPr>
          <p:spPr>
            <a:xfrm>
              <a:off x="5753361" y="4367090"/>
              <a:ext cx="2797184" cy="287413"/>
            </a:xfrm>
            <a:prstGeom prst="rect">
              <a:avLst/>
            </a:prstGeom>
            <a:solidFill>
              <a:srgbClr val="B84742"/>
            </a:solidFill>
            <a:ln w="28575" cap="flat" cmpd="sng">
              <a:solidFill>
                <a:srgbClr val="8C3A38"/>
              </a:solidFill>
              <a:prstDash val="solid"/>
              <a:round/>
              <a:headEnd type="none" w="sm" len="sm"/>
              <a:tailEnd type="none" w="sm" len="sm"/>
            </a:ln>
          </p:spPr>
          <p:txBody>
            <a:bodyPr spcFirstLastPara="1" wrap="square" lIns="91425" tIns="45700" rIns="91425" bIns="45700" anchor="ctr" anchorCtr="0">
              <a:noAutofit/>
            </a:bodyPr>
            <a:lstStyle/>
            <a:p>
              <a:pPr lvl="0" algn="ctr"/>
              <a:r>
                <a:rPr lang="en-IN" sz="2400" b="1" dirty="0" err="1">
                  <a:solidFill>
                    <a:schemeClr val="bg1"/>
                  </a:solidFill>
                </a:rPr>
                <a:t>CurrentAccount</a:t>
              </a:r>
              <a:endParaRPr sz="2400" b="1" dirty="0">
                <a:solidFill>
                  <a:schemeClr val="bg1"/>
                </a:solidFill>
              </a:endParaRPr>
            </a:p>
          </p:txBody>
        </p:sp>
        <p:sp>
          <p:nvSpPr>
            <p:cNvPr id="66" name="Google Shape;200;p27">
              <a:extLst>
                <a:ext uri="{FF2B5EF4-FFF2-40B4-BE49-F238E27FC236}">
                  <a16:creationId xmlns="" xmlns:a16="http://schemas.microsoft.com/office/drawing/2014/main" id="{3448CE2C-E507-4EED-A28A-47F439614E50}"/>
                </a:ext>
              </a:extLst>
            </p:cNvPr>
            <p:cNvSpPr/>
            <p:nvPr/>
          </p:nvSpPr>
          <p:spPr>
            <a:xfrm>
              <a:off x="5753361" y="4654503"/>
              <a:ext cx="2797184" cy="236916"/>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t" anchorCtr="0">
              <a:noAutofit/>
            </a:bodyPr>
            <a:lstStyle/>
            <a:p>
              <a:endParaRPr lang="en-IN" sz="1400" dirty="0"/>
            </a:p>
          </p:txBody>
        </p:sp>
        <p:sp>
          <p:nvSpPr>
            <p:cNvPr id="67" name="Google Shape;200;p27">
              <a:extLst>
                <a:ext uri="{FF2B5EF4-FFF2-40B4-BE49-F238E27FC236}">
                  <a16:creationId xmlns="" xmlns:a16="http://schemas.microsoft.com/office/drawing/2014/main" id="{A9093674-6EB4-4FC5-9FBE-9701D1693670}"/>
                </a:ext>
              </a:extLst>
            </p:cNvPr>
            <p:cNvSpPr/>
            <p:nvPr/>
          </p:nvSpPr>
          <p:spPr>
            <a:xfrm>
              <a:off x="5753361" y="4887916"/>
              <a:ext cx="2797184" cy="333461"/>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t" anchorCtr="0">
              <a:noAutofit/>
            </a:bodyPr>
            <a:lstStyle/>
            <a:p>
              <a:pPr lvl="0"/>
              <a:endParaRPr lang="en-IN" sz="1400" dirty="0"/>
            </a:p>
          </p:txBody>
        </p:sp>
      </p:grpSp>
      <p:cxnSp>
        <p:nvCxnSpPr>
          <p:cNvPr id="22" name="Straight Connector 21"/>
          <p:cNvCxnSpPr/>
          <p:nvPr/>
        </p:nvCxnSpPr>
        <p:spPr>
          <a:xfrm>
            <a:off x="4737517" y="698138"/>
            <a:ext cx="0" cy="5924730"/>
          </a:xfrm>
          <a:prstGeom prst="line">
            <a:avLst/>
          </a:prstGeom>
          <a:ln w="3810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7736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22" presetClass="entr" presetSubtype="1"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wipe(up)">
                                      <p:cBhvr>
                                        <p:cTn id="15" dur="5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0"/>
                                        </p:tgtEl>
                                        <p:attrNameLst>
                                          <p:attrName>style.visibility</p:attrName>
                                        </p:attrNameLst>
                                      </p:cBhvr>
                                      <p:to>
                                        <p:strVal val="visible"/>
                                      </p:to>
                                    </p:set>
                                    <p:animEffect transition="in" filter="fade">
                                      <p:cBhvr>
                                        <p:cTn id="20" dur="500"/>
                                        <p:tgtEl>
                                          <p:spTgt spid="5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58"/>
                                        </p:tgtEl>
                                        <p:attrNameLst>
                                          <p:attrName>style.visibility</p:attrName>
                                        </p:attrNameLst>
                                      </p:cBhvr>
                                      <p:to>
                                        <p:strVal val="visible"/>
                                      </p:to>
                                    </p:set>
                                    <p:animEffect transition="in" filter="wipe(down)">
                                      <p:cBhvr>
                                        <p:cTn id="25" dur="500"/>
                                        <p:tgtEl>
                                          <p:spTgt spid="58"/>
                                        </p:tgtEl>
                                      </p:cBhvr>
                                    </p:animEffect>
                                  </p:childTnLst>
                                </p:cTn>
                              </p:par>
                              <p:par>
                                <p:cTn id="26" presetID="10" presetClass="entr" presetSubtype="0" fill="hold" nodeType="withEffect">
                                  <p:stCondLst>
                                    <p:cond delay="0"/>
                                  </p:stCondLst>
                                  <p:childTnLst>
                                    <p:set>
                                      <p:cBhvr>
                                        <p:cTn id="27" dur="1" fill="hold">
                                          <p:stCondLst>
                                            <p:cond delay="0"/>
                                          </p:stCondLst>
                                        </p:cTn>
                                        <p:tgtEl>
                                          <p:spTgt spid="54"/>
                                        </p:tgtEl>
                                        <p:attrNameLst>
                                          <p:attrName>style.visibility</p:attrName>
                                        </p:attrNameLst>
                                      </p:cBhvr>
                                      <p:to>
                                        <p:strVal val="visible"/>
                                      </p:to>
                                    </p:set>
                                    <p:animEffect transition="in" filter="fade">
                                      <p:cBhvr>
                                        <p:cTn id="28" dur="500"/>
                                        <p:tgtEl>
                                          <p:spTgt spid="54"/>
                                        </p:tgtEl>
                                      </p:cBhvr>
                                    </p:animEffect>
                                  </p:childTnLst>
                                </p:cTn>
                              </p:par>
                              <p:par>
                                <p:cTn id="29" presetID="10" presetClass="entr" presetSubtype="0" fill="hold" nodeType="withEffect">
                                  <p:stCondLst>
                                    <p:cond delay="0"/>
                                  </p:stCondLst>
                                  <p:childTnLst>
                                    <p:set>
                                      <p:cBhvr>
                                        <p:cTn id="30" dur="1" fill="hold">
                                          <p:stCondLst>
                                            <p:cond delay="0"/>
                                          </p:stCondLst>
                                        </p:cTn>
                                        <p:tgtEl>
                                          <p:spTgt spid="64"/>
                                        </p:tgtEl>
                                        <p:attrNameLst>
                                          <p:attrName>style.visibility</p:attrName>
                                        </p:attrNameLst>
                                      </p:cBhvr>
                                      <p:to>
                                        <p:strVal val="visible"/>
                                      </p:to>
                                    </p:set>
                                    <p:animEffect transition="in" filter="fade">
                                      <p:cBhvr>
                                        <p:cTn id="31"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771BC96-7A3C-49BF-808A-35ED2C64B10F}"/>
              </a:ext>
            </a:extLst>
          </p:cNvPr>
          <p:cNvSpPr>
            <a:spLocks noGrp="1"/>
          </p:cNvSpPr>
          <p:nvPr>
            <p:ph type="title"/>
          </p:nvPr>
        </p:nvSpPr>
        <p:spPr/>
        <p:txBody>
          <a:bodyPr/>
          <a:lstStyle/>
          <a:p>
            <a:r>
              <a:rPr lang="en-IN" dirty="0"/>
              <a:t>Link and Association Concepts</a:t>
            </a:r>
          </a:p>
        </p:txBody>
      </p:sp>
      <p:sp>
        <p:nvSpPr>
          <p:cNvPr id="16" name="Content Placeholder 15">
            <a:extLst>
              <a:ext uri="{FF2B5EF4-FFF2-40B4-BE49-F238E27FC236}">
                <a16:creationId xmlns="" xmlns:a16="http://schemas.microsoft.com/office/drawing/2014/main" id="{6766AF8B-4496-4D8B-90DB-02C3BD0772CD}"/>
              </a:ext>
            </a:extLst>
          </p:cNvPr>
          <p:cNvSpPr>
            <a:spLocks noGrp="1"/>
          </p:cNvSpPr>
          <p:nvPr>
            <p:ph idx="1"/>
          </p:nvPr>
        </p:nvSpPr>
        <p:spPr>
          <a:xfrm>
            <a:off x="124998" y="781021"/>
            <a:ext cx="12067002" cy="5158140"/>
          </a:xfrm>
        </p:spPr>
        <p:txBody>
          <a:bodyPr/>
          <a:lstStyle/>
          <a:p>
            <a:r>
              <a:rPr lang="en-US" dirty="0"/>
              <a:t>Link and associations are the means for </a:t>
            </a:r>
            <a:r>
              <a:rPr lang="en-US" b="1" dirty="0">
                <a:solidFill>
                  <a:srgbClr val="C00000"/>
                </a:solidFill>
              </a:rPr>
              <a:t>establishing relationships among objects and classes</a:t>
            </a:r>
            <a:r>
              <a:rPr lang="en-US" dirty="0"/>
              <a:t>.</a:t>
            </a:r>
          </a:p>
          <a:p>
            <a:r>
              <a:rPr lang="en-US" dirty="0"/>
              <a:t>A</a:t>
            </a:r>
            <a:r>
              <a:rPr lang="en-US" b="1" dirty="0"/>
              <a:t> </a:t>
            </a:r>
            <a:r>
              <a:rPr lang="en-US" dirty="0">
                <a:solidFill>
                  <a:srgbClr val="C00000"/>
                </a:solidFill>
              </a:rPr>
              <a:t>link</a:t>
            </a:r>
            <a:r>
              <a:rPr lang="en-US" dirty="0"/>
              <a:t> is a physical or conceptual connection among objects.</a:t>
            </a:r>
          </a:p>
          <a:p>
            <a:r>
              <a:rPr lang="en-US" dirty="0"/>
              <a:t>An </a:t>
            </a:r>
            <a:r>
              <a:rPr lang="en-US" dirty="0">
                <a:solidFill>
                  <a:srgbClr val="C00000"/>
                </a:solidFill>
              </a:rPr>
              <a:t>association</a:t>
            </a:r>
            <a:r>
              <a:rPr lang="en-US" dirty="0"/>
              <a:t> is a description of a group of links with common structure and common semantic &amp; it is optional.</a:t>
            </a:r>
          </a:p>
          <a:p>
            <a:r>
              <a:rPr lang="en-US" b="1" dirty="0">
                <a:solidFill>
                  <a:srgbClr val="C00000"/>
                </a:solidFill>
              </a:rPr>
              <a:t>Aggregation </a:t>
            </a:r>
            <a:r>
              <a:rPr lang="en-US" dirty="0"/>
              <a:t>and </a:t>
            </a:r>
            <a:r>
              <a:rPr lang="en-US" b="1" dirty="0">
                <a:solidFill>
                  <a:srgbClr val="C00000"/>
                </a:solidFill>
              </a:rPr>
              <a:t>Composition</a:t>
            </a:r>
            <a:r>
              <a:rPr lang="en-US" dirty="0"/>
              <a:t> are the two forms of association. It is a </a:t>
            </a:r>
            <a:r>
              <a:rPr lang="en-US" dirty="0">
                <a:solidFill>
                  <a:srgbClr val="A32D19"/>
                </a:solidFill>
              </a:rPr>
              <a:t>subset of association.</a:t>
            </a:r>
          </a:p>
          <a:p>
            <a:r>
              <a:rPr lang="en-US" dirty="0"/>
              <a:t>Means they are </a:t>
            </a:r>
            <a:r>
              <a:rPr lang="en-US" b="1" dirty="0">
                <a:solidFill>
                  <a:srgbClr val="A32D19"/>
                </a:solidFill>
              </a:rPr>
              <a:t>specific cases of association</a:t>
            </a:r>
            <a:r>
              <a:rPr lang="en-US" dirty="0"/>
              <a:t>. In both aggregation and composition </a:t>
            </a:r>
            <a:r>
              <a:rPr lang="en-US" dirty="0">
                <a:solidFill>
                  <a:srgbClr val="A32D19"/>
                </a:solidFill>
              </a:rPr>
              <a:t>object of one class "owns" object of another class</a:t>
            </a:r>
            <a:r>
              <a:rPr lang="en-US" dirty="0"/>
              <a:t>, but there is a minor difference.</a:t>
            </a:r>
          </a:p>
          <a:p>
            <a:endParaRPr lang="en-US" dirty="0"/>
          </a:p>
          <a:p>
            <a:endParaRPr lang="en-IN" dirty="0"/>
          </a:p>
        </p:txBody>
      </p:sp>
    </p:spTree>
    <p:extLst>
      <p:ext uri="{BB962C8B-B14F-4D97-AF65-F5344CB8AC3E}">
        <p14:creationId xmlns:p14="http://schemas.microsoft.com/office/powerpoint/2010/main" val="152785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fade">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fade">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fade">
                                      <p:cBhvr>
                                        <p:cTn id="22" dur="500"/>
                                        <p:tgtEl>
                                          <p:spTgt spid="1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xEl>
                                              <p:pRg st="4" end="4"/>
                                            </p:txEl>
                                          </p:spTgt>
                                        </p:tgtEl>
                                        <p:attrNameLst>
                                          <p:attrName>style.visibility</p:attrName>
                                        </p:attrNameLst>
                                      </p:cBhvr>
                                      <p:to>
                                        <p:strVal val="visible"/>
                                      </p:to>
                                    </p:set>
                                    <p:animEffect transition="in" filter="fade">
                                      <p:cBhvr>
                                        <p:cTn id="27" dur="500"/>
                                        <p:tgtEl>
                                          <p:spTgt spid="1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82F3BD6-4CFD-489C-B755-DBB87C463D96}"/>
              </a:ext>
            </a:extLst>
          </p:cNvPr>
          <p:cNvSpPr>
            <a:spLocks noGrp="1"/>
          </p:cNvSpPr>
          <p:nvPr>
            <p:ph type="title"/>
          </p:nvPr>
        </p:nvSpPr>
        <p:spPr/>
        <p:txBody>
          <a:bodyPr/>
          <a:lstStyle/>
          <a:p>
            <a:r>
              <a:rPr lang="en-IN" dirty="0"/>
              <a:t>Aggregation</a:t>
            </a:r>
          </a:p>
        </p:txBody>
      </p:sp>
      <p:sp>
        <p:nvSpPr>
          <p:cNvPr id="4" name="Speech Bubble: Rectangle with Corners Rounded 3">
            <a:extLst>
              <a:ext uri="{FF2B5EF4-FFF2-40B4-BE49-F238E27FC236}">
                <a16:creationId xmlns="" xmlns:a16="http://schemas.microsoft.com/office/drawing/2014/main" id="{95DFFE77-040C-4CF5-AEFC-B5D95D4C19A2}"/>
              </a:ext>
            </a:extLst>
          </p:cNvPr>
          <p:cNvSpPr/>
          <p:nvPr/>
        </p:nvSpPr>
        <p:spPr>
          <a:xfrm>
            <a:off x="131180" y="816746"/>
            <a:ext cx="11929640" cy="896643"/>
          </a:xfrm>
          <a:prstGeom prst="wedgeRoundRectCallout">
            <a:avLst>
              <a:gd name="adj1" fmla="val -39617"/>
              <a:gd name="adj2" fmla="val -83426"/>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Aggregation is a </a:t>
            </a:r>
            <a:r>
              <a:rPr lang="en-US" sz="2400" b="1" dirty="0">
                <a:solidFill>
                  <a:srgbClr val="C00000"/>
                </a:solidFill>
              </a:rPr>
              <a:t>subset of association</a:t>
            </a:r>
            <a:r>
              <a:rPr lang="en-US" sz="2400" dirty="0"/>
              <a:t>. it is a collection of different things. </a:t>
            </a:r>
          </a:p>
          <a:p>
            <a:pPr algn="ctr"/>
            <a:r>
              <a:rPr lang="en-US" sz="2400" dirty="0"/>
              <a:t>It is more specific than an association.</a:t>
            </a:r>
            <a:endParaRPr lang="en-US" sz="2400" b="1" dirty="0"/>
          </a:p>
        </p:txBody>
      </p:sp>
      <p:sp>
        <p:nvSpPr>
          <p:cNvPr id="20" name="Content Placeholder 2">
            <a:extLst>
              <a:ext uri="{FF2B5EF4-FFF2-40B4-BE49-F238E27FC236}">
                <a16:creationId xmlns="" xmlns:a16="http://schemas.microsoft.com/office/drawing/2014/main" id="{D62C4224-0AF2-4ED2-957A-24724447BB5A}"/>
              </a:ext>
            </a:extLst>
          </p:cNvPr>
          <p:cNvSpPr txBox="1">
            <a:spLocks/>
          </p:cNvSpPr>
          <p:nvPr/>
        </p:nvSpPr>
        <p:spPr>
          <a:xfrm>
            <a:off x="131179" y="2890239"/>
            <a:ext cx="6251865" cy="3240630"/>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For e.g.: Here we are considering a </a:t>
            </a:r>
            <a:r>
              <a:rPr lang="en-US" dirty="0">
                <a:solidFill>
                  <a:srgbClr val="C00000"/>
                </a:solidFill>
              </a:rPr>
              <a:t>car</a:t>
            </a:r>
            <a:r>
              <a:rPr lang="en-US" dirty="0"/>
              <a:t> and a </a:t>
            </a:r>
            <a:r>
              <a:rPr lang="en-US" dirty="0">
                <a:solidFill>
                  <a:srgbClr val="C00000"/>
                </a:solidFill>
              </a:rPr>
              <a:t>wheel</a:t>
            </a:r>
            <a:r>
              <a:rPr lang="en-US" dirty="0"/>
              <a:t> example. A </a:t>
            </a:r>
            <a:r>
              <a:rPr lang="en-US" dirty="0">
                <a:solidFill>
                  <a:srgbClr val="C00000"/>
                </a:solidFill>
              </a:rPr>
              <a:t>car cannot move</a:t>
            </a:r>
            <a:r>
              <a:rPr lang="en-US" dirty="0"/>
              <a:t> without a </a:t>
            </a:r>
            <a:r>
              <a:rPr lang="en-US" dirty="0">
                <a:solidFill>
                  <a:srgbClr val="C00000"/>
                </a:solidFill>
              </a:rPr>
              <a:t>wheel</a:t>
            </a:r>
            <a:r>
              <a:rPr lang="en-US" dirty="0"/>
              <a:t>. </a:t>
            </a:r>
          </a:p>
          <a:p>
            <a:r>
              <a:rPr lang="en-US" dirty="0"/>
              <a:t>But the </a:t>
            </a:r>
            <a:r>
              <a:rPr lang="en-US" dirty="0">
                <a:solidFill>
                  <a:srgbClr val="C00000"/>
                </a:solidFill>
              </a:rPr>
              <a:t>wheel</a:t>
            </a:r>
            <a:r>
              <a:rPr lang="en-US" dirty="0"/>
              <a:t> can be </a:t>
            </a:r>
            <a:r>
              <a:rPr lang="en-US" dirty="0">
                <a:solidFill>
                  <a:srgbClr val="C00000"/>
                </a:solidFill>
              </a:rPr>
              <a:t>independently</a:t>
            </a:r>
            <a:r>
              <a:rPr lang="en-US" dirty="0"/>
              <a:t> used </a:t>
            </a:r>
            <a:r>
              <a:rPr lang="en-US" dirty="0">
                <a:solidFill>
                  <a:srgbClr val="C00000"/>
                </a:solidFill>
              </a:rPr>
              <a:t>with the bike, scooter, cycle, or any other vehicle</a:t>
            </a:r>
            <a:r>
              <a:rPr lang="en-US" dirty="0"/>
              <a:t>. </a:t>
            </a:r>
          </a:p>
          <a:p>
            <a:r>
              <a:rPr lang="en-US" dirty="0"/>
              <a:t>The </a:t>
            </a:r>
            <a:r>
              <a:rPr lang="en-US" dirty="0">
                <a:solidFill>
                  <a:srgbClr val="C00000"/>
                </a:solidFill>
              </a:rPr>
              <a:t>wheel</a:t>
            </a:r>
            <a:r>
              <a:rPr lang="en-US" dirty="0"/>
              <a:t> object can </a:t>
            </a:r>
            <a:r>
              <a:rPr lang="en-US" dirty="0">
                <a:solidFill>
                  <a:srgbClr val="C00000"/>
                </a:solidFill>
              </a:rPr>
              <a:t>exist without</a:t>
            </a:r>
            <a:r>
              <a:rPr lang="en-US" dirty="0"/>
              <a:t> the </a:t>
            </a:r>
            <a:r>
              <a:rPr lang="en-US" dirty="0">
                <a:solidFill>
                  <a:srgbClr val="C00000"/>
                </a:solidFill>
              </a:rPr>
              <a:t>car</a:t>
            </a:r>
            <a:r>
              <a:rPr lang="en-US" dirty="0"/>
              <a:t> object, which </a:t>
            </a:r>
            <a:r>
              <a:rPr lang="en-US" dirty="0">
                <a:solidFill>
                  <a:srgbClr val="C00000"/>
                </a:solidFill>
              </a:rPr>
              <a:t>proves to be an aggregation </a:t>
            </a:r>
            <a:r>
              <a:rPr lang="en-US" dirty="0"/>
              <a:t>relationship.</a:t>
            </a:r>
          </a:p>
        </p:txBody>
      </p:sp>
      <p:sp>
        <p:nvSpPr>
          <p:cNvPr id="21" name="Rectangle 20">
            <a:extLst>
              <a:ext uri="{FF2B5EF4-FFF2-40B4-BE49-F238E27FC236}">
                <a16:creationId xmlns="" xmlns:a16="http://schemas.microsoft.com/office/drawing/2014/main" id="{BFDFFA69-47A5-46C6-898D-80E6ACB6A4EA}"/>
              </a:ext>
            </a:extLst>
          </p:cNvPr>
          <p:cNvSpPr/>
          <p:nvPr/>
        </p:nvSpPr>
        <p:spPr>
          <a:xfrm>
            <a:off x="131180" y="1785685"/>
            <a:ext cx="11929640"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400" dirty="0"/>
              <a:t>It represents ‘</a:t>
            </a:r>
            <a:r>
              <a:rPr lang="en-US" sz="2400" dirty="0">
                <a:solidFill>
                  <a:srgbClr val="C00000"/>
                </a:solidFill>
              </a:rPr>
              <a:t>has a</a:t>
            </a:r>
            <a:r>
              <a:rPr lang="en-US" sz="2400" dirty="0"/>
              <a:t>’ relationship.</a:t>
            </a:r>
          </a:p>
        </p:txBody>
      </p:sp>
      <p:sp>
        <p:nvSpPr>
          <p:cNvPr id="22" name="Rectangle 21">
            <a:extLst>
              <a:ext uri="{FF2B5EF4-FFF2-40B4-BE49-F238E27FC236}">
                <a16:creationId xmlns="" xmlns:a16="http://schemas.microsoft.com/office/drawing/2014/main" id="{5482AB4E-7C07-4345-AB97-910E332633AE}"/>
              </a:ext>
            </a:extLst>
          </p:cNvPr>
          <p:cNvSpPr/>
          <p:nvPr/>
        </p:nvSpPr>
        <p:spPr>
          <a:xfrm>
            <a:off x="131180" y="2324710"/>
            <a:ext cx="11929640"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400" dirty="0"/>
              <a:t>Aggregation implies a relationship where the </a:t>
            </a:r>
            <a:r>
              <a:rPr lang="en-US" sz="2400" b="1" dirty="0">
                <a:solidFill>
                  <a:srgbClr val="C00000"/>
                </a:solidFill>
              </a:rPr>
              <a:t>child is independent </a:t>
            </a:r>
            <a:r>
              <a:rPr lang="en-US" sz="2400" dirty="0"/>
              <a:t>of its </a:t>
            </a:r>
            <a:r>
              <a:rPr lang="en-US" sz="2400" b="1" dirty="0">
                <a:solidFill>
                  <a:srgbClr val="A32D19"/>
                </a:solidFill>
              </a:rPr>
              <a:t>parent</a:t>
            </a:r>
            <a:r>
              <a:rPr lang="en-US" sz="2400" dirty="0"/>
              <a:t>.</a:t>
            </a:r>
          </a:p>
        </p:txBody>
      </p:sp>
      <p:grpSp>
        <p:nvGrpSpPr>
          <p:cNvPr id="35" name="Group 34">
            <a:extLst>
              <a:ext uri="{FF2B5EF4-FFF2-40B4-BE49-F238E27FC236}">
                <a16:creationId xmlns="" xmlns:a16="http://schemas.microsoft.com/office/drawing/2014/main" id="{4935923E-F633-427D-8CAA-AAC931147390}"/>
              </a:ext>
            </a:extLst>
          </p:cNvPr>
          <p:cNvGrpSpPr/>
          <p:nvPr/>
        </p:nvGrpSpPr>
        <p:grpSpPr>
          <a:xfrm>
            <a:off x="6757375" y="3631192"/>
            <a:ext cx="5007017" cy="1284778"/>
            <a:chOff x="6757375" y="3631192"/>
            <a:chExt cx="5007017" cy="1284778"/>
          </a:xfrm>
        </p:grpSpPr>
        <p:grpSp>
          <p:nvGrpSpPr>
            <p:cNvPr id="12" name="Group 11">
              <a:extLst>
                <a:ext uri="{FF2B5EF4-FFF2-40B4-BE49-F238E27FC236}">
                  <a16:creationId xmlns="" xmlns:a16="http://schemas.microsoft.com/office/drawing/2014/main" id="{068D7B3F-8C65-475F-A4D1-8F0FB36CAC24}"/>
                </a:ext>
              </a:extLst>
            </p:cNvPr>
            <p:cNvGrpSpPr/>
            <p:nvPr/>
          </p:nvGrpSpPr>
          <p:grpSpPr>
            <a:xfrm>
              <a:off x="6757375" y="3660963"/>
              <a:ext cx="1498858" cy="1255007"/>
              <a:chOff x="5753361" y="4367090"/>
              <a:chExt cx="2797184" cy="1255007"/>
            </a:xfrm>
          </p:grpSpPr>
          <p:sp>
            <p:nvSpPr>
              <p:cNvPr id="13" name="Google Shape;200;p27">
                <a:extLst>
                  <a:ext uri="{FF2B5EF4-FFF2-40B4-BE49-F238E27FC236}">
                    <a16:creationId xmlns="" xmlns:a16="http://schemas.microsoft.com/office/drawing/2014/main" id="{1A835D12-032A-4983-8C8E-507F5AE04A26}"/>
                  </a:ext>
                </a:extLst>
              </p:cNvPr>
              <p:cNvSpPr/>
              <p:nvPr/>
            </p:nvSpPr>
            <p:spPr>
              <a:xfrm>
                <a:off x="5753361" y="4367090"/>
                <a:ext cx="2797184" cy="519661"/>
              </a:xfrm>
              <a:prstGeom prst="rect">
                <a:avLst/>
              </a:prstGeom>
              <a:solidFill>
                <a:srgbClr val="B84742"/>
              </a:solidFill>
              <a:ln w="28575" cap="flat" cmpd="sng">
                <a:solidFill>
                  <a:srgbClr val="8C3A38"/>
                </a:solidFill>
                <a:prstDash val="solid"/>
                <a:round/>
                <a:headEnd type="none" w="sm" len="sm"/>
                <a:tailEnd type="none" w="sm" len="sm"/>
              </a:ln>
            </p:spPr>
            <p:txBody>
              <a:bodyPr spcFirstLastPara="1" wrap="square" lIns="91425" tIns="45700" rIns="91425" bIns="45700" anchor="ctr" anchorCtr="0">
                <a:noAutofit/>
              </a:bodyPr>
              <a:lstStyle/>
              <a:p>
                <a:pPr lvl="0" algn="ctr"/>
                <a:r>
                  <a:rPr lang="en-IN" sz="2400" b="1" dirty="0">
                    <a:solidFill>
                      <a:schemeClr val="bg1"/>
                    </a:solidFill>
                  </a:rPr>
                  <a:t>Car</a:t>
                </a:r>
                <a:endParaRPr sz="2400" b="1" dirty="0">
                  <a:solidFill>
                    <a:schemeClr val="bg1"/>
                  </a:solidFill>
                </a:endParaRPr>
              </a:p>
            </p:txBody>
          </p:sp>
          <p:sp>
            <p:nvSpPr>
              <p:cNvPr id="14" name="Google Shape;200;p27">
                <a:extLst>
                  <a:ext uri="{FF2B5EF4-FFF2-40B4-BE49-F238E27FC236}">
                    <a16:creationId xmlns="" xmlns:a16="http://schemas.microsoft.com/office/drawing/2014/main" id="{BA46C64D-CF50-4F37-AC7E-61D85FCCE55E}"/>
                  </a:ext>
                </a:extLst>
              </p:cNvPr>
              <p:cNvSpPr/>
              <p:nvPr/>
            </p:nvSpPr>
            <p:spPr>
              <a:xfrm>
                <a:off x="5753361" y="4886751"/>
                <a:ext cx="2797184" cy="340601"/>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endParaRPr lang="en-IN" dirty="0">
                  <a:solidFill>
                    <a:schemeClr val="bg1"/>
                  </a:solidFill>
                </a:endParaRPr>
              </a:p>
            </p:txBody>
          </p:sp>
          <p:sp>
            <p:nvSpPr>
              <p:cNvPr id="15" name="Google Shape;200;p27">
                <a:extLst>
                  <a:ext uri="{FF2B5EF4-FFF2-40B4-BE49-F238E27FC236}">
                    <a16:creationId xmlns="" xmlns:a16="http://schemas.microsoft.com/office/drawing/2014/main" id="{B20387B7-410A-47BC-AE1F-01BD2FEA5942}"/>
                  </a:ext>
                </a:extLst>
              </p:cNvPr>
              <p:cNvSpPr/>
              <p:nvPr/>
            </p:nvSpPr>
            <p:spPr>
              <a:xfrm>
                <a:off x="5753361" y="5227352"/>
                <a:ext cx="2797184" cy="394745"/>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lvl="0"/>
                <a:endParaRPr lang="en-IN" dirty="0">
                  <a:solidFill>
                    <a:schemeClr val="bg1"/>
                  </a:solidFill>
                </a:endParaRPr>
              </a:p>
            </p:txBody>
          </p:sp>
        </p:grpSp>
        <p:grpSp>
          <p:nvGrpSpPr>
            <p:cNvPr id="25" name="Group 24">
              <a:extLst>
                <a:ext uri="{FF2B5EF4-FFF2-40B4-BE49-F238E27FC236}">
                  <a16:creationId xmlns="" xmlns:a16="http://schemas.microsoft.com/office/drawing/2014/main" id="{81BAE35B-5145-4A25-9505-CC6A8A5B11F9}"/>
                </a:ext>
              </a:extLst>
            </p:cNvPr>
            <p:cNvGrpSpPr/>
            <p:nvPr/>
          </p:nvGrpSpPr>
          <p:grpSpPr>
            <a:xfrm>
              <a:off x="10265534" y="3631192"/>
              <a:ext cx="1498858" cy="1255007"/>
              <a:chOff x="5753361" y="4367090"/>
              <a:chExt cx="2797184" cy="1255007"/>
            </a:xfrm>
          </p:grpSpPr>
          <p:sp>
            <p:nvSpPr>
              <p:cNvPr id="26" name="Google Shape;200;p27">
                <a:extLst>
                  <a:ext uri="{FF2B5EF4-FFF2-40B4-BE49-F238E27FC236}">
                    <a16:creationId xmlns="" xmlns:a16="http://schemas.microsoft.com/office/drawing/2014/main" id="{3D4764D6-AF4A-428B-9D88-0F5F4A176D38}"/>
                  </a:ext>
                </a:extLst>
              </p:cNvPr>
              <p:cNvSpPr/>
              <p:nvPr/>
            </p:nvSpPr>
            <p:spPr>
              <a:xfrm>
                <a:off x="5753361" y="4367090"/>
                <a:ext cx="2797184" cy="519661"/>
              </a:xfrm>
              <a:prstGeom prst="rect">
                <a:avLst/>
              </a:prstGeom>
              <a:solidFill>
                <a:srgbClr val="B84742"/>
              </a:solidFill>
              <a:ln w="28575" cap="flat" cmpd="sng">
                <a:solidFill>
                  <a:srgbClr val="8C3A38"/>
                </a:solidFill>
                <a:prstDash val="solid"/>
                <a:round/>
                <a:headEnd type="none" w="sm" len="sm"/>
                <a:tailEnd type="none" w="sm" len="sm"/>
              </a:ln>
            </p:spPr>
            <p:txBody>
              <a:bodyPr spcFirstLastPara="1" wrap="square" lIns="91425" tIns="45700" rIns="91425" bIns="45700" anchor="ctr" anchorCtr="0">
                <a:noAutofit/>
              </a:bodyPr>
              <a:lstStyle/>
              <a:p>
                <a:pPr lvl="0" algn="ctr"/>
                <a:r>
                  <a:rPr lang="en-IN" sz="2400" b="1" dirty="0">
                    <a:solidFill>
                      <a:schemeClr val="bg1"/>
                    </a:solidFill>
                  </a:rPr>
                  <a:t>Wheel</a:t>
                </a:r>
                <a:endParaRPr sz="2400" b="1" dirty="0">
                  <a:solidFill>
                    <a:schemeClr val="bg1"/>
                  </a:solidFill>
                </a:endParaRPr>
              </a:p>
            </p:txBody>
          </p:sp>
          <p:sp>
            <p:nvSpPr>
              <p:cNvPr id="27" name="Google Shape;200;p27">
                <a:extLst>
                  <a:ext uri="{FF2B5EF4-FFF2-40B4-BE49-F238E27FC236}">
                    <a16:creationId xmlns="" xmlns:a16="http://schemas.microsoft.com/office/drawing/2014/main" id="{DA92BB26-A06F-436B-87C0-4CEFDE3E75F5}"/>
                  </a:ext>
                </a:extLst>
              </p:cNvPr>
              <p:cNvSpPr/>
              <p:nvPr/>
            </p:nvSpPr>
            <p:spPr>
              <a:xfrm>
                <a:off x="5753361" y="4886751"/>
                <a:ext cx="2797184" cy="340601"/>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endParaRPr lang="en-IN" i="1" dirty="0">
                  <a:solidFill>
                    <a:schemeClr val="tx1"/>
                  </a:solidFill>
                </a:endParaRPr>
              </a:p>
            </p:txBody>
          </p:sp>
          <p:sp>
            <p:nvSpPr>
              <p:cNvPr id="28" name="Google Shape;200;p27">
                <a:extLst>
                  <a:ext uri="{FF2B5EF4-FFF2-40B4-BE49-F238E27FC236}">
                    <a16:creationId xmlns="" xmlns:a16="http://schemas.microsoft.com/office/drawing/2014/main" id="{1DF1ABAC-18F0-40C6-804D-055C36A207A4}"/>
                  </a:ext>
                </a:extLst>
              </p:cNvPr>
              <p:cNvSpPr/>
              <p:nvPr/>
            </p:nvSpPr>
            <p:spPr>
              <a:xfrm>
                <a:off x="5753361" y="5227352"/>
                <a:ext cx="2797184" cy="394745"/>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lvl="0"/>
                <a:endParaRPr lang="en-IN" i="1" dirty="0">
                  <a:solidFill>
                    <a:schemeClr val="tx1"/>
                  </a:solidFill>
                </a:endParaRPr>
              </a:p>
            </p:txBody>
          </p:sp>
        </p:grpSp>
        <p:cxnSp>
          <p:nvCxnSpPr>
            <p:cNvPr id="30" name="Google Shape;248;p32">
              <a:extLst>
                <a:ext uri="{FF2B5EF4-FFF2-40B4-BE49-F238E27FC236}">
                  <a16:creationId xmlns="" xmlns:a16="http://schemas.microsoft.com/office/drawing/2014/main" id="{25731F28-A166-4538-94A9-0DEB30F39484}"/>
                </a:ext>
              </a:extLst>
            </p:cNvPr>
            <p:cNvCxnSpPr>
              <a:cxnSpLocks/>
              <a:stCxn id="13" idx="3"/>
              <a:endCxn id="26" idx="1"/>
            </p:cNvCxnSpPr>
            <p:nvPr/>
          </p:nvCxnSpPr>
          <p:spPr>
            <a:xfrm flipV="1">
              <a:off x="8256233" y="3891023"/>
              <a:ext cx="2009301" cy="29771"/>
            </a:xfrm>
            <a:prstGeom prst="straightConnector1">
              <a:avLst/>
            </a:prstGeom>
            <a:noFill/>
            <a:ln w="28575" cap="flat" cmpd="sng">
              <a:solidFill>
                <a:srgbClr val="A32D19"/>
              </a:solidFill>
              <a:prstDash val="solid"/>
              <a:round/>
              <a:headEnd type="none" w="sm" len="sm"/>
              <a:tailEnd type="none" w="sm" len="sm"/>
            </a:ln>
          </p:spPr>
        </p:cxnSp>
        <p:sp>
          <p:nvSpPr>
            <p:cNvPr id="29" name="Google Shape;247;p32">
              <a:extLst>
                <a:ext uri="{FF2B5EF4-FFF2-40B4-BE49-F238E27FC236}">
                  <a16:creationId xmlns="" xmlns:a16="http://schemas.microsoft.com/office/drawing/2014/main" id="{0B14F56B-F00A-40D8-81B1-35E6D5BAAFCE}"/>
                </a:ext>
              </a:extLst>
            </p:cNvPr>
            <p:cNvSpPr/>
            <p:nvPr/>
          </p:nvSpPr>
          <p:spPr>
            <a:xfrm rot="16200000">
              <a:off x="8323813" y="3805221"/>
              <a:ext cx="117086" cy="228600"/>
            </a:xfrm>
            <a:prstGeom prst="flowChartDecision">
              <a:avLst/>
            </a:prstGeom>
            <a:solidFill>
              <a:schemeClr val="bg1"/>
            </a:solidFill>
            <a:ln w="2540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ea typeface="Calibri"/>
                <a:cs typeface="Calibri"/>
                <a:sym typeface="Calibri"/>
              </a:endParaRPr>
            </a:p>
          </p:txBody>
        </p:sp>
      </p:grpSp>
    </p:spTree>
    <p:extLst>
      <p:ext uri="{BB962C8B-B14F-4D97-AF65-F5344CB8AC3E}">
        <p14:creationId xmlns:p14="http://schemas.microsoft.com/office/powerpoint/2010/main" val="197830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0">
                                            <p:txEl>
                                              <p:pRg st="0" end="0"/>
                                            </p:txEl>
                                          </p:spTgt>
                                        </p:tgtEl>
                                        <p:attrNameLst>
                                          <p:attrName>style.visibility</p:attrName>
                                        </p:attrNameLst>
                                      </p:cBhvr>
                                      <p:to>
                                        <p:strVal val="visible"/>
                                      </p:to>
                                    </p:set>
                                    <p:animEffect transition="in" filter="fade">
                                      <p:cBhvr>
                                        <p:cTn id="20" dur="500"/>
                                        <p:tgtEl>
                                          <p:spTgt spid="20">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0">
                                            <p:txEl>
                                              <p:pRg st="1" end="1"/>
                                            </p:txEl>
                                          </p:spTgt>
                                        </p:tgtEl>
                                        <p:attrNameLst>
                                          <p:attrName>style.visibility</p:attrName>
                                        </p:attrNameLst>
                                      </p:cBhvr>
                                      <p:to>
                                        <p:strVal val="visible"/>
                                      </p:to>
                                    </p:set>
                                    <p:animEffect transition="in" filter="fade">
                                      <p:cBhvr>
                                        <p:cTn id="25" dur="500"/>
                                        <p:tgtEl>
                                          <p:spTgt spid="20">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0">
                                            <p:txEl>
                                              <p:pRg st="2" end="2"/>
                                            </p:txEl>
                                          </p:spTgt>
                                        </p:tgtEl>
                                        <p:attrNameLst>
                                          <p:attrName>style.visibility</p:attrName>
                                        </p:attrNameLst>
                                      </p:cBhvr>
                                      <p:to>
                                        <p:strVal val="visible"/>
                                      </p:to>
                                    </p:set>
                                    <p:animEffect transition="in" filter="fade">
                                      <p:cBhvr>
                                        <p:cTn id="30" dur="500"/>
                                        <p:tgtEl>
                                          <p:spTgt spid="20">
                                            <p:txEl>
                                              <p:pRg st="2" end="2"/>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fade">
                                      <p:cBhvr>
                                        <p:cTn id="33"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0" grpId="0" build="p"/>
      <p:bldP spid="21" grpId="0" animBg="1"/>
      <p:bldP spid="2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82F3BD6-4CFD-489C-B755-DBB87C463D96}"/>
              </a:ext>
            </a:extLst>
          </p:cNvPr>
          <p:cNvSpPr>
            <a:spLocks noGrp="1"/>
          </p:cNvSpPr>
          <p:nvPr>
            <p:ph type="title"/>
          </p:nvPr>
        </p:nvSpPr>
        <p:spPr/>
        <p:txBody>
          <a:bodyPr/>
          <a:lstStyle/>
          <a:p>
            <a:r>
              <a:rPr lang="en-IN" dirty="0"/>
              <a:t>Composition</a:t>
            </a:r>
          </a:p>
        </p:txBody>
      </p:sp>
      <p:sp>
        <p:nvSpPr>
          <p:cNvPr id="4" name="Speech Bubble: Rectangle with Corners Rounded 3">
            <a:extLst>
              <a:ext uri="{FF2B5EF4-FFF2-40B4-BE49-F238E27FC236}">
                <a16:creationId xmlns="" xmlns:a16="http://schemas.microsoft.com/office/drawing/2014/main" id="{95DFFE77-040C-4CF5-AEFC-B5D95D4C19A2}"/>
              </a:ext>
            </a:extLst>
          </p:cNvPr>
          <p:cNvSpPr/>
          <p:nvPr/>
        </p:nvSpPr>
        <p:spPr>
          <a:xfrm>
            <a:off x="131180" y="933794"/>
            <a:ext cx="11929640" cy="976266"/>
          </a:xfrm>
          <a:prstGeom prst="wedgeRoundRectCallout">
            <a:avLst>
              <a:gd name="adj1" fmla="val -39617"/>
              <a:gd name="adj2" fmla="val -83426"/>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The composition is a part of the aggregation. It represents the </a:t>
            </a:r>
            <a:r>
              <a:rPr lang="en-US" sz="2400" b="1" dirty="0">
                <a:solidFill>
                  <a:srgbClr val="A32D19"/>
                </a:solidFill>
              </a:rPr>
              <a:t>dependency</a:t>
            </a:r>
            <a:r>
              <a:rPr lang="en-US" sz="2400" dirty="0"/>
              <a:t> </a:t>
            </a:r>
            <a:r>
              <a:rPr lang="en-US" sz="2400" b="1" dirty="0">
                <a:solidFill>
                  <a:srgbClr val="A32D19"/>
                </a:solidFill>
              </a:rPr>
              <a:t>between</a:t>
            </a:r>
            <a:r>
              <a:rPr lang="en-US" sz="2400" dirty="0"/>
              <a:t> a </a:t>
            </a:r>
            <a:r>
              <a:rPr lang="en-US" sz="2400" b="1" dirty="0">
                <a:solidFill>
                  <a:srgbClr val="A32D19"/>
                </a:solidFill>
              </a:rPr>
              <a:t>parent</a:t>
            </a:r>
            <a:r>
              <a:rPr lang="en-US" sz="2400" dirty="0"/>
              <a:t> and its </a:t>
            </a:r>
            <a:r>
              <a:rPr lang="en-US" sz="2400" b="1" dirty="0">
                <a:solidFill>
                  <a:srgbClr val="A32D19"/>
                </a:solidFill>
              </a:rPr>
              <a:t>children</a:t>
            </a:r>
            <a:r>
              <a:rPr lang="en-US" sz="2400" dirty="0"/>
              <a:t>, which means if the </a:t>
            </a:r>
            <a:r>
              <a:rPr lang="en-US" sz="2400" dirty="0">
                <a:solidFill>
                  <a:srgbClr val="A32D19"/>
                </a:solidFill>
              </a:rPr>
              <a:t>parent is discarded </a:t>
            </a:r>
            <a:r>
              <a:rPr lang="en-US" sz="2400" dirty="0"/>
              <a:t>then its </a:t>
            </a:r>
            <a:r>
              <a:rPr lang="en-US" sz="2400" dirty="0">
                <a:solidFill>
                  <a:srgbClr val="A32D19"/>
                </a:solidFill>
              </a:rPr>
              <a:t>children will also discard</a:t>
            </a:r>
            <a:r>
              <a:rPr lang="en-US" sz="2400" dirty="0"/>
              <a:t>. </a:t>
            </a:r>
            <a:endParaRPr lang="en-US" sz="2400" b="1" dirty="0"/>
          </a:p>
        </p:txBody>
      </p:sp>
      <p:sp>
        <p:nvSpPr>
          <p:cNvPr id="20" name="Content Placeholder 2">
            <a:extLst>
              <a:ext uri="{FF2B5EF4-FFF2-40B4-BE49-F238E27FC236}">
                <a16:creationId xmlns="" xmlns:a16="http://schemas.microsoft.com/office/drawing/2014/main" id="{D62C4224-0AF2-4ED2-957A-24724447BB5A}"/>
              </a:ext>
            </a:extLst>
          </p:cNvPr>
          <p:cNvSpPr txBox="1">
            <a:spLocks/>
          </p:cNvSpPr>
          <p:nvPr/>
        </p:nvSpPr>
        <p:spPr>
          <a:xfrm>
            <a:off x="131180" y="3530730"/>
            <a:ext cx="6251865" cy="2031052"/>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For e.g.: </a:t>
            </a:r>
            <a:r>
              <a:rPr lang="en-US" dirty="0">
                <a:solidFill>
                  <a:srgbClr val="A32D19"/>
                </a:solidFill>
              </a:rPr>
              <a:t>Person</a:t>
            </a:r>
            <a:r>
              <a:rPr lang="en-US" dirty="0"/>
              <a:t> class with </a:t>
            </a:r>
            <a:r>
              <a:rPr lang="en-US" dirty="0">
                <a:solidFill>
                  <a:srgbClr val="A32D19"/>
                </a:solidFill>
              </a:rPr>
              <a:t>Brain</a:t>
            </a:r>
            <a:r>
              <a:rPr lang="en-US" dirty="0"/>
              <a:t> class, </a:t>
            </a:r>
            <a:r>
              <a:rPr lang="en-US" dirty="0">
                <a:solidFill>
                  <a:srgbClr val="A32D19"/>
                </a:solidFill>
              </a:rPr>
              <a:t>Heart</a:t>
            </a:r>
            <a:r>
              <a:rPr lang="en-US" dirty="0"/>
              <a:t> class, and </a:t>
            </a:r>
            <a:r>
              <a:rPr lang="en-US" dirty="0">
                <a:solidFill>
                  <a:srgbClr val="A32D19"/>
                </a:solidFill>
              </a:rPr>
              <a:t>Legs</a:t>
            </a:r>
            <a:r>
              <a:rPr lang="en-US" dirty="0"/>
              <a:t> class.</a:t>
            </a:r>
          </a:p>
          <a:p>
            <a:r>
              <a:rPr lang="en-US" dirty="0"/>
              <a:t>If the person is destroyed, the brain, heart, and legs will also get discarded.</a:t>
            </a:r>
          </a:p>
          <a:p>
            <a:endParaRPr lang="en-US" dirty="0"/>
          </a:p>
        </p:txBody>
      </p:sp>
      <p:sp>
        <p:nvSpPr>
          <p:cNvPr id="21" name="Rectangle 20">
            <a:extLst>
              <a:ext uri="{FF2B5EF4-FFF2-40B4-BE49-F238E27FC236}">
                <a16:creationId xmlns="" xmlns:a16="http://schemas.microsoft.com/office/drawing/2014/main" id="{BFDFFA69-47A5-46C6-898D-80E6ACB6A4EA}"/>
              </a:ext>
            </a:extLst>
          </p:cNvPr>
          <p:cNvSpPr/>
          <p:nvPr/>
        </p:nvSpPr>
        <p:spPr>
          <a:xfrm>
            <a:off x="131180" y="2074929"/>
            <a:ext cx="11929640"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400" dirty="0"/>
              <a:t>It represents ‘</a:t>
            </a:r>
            <a:r>
              <a:rPr lang="en-US" sz="2400" dirty="0">
                <a:solidFill>
                  <a:srgbClr val="A32D19"/>
                </a:solidFill>
              </a:rPr>
              <a:t>part-of’ </a:t>
            </a:r>
            <a:r>
              <a:rPr lang="en-US" sz="2400" dirty="0"/>
              <a:t>relationship.</a:t>
            </a:r>
          </a:p>
        </p:txBody>
      </p:sp>
      <p:sp>
        <p:nvSpPr>
          <p:cNvPr id="22" name="Rectangle 21">
            <a:extLst>
              <a:ext uri="{FF2B5EF4-FFF2-40B4-BE49-F238E27FC236}">
                <a16:creationId xmlns="" xmlns:a16="http://schemas.microsoft.com/office/drawing/2014/main" id="{5482AB4E-7C07-4345-AB97-910E332633AE}"/>
              </a:ext>
            </a:extLst>
          </p:cNvPr>
          <p:cNvSpPr/>
          <p:nvPr/>
        </p:nvSpPr>
        <p:spPr>
          <a:xfrm>
            <a:off x="131180" y="2680078"/>
            <a:ext cx="11929640"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400" dirty="0"/>
              <a:t>In composition, both the entities are </a:t>
            </a:r>
            <a:r>
              <a:rPr lang="en-US" sz="2400" dirty="0">
                <a:solidFill>
                  <a:srgbClr val="A32D19"/>
                </a:solidFill>
              </a:rPr>
              <a:t>dependent</a:t>
            </a:r>
            <a:r>
              <a:rPr lang="en-US" sz="2400" dirty="0"/>
              <a:t> on </a:t>
            </a:r>
            <a:r>
              <a:rPr lang="en-US" sz="2400" dirty="0">
                <a:solidFill>
                  <a:srgbClr val="A32D19"/>
                </a:solidFill>
              </a:rPr>
              <a:t>each other</a:t>
            </a:r>
            <a:r>
              <a:rPr lang="en-US" sz="2400" dirty="0"/>
              <a:t>.</a:t>
            </a:r>
          </a:p>
        </p:txBody>
      </p:sp>
      <p:grpSp>
        <p:nvGrpSpPr>
          <p:cNvPr id="43" name="Group 42">
            <a:extLst>
              <a:ext uri="{FF2B5EF4-FFF2-40B4-BE49-F238E27FC236}">
                <a16:creationId xmlns="" xmlns:a16="http://schemas.microsoft.com/office/drawing/2014/main" id="{D98C9E3C-0E71-4D03-9822-043188B6D1F0}"/>
              </a:ext>
            </a:extLst>
          </p:cNvPr>
          <p:cNvGrpSpPr/>
          <p:nvPr/>
        </p:nvGrpSpPr>
        <p:grpSpPr>
          <a:xfrm>
            <a:off x="6658256" y="3429000"/>
            <a:ext cx="5177174" cy="2973848"/>
            <a:chOff x="6658256" y="3429000"/>
            <a:chExt cx="5177174" cy="2973848"/>
          </a:xfrm>
        </p:grpSpPr>
        <p:cxnSp>
          <p:nvCxnSpPr>
            <p:cNvPr id="41" name="Google Shape;248;p32">
              <a:extLst>
                <a:ext uri="{FF2B5EF4-FFF2-40B4-BE49-F238E27FC236}">
                  <a16:creationId xmlns="" xmlns:a16="http://schemas.microsoft.com/office/drawing/2014/main" id="{1D7060C7-D676-4EF6-B4A9-0EF8154B3436}"/>
                </a:ext>
              </a:extLst>
            </p:cNvPr>
            <p:cNvCxnSpPr>
              <a:cxnSpLocks/>
              <a:stCxn id="31" idx="0"/>
              <a:endCxn id="38" idx="0"/>
            </p:cNvCxnSpPr>
            <p:nvPr/>
          </p:nvCxnSpPr>
          <p:spPr>
            <a:xfrm flipH="1" flipV="1">
              <a:off x="9232497" y="4639623"/>
              <a:ext cx="14346" cy="792690"/>
            </a:xfrm>
            <a:prstGeom prst="straightConnector1">
              <a:avLst/>
            </a:prstGeom>
            <a:noFill/>
            <a:ln w="28575" cap="flat" cmpd="sng">
              <a:solidFill>
                <a:srgbClr val="A32D19"/>
              </a:solidFill>
              <a:prstDash val="solid"/>
              <a:round/>
              <a:headEnd type="none" w="sm" len="sm"/>
              <a:tailEnd type="none" w="sm" len="sm"/>
            </a:ln>
          </p:spPr>
        </p:cxnSp>
        <p:grpSp>
          <p:nvGrpSpPr>
            <p:cNvPr id="12" name="Group 11">
              <a:extLst>
                <a:ext uri="{FF2B5EF4-FFF2-40B4-BE49-F238E27FC236}">
                  <a16:creationId xmlns="" xmlns:a16="http://schemas.microsoft.com/office/drawing/2014/main" id="{068D7B3F-8C65-475F-A4D1-8F0FB36CAC24}"/>
                </a:ext>
              </a:extLst>
            </p:cNvPr>
            <p:cNvGrpSpPr/>
            <p:nvPr/>
          </p:nvGrpSpPr>
          <p:grpSpPr>
            <a:xfrm>
              <a:off x="8497414" y="3429000"/>
              <a:ext cx="1498858" cy="970535"/>
              <a:chOff x="5753361" y="4367090"/>
              <a:chExt cx="2797184" cy="970535"/>
            </a:xfrm>
          </p:grpSpPr>
          <p:sp>
            <p:nvSpPr>
              <p:cNvPr id="13" name="Google Shape;200;p27">
                <a:extLst>
                  <a:ext uri="{FF2B5EF4-FFF2-40B4-BE49-F238E27FC236}">
                    <a16:creationId xmlns="" xmlns:a16="http://schemas.microsoft.com/office/drawing/2014/main" id="{1A835D12-032A-4983-8C8E-507F5AE04A26}"/>
                  </a:ext>
                </a:extLst>
              </p:cNvPr>
              <p:cNvSpPr/>
              <p:nvPr/>
            </p:nvSpPr>
            <p:spPr>
              <a:xfrm>
                <a:off x="5753361" y="4367090"/>
                <a:ext cx="2797184" cy="519661"/>
              </a:xfrm>
              <a:prstGeom prst="rect">
                <a:avLst/>
              </a:prstGeom>
              <a:solidFill>
                <a:srgbClr val="B84742"/>
              </a:solidFill>
              <a:ln w="28575" cap="flat" cmpd="sng">
                <a:solidFill>
                  <a:srgbClr val="8C3A38"/>
                </a:solidFill>
                <a:prstDash val="solid"/>
                <a:round/>
                <a:headEnd type="none" w="sm" len="sm"/>
                <a:tailEnd type="none" w="sm" len="sm"/>
              </a:ln>
            </p:spPr>
            <p:txBody>
              <a:bodyPr spcFirstLastPara="1" wrap="square" lIns="91425" tIns="45700" rIns="91425" bIns="45700" anchor="ctr" anchorCtr="0">
                <a:noAutofit/>
              </a:bodyPr>
              <a:lstStyle/>
              <a:p>
                <a:pPr lvl="0" algn="ctr"/>
                <a:r>
                  <a:rPr lang="en-IN" sz="2400" b="1" dirty="0">
                    <a:solidFill>
                      <a:schemeClr val="bg1"/>
                    </a:solidFill>
                  </a:rPr>
                  <a:t>Person</a:t>
                </a:r>
                <a:endParaRPr sz="2400" b="1" dirty="0">
                  <a:solidFill>
                    <a:schemeClr val="bg1"/>
                  </a:solidFill>
                </a:endParaRPr>
              </a:p>
            </p:txBody>
          </p:sp>
          <p:sp>
            <p:nvSpPr>
              <p:cNvPr id="14" name="Google Shape;200;p27">
                <a:extLst>
                  <a:ext uri="{FF2B5EF4-FFF2-40B4-BE49-F238E27FC236}">
                    <a16:creationId xmlns="" xmlns:a16="http://schemas.microsoft.com/office/drawing/2014/main" id="{BA46C64D-CF50-4F37-AC7E-61D85FCCE55E}"/>
                  </a:ext>
                </a:extLst>
              </p:cNvPr>
              <p:cNvSpPr/>
              <p:nvPr/>
            </p:nvSpPr>
            <p:spPr>
              <a:xfrm>
                <a:off x="5753361" y="4886752"/>
                <a:ext cx="2797184" cy="230060"/>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endParaRPr lang="en-IN" i="1" dirty="0">
                  <a:solidFill>
                    <a:schemeClr val="bg1"/>
                  </a:solidFill>
                </a:endParaRPr>
              </a:p>
            </p:txBody>
          </p:sp>
          <p:sp>
            <p:nvSpPr>
              <p:cNvPr id="15" name="Google Shape;200;p27">
                <a:extLst>
                  <a:ext uri="{FF2B5EF4-FFF2-40B4-BE49-F238E27FC236}">
                    <a16:creationId xmlns="" xmlns:a16="http://schemas.microsoft.com/office/drawing/2014/main" id="{B20387B7-410A-47BC-AE1F-01BD2FEA5942}"/>
                  </a:ext>
                </a:extLst>
              </p:cNvPr>
              <p:cNvSpPr/>
              <p:nvPr/>
            </p:nvSpPr>
            <p:spPr>
              <a:xfrm>
                <a:off x="5753361" y="5107565"/>
                <a:ext cx="2797184" cy="230060"/>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lvl="0"/>
                <a:endParaRPr lang="en-IN" i="1" dirty="0">
                  <a:solidFill>
                    <a:schemeClr val="bg1"/>
                  </a:solidFill>
                </a:endParaRPr>
              </a:p>
            </p:txBody>
          </p:sp>
        </p:grpSp>
        <p:cxnSp>
          <p:nvCxnSpPr>
            <p:cNvPr id="30" name="Google Shape;248;p32">
              <a:extLst>
                <a:ext uri="{FF2B5EF4-FFF2-40B4-BE49-F238E27FC236}">
                  <a16:creationId xmlns="" xmlns:a16="http://schemas.microsoft.com/office/drawing/2014/main" id="{25731F28-A166-4538-94A9-0DEB30F39484}"/>
                </a:ext>
              </a:extLst>
            </p:cNvPr>
            <p:cNvCxnSpPr>
              <a:cxnSpLocks/>
              <a:stCxn id="18" idx="0"/>
              <a:endCxn id="29" idx="0"/>
            </p:cNvCxnSpPr>
            <p:nvPr/>
          </p:nvCxnSpPr>
          <p:spPr>
            <a:xfrm flipV="1">
              <a:off x="7407685" y="3696456"/>
              <a:ext cx="837823" cy="1735857"/>
            </a:xfrm>
            <a:prstGeom prst="straightConnector1">
              <a:avLst/>
            </a:prstGeom>
            <a:noFill/>
            <a:ln w="28575" cap="flat" cmpd="sng">
              <a:solidFill>
                <a:srgbClr val="A32D19"/>
              </a:solidFill>
              <a:prstDash val="solid"/>
              <a:round/>
              <a:headEnd type="none" w="sm" len="sm"/>
              <a:tailEnd type="none" w="sm" len="sm"/>
            </a:ln>
          </p:spPr>
        </p:cxnSp>
        <p:sp>
          <p:nvSpPr>
            <p:cNvPr id="29" name="Google Shape;247;p32">
              <a:extLst>
                <a:ext uri="{FF2B5EF4-FFF2-40B4-BE49-F238E27FC236}">
                  <a16:creationId xmlns="" xmlns:a16="http://schemas.microsoft.com/office/drawing/2014/main" id="{0B14F56B-F00A-40D8-81B1-35E6D5BAAFCE}"/>
                </a:ext>
              </a:extLst>
            </p:cNvPr>
            <p:cNvSpPr/>
            <p:nvPr/>
          </p:nvSpPr>
          <p:spPr>
            <a:xfrm rot="16200000">
              <a:off x="8301265" y="3582156"/>
              <a:ext cx="117086" cy="228600"/>
            </a:xfrm>
            <a:prstGeom prst="flowChartDecision">
              <a:avLst/>
            </a:prstGeom>
            <a:solidFill>
              <a:srgbClr val="A32D19"/>
            </a:solidFill>
            <a:ln w="2540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ea typeface="Calibri"/>
                <a:cs typeface="Calibri"/>
                <a:sym typeface="Calibri"/>
              </a:endParaRPr>
            </a:p>
          </p:txBody>
        </p:sp>
        <p:grpSp>
          <p:nvGrpSpPr>
            <p:cNvPr id="17" name="Group 16">
              <a:extLst>
                <a:ext uri="{FF2B5EF4-FFF2-40B4-BE49-F238E27FC236}">
                  <a16:creationId xmlns="" xmlns:a16="http://schemas.microsoft.com/office/drawing/2014/main" id="{6D4C5372-2A87-4384-9E59-9F3C970740DE}"/>
                </a:ext>
              </a:extLst>
            </p:cNvPr>
            <p:cNvGrpSpPr/>
            <p:nvPr/>
          </p:nvGrpSpPr>
          <p:grpSpPr>
            <a:xfrm>
              <a:off x="6658256" y="5432313"/>
              <a:ext cx="1498858" cy="970535"/>
              <a:chOff x="5753361" y="4367090"/>
              <a:chExt cx="2797184" cy="970535"/>
            </a:xfrm>
          </p:grpSpPr>
          <p:sp>
            <p:nvSpPr>
              <p:cNvPr id="18" name="Google Shape;200;p27">
                <a:extLst>
                  <a:ext uri="{FF2B5EF4-FFF2-40B4-BE49-F238E27FC236}">
                    <a16:creationId xmlns="" xmlns:a16="http://schemas.microsoft.com/office/drawing/2014/main" id="{28A9A2AF-DFE9-4BB9-92DA-BABC812A9D41}"/>
                  </a:ext>
                </a:extLst>
              </p:cNvPr>
              <p:cNvSpPr/>
              <p:nvPr/>
            </p:nvSpPr>
            <p:spPr>
              <a:xfrm>
                <a:off x="5753361" y="4367090"/>
                <a:ext cx="2797184" cy="519661"/>
              </a:xfrm>
              <a:prstGeom prst="rect">
                <a:avLst/>
              </a:prstGeom>
              <a:solidFill>
                <a:srgbClr val="B84742"/>
              </a:solidFill>
              <a:ln w="28575" cap="flat" cmpd="sng">
                <a:solidFill>
                  <a:srgbClr val="8C3A38"/>
                </a:solidFill>
                <a:prstDash val="solid"/>
                <a:round/>
                <a:headEnd type="none" w="sm" len="sm"/>
                <a:tailEnd type="none" w="sm" len="sm"/>
              </a:ln>
            </p:spPr>
            <p:txBody>
              <a:bodyPr spcFirstLastPara="1" wrap="square" lIns="91425" tIns="45700" rIns="91425" bIns="45700" anchor="ctr" anchorCtr="0">
                <a:noAutofit/>
              </a:bodyPr>
              <a:lstStyle/>
              <a:p>
                <a:pPr lvl="0" algn="ctr"/>
                <a:r>
                  <a:rPr lang="en-IN" sz="2400" b="1" dirty="0">
                    <a:solidFill>
                      <a:schemeClr val="bg1"/>
                    </a:solidFill>
                  </a:rPr>
                  <a:t>Brain</a:t>
                </a:r>
                <a:endParaRPr sz="2400" b="1" dirty="0">
                  <a:solidFill>
                    <a:schemeClr val="bg1"/>
                  </a:solidFill>
                </a:endParaRPr>
              </a:p>
            </p:txBody>
          </p:sp>
          <p:sp>
            <p:nvSpPr>
              <p:cNvPr id="19" name="Google Shape;200;p27">
                <a:extLst>
                  <a:ext uri="{FF2B5EF4-FFF2-40B4-BE49-F238E27FC236}">
                    <a16:creationId xmlns="" xmlns:a16="http://schemas.microsoft.com/office/drawing/2014/main" id="{AC46ACD6-D5E7-436D-8794-E4E3A6174C46}"/>
                  </a:ext>
                </a:extLst>
              </p:cNvPr>
              <p:cNvSpPr/>
              <p:nvPr/>
            </p:nvSpPr>
            <p:spPr>
              <a:xfrm>
                <a:off x="5753361" y="4886752"/>
                <a:ext cx="2797184" cy="230060"/>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endParaRPr lang="en-IN" i="1" dirty="0"/>
              </a:p>
            </p:txBody>
          </p:sp>
          <p:sp>
            <p:nvSpPr>
              <p:cNvPr id="23" name="Google Shape;200;p27">
                <a:extLst>
                  <a:ext uri="{FF2B5EF4-FFF2-40B4-BE49-F238E27FC236}">
                    <a16:creationId xmlns="" xmlns:a16="http://schemas.microsoft.com/office/drawing/2014/main" id="{676DAB1A-9461-431A-A507-7B9AC031C205}"/>
                  </a:ext>
                </a:extLst>
              </p:cNvPr>
              <p:cNvSpPr/>
              <p:nvPr/>
            </p:nvSpPr>
            <p:spPr>
              <a:xfrm>
                <a:off x="5753361" y="5107565"/>
                <a:ext cx="2797184" cy="230060"/>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lvl="0"/>
                <a:endParaRPr lang="en-IN" i="1" dirty="0"/>
              </a:p>
            </p:txBody>
          </p:sp>
        </p:grpSp>
        <p:grpSp>
          <p:nvGrpSpPr>
            <p:cNvPr id="24" name="Group 23">
              <a:extLst>
                <a:ext uri="{FF2B5EF4-FFF2-40B4-BE49-F238E27FC236}">
                  <a16:creationId xmlns="" xmlns:a16="http://schemas.microsoft.com/office/drawing/2014/main" id="{62CA5EC1-0267-47DA-AB27-00C40E8F3405}"/>
                </a:ext>
              </a:extLst>
            </p:cNvPr>
            <p:cNvGrpSpPr/>
            <p:nvPr/>
          </p:nvGrpSpPr>
          <p:grpSpPr>
            <a:xfrm>
              <a:off x="8497414" y="5432313"/>
              <a:ext cx="1498858" cy="970535"/>
              <a:chOff x="5753361" y="4367090"/>
              <a:chExt cx="2797184" cy="970535"/>
            </a:xfrm>
          </p:grpSpPr>
          <p:sp>
            <p:nvSpPr>
              <p:cNvPr id="31" name="Google Shape;200;p27">
                <a:extLst>
                  <a:ext uri="{FF2B5EF4-FFF2-40B4-BE49-F238E27FC236}">
                    <a16:creationId xmlns="" xmlns:a16="http://schemas.microsoft.com/office/drawing/2014/main" id="{9C9D2220-061D-46BB-9A21-C9B790D7248B}"/>
                  </a:ext>
                </a:extLst>
              </p:cNvPr>
              <p:cNvSpPr/>
              <p:nvPr/>
            </p:nvSpPr>
            <p:spPr>
              <a:xfrm>
                <a:off x="5753361" y="4367090"/>
                <a:ext cx="2797184" cy="519661"/>
              </a:xfrm>
              <a:prstGeom prst="rect">
                <a:avLst/>
              </a:prstGeom>
              <a:solidFill>
                <a:srgbClr val="B84742"/>
              </a:solidFill>
              <a:ln w="28575" cap="flat" cmpd="sng">
                <a:solidFill>
                  <a:srgbClr val="8C3A38"/>
                </a:solidFill>
                <a:prstDash val="solid"/>
                <a:round/>
                <a:headEnd type="none" w="sm" len="sm"/>
                <a:tailEnd type="none" w="sm" len="sm"/>
              </a:ln>
            </p:spPr>
            <p:txBody>
              <a:bodyPr spcFirstLastPara="1" wrap="square" lIns="91425" tIns="45700" rIns="91425" bIns="45700" anchor="ctr" anchorCtr="0">
                <a:noAutofit/>
              </a:bodyPr>
              <a:lstStyle/>
              <a:p>
                <a:pPr lvl="0" algn="ctr"/>
                <a:r>
                  <a:rPr lang="en-IN" sz="2400" b="1" dirty="0">
                    <a:solidFill>
                      <a:schemeClr val="bg1"/>
                    </a:solidFill>
                  </a:rPr>
                  <a:t>Heart</a:t>
                </a:r>
                <a:endParaRPr sz="2400" b="1" dirty="0">
                  <a:solidFill>
                    <a:schemeClr val="bg1"/>
                  </a:solidFill>
                </a:endParaRPr>
              </a:p>
            </p:txBody>
          </p:sp>
          <p:sp>
            <p:nvSpPr>
              <p:cNvPr id="32" name="Google Shape;200;p27">
                <a:extLst>
                  <a:ext uri="{FF2B5EF4-FFF2-40B4-BE49-F238E27FC236}">
                    <a16:creationId xmlns="" xmlns:a16="http://schemas.microsoft.com/office/drawing/2014/main" id="{ADA42E57-01E2-4455-A747-7B4332C15E20}"/>
                  </a:ext>
                </a:extLst>
              </p:cNvPr>
              <p:cNvSpPr/>
              <p:nvPr/>
            </p:nvSpPr>
            <p:spPr>
              <a:xfrm>
                <a:off x="5753361" y="4886752"/>
                <a:ext cx="2797184" cy="230060"/>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endParaRPr lang="en-IN" sz="2400" i="1" dirty="0">
                  <a:solidFill>
                    <a:schemeClr val="bg1"/>
                  </a:solidFill>
                </a:endParaRPr>
              </a:p>
            </p:txBody>
          </p:sp>
          <p:sp>
            <p:nvSpPr>
              <p:cNvPr id="33" name="Google Shape;200;p27">
                <a:extLst>
                  <a:ext uri="{FF2B5EF4-FFF2-40B4-BE49-F238E27FC236}">
                    <a16:creationId xmlns="" xmlns:a16="http://schemas.microsoft.com/office/drawing/2014/main" id="{5DD13B67-0E92-44A4-8FC6-2B8FACA44FA0}"/>
                  </a:ext>
                </a:extLst>
              </p:cNvPr>
              <p:cNvSpPr/>
              <p:nvPr/>
            </p:nvSpPr>
            <p:spPr>
              <a:xfrm>
                <a:off x="5753361" y="5107565"/>
                <a:ext cx="2797184" cy="230060"/>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lvl="0"/>
                <a:endParaRPr lang="en-IN" sz="2400" i="1" dirty="0">
                  <a:solidFill>
                    <a:schemeClr val="bg1"/>
                  </a:solidFill>
                </a:endParaRPr>
              </a:p>
            </p:txBody>
          </p:sp>
        </p:grpSp>
        <p:grpSp>
          <p:nvGrpSpPr>
            <p:cNvPr id="34" name="Group 33">
              <a:extLst>
                <a:ext uri="{FF2B5EF4-FFF2-40B4-BE49-F238E27FC236}">
                  <a16:creationId xmlns="" xmlns:a16="http://schemas.microsoft.com/office/drawing/2014/main" id="{4F214B69-BF2D-4D5D-B721-32D817C10F98}"/>
                </a:ext>
              </a:extLst>
            </p:cNvPr>
            <p:cNvGrpSpPr/>
            <p:nvPr/>
          </p:nvGrpSpPr>
          <p:grpSpPr>
            <a:xfrm>
              <a:off x="10336572" y="5432313"/>
              <a:ext cx="1498858" cy="957283"/>
              <a:chOff x="5753361" y="4367090"/>
              <a:chExt cx="2797184" cy="957283"/>
            </a:xfrm>
          </p:grpSpPr>
          <p:sp>
            <p:nvSpPr>
              <p:cNvPr id="35" name="Google Shape;200;p27">
                <a:extLst>
                  <a:ext uri="{FF2B5EF4-FFF2-40B4-BE49-F238E27FC236}">
                    <a16:creationId xmlns="" xmlns:a16="http://schemas.microsoft.com/office/drawing/2014/main" id="{13509504-8A3A-45A2-803A-CDA4A4E371DA}"/>
                  </a:ext>
                </a:extLst>
              </p:cNvPr>
              <p:cNvSpPr/>
              <p:nvPr/>
            </p:nvSpPr>
            <p:spPr>
              <a:xfrm>
                <a:off x="5753361" y="4367090"/>
                <a:ext cx="2797184" cy="519661"/>
              </a:xfrm>
              <a:prstGeom prst="rect">
                <a:avLst/>
              </a:prstGeom>
              <a:solidFill>
                <a:srgbClr val="B84742"/>
              </a:solidFill>
              <a:ln w="28575" cap="flat" cmpd="sng">
                <a:solidFill>
                  <a:srgbClr val="8C3A38"/>
                </a:solidFill>
                <a:prstDash val="solid"/>
                <a:round/>
                <a:headEnd type="none" w="sm" len="sm"/>
                <a:tailEnd type="none" w="sm" len="sm"/>
              </a:ln>
            </p:spPr>
            <p:txBody>
              <a:bodyPr spcFirstLastPara="1" wrap="square" lIns="91425" tIns="45700" rIns="91425" bIns="45700" anchor="ctr" anchorCtr="0">
                <a:noAutofit/>
              </a:bodyPr>
              <a:lstStyle/>
              <a:p>
                <a:pPr lvl="0" algn="ctr"/>
                <a:r>
                  <a:rPr lang="en-IN" sz="2400" b="1" dirty="0">
                    <a:solidFill>
                      <a:schemeClr val="bg1"/>
                    </a:solidFill>
                  </a:rPr>
                  <a:t>Legs</a:t>
                </a:r>
                <a:endParaRPr sz="2400" b="1" dirty="0">
                  <a:solidFill>
                    <a:schemeClr val="bg1"/>
                  </a:solidFill>
                </a:endParaRPr>
              </a:p>
            </p:txBody>
          </p:sp>
          <p:sp>
            <p:nvSpPr>
              <p:cNvPr id="36" name="Google Shape;200;p27">
                <a:extLst>
                  <a:ext uri="{FF2B5EF4-FFF2-40B4-BE49-F238E27FC236}">
                    <a16:creationId xmlns="" xmlns:a16="http://schemas.microsoft.com/office/drawing/2014/main" id="{70A29698-6372-4D30-B61E-4BB74A55749A}"/>
                  </a:ext>
                </a:extLst>
              </p:cNvPr>
              <p:cNvSpPr/>
              <p:nvPr/>
            </p:nvSpPr>
            <p:spPr>
              <a:xfrm>
                <a:off x="5753361" y="4886752"/>
                <a:ext cx="2797184" cy="230060"/>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endParaRPr lang="en-IN" i="1" dirty="0">
                  <a:solidFill>
                    <a:schemeClr val="bg1"/>
                  </a:solidFill>
                </a:endParaRPr>
              </a:p>
            </p:txBody>
          </p:sp>
          <p:sp>
            <p:nvSpPr>
              <p:cNvPr id="37" name="Google Shape;200;p27">
                <a:extLst>
                  <a:ext uri="{FF2B5EF4-FFF2-40B4-BE49-F238E27FC236}">
                    <a16:creationId xmlns="" xmlns:a16="http://schemas.microsoft.com/office/drawing/2014/main" id="{BB66C16F-EDB2-430A-A8AC-8B6092DE0BDD}"/>
                  </a:ext>
                </a:extLst>
              </p:cNvPr>
              <p:cNvSpPr/>
              <p:nvPr/>
            </p:nvSpPr>
            <p:spPr>
              <a:xfrm>
                <a:off x="5753361" y="5094313"/>
                <a:ext cx="2797184" cy="230060"/>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lvl="0"/>
                <a:endParaRPr lang="en-IN" i="1" dirty="0">
                  <a:solidFill>
                    <a:schemeClr val="bg1"/>
                  </a:solidFill>
                </a:endParaRPr>
              </a:p>
            </p:txBody>
          </p:sp>
        </p:grpSp>
        <p:sp>
          <p:nvSpPr>
            <p:cNvPr id="38" name="Google Shape;247;p32">
              <a:extLst>
                <a:ext uri="{FF2B5EF4-FFF2-40B4-BE49-F238E27FC236}">
                  <a16:creationId xmlns="" xmlns:a16="http://schemas.microsoft.com/office/drawing/2014/main" id="{277ECB3B-1F66-414C-B23B-AF69BB828600}"/>
                </a:ext>
              </a:extLst>
            </p:cNvPr>
            <p:cNvSpPr/>
            <p:nvPr/>
          </p:nvSpPr>
          <p:spPr>
            <a:xfrm rot="10800000">
              <a:off x="9173954" y="4411023"/>
              <a:ext cx="117086" cy="228600"/>
            </a:xfrm>
            <a:prstGeom prst="flowChartDecision">
              <a:avLst/>
            </a:prstGeom>
            <a:solidFill>
              <a:srgbClr val="A32D19"/>
            </a:solidFill>
            <a:ln w="2540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ea typeface="Calibri"/>
                <a:cs typeface="Calibri"/>
                <a:sym typeface="Calibri"/>
              </a:endParaRPr>
            </a:p>
          </p:txBody>
        </p:sp>
        <p:sp>
          <p:nvSpPr>
            <p:cNvPr id="40" name="Google Shape;247;p32">
              <a:extLst>
                <a:ext uri="{FF2B5EF4-FFF2-40B4-BE49-F238E27FC236}">
                  <a16:creationId xmlns="" xmlns:a16="http://schemas.microsoft.com/office/drawing/2014/main" id="{55A15FAA-266C-4FFD-A38A-E51965FE0C1F}"/>
                </a:ext>
              </a:extLst>
            </p:cNvPr>
            <p:cNvSpPr/>
            <p:nvPr/>
          </p:nvSpPr>
          <p:spPr>
            <a:xfrm rot="16200000">
              <a:off x="10052029" y="3595309"/>
              <a:ext cx="117086" cy="228600"/>
            </a:xfrm>
            <a:prstGeom prst="flowChartDecision">
              <a:avLst/>
            </a:prstGeom>
            <a:solidFill>
              <a:srgbClr val="A32D19"/>
            </a:solidFill>
            <a:ln w="2540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ea typeface="Calibri"/>
                <a:cs typeface="Calibri"/>
                <a:sym typeface="Calibri"/>
              </a:endParaRPr>
            </a:p>
          </p:txBody>
        </p:sp>
        <p:cxnSp>
          <p:nvCxnSpPr>
            <p:cNvPr id="42" name="Google Shape;248;p32">
              <a:extLst>
                <a:ext uri="{FF2B5EF4-FFF2-40B4-BE49-F238E27FC236}">
                  <a16:creationId xmlns="" xmlns:a16="http://schemas.microsoft.com/office/drawing/2014/main" id="{DB7F8763-A6E0-4890-892D-43AF70CB6511}"/>
                </a:ext>
              </a:extLst>
            </p:cNvPr>
            <p:cNvCxnSpPr>
              <a:cxnSpLocks/>
              <a:stCxn id="35" idx="0"/>
              <a:endCxn id="40" idx="2"/>
            </p:cNvCxnSpPr>
            <p:nvPr/>
          </p:nvCxnSpPr>
          <p:spPr>
            <a:xfrm flipH="1" flipV="1">
              <a:off x="10224872" y="3709609"/>
              <a:ext cx="861129" cy="1722704"/>
            </a:xfrm>
            <a:prstGeom prst="straightConnector1">
              <a:avLst/>
            </a:prstGeom>
            <a:noFill/>
            <a:ln w="28575" cap="flat" cmpd="sng">
              <a:solidFill>
                <a:srgbClr val="A32D19"/>
              </a:solidFill>
              <a:prstDash val="solid"/>
              <a:round/>
              <a:headEnd type="none" w="sm" len="sm"/>
              <a:tailEnd type="none" w="sm" len="sm"/>
            </a:ln>
          </p:spPr>
        </p:cxnSp>
      </p:grpSp>
    </p:spTree>
    <p:extLst>
      <p:ext uri="{BB962C8B-B14F-4D97-AF65-F5344CB8AC3E}">
        <p14:creationId xmlns:p14="http://schemas.microsoft.com/office/powerpoint/2010/main" val="147310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0">
                                            <p:txEl>
                                              <p:pRg st="0" end="0"/>
                                            </p:txEl>
                                          </p:spTgt>
                                        </p:tgtEl>
                                        <p:attrNameLst>
                                          <p:attrName>style.visibility</p:attrName>
                                        </p:attrNameLst>
                                      </p:cBhvr>
                                      <p:to>
                                        <p:strVal val="visible"/>
                                      </p:to>
                                    </p:set>
                                    <p:animEffect transition="in" filter="fade">
                                      <p:cBhvr>
                                        <p:cTn id="20" dur="500"/>
                                        <p:tgtEl>
                                          <p:spTgt spid="20">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0">
                                            <p:txEl>
                                              <p:pRg st="1" end="1"/>
                                            </p:txEl>
                                          </p:spTgt>
                                        </p:tgtEl>
                                        <p:attrNameLst>
                                          <p:attrName>style.visibility</p:attrName>
                                        </p:attrNameLst>
                                      </p:cBhvr>
                                      <p:to>
                                        <p:strVal val="visible"/>
                                      </p:to>
                                    </p:set>
                                    <p:animEffect transition="in" filter="fade">
                                      <p:cBhvr>
                                        <p:cTn id="25" dur="500"/>
                                        <p:tgtEl>
                                          <p:spTgt spid="20">
                                            <p:txEl>
                                              <p:p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43"/>
                                        </p:tgtEl>
                                        <p:attrNameLst>
                                          <p:attrName>style.visibility</p:attrName>
                                        </p:attrNameLst>
                                      </p:cBhvr>
                                      <p:to>
                                        <p:strVal val="visible"/>
                                      </p:to>
                                    </p:set>
                                    <p:animEffect transition="in" filter="fade">
                                      <p:cBhvr>
                                        <p:cTn id="28"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0" grpId="0" build="p"/>
      <p:bldP spid="21" grpId="0" animBg="1"/>
      <p:bldP spid="2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A463154-BD3B-40AD-B3D7-8FF2A525DEB7}"/>
              </a:ext>
            </a:extLst>
          </p:cNvPr>
          <p:cNvSpPr>
            <a:spLocks noGrp="1"/>
          </p:cNvSpPr>
          <p:nvPr>
            <p:ph type="title"/>
          </p:nvPr>
        </p:nvSpPr>
        <p:spPr/>
        <p:txBody>
          <a:bodyPr/>
          <a:lstStyle/>
          <a:p>
            <a:r>
              <a:rPr lang="en-IN" dirty="0"/>
              <a:t>Multiplicity</a:t>
            </a:r>
          </a:p>
        </p:txBody>
      </p:sp>
      <p:sp>
        <p:nvSpPr>
          <p:cNvPr id="3" name="Content Placeholder 2">
            <a:extLst>
              <a:ext uri="{FF2B5EF4-FFF2-40B4-BE49-F238E27FC236}">
                <a16:creationId xmlns="" xmlns:a16="http://schemas.microsoft.com/office/drawing/2014/main" id="{13B1042F-CB84-4618-8ABD-362A42A3FDC2}"/>
              </a:ext>
            </a:extLst>
          </p:cNvPr>
          <p:cNvSpPr>
            <a:spLocks noGrp="1"/>
          </p:cNvSpPr>
          <p:nvPr>
            <p:ph idx="1"/>
          </p:nvPr>
        </p:nvSpPr>
        <p:spPr>
          <a:xfrm>
            <a:off x="131180" y="863444"/>
            <a:ext cx="11929641" cy="2181597"/>
          </a:xfrm>
        </p:spPr>
        <p:txBody>
          <a:bodyPr/>
          <a:lstStyle/>
          <a:p>
            <a:r>
              <a:rPr lang="en-US" b="1" dirty="0">
                <a:solidFill>
                  <a:srgbClr val="A32D19"/>
                </a:solidFill>
              </a:rPr>
              <a:t>Multiplicity</a:t>
            </a:r>
            <a:r>
              <a:rPr lang="en-US" dirty="0"/>
              <a:t> is the </a:t>
            </a:r>
            <a:r>
              <a:rPr lang="en-US" dirty="0">
                <a:solidFill>
                  <a:srgbClr val="A32D19"/>
                </a:solidFill>
              </a:rPr>
              <a:t>specification</a:t>
            </a:r>
            <a:r>
              <a:rPr lang="en-US" dirty="0"/>
              <a:t> of the number of </a:t>
            </a:r>
            <a:r>
              <a:rPr lang="en-US" dirty="0">
                <a:solidFill>
                  <a:srgbClr val="A32D19"/>
                </a:solidFill>
              </a:rPr>
              <a:t>instances of one class </a:t>
            </a:r>
            <a:r>
              <a:rPr lang="en-US" dirty="0"/>
              <a:t>that may be </a:t>
            </a:r>
            <a:r>
              <a:rPr lang="en-US" dirty="0">
                <a:solidFill>
                  <a:srgbClr val="A32D19"/>
                </a:solidFill>
              </a:rPr>
              <a:t>related</a:t>
            </a:r>
            <a:r>
              <a:rPr lang="en-US" dirty="0"/>
              <a:t> to the instance of another class</a:t>
            </a:r>
            <a:r>
              <a:rPr lang="en-US" b="1" dirty="0"/>
              <a:t>.</a:t>
            </a:r>
          </a:p>
          <a:p>
            <a:r>
              <a:rPr lang="en-US" dirty="0"/>
              <a:t>Multiplicity constrains the </a:t>
            </a:r>
            <a:r>
              <a:rPr lang="en-US" dirty="0">
                <a:solidFill>
                  <a:srgbClr val="A32D19"/>
                </a:solidFill>
              </a:rPr>
              <a:t>number of a related object</a:t>
            </a:r>
            <a:r>
              <a:rPr lang="en-US" dirty="0"/>
              <a:t>.</a:t>
            </a:r>
          </a:p>
          <a:p>
            <a:r>
              <a:rPr lang="en-US" dirty="0"/>
              <a:t>You can use multiple associations between objects.</a:t>
            </a:r>
          </a:p>
          <a:p>
            <a:r>
              <a:rPr lang="en-US" dirty="0"/>
              <a:t>Some typical type of multiplicity:</a:t>
            </a:r>
          </a:p>
          <a:p>
            <a:endParaRPr lang="en-IN" dirty="0"/>
          </a:p>
        </p:txBody>
      </p:sp>
      <p:graphicFrame>
        <p:nvGraphicFramePr>
          <p:cNvPr id="4" name="Google Shape;266;p34">
            <a:extLst>
              <a:ext uri="{FF2B5EF4-FFF2-40B4-BE49-F238E27FC236}">
                <a16:creationId xmlns="" xmlns:a16="http://schemas.microsoft.com/office/drawing/2014/main" id="{BCA59E60-C883-47FF-8CC9-888C02858FE3}"/>
              </a:ext>
            </a:extLst>
          </p:cNvPr>
          <p:cNvGraphicFramePr/>
          <p:nvPr>
            <p:extLst>
              <p:ext uri="{D42A27DB-BD31-4B8C-83A1-F6EECF244321}">
                <p14:modId xmlns:p14="http://schemas.microsoft.com/office/powerpoint/2010/main" val="3352556687"/>
              </p:ext>
            </p:extLst>
          </p:nvPr>
        </p:nvGraphicFramePr>
        <p:xfrm>
          <a:off x="1920537" y="3123399"/>
          <a:ext cx="8496300" cy="2595950"/>
        </p:xfrm>
        <a:graphic>
          <a:graphicData uri="http://schemas.openxmlformats.org/drawingml/2006/table">
            <a:tbl>
              <a:tblPr firstRow="1" bandRow="1">
                <a:noFill/>
              </a:tblPr>
              <a:tblGrid>
                <a:gridCol w="1447800">
                  <a:extLst>
                    <a:ext uri="{9D8B030D-6E8A-4147-A177-3AD203B41FA5}">
                      <a16:colId xmlns="" xmlns:a16="http://schemas.microsoft.com/office/drawing/2014/main" val="20000"/>
                    </a:ext>
                  </a:extLst>
                </a:gridCol>
                <a:gridCol w="1447800">
                  <a:extLst>
                    <a:ext uri="{9D8B030D-6E8A-4147-A177-3AD203B41FA5}">
                      <a16:colId xmlns="" xmlns:a16="http://schemas.microsoft.com/office/drawing/2014/main" val="20001"/>
                    </a:ext>
                  </a:extLst>
                </a:gridCol>
                <a:gridCol w="5600700">
                  <a:extLst>
                    <a:ext uri="{9D8B030D-6E8A-4147-A177-3AD203B41FA5}">
                      <a16:colId xmlns="" xmlns:a16="http://schemas.microsoft.com/office/drawing/2014/main" val="20002"/>
                    </a:ext>
                  </a:extLst>
                </a:gridCol>
              </a:tblGrid>
              <a:tr h="370850">
                <a:tc>
                  <a:txBody>
                    <a:bodyPr/>
                    <a:lstStyle/>
                    <a:p>
                      <a:pPr marL="0" marR="0" lvl="0" indent="0" algn="ctr" rtl="0">
                        <a:spcBef>
                          <a:spcPts val="0"/>
                        </a:spcBef>
                        <a:spcAft>
                          <a:spcPts val="0"/>
                        </a:spcAft>
                        <a:buNone/>
                      </a:pPr>
                      <a:r>
                        <a:rPr lang="en-US" sz="1800" b="1" u="none" strike="noStrike" cap="none" dirty="0">
                          <a:solidFill>
                            <a:schemeClr val="dk1"/>
                          </a:solidFill>
                        </a:rPr>
                        <a:t>Multiplicity</a:t>
                      </a:r>
                      <a:endParaRPr b="1"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bg1">
                        <a:lumMod val="85000"/>
                      </a:schemeClr>
                    </a:solidFill>
                  </a:tcPr>
                </a:tc>
                <a:tc>
                  <a:txBody>
                    <a:bodyPr/>
                    <a:lstStyle/>
                    <a:p>
                      <a:pPr marL="0" marR="0" lvl="0" indent="0" algn="ctr" rtl="0">
                        <a:spcBef>
                          <a:spcPts val="0"/>
                        </a:spcBef>
                        <a:spcAft>
                          <a:spcPts val="0"/>
                        </a:spcAft>
                        <a:buNone/>
                      </a:pPr>
                      <a:r>
                        <a:rPr lang="en-US" sz="1800" b="1" i="0" u="none" strike="noStrike" cap="none" dirty="0">
                          <a:solidFill>
                            <a:schemeClr val="dk1"/>
                          </a:solidFill>
                          <a:latin typeface="Calibri"/>
                          <a:ea typeface="Calibri"/>
                          <a:cs typeface="Calibri"/>
                          <a:sym typeface="Calibri"/>
                        </a:rPr>
                        <a:t>Option</a:t>
                      </a:r>
                      <a:endParaRPr sz="1800" b="1"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bg1">
                        <a:lumMod val="85000"/>
                      </a:schemeClr>
                    </a:solidFill>
                  </a:tcPr>
                </a:tc>
                <a:tc>
                  <a:txBody>
                    <a:bodyPr/>
                    <a:lstStyle/>
                    <a:p>
                      <a:pPr marL="0" marR="0" lvl="0" indent="0" algn="ctr" rtl="0">
                        <a:spcBef>
                          <a:spcPts val="0"/>
                        </a:spcBef>
                        <a:spcAft>
                          <a:spcPts val="0"/>
                        </a:spcAft>
                        <a:buNone/>
                      </a:pPr>
                      <a:r>
                        <a:rPr lang="en-US" sz="1800" b="1" u="none" strike="noStrike" cap="none" dirty="0">
                          <a:solidFill>
                            <a:schemeClr val="dk1"/>
                          </a:solidFill>
                        </a:rPr>
                        <a:t>Cardinality</a:t>
                      </a:r>
                      <a:endParaRPr b="1" dirty="0"/>
                    </a:p>
                  </a:txBody>
                  <a:tcPr marL="91450" marR="91450" marT="45725" marB="45725">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bg1">
                        <a:lumMod val="85000"/>
                      </a:schemeClr>
                    </a:solidFill>
                  </a:tcPr>
                </a:tc>
                <a:extLst>
                  <a:ext uri="{0D108BD9-81ED-4DB2-BD59-A6C34878D82A}">
                    <a16:rowId xmlns="" xmlns:a16="http://schemas.microsoft.com/office/drawing/2014/main" val="10000"/>
                  </a:ext>
                </a:extLst>
              </a:tr>
              <a:tr h="370850">
                <a:tc>
                  <a:txBody>
                    <a:bodyPr/>
                    <a:lstStyle/>
                    <a:p>
                      <a:pPr marL="0" marR="0" lvl="0" indent="0" algn="ctr" rtl="0">
                        <a:spcBef>
                          <a:spcPts val="0"/>
                        </a:spcBef>
                        <a:spcAft>
                          <a:spcPts val="0"/>
                        </a:spcAft>
                        <a:buNone/>
                      </a:pPr>
                      <a:r>
                        <a:rPr lang="en-US" sz="1800" u="none" strike="noStrike" cap="none"/>
                        <a:t>0..1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US" sz="1800" u="none" strike="noStrike" cap="none" dirty="0"/>
                        <a:t>No instances or one instance</a:t>
                      </a:r>
                      <a:endParaRPr dirty="0"/>
                    </a:p>
                  </a:txBody>
                  <a:tcPr marL="91450" marR="91450" marT="45725" marB="45725">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0001"/>
                  </a:ext>
                </a:extLst>
              </a:tr>
              <a:tr h="370850">
                <a:tc>
                  <a:txBody>
                    <a:bodyPr/>
                    <a:lstStyle/>
                    <a:p>
                      <a:pPr marL="0" marR="0" lvl="0" indent="0" algn="ctr" rtl="0">
                        <a:spcBef>
                          <a:spcPts val="0"/>
                        </a:spcBef>
                        <a:spcAft>
                          <a:spcPts val="0"/>
                        </a:spcAft>
                        <a:buNone/>
                      </a:pPr>
                      <a:r>
                        <a:rPr lang="en-US" sz="1800"/>
                        <a:t>1..1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US" sz="1800" dirty="0"/>
                        <a:t>Exactly one instance</a:t>
                      </a:r>
                      <a:endParaRPr dirty="0"/>
                    </a:p>
                  </a:txBody>
                  <a:tcPr marL="91450" marR="91450" marT="45725" marB="45725">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0002"/>
                  </a:ext>
                </a:extLst>
              </a:tr>
              <a:tr h="370850">
                <a:tc>
                  <a:txBody>
                    <a:bodyPr/>
                    <a:lstStyle/>
                    <a:p>
                      <a:pPr marL="0" marR="0" lvl="0" indent="0" algn="ctr" rtl="0">
                        <a:spcBef>
                          <a:spcPts val="0"/>
                        </a:spcBef>
                        <a:spcAft>
                          <a:spcPts val="0"/>
                        </a:spcAft>
                        <a:buNone/>
                      </a:pPr>
                      <a:r>
                        <a:rPr lang="en-US" sz="1800"/>
                        <a:t>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US" sz="1800" b="0" i="0">
                          <a:solidFill>
                            <a:schemeClr val="dk1"/>
                          </a:solidFill>
                          <a:latin typeface="Calibri"/>
                          <a:ea typeface="Calibri"/>
                          <a:cs typeface="Calibri"/>
                          <a:sym typeface="Calibri"/>
                        </a:rPr>
                        <a:t>Zero or more instances</a:t>
                      </a:r>
                      <a:endParaRPr sz="1800"/>
                    </a:p>
                  </a:txBody>
                  <a:tcPr marL="91450" marR="91450" marT="45725" marB="45725">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0003"/>
                  </a:ext>
                </a:extLst>
              </a:tr>
              <a:tr h="370850">
                <a:tc>
                  <a:txBody>
                    <a:bodyPr/>
                    <a:lstStyle/>
                    <a:p>
                      <a:pPr marL="0" marR="0" lvl="0" indent="0" algn="ctr" rtl="0">
                        <a:spcBef>
                          <a:spcPts val="0"/>
                        </a:spcBef>
                        <a:spcAft>
                          <a:spcPts val="0"/>
                        </a:spcAft>
                        <a:buNone/>
                      </a:pPr>
                      <a:r>
                        <a:rPr lang="en-US" sz="1800"/>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US" sz="1800"/>
                        <a:t>At least one instance</a:t>
                      </a:r>
                      <a:endParaRPr/>
                    </a:p>
                  </a:txBody>
                  <a:tcPr marL="91450" marR="91450" marT="45725" marB="45725">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0004"/>
                  </a:ext>
                </a:extLst>
              </a:tr>
              <a:tr h="370850">
                <a:tc>
                  <a:txBody>
                    <a:bodyPr/>
                    <a:lstStyle/>
                    <a:p>
                      <a:pPr marL="0" marR="0" lvl="0" indent="0" algn="ctr" rtl="0">
                        <a:spcBef>
                          <a:spcPts val="0"/>
                        </a:spcBef>
                        <a:spcAft>
                          <a:spcPts val="0"/>
                        </a:spcAft>
                        <a:buNone/>
                      </a:pPr>
                      <a:r>
                        <a:rPr lang="en-US" sz="1800"/>
                        <a:t>5..5</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a:t>5</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US" sz="1800" b="0" i="0">
                          <a:solidFill>
                            <a:schemeClr val="dk1"/>
                          </a:solidFill>
                          <a:latin typeface="Calibri"/>
                          <a:ea typeface="Calibri"/>
                          <a:cs typeface="Calibri"/>
                          <a:sym typeface="Calibri"/>
                        </a:rPr>
                        <a:t>Exactly 5 instances</a:t>
                      </a:r>
                      <a:endParaRPr sz="1800"/>
                    </a:p>
                  </a:txBody>
                  <a:tcPr marL="91450" marR="91450" marT="45725" marB="45725">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0005"/>
                  </a:ext>
                </a:extLst>
              </a:tr>
              <a:tr h="370850">
                <a:tc>
                  <a:txBody>
                    <a:bodyPr/>
                    <a:lstStyle/>
                    <a:p>
                      <a:pPr marL="0" marR="0" lvl="0" indent="0" algn="ctr" rtl="0">
                        <a:spcBef>
                          <a:spcPts val="0"/>
                        </a:spcBef>
                        <a:spcAft>
                          <a:spcPts val="0"/>
                        </a:spcAft>
                        <a:buNone/>
                      </a:pPr>
                      <a:r>
                        <a:rPr lang="en-US" sz="1800" dirty="0" err="1"/>
                        <a:t>m..n</a:t>
                      </a:r>
                      <a:endParaRPr sz="1800"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US" sz="1800" dirty="0"/>
                        <a:t>At least m but no more than n instances</a:t>
                      </a:r>
                      <a:endParaRPr dirty="0"/>
                    </a:p>
                  </a:txBody>
                  <a:tcPr marL="91450" marR="91450" marT="45725" marB="45725">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0006"/>
                  </a:ext>
                </a:extLst>
              </a:tr>
            </a:tbl>
          </a:graphicData>
        </a:graphic>
      </p:graphicFrame>
    </p:spTree>
    <p:extLst>
      <p:ext uri="{BB962C8B-B14F-4D97-AF65-F5344CB8AC3E}">
        <p14:creationId xmlns:p14="http://schemas.microsoft.com/office/powerpoint/2010/main" val="3167620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33E3D3F-9F3C-4EBD-BCCA-ACEC347E3E67}"/>
              </a:ext>
            </a:extLst>
          </p:cNvPr>
          <p:cNvSpPr>
            <a:spLocks noGrp="1"/>
          </p:cNvSpPr>
          <p:nvPr>
            <p:ph type="title"/>
          </p:nvPr>
        </p:nvSpPr>
        <p:spPr/>
        <p:txBody>
          <a:bodyPr/>
          <a:lstStyle/>
          <a:p>
            <a:r>
              <a:rPr lang="en-IN" dirty="0"/>
              <a:t>Example Of Multiplicity</a:t>
            </a:r>
          </a:p>
        </p:txBody>
      </p:sp>
      <p:grpSp>
        <p:nvGrpSpPr>
          <p:cNvPr id="46" name="Group 45">
            <a:extLst>
              <a:ext uri="{FF2B5EF4-FFF2-40B4-BE49-F238E27FC236}">
                <a16:creationId xmlns="" xmlns:a16="http://schemas.microsoft.com/office/drawing/2014/main" id="{C32D554A-718A-413D-A67C-F1E1E752E8C5}"/>
              </a:ext>
            </a:extLst>
          </p:cNvPr>
          <p:cNvGrpSpPr/>
          <p:nvPr/>
        </p:nvGrpSpPr>
        <p:grpSpPr>
          <a:xfrm>
            <a:off x="284165" y="1383722"/>
            <a:ext cx="4512603" cy="560075"/>
            <a:chOff x="4801661" y="1105698"/>
            <a:chExt cx="4512603" cy="560075"/>
          </a:xfrm>
        </p:grpSpPr>
        <p:cxnSp>
          <p:nvCxnSpPr>
            <p:cNvPr id="4" name="Google Shape;272;p35">
              <a:extLst>
                <a:ext uri="{FF2B5EF4-FFF2-40B4-BE49-F238E27FC236}">
                  <a16:creationId xmlns="" xmlns:a16="http://schemas.microsoft.com/office/drawing/2014/main" id="{3CCBC7B9-334D-4FD0-90DD-0A1D8A06E5A9}"/>
                </a:ext>
              </a:extLst>
            </p:cNvPr>
            <p:cNvCxnSpPr>
              <a:cxnSpLocks/>
              <a:stCxn id="6" idx="3"/>
              <a:endCxn id="7" idx="1"/>
            </p:cNvCxnSpPr>
            <p:nvPr/>
          </p:nvCxnSpPr>
          <p:spPr>
            <a:xfrm>
              <a:off x="6647264" y="1383096"/>
              <a:ext cx="1066800" cy="0"/>
            </a:xfrm>
            <a:prstGeom prst="straightConnector1">
              <a:avLst/>
            </a:prstGeom>
            <a:noFill/>
            <a:ln w="28575" cap="flat" cmpd="sng">
              <a:solidFill>
                <a:srgbClr val="A32D19"/>
              </a:solidFill>
              <a:prstDash val="solid"/>
              <a:round/>
              <a:headEnd type="none" w="sm" len="sm"/>
              <a:tailEnd type="none" w="sm" len="sm"/>
            </a:ln>
          </p:spPr>
        </p:cxnSp>
        <p:sp>
          <p:nvSpPr>
            <p:cNvPr id="6" name="Google Shape;273;p35">
              <a:extLst>
                <a:ext uri="{FF2B5EF4-FFF2-40B4-BE49-F238E27FC236}">
                  <a16:creationId xmlns="" xmlns:a16="http://schemas.microsoft.com/office/drawing/2014/main" id="{1A9D1CFC-AF3D-45B7-AD70-114AC443863E}"/>
                </a:ext>
              </a:extLst>
            </p:cNvPr>
            <p:cNvSpPr/>
            <p:nvPr/>
          </p:nvSpPr>
          <p:spPr>
            <a:xfrm>
              <a:off x="4801661" y="1154496"/>
              <a:ext cx="1845603" cy="457200"/>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marL="0" marR="0" lvl="0" indent="0" algn="ctr" rtl="0">
                <a:spcBef>
                  <a:spcPts val="0"/>
                </a:spcBef>
                <a:spcAft>
                  <a:spcPts val="0"/>
                </a:spcAft>
                <a:buNone/>
              </a:pPr>
              <a:r>
                <a:rPr lang="en-US" dirty="0">
                  <a:solidFill>
                    <a:schemeClr val="tx1"/>
                  </a:solidFill>
                  <a:cs typeface="Calibri"/>
                  <a:sym typeface="Calibri"/>
                </a:rPr>
                <a:t>Account Holder</a:t>
              </a:r>
              <a:endParaRPr dirty="0">
                <a:solidFill>
                  <a:schemeClr val="tx1"/>
                </a:solidFill>
              </a:endParaRPr>
            </a:p>
          </p:txBody>
        </p:sp>
        <p:sp>
          <p:nvSpPr>
            <p:cNvPr id="7" name="Google Shape;274;p35">
              <a:extLst>
                <a:ext uri="{FF2B5EF4-FFF2-40B4-BE49-F238E27FC236}">
                  <a16:creationId xmlns="" xmlns:a16="http://schemas.microsoft.com/office/drawing/2014/main" id="{08D4B613-05DC-4654-AA08-45645BA0F5E2}"/>
                </a:ext>
              </a:extLst>
            </p:cNvPr>
            <p:cNvSpPr/>
            <p:nvPr/>
          </p:nvSpPr>
          <p:spPr>
            <a:xfrm>
              <a:off x="7714064" y="1154496"/>
              <a:ext cx="1600200" cy="457200"/>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tx1"/>
                  </a:solidFill>
                  <a:ea typeface="Calibri"/>
                  <a:cs typeface="Calibri"/>
                  <a:sym typeface="Calibri"/>
                </a:rPr>
                <a:t>Cheque Book</a:t>
              </a:r>
              <a:endParaRPr sz="1800" dirty="0">
                <a:solidFill>
                  <a:schemeClr val="tx1"/>
                </a:solidFill>
                <a:ea typeface="Calibri"/>
                <a:cs typeface="Calibri"/>
                <a:sym typeface="Calibri"/>
              </a:endParaRPr>
            </a:p>
          </p:txBody>
        </p:sp>
        <p:sp>
          <p:nvSpPr>
            <p:cNvPr id="8" name="Google Shape;276;p35">
              <a:extLst>
                <a:ext uri="{FF2B5EF4-FFF2-40B4-BE49-F238E27FC236}">
                  <a16:creationId xmlns="" xmlns:a16="http://schemas.microsoft.com/office/drawing/2014/main" id="{8AD11B22-506D-45C3-B577-FAB2D2160A65}"/>
                </a:ext>
              </a:extLst>
            </p:cNvPr>
            <p:cNvSpPr txBox="1"/>
            <p:nvPr/>
          </p:nvSpPr>
          <p:spPr>
            <a:xfrm>
              <a:off x="6624147" y="1357996"/>
              <a:ext cx="224947"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a:solidFill>
                    <a:schemeClr val="dk1"/>
                  </a:solidFill>
                  <a:ea typeface="Calibri"/>
                  <a:cs typeface="Calibri"/>
                  <a:sym typeface="Calibri"/>
                </a:rPr>
                <a:t>1</a:t>
              </a:r>
              <a:endParaRPr/>
            </a:p>
          </p:txBody>
        </p:sp>
        <p:sp>
          <p:nvSpPr>
            <p:cNvPr id="9" name="Google Shape;277;p35">
              <a:extLst>
                <a:ext uri="{FF2B5EF4-FFF2-40B4-BE49-F238E27FC236}">
                  <a16:creationId xmlns="" xmlns:a16="http://schemas.microsoft.com/office/drawing/2014/main" id="{124B0977-F999-4458-A161-D33AC7B90268}"/>
                </a:ext>
              </a:extLst>
            </p:cNvPr>
            <p:cNvSpPr txBox="1"/>
            <p:nvPr/>
          </p:nvSpPr>
          <p:spPr>
            <a:xfrm>
              <a:off x="7451336" y="1353462"/>
              <a:ext cx="276038"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a:solidFill>
                    <a:schemeClr val="dk1"/>
                  </a:solidFill>
                  <a:ea typeface="Calibri"/>
                  <a:cs typeface="Calibri"/>
                  <a:sym typeface="Calibri"/>
                </a:rPr>
                <a:t>1</a:t>
              </a:r>
              <a:endParaRPr/>
            </a:p>
          </p:txBody>
        </p:sp>
        <p:sp>
          <p:nvSpPr>
            <p:cNvPr id="10" name="Google Shape;278;p35">
              <a:extLst>
                <a:ext uri="{FF2B5EF4-FFF2-40B4-BE49-F238E27FC236}">
                  <a16:creationId xmlns="" xmlns:a16="http://schemas.microsoft.com/office/drawing/2014/main" id="{54B88AEB-A0BC-4FCF-A2B4-49C6515D88AF}"/>
                </a:ext>
              </a:extLst>
            </p:cNvPr>
            <p:cNvSpPr txBox="1"/>
            <p:nvPr/>
          </p:nvSpPr>
          <p:spPr>
            <a:xfrm>
              <a:off x="6695096" y="1105698"/>
              <a:ext cx="991239" cy="30777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dirty="0">
                  <a:solidFill>
                    <a:schemeClr val="dk1"/>
                  </a:solidFill>
                  <a:ea typeface="Calibri"/>
                  <a:cs typeface="Calibri"/>
                  <a:sym typeface="Calibri"/>
                </a:rPr>
                <a:t>has</a:t>
              </a:r>
              <a:endParaRPr sz="1400" dirty="0">
                <a:solidFill>
                  <a:schemeClr val="dk1"/>
                </a:solidFill>
                <a:ea typeface="Calibri"/>
                <a:cs typeface="Calibri"/>
                <a:sym typeface="Calibri"/>
              </a:endParaRPr>
            </a:p>
          </p:txBody>
        </p:sp>
      </p:grpSp>
      <p:sp>
        <p:nvSpPr>
          <p:cNvPr id="3" name="Rectangle 2">
            <a:extLst>
              <a:ext uri="{FF2B5EF4-FFF2-40B4-BE49-F238E27FC236}">
                <a16:creationId xmlns="" xmlns:a16="http://schemas.microsoft.com/office/drawing/2014/main" id="{F21A3F76-416E-4165-8A3C-79C7896A40FD}"/>
              </a:ext>
            </a:extLst>
          </p:cNvPr>
          <p:cNvSpPr/>
          <p:nvPr/>
        </p:nvSpPr>
        <p:spPr>
          <a:xfrm>
            <a:off x="208698" y="944858"/>
            <a:ext cx="3073278" cy="461665"/>
          </a:xfrm>
          <a:prstGeom prst="rect">
            <a:avLst/>
          </a:prstGeom>
        </p:spPr>
        <p:txBody>
          <a:bodyPr wrap="none">
            <a:spAutoFit/>
          </a:bodyPr>
          <a:lstStyle/>
          <a:p>
            <a:pPr lvl="0" algn="ctr"/>
            <a:r>
              <a:rPr lang="en-US" sz="2400" b="1" dirty="0">
                <a:solidFill>
                  <a:schemeClr val="dk1"/>
                </a:solidFill>
                <a:ea typeface="Calibri"/>
                <a:cs typeface="Calibri"/>
                <a:sym typeface="Calibri"/>
              </a:rPr>
              <a:t>One to One Association</a:t>
            </a:r>
            <a:endParaRPr lang="en-US" sz="2400" dirty="0"/>
          </a:p>
        </p:txBody>
      </p:sp>
      <p:sp>
        <p:nvSpPr>
          <p:cNvPr id="44" name="Rectangle 43">
            <a:extLst>
              <a:ext uri="{FF2B5EF4-FFF2-40B4-BE49-F238E27FC236}">
                <a16:creationId xmlns="" xmlns:a16="http://schemas.microsoft.com/office/drawing/2014/main" id="{60D4C94F-F27C-4D37-98BC-5ED9E8D7689F}"/>
              </a:ext>
            </a:extLst>
          </p:cNvPr>
          <p:cNvSpPr/>
          <p:nvPr/>
        </p:nvSpPr>
        <p:spPr>
          <a:xfrm>
            <a:off x="5111457" y="1432520"/>
            <a:ext cx="4557658" cy="415498"/>
          </a:xfrm>
          <a:prstGeom prst="rect">
            <a:avLst/>
          </a:prstGeom>
        </p:spPr>
        <p:txBody>
          <a:bodyPr wrap="none">
            <a:spAutoFit/>
          </a:bodyPr>
          <a:lstStyle/>
          <a:p>
            <a:pPr lvl="0"/>
            <a:r>
              <a:rPr lang="en-US" sz="2100" dirty="0">
                <a:solidFill>
                  <a:schemeClr val="dk1"/>
                </a:solidFill>
                <a:ea typeface="Calibri"/>
                <a:cs typeface="Calibri"/>
                <a:sym typeface="Calibri"/>
              </a:rPr>
              <a:t>One account holder has one cheque book</a:t>
            </a:r>
            <a:endParaRPr lang="en-US" sz="2100" dirty="0"/>
          </a:p>
        </p:txBody>
      </p:sp>
      <p:cxnSp>
        <p:nvCxnSpPr>
          <p:cNvPr id="11" name="Straight Connector 10">
            <a:extLst>
              <a:ext uri="{FF2B5EF4-FFF2-40B4-BE49-F238E27FC236}">
                <a16:creationId xmlns="" xmlns:a16="http://schemas.microsoft.com/office/drawing/2014/main" id="{6057A150-5A03-4A26-BD59-99CA1DB31173}"/>
              </a:ext>
            </a:extLst>
          </p:cNvPr>
          <p:cNvCxnSpPr/>
          <p:nvPr/>
        </p:nvCxnSpPr>
        <p:spPr>
          <a:xfrm>
            <a:off x="208698" y="2054023"/>
            <a:ext cx="11684357" cy="0"/>
          </a:xfrm>
          <a:prstGeom prst="line">
            <a:avLst/>
          </a:prstGeom>
          <a:ln w="19050"/>
        </p:spPr>
        <p:style>
          <a:lnRef idx="2">
            <a:schemeClr val="accent1"/>
          </a:lnRef>
          <a:fillRef idx="0">
            <a:schemeClr val="accent1"/>
          </a:fillRef>
          <a:effectRef idx="1">
            <a:schemeClr val="accent1"/>
          </a:effectRef>
          <a:fontRef idx="minor">
            <a:schemeClr val="tx1"/>
          </a:fontRef>
        </p:style>
      </p:cxnSp>
      <p:grpSp>
        <p:nvGrpSpPr>
          <p:cNvPr id="54" name="Group 53">
            <a:extLst>
              <a:ext uri="{FF2B5EF4-FFF2-40B4-BE49-F238E27FC236}">
                <a16:creationId xmlns="" xmlns:a16="http://schemas.microsoft.com/office/drawing/2014/main" id="{1CCA7042-0D20-473A-92D0-9B17CFEAC0A9}"/>
              </a:ext>
            </a:extLst>
          </p:cNvPr>
          <p:cNvGrpSpPr/>
          <p:nvPr/>
        </p:nvGrpSpPr>
        <p:grpSpPr>
          <a:xfrm>
            <a:off x="288338" y="3822844"/>
            <a:ext cx="4542650" cy="585028"/>
            <a:chOff x="4859564" y="1080745"/>
            <a:chExt cx="4454700" cy="585028"/>
          </a:xfrm>
        </p:grpSpPr>
        <p:cxnSp>
          <p:nvCxnSpPr>
            <p:cNvPr id="55" name="Google Shape;272;p35">
              <a:extLst>
                <a:ext uri="{FF2B5EF4-FFF2-40B4-BE49-F238E27FC236}">
                  <a16:creationId xmlns="" xmlns:a16="http://schemas.microsoft.com/office/drawing/2014/main" id="{F5B74E12-C752-444F-9AD5-05DD797736AB}"/>
                </a:ext>
              </a:extLst>
            </p:cNvPr>
            <p:cNvCxnSpPr>
              <a:cxnSpLocks/>
              <a:stCxn id="56" idx="3"/>
              <a:endCxn id="57" idx="1"/>
            </p:cNvCxnSpPr>
            <p:nvPr/>
          </p:nvCxnSpPr>
          <p:spPr>
            <a:xfrm>
              <a:off x="6647264" y="1383096"/>
              <a:ext cx="1066800" cy="0"/>
            </a:xfrm>
            <a:prstGeom prst="straightConnector1">
              <a:avLst/>
            </a:prstGeom>
            <a:noFill/>
            <a:ln w="28575" cap="flat" cmpd="sng">
              <a:solidFill>
                <a:srgbClr val="A32D19"/>
              </a:solidFill>
              <a:prstDash val="solid"/>
              <a:round/>
              <a:headEnd type="none" w="sm" len="sm"/>
              <a:tailEnd type="none" w="sm" len="sm"/>
            </a:ln>
          </p:spPr>
        </p:cxnSp>
        <p:sp>
          <p:nvSpPr>
            <p:cNvPr id="56" name="Google Shape;273;p35">
              <a:extLst>
                <a:ext uri="{FF2B5EF4-FFF2-40B4-BE49-F238E27FC236}">
                  <a16:creationId xmlns="" xmlns:a16="http://schemas.microsoft.com/office/drawing/2014/main" id="{2E40D32C-C383-42EF-870D-810C45E2D4A3}"/>
                </a:ext>
              </a:extLst>
            </p:cNvPr>
            <p:cNvSpPr/>
            <p:nvPr/>
          </p:nvSpPr>
          <p:spPr>
            <a:xfrm>
              <a:off x="4859564" y="1154496"/>
              <a:ext cx="1787700" cy="457200"/>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algn="ctr"/>
              <a:r>
                <a:rPr lang="en-US" dirty="0">
                  <a:solidFill>
                    <a:schemeClr val="dk1"/>
                  </a:solidFill>
                  <a:cs typeface="Calibri"/>
                  <a:sym typeface="Calibri"/>
                </a:rPr>
                <a:t>Account Holder</a:t>
              </a:r>
              <a:endParaRPr lang="en-US" dirty="0">
                <a:solidFill>
                  <a:schemeClr val="dk1"/>
                </a:solidFill>
                <a:cs typeface="Calibri"/>
              </a:endParaRPr>
            </a:p>
          </p:txBody>
        </p:sp>
        <p:sp>
          <p:nvSpPr>
            <p:cNvPr id="57" name="Google Shape;274;p35">
              <a:extLst>
                <a:ext uri="{FF2B5EF4-FFF2-40B4-BE49-F238E27FC236}">
                  <a16:creationId xmlns="" xmlns:a16="http://schemas.microsoft.com/office/drawing/2014/main" id="{A719AAE6-C415-46C2-85CB-1717D78CC400}"/>
                </a:ext>
              </a:extLst>
            </p:cNvPr>
            <p:cNvSpPr/>
            <p:nvPr/>
          </p:nvSpPr>
          <p:spPr>
            <a:xfrm>
              <a:off x="7714064" y="1154496"/>
              <a:ext cx="1600200" cy="457200"/>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algn="ctr"/>
              <a:r>
                <a:rPr lang="en-US" dirty="0">
                  <a:solidFill>
                    <a:schemeClr val="dk1"/>
                  </a:solidFill>
                  <a:cs typeface="Calibri"/>
                  <a:sym typeface="Calibri"/>
                </a:rPr>
                <a:t>ATM</a:t>
              </a:r>
              <a:endParaRPr dirty="0">
                <a:solidFill>
                  <a:schemeClr val="dk1"/>
                </a:solidFill>
                <a:cs typeface="Calibri"/>
                <a:sym typeface="Calibri"/>
              </a:endParaRPr>
            </a:p>
          </p:txBody>
        </p:sp>
        <p:sp>
          <p:nvSpPr>
            <p:cNvPr id="58" name="Google Shape;276;p35">
              <a:extLst>
                <a:ext uri="{FF2B5EF4-FFF2-40B4-BE49-F238E27FC236}">
                  <a16:creationId xmlns="" xmlns:a16="http://schemas.microsoft.com/office/drawing/2014/main" id="{977940F1-E693-45A2-AEDB-F192423F2D62}"/>
                </a:ext>
              </a:extLst>
            </p:cNvPr>
            <p:cNvSpPr txBox="1"/>
            <p:nvPr/>
          </p:nvSpPr>
          <p:spPr>
            <a:xfrm>
              <a:off x="6624147" y="1357996"/>
              <a:ext cx="224947"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a:solidFill>
                    <a:schemeClr val="dk1"/>
                  </a:solidFill>
                  <a:cs typeface="Calibri"/>
                  <a:sym typeface="Calibri"/>
                </a:rPr>
                <a:t>*</a:t>
              </a:r>
              <a:endParaRPr dirty="0"/>
            </a:p>
          </p:txBody>
        </p:sp>
        <p:sp>
          <p:nvSpPr>
            <p:cNvPr id="59" name="Google Shape;277;p35">
              <a:extLst>
                <a:ext uri="{FF2B5EF4-FFF2-40B4-BE49-F238E27FC236}">
                  <a16:creationId xmlns="" xmlns:a16="http://schemas.microsoft.com/office/drawing/2014/main" id="{3A7FA966-836D-40A9-ADB7-5F99483E86FF}"/>
                </a:ext>
              </a:extLst>
            </p:cNvPr>
            <p:cNvSpPr txBox="1"/>
            <p:nvPr/>
          </p:nvSpPr>
          <p:spPr>
            <a:xfrm>
              <a:off x="7451336" y="1353462"/>
              <a:ext cx="276038"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IN" sz="1400" dirty="0"/>
                <a:t>*</a:t>
              </a:r>
              <a:endParaRPr sz="1400" dirty="0"/>
            </a:p>
          </p:txBody>
        </p:sp>
        <p:sp>
          <p:nvSpPr>
            <p:cNvPr id="60" name="Google Shape;278;p35">
              <a:extLst>
                <a:ext uri="{FF2B5EF4-FFF2-40B4-BE49-F238E27FC236}">
                  <a16:creationId xmlns="" xmlns:a16="http://schemas.microsoft.com/office/drawing/2014/main" id="{62EF278A-27F6-4438-9AB1-AF04E1DC2956}"/>
                </a:ext>
              </a:extLst>
            </p:cNvPr>
            <p:cNvSpPr txBox="1"/>
            <p:nvPr/>
          </p:nvSpPr>
          <p:spPr>
            <a:xfrm>
              <a:off x="6631257" y="1080745"/>
              <a:ext cx="1243493" cy="307777"/>
            </a:xfrm>
            <a:prstGeom prst="rect">
              <a:avLst/>
            </a:prstGeom>
            <a:noFill/>
            <a:ln>
              <a:noFill/>
            </a:ln>
          </p:spPr>
          <p:txBody>
            <a:bodyPr spcFirstLastPara="1" wrap="square" lIns="91425" tIns="45700" rIns="91425" bIns="45700" anchor="t" anchorCtr="0">
              <a:noAutofit/>
            </a:bodyPr>
            <a:lstStyle/>
            <a:p>
              <a:pPr lvl="0" algn="ctr"/>
              <a:r>
                <a:rPr lang="en-US" sz="1400" dirty="0">
                  <a:solidFill>
                    <a:schemeClr val="dk1"/>
                  </a:solidFill>
                  <a:ea typeface="Calibri"/>
                  <a:cs typeface="Calibri"/>
                  <a:sym typeface="Calibri"/>
                </a:rPr>
                <a:t>withdraw</a:t>
              </a:r>
              <a:endParaRPr sz="1400" dirty="0">
                <a:solidFill>
                  <a:schemeClr val="dk1"/>
                </a:solidFill>
                <a:ea typeface="Calibri"/>
                <a:cs typeface="Calibri"/>
                <a:sym typeface="Calibri"/>
              </a:endParaRPr>
            </a:p>
          </p:txBody>
        </p:sp>
      </p:grpSp>
      <p:sp>
        <p:nvSpPr>
          <p:cNvPr id="77" name="Rectangle 76">
            <a:extLst>
              <a:ext uri="{FF2B5EF4-FFF2-40B4-BE49-F238E27FC236}">
                <a16:creationId xmlns="" xmlns:a16="http://schemas.microsoft.com/office/drawing/2014/main" id="{13F55576-CA69-4508-9C13-1891DD45CB49}"/>
              </a:ext>
            </a:extLst>
          </p:cNvPr>
          <p:cNvSpPr/>
          <p:nvPr/>
        </p:nvSpPr>
        <p:spPr>
          <a:xfrm>
            <a:off x="253821" y="3364713"/>
            <a:ext cx="3438762" cy="461665"/>
          </a:xfrm>
          <a:prstGeom prst="rect">
            <a:avLst/>
          </a:prstGeom>
        </p:spPr>
        <p:txBody>
          <a:bodyPr wrap="none">
            <a:spAutoFit/>
          </a:bodyPr>
          <a:lstStyle/>
          <a:p>
            <a:pPr lvl="0" algn="ctr"/>
            <a:r>
              <a:rPr lang="en-US" sz="2400" b="1" dirty="0">
                <a:solidFill>
                  <a:schemeClr val="dk1"/>
                </a:solidFill>
                <a:ea typeface="Calibri"/>
                <a:cs typeface="Calibri"/>
                <a:sym typeface="Calibri"/>
              </a:rPr>
              <a:t>Many to Many Association</a:t>
            </a:r>
          </a:p>
        </p:txBody>
      </p:sp>
      <p:sp>
        <p:nvSpPr>
          <p:cNvPr id="78" name="Rectangle 77">
            <a:extLst>
              <a:ext uri="{FF2B5EF4-FFF2-40B4-BE49-F238E27FC236}">
                <a16:creationId xmlns="" xmlns:a16="http://schemas.microsoft.com/office/drawing/2014/main" id="{61A1493A-3712-4F7E-ABED-D4B0A946DCFF}"/>
              </a:ext>
            </a:extLst>
          </p:cNvPr>
          <p:cNvSpPr/>
          <p:nvPr/>
        </p:nvSpPr>
        <p:spPr>
          <a:xfrm>
            <a:off x="5111457" y="3896595"/>
            <a:ext cx="6252033" cy="415498"/>
          </a:xfrm>
          <a:prstGeom prst="rect">
            <a:avLst/>
          </a:prstGeom>
        </p:spPr>
        <p:txBody>
          <a:bodyPr wrap="none">
            <a:spAutoFit/>
          </a:bodyPr>
          <a:lstStyle/>
          <a:p>
            <a:pPr lvl="0"/>
            <a:r>
              <a:rPr lang="en-US" sz="2100" dirty="0">
                <a:solidFill>
                  <a:schemeClr val="dk1"/>
                </a:solidFill>
                <a:ea typeface="Calibri"/>
                <a:cs typeface="Calibri"/>
                <a:sym typeface="Calibri"/>
              </a:rPr>
              <a:t>Every account holder can withdraw </a:t>
            </a:r>
            <a:r>
              <a:rPr lang="en-IN" sz="2100" dirty="0">
                <a:solidFill>
                  <a:schemeClr val="dk1"/>
                </a:solidFill>
                <a:ea typeface="Calibri"/>
                <a:cs typeface="Calibri"/>
                <a:sym typeface="Calibri"/>
              </a:rPr>
              <a:t>money </a:t>
            </a:r>
            <a:r>
              <a:rPr lang="en-US" sz="2100" dirty="0">
                <a:solidFill>
                  <a:schemeClr val="dk1"/>
                </a:solidFill>
                <a:ea typeface="Calibri"/>
                <a:cs typeface="Calibri"/>
                <a:sym typeface="Calibri"/>
              </a:rPr>
              <a:t>from all ATMs.</a:t>
            </a:r>
            <a:endParaRPr lang="en-US" sz="2100" dirty="0"/>
          </a:p>
        </p:txBody>
      </p:sp>
      <p:cxnSp>
        <p:nvCxnSpPr>
          <p:cNvPr id="79" name="Straight Connector 78">
            <a:extLst>
              <a:ext uri="{FF2B5EF4-FFF2-40B4-BE49-F238E27FC236}">
                <a16:creationId xmlns="" xmlns:a16="http://schemas.microsoft.com/office/drawing/2014/main" id="{7EB38BDD-1B1F-4A81-B9B8-05FF806FB8FA}"/>
              </a:ext>
            </a:extLst>
          </p:cNvPr>
          <p:cNvCxnSpPr/>
          <p:nvPr/>
        </p:nvCxnSpPr>
        <p:spPr>
          <a:xfrm>
            <a:off x="208698" y="4518768"/>
            <a:ext cx="11684357"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 xmlns:a16="http://schemas.microsoft.com/office/drawing/2014/main" id="{F1F76AD5-D9D3-48F8-9333-CEB1B3BC3DDC}"/>
              </a:ext>
            </a:extLst>
          </p:cNvPr>
          <p:cNvSpPr/>
          <p:nvPr/>
        </p:nvSpPr>
        <p:spPr>
          <a:xfrm>
            <a:off x="201597" y="2110504"/>
            <a:ext cx="4221028" cy="461665"/>
          </a:xfrm>
          <a:prstGeom prst="rect">
            <a:avLst/>
          </a:prstGeom>
        </p:spPr>
        <p:txBody>
          <a:bodyPr wrap="none">
            <a:spAutoFit/>
          </a:bodyPr>
          <a:lstStyle/>
          <a:p>
            <a:pPr lvl="0" algn="ctr"/>
            <a:r>
              <a:rPr lang="en-US" sz="2400" b="1" dirty="0">
                <a:solidFill>
                  <a:schemeClr val="dk1"/>
                </a:solidFill>
                <a:ea typeface="Calibri"/>
                <a:cs typeface="Calibri"/>
                <a:sym typeface="Calibri"/>
              </a:rPr>
              <a:t>Many to Zero or One Association</a:t>
            </a:r>
            <a:endParaRPr lang="en-US" sz="2400" dirty="0"/>
          </a:p>
        </p:txBody>
      </p:sp>
      <p:sp>
        <p:nvSpPr>
          <p:cNvPr id="75" name="Rectangle 74">
            <a:extLst>
              <a:ext uri="{FF2B5EF4-FFF2-40B4-BE49-F238E27FC236}">
                <a16:creationId xmlns="" xmlns:a16="http://schemas.microsoft.com/office/drawing/2014/main" id="{75D25511-F5D6-4D75-BA94-85ED7F4F5DC8}"/>
              </a:ext>
            </a:extLst>
          </p:cNvPr>
          <p:cNvSpPr/>
          <p:nvPr/>
        </p:nvSpPr>
        <p:spPr>
          <a:xfrm>
            <a:off x="5111457" y="2669412"/>
            <a:ext cx="5670142" cy="415498"/>
          </a:xfrm>
          <a:prstGeom prst="rect">
            <a:avLst/>
          </a:prstGeom>
        </p:spPr>
        <p:txBody>
          <a:bodyPr wrap="none">
            <a:spAutoFit/>
          </a:bodyPr>
          <a:lstStyle/>
          <a:p>
            <a:pPr lvl="0"/>
            <a:r>
              <a:rPr lang="en-US" sz="2100" dirty="0">
                <a:solidFill>
                  <a:schemeClr val="dk1"/>
                </a:solidFill>
                <a:ea typeface="Calibri"/>
                <a:cs typeface="Calibri"/>
                <a:sym typeface="Calibri"/>
              </a:rPr>
              <a:t>An account holder can issue at most one debit card.</a:t>
            </a:r>
            <a:endParaRPr lang="en-US" sz="2100" dirty="0"/>
          </a:p>
        </p:txBody>
      </p:sp>
      <p:cxnSp>
        <p:nvCxnSpPr>
          <p:cNvPr id="76" name="Straight Connector 75">
            <a:extLst>
              <a:ext uri="{FF2B5EF4-FFF2-40B4-BE49-F238E27FC236}">
                <a16:creationId xmlns="" xmlns:a16="http://schemas.microsoft.com/office/drawing/2014/main" id="{8D2B0EFF-F5F1-420A-BCFF-01646C976FB3}"/>
              </a:ext>
            </a:extLst>
          </p:cNvPr>
          <p:cNvCxnSpPr/>
          <p:nvPr/>
        </p:nvCxnSpPr>
        <p:spPr>
          <a:xfrm>
            <a:off x="253821" y="3303297"/>
            <a:ext cx="11684357" cy="0"/>
          </a:xfrm>
          <a:prstGeom prst="line">
            <a:avLst/>
          </a:prstGeom>
          <a:ln w="19050"/>
        </p:spPr>
        <p:style>
          <a:lnRef idx="2">
            <a:schemeClr val="accent1"/>
          </a:lnRef>
          <a:fillRef idx="0">
            <a:schemeClr val="accent1"/>
          </a:fillRef>
          <a:effectRef idx="1">
            <a:schemeClr val="accent1"/>
          </a:effectRef>
          <a:fontRef idx="minor">
            <a:schemeClr val="tx1"/>
          </a:fontRef>
        </p:style>
      </p:cxnSp>
      <p:grpSp>
        <p:nvGrpSpPr>
          <p:cNvPr id="12" name="Group 11">
            <a:extLst>
              <a:ext uri="{FF2B5EF4-FFF2-40B4-BE49-F238E27FC236}">
                <a16:creationId xmlns="" xmlns:a16="http://schemas.microsoft.com/office/drawing/2014/main" id="{DF6AFAC5-035B-45BF-8266-0313424A634D}"/>
              </a:ext>
            </a:extLst>
          </p:cNvPr>
          <p:cNvGrpSpPr/>
          <p:nvPr/>
        </p:nvGrpSpPr>
        <p:grpSpPr>
          <a:xfrm>
            <a:off x="323342" y="2622648"/>
            <a:ext cx="4542650" cy="584852"/>
            <a:chOff x="359823" y="2212815"/>
            <a:chExt cx="4542650" cy="584852"/>
          </a:xfrm>
        </p:grpSpPr>
        <p:grpSp>
          <p:nvGrpSpPr>
            <p:cNvPr id="47" name="Group 46">
              <a:extLst>
                <a:ext uri="{FF2B5EF4-FFF2-40B4-BE49-F238E27FC236}">
                  <a16:creationId xmlns="" xmlns:a16="http://schemas.microsoft.com/office/drawing/2014/main" id="{408670D0-03C5-499F-AE66-5DBF4321DB9B}"/>
                </a:ext>
              </a:extLst>
            </p:cNvPr>
            <p:cNvGrpSpPr/>
            <p:nvPr/>
          </p:nvGrpSpPr>
          <p:grpSpPr>
            <a:xfrm>
              <a:off x="359823" y="2286390"/>
              <a:ext cx="4542650" cy="511277"/>
              <a:chOff x="4771614" y="1154496"/>
              <a:chExt cx="4542650" cy="511277"/>
            </a:xfrm>
          </p:grpSpPr>
          <p:cxnSp>
            <p:nvCxnSpPr>
              <p:cNvPr id="48" name="Google Shape;272;p35">
                <a:extLst>
                  <a:ext uri="{FF2B5EF4-FFF2-40B4-BE49-F238E27FC236}">
                    <a16:creationId xmlns="" xmlns:a16="http://schemas.microsoft.com/office/drawing/2014/main" id="{52FF80C3-44F9-4330-B45B-374E591DC0CB}"/>
                  </a:ext>
                </a:extLst>
              </p:cNvPr>
              <p:cNvCxnSpPr>
                <a:cxnSpLocks/>
                <a:stCxn id="49" idx="3"/>
                <a:endCxn id="50" idx="1"/>
              </p:cNvCxnSpPr>
              <p:nvPr/>
            </p:nvCxnSpPr>
            <p:spPr>
              <a:xfrm>
                <a:off x="6647264" y="1383096"/>
                <a:ext cx="1066800" cy="0"/>
              </a:xfrm>
              <a:prstGeom prst="straightConnector1">
                <a:avLst/>
              </a:prstGeom>
              <a:noFill/>
              <a:ln w="28575" cap="flat" cmpd="sng">
                <a:solidFill>
                  <a:srgbClr val="A32D19"/>
                </a:solidFill>
                <a:prstDash val="solid"/>
                <a:round/>
                <a:headEnd type="none" w="sm" len="sm"/>
                <a:tailEnd type="none" w="sm" len="sm"/>
              </a:ln>
            </p:spPr>
          </p:cxnSp>
          <p:sp>
            <p:nvSpPr>
              <p:cNvPr id="49" name="Google Shape;273;p35">
                <a:extLst>
                  <a:ext uri="{FF2B5EF4-FFF2-40B4-BE49-F238E27FC236}">
                    <a16:creationId xmlns="" xmlns:a16="http://schemas.microsoft.com/office/drawing/2014/main" id="{7F0118C5-E8B4-4310-B0A8-7EAE319E491A}"/>
                  </a:ext>
                </a:extLst>
              </p:cNvPr>
              <p:cNvSpPr/>
              <p:nvPr/>
            </p:nvSpPr>
            <p:spPr>
              <a:xfrm>
                <a:off x="4771614" y="1154496"/>
                <a:ext cx="1875650" cy="457200"/>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algn="ctr"/>
                <a:r>
                  <a:rPr lang="en-US" dirty="0">
                    <a:cs typeface="Calibri"/>
                    <a:sym typeface="Calibri"/>
                  </a:rPr>
                  <a:t>Account Holder</a:t>
                </a:r>
                <a:endParaRPr lang="en-US" dirty="0">
                  <a:cs typeface="Calibri"/>
                </a:endParaRPr>
              </a:p>
            </p:txBody>
          </p:sp>
          <p:sp>
            <p:nvSpPr>
              <p:cNvPr id="50" name="Google Shape;274;p35">
                <a:extLst>
                  <a:ext uri="{FF2B5EF4-FFF2-40B4-BE49-F238E27FC236}">
                    <a16:creationId xmlns="" xmlns:a16="http://schemas.microsoft.com/office/drawing/2014/main" id="{CAB6DD69-C438-41DD-A3DD-24CD5CED42CA}"/>
                  </a:ext>
                </a:extLst>
              </p:cNvPr>
              <p:cNvSpPr/>
              <p:nvPr/>
            </p:nvSpPr>
            <p:spPr>
              <a:xfrm>
                <a:off x="7714064" y="1154496"/>
                <a:ext cx="1600200" cy="457200"/>
              </a:xfrm>
              <a:prstGeom prst="rect">
                <a:avLst/>
              </a:prstGeom>
              <a:noFill/>
              <a:ln w="9525"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ea typeface="Calibri"/>
                    <a:cs typeface="Calibri"/>
                    <a:sym typeface="Calibri"/>
                  </a:rPr>
                  <a:t>Debit Card</a:t>
                </a:r>
                <a:endParaRPr sz="1800" dirty="0">
                  <a:ea typeface="Calibri"/>
                  <a:cs typeface="Calibri"/>
                  <a:sym typeface="Calibri"/>
                </a:endParaRPr>
              </a:p>
            </p:txBody>
          </p:sp>
          <p:sp>
            <p:nvSpPr>
              <p:cNvPr id="51" name="Google Shape;276;p35">
                <a:extLst>
                  <a:ext uri="{FF2B5EF4-FFF2-40B4-BE49-F238E27FC236}">
                    <a16:creationId xmlns="" xmlns:a16="http://schemas.microsoft.com/office/drawing/2014/main" id="{97F392B5-789E-4F10-9603-AAAAD0DC1F64}"/>
                  </a:ext>
                </a:extLst>
              </p:cNvPr>
              <p:cNvSpPr txBox="1"/>
              <p:nvPr/>
            </p:nvSpPr>
            <p:spPr>
              <a:xfrm>
                <a:off x="6624147" y="1357996"/>
                <a:ext cx="224947"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a:solidFill>
                      <a:schemeClr val="dk1"/>
                    </a:solidFill>
                    <a:ea typeface="Calibri"/>
                    <a:cs typeface="Calibri"/>
                    <a:sym typeface="Calibri"/>
                  </a:rPr>
                  <a:t>*</a:t>
                </a:r>
                <a:endParaRPr dirty="0"/>
              </a:p>
            </p:txBody>
          </p:sp>
          <p:sp>
            <p:nvSpPr>
              <p:cNvPr id="52" name="Google Shape;277;p35">
                <a:extLst>
                  <a:ext uri="{FF2B5EF4-FFF2-40B4-BE49-F238E27FC236}">
                    <a16:creationId xmlns="" xmlns:a16="http://schemas.microsoft.com/office/drawing/2014/main" id="{71CE9DCA-343B-4AB8-8286-19C909B2173B}"/>
                  </a:ext>
                </a:extLst>
              </p:cNvPr>
              <p:cNvSpPr txBox="1"/>
              <p:nvPr/>
            </p:nvSpPr>
            <p:spPr>
              <a:xfrm>
                <a:off x="7330391" y="1357995"/>
                <a:ext cx="477017"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a:solidFill>
                      <a:schemeClr val="dk1"/>
                    </a:solidFill>
                    <a:ea typeface="Calibri"/>
                    <a:cs typeface="Calibri"/>
                    <a:sym typeface="Calibri"/>
                  </a:rPr>
                  <a:t>0..1</a:t>
                </a:r>
                <a:endParaRPr dirty="0"/>
              </a:p>
            </p:txBody>
          </p:sp>
        </p:grpSp>
        <p:sp>
          <p:nvSpPr>
            <p:cNvPr id="81" name="Google Shape;278;p35">
              <a:extLst>
                <a:ext uri="{FF2B5EF4-FFF2-40B4-BE49-F238E27FC236}">
                  <a16:creationId xmlns="" xmlns:a16="http://schemas.microsoft.com/office/drawing/2014/main" id="{457CEF13-9EAA-4AF7-826F-A72E2FE9FC81}"/>
                </a:ext>
              </a:extLst>
            </p:cNvPr>
            <p:cNvSpPr txBox="1"/>
            <p:nvPr/>
          </p:nvSpPr>
          <p:spPr>
            <a:xfrm>
              <a:off x="2203069" y="2212815"/>
              <a:ext cx="991239" cy="30777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dirty="0">
                  <a:solidFill>
                    <a:schemeClr val="dk1"/>
                  </a:solidFill>
                  <a:ea typeface="Calibri"/>
                  <a:cs typeface="Calibri"/>
                  <a:sym typeface="Calibri"/>
                </a:rPr>
                <a:t>issue</a:t>
              </a:r>
              <a:endParaRPr sz="1400" dirty="0">
                <a:solidFill>
                  <a:schemeClr val="dk1"/>
                </a:solidFill>
                <a:ea typeface="Calibri"/>
                <a:cs typeface="Calibri"/>
                <a:sym typeface="Calibri"/>
              </a:endParaRPr>
            </a:p>
          </p:txBody>
        </p:sp>
      </p:grpSp>
      <p:grpSp>
        <p:nvGrpSpPr>
          <p:cNvPr id="68" name="Group 67">
            <a:extLst>
              <a:ext uri="{FF2B5EF4-FFF2-40B4-BE49-F238E27FC236}">
                <a16:creationId xmlns="" xmlns:a16="http://schemas.microsoft.com/office/drawing/2014/main" id="{D3A271C7-1644-4B85-AB71-6B3BBDE56AEF}"/>
              </a:ext>
            </a:extLst>
          </p:cNvPr>
          <p:cNvGrpSpPr/>
          <p:nvPr/>
        </p:nvGrpSpPr>
        <p:grpSpPr>
          <a:xfrm>
            <a:off x="284165" y="5094067"/>
            <a:ext cx="4542649" cy="560624"/>
            <a:chOff x="4771615" y="1105149"/>
            <a:chExt cx="4542649" cy="560624"/>
          </a:xfrm>
        </p:grpSpPr>
        <p:cxnSp>
          <p:nvCxnSpPr>
            <p:cNvPr id="69" name="Google Shape;272;p35">
              <a:extLst>
                <a:ext uri="{FF2B5EF4-FFF2-40B4-BE49-F238E27FC236}">
                  <a16:creationId xmlns="" xmlns:a16="http://schemas.microsoft.com/office/drawing/2014/main" id="{C4955641-80FD-40B5-959F-06929CC1963D}"/>
                </a:ext>
              </a:extLst>
            </p:cNvPr>
            <p:cNvCxnSpPr>
              <a:cxnSpLocks/>
              <a:stCxn id="70" idx="3"/>
              <a:endCxn id="71" idx="1"/>
            </p:cNvCxnSpPr>
            <p:nvPr/>
          </p:nvCxnSpPr>
          <p:spPr>
            <a:xfrm>
              <a:off x="6647265" y="1383096"/>
              <a:ext cx="1066799" cy="0"/>
            </a:xfrm>
            <a:prstGeom prst="straightConnector1">
              <a:avLst/>
            </a:prstGeom>
            <a:noFill/>
            <a:ln w="28575" cap="flat" cmpd="sng">
              <a:solidFill>
                <a:srgbClr val="A32D19"/>
              </a:solidFill>
              <a:prstDash val="solid"/>
              <a:round/>
              <a:headEnd type="none" w="sm" len="sm"/>
              <a:tailEnd type="none" w="sm" len="sm"/>
            </a:ln>
          </p:spPr>
        </p:cxnSp>
        <p:sp>
          <p:nvSpPr>
            <p:cNvPr id="70" name="Google Shape;273;p35">
              <a:extLst>
                <a:ext uri="{FF2B5EF4-FFF2-40B4-BE49-F238E27FC236}">
                  <a16:creationId xmlns="" xmlns:a16="http://schemas.microsoft.com/office/drawing/2014/main" id="{0CAB0C18-48E3-42B7-90BF-189FB4F45E88}"/>
                </a:ext>
              </a:extLst>
            </p:cNvPr>
            <p:cNvSpPr/>
            <p:nvPr/>
          </p:nvSpPr>
          <p:spPr>
            <a:xfrm>
              <a:off x="4771615" y="1154496"/>
              <a:ext cx="1875650" cy="457200"/>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algn="ctr"/>
              <a:r>
                <a:rPr lang="en-US" dirty="0">
                  <a:solidFill>
                    <a:schemeClr val="dk1"/>
                  </a:solidFill>
                  <a:cs typeface="Calibri"/>
                  <a:sym typeface="Calibri"/>
                </a:rPr>
                <a:t>Bank</a:t>
              </a:r>
              <a:endParaRPr dirty="0">
                <a:solidFill>
                  <a:schemeClr val="dk1"/>
                </a:solidFill>
                <a:cs typeface="Calibri"/>
              </a:endParaRPr>
            </a:p>
          </p:txBody>
        </p:sp>
        <p:sp>
          <p:nvSpPr>
            <p:cNvPr id="71" name="Google Shape;274;p35">
              <a:extLst>
                <a:ext uri="{FF2B5EF4-FFF2-40B4-BE49-F238E27FC236}">
                  <a16:creationId xmlns="" xmlns:a16="http://schemas.microsoft.com/office/drawing/2014/main" id="{CF855C1F-F333-4F92-927D-EA677C51252D}"/>
                </a:ext>
              </a:extLst>
            </p:cNvPr>
            <p:cNvSpPr/>
            <p:nvPr/>
          </p:nvSpPr>
          <p:spPr>
            <a:xfrm>
              <a:off x="7714064" y="1154496"/>
              <a:ext cx="1600200" cy="457200"/>
            </a:xfrm>
            <a:prstGeom prst="rect">
              <a:avLst/>
            </a:prstGeom>
            <a:ln>
              <a:headEnd type="none" w="sm" len="sm"/>
              <a:tailEnd type="none" w="sm" len="sm"/>
            </a:ln>
          </p:spPr>
          <p:style>
            <a:lnRef idx="2">
              <a:schemeClr val="accent6"/>
            </a:lnRef>
            <a:fillRef idx="1">
              <a:schemeClr val="lt1"/>
            </a:fillRef>
            <a:effectRef idx="0">
              <a:schemeClr val="accent6"/>
            </a:effectRef>
            <a:fontRef idx="minor">
              <a:schemeClr val="dk1"/>
            </a:fontRef>
          </p:style>
          <p:txBody>
            <a:bodyPr spcFirstLastPara="1" wrap="square" lIns="91425" tIns="45700" rIns="91425" bIns="45700" anchor="ctr" anchorCtr="0">
              <a:noAutofit/>
            </a:bodyPr>
            <a:lstStyle/>
            <a:p>
              <a:pPr algn="ctr"/>
              <a:r>
                <a:rPr lang="en-US" dirty="0">
                  <a:solidFill>
                    <a:schemeClr val="dk1"/>
                  </a:solidFill>
                  <a:cs typeface="Calibri"/>
                  <a:sym typeface="Calibri"/>
                </a:rPr>
                <a:t>Branch</a:t>
              </a:r>
              <a:endParaRPr dirty="0">
                <a:solidFill>
                  <a:schemeClr val="dk1"/>
                </a:solidFill>
                <a:cs typeface="Calibri"/>
                <a:sym typeface="Calibri"/>
              </a:endParaRPr>
            </a:p>
          </p:txBody>
        </p:sp>
        <p:sp>
          <p:nvSpPr>
            <p:cNvPr id="72" name="Google Shape;276;p35">
              <a:extLst>
                <a:ext uri="{FF2B5EF4-FFF2-40B4-BE49-F238E27FC236}">
                  <a16:creationId xmlns="" xmlns:a16="http://schemas.microsoft.com/office/drawing/2014/main" id="{3AF1E4B6-FF9B-4950-B39B-5D39AE5A9498}"/>
                </a:ext>
              </a:extLst>
            </p:cNvPr>
            <p:cNvSpPr txBox="1"/>
            <p:nvPr/>
          </p:nvSpPr>
          <p:spPr>
            <a:xfrm>
              <a:off x="6624147" y="1357996"/>
              <a:ext cx="224947"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a:solidFill>
                    <a:schemeClr val="dk1"/>
                  </a:solidFill>
                  <a:ea typeface="Calibri"/>
                  <a:cs typeface="Calibri"/>
                  <a:sym typeface="Calibri"/>
                </a:rPr>
                <a:t>1</a:t>
              </a:r>
              <a:endParaRPr/>
            </a:p>
          </p:txBody>
        </p:sp>
        <p:sp>
          <p:nvSpPr>
            <p:cNvPr id="73" name="Google Shape;277;p35">
              <a:extLst>
                <a:ext uri="{FF2B5EF4-FFF2-40B4-BE49-F238E27FC236}">
                  <a16:creationId xmlns="" xmlns:a16="http://schemas.microsoft.com/office/drawing/2014/main" id="{86050D86-E693-4319-B3DC-A4D1C1F61195}"/>
                </a:ext>
              </a:extLst>
            </p:cNvPr>
            <p:cNvSpPr txBox="1"/>
            <p:nvPr/>
          </p:nvSpPr>
          <p:spPr>
            <a:xfrm>
              <a:off x="7333413" y="1354312"/>
              <a:ext cx="464558"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a:solidFill>
                    <a:schemeClr val="dk1"/>
                  </a:solidFill>
                  <a:ea typeface="Calibri"/>
                  <a:cs typeface="Calibri"/>
                  <a:sym typeface="Calibri"/>
                </a:rPr>
                <a:t>1..*</a:t>
              </a:r>
              <a:endParaRPr dirty="0"/>
            </a:p>
          </p:txBody>
        </p:sp>
        <p:sp>
          <p:nvSpPr>
            <p:cNvPr id="74" name="Google Shape;278;p35">
              <a:extLst>
                <a:ext uri="{FF2B5EF4-FFF2-40B4-BE49-F238E27FC236}">
                  <a16:creationId xmlns="" xmlns:a16="http://schemas.microsoft.com/office/drawing/2014/main" id="{48381C38-7711-4052-A923-23F08E7B580E}"/>
                </a:ext>
              </a:extLst>
            </p:cNvPr>
            <p:cNvSpPr txBox="1"/>
            <p:nvPr/>
          </p:nvSpPr>
          <p:spPr>
            <a:xfrm>
              <a:off x="6655256" y="1105149"/>
              <a:ext cx="991239" cy="30777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dirty="0">
                  <a:solidFill>
                    <a:schemeClr val="dk1"/>
                  </a:solidFill>
                  <a:ea typeface="Calibri"/>
                  <a:cs typeface="Calibri"/>
                  <a:sym typeface="Calibri"/>
                </a:rPr>
                <a:t>have</a:t>
              </a:r>
              <a:endParaRPr sz="1400" dirty="0">
                <a:solidFill>
                  <a:schemeClr val="dk1"/>
                </a:solidFill>
                <a:ea typeface="Calibri"/>
                <a:cs typeface="Calibri"/>
                <a:sym typeface="Calibri"/>
              </a:endParaRPr>
            </a:p>
          </p:txBody>
        </p:sp>
      </p:grpSp>
      <p:sp>
        <p:nvSpPr>
          <p:cNvPr id="83" name="Rectangle 82">
            <a:extLst>
              <a:ext uri="{FF2B5EF4-FFF2-40B4-BE49-F238E27FC236}">
                <a16:creationId xmlns="" xmlns:a16="http://schemas.microsoft.com/office/drawing/2014/main" id="{FE77A5C9-EF2B-4163-9426-673ED6ACB870}"/>
              </a:ext>
            </a:extLst>
          </p:cNvPr>
          <p:cNvSpPr/>
          <p:nvPr/>
        </p:nvSpPr>
        <p:spPr>
          <a:xfrm>
            <a:off x="201597" y="4585742"/>
            <a:ext cx="4139275" cy="461665"/>
          </a:xfrm>
          <a:prstGeom prst="rect">
            <a:avLst/>
          </a:prstGeom>
        </p:spPr>
        <p:txBody>
          <a:bodyPr wrap="none">
            <a:spAutoFit/>
          </a:bodyPr>
          <a:lstStyle/>
          <a:p>
            <a:pPr lvl="0" algn="ctr"/>
            <a:r>
              <a:rPr lang="en-US" sz="2400" b="1" dirty="0">
                <a:solidFill>
                  <a:schemeClr val="dk1"/>
                </a:solidFill>
                <a:ea typeface="Calibri"/>
                <a:cs typeface="Calibri"/>
                <a:sym typeface="Calibri"/>
              </a:rPr>
              <a:t>One to One or Many Association</a:t>
            </a:r>
            <a:endParaRPr lang="en-US" sz="2400" dirty="0"/>
          </a:p>
        </p:txBody>
      </p:sp>
      <p:sp>
        <p:nvSpPr>
          <p:cNvPr id="85" name="Rectangle 84">
            <a:extLst>
              <a:ext uri="{FF2B5EF4-FFF2-40B4-BE49-F238E27FC236}">
                <a16:creationId xmlns="" xmlns:a16="http://schemas.microsoft.com/office/drawing/2014/main" id="{B695AD3B-B97B-4BB5-9E7B-2B12F38D4587}"/>
              </a:ext>
            </a:extLst>
          </p:cNvPr>
          <p:cNvSpPr/>
          <p:nvPr/>
        </p:nvSpPr>
        <p:spPr>
          <a:xfrm>
            <a:off x="5111457" y="5164265"/>
            <a:ext cx="4649030" cy="415498"/>
          </a:xfrm>
          <a:prstGeom prst="rect">
            <a:avLst/>
          </a:prstGeom>
        </p:spPr>
        <p:txBody>
          <a:bodyPr wrap="none">
            <a:spAutoFit/>
          </a:bodyPr>
          <a:lstStyle/>
          <a:p>
            <a:pPr lvl="0"/>
            <a:r>
              <a:rPr lang="en-US" sz="2100" dirty="0">
                <a:solidFill>
                  <a:schemeClr val="dk1"/>
                </a:solidFill>
                <a:ea typeface="Calibri"/>
                <a:cs typeface="Calibri"/>
                <a:sym typeface="Calibri"/>
              </a:rPr>
              <a:t>The bank should have at least one branch.</a:t>
            </a:r>
            <a:endParaRPr lang="en-US" sz="2100" dirty="0"/>
          </a:p>
        </p:txBody>
      </p:sp>
    </p:spTree>
    <p:extLst>
      <p:ext uri="{BB962C8B-B14F-4D97-AF65-F5344CB8AC3E}">
        <p14:creationId xmlns:p14="http://schemas.microsoft.com/office/powerpoint/2010/main" val="2138029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22" presetClass="entr" presetSubtype="8"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75"/>
                                        </p:tgtEl>
                                        <p:attrNameLst>
                                          <p:attrName>style.visibility</p:attrName>
                                        </p:attrNameLst>
                                      </p:cBhvr>
                                      <p:to>
                                        <p:strVal val="visible"/>
                                      </p:to>
                                    </p:set>
                                  </p:childTnLst>
                                </p:cTn>
                              </p:par>
                              <p:par>
                                <p:cTn id="30" presetID="22" presetClass="entr" presetSubtype="8" fill="hold" nodeType="withEffect">
                                  <p:stCondLst>
                                    <p:cond delay="0"/>
                                  </p:stCondLst>
                                  <p:childTnLst>
                                    <p:set>
                                      <p:cBhvr>
                                        <p:cTn id="31" dur="1" fill="hold">
                                          <p:stCondLst>
                                            <p:cond delay="0"/>
                                          </p:stCondLst>
                                        </p:cTn>
                                        <p:tgtEl>
                                          <p:spTgt spid="76"/>
                                        </p:tgtEl>
                                        <p:attrNameLst>
                                          <p:attrName>style.visibility</p:attrName>
                                        </p:attrNameLst>
                                      </p:cBhvr>
                                      <p:to>
                                        <p:strVal val="visible"/>
                                      </p:to>
                                    </p:set>
                                    <p:animEffect transition="in" filter="wipe(left)">
                                      <p:cBhvr>
                                        <p:cTn id="32" dur="500"/>
                                        <p:tgtEl>
                                          <p:spTgt spid="76"/>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8"/>
                                        </p:tgtEl>
                                        <p:attrNameLst>
                                          <p:attrName>style.visibility</p:attrName>
                                        </p:attrNameLst>
                                      </p:cBhvr>
                                      <p:to>
                                        <p:strVal val="visible"/>
                                      </p:to>
                                    </p:set>
                                  </p:childTnLst>
                                </p:cTn>
                              </p:par>
                              <p:par>
                                <p:cTn id="45" presetID="22" presetClass="entr" presetSubtype="8" fill="hold" nodeType="withEffect">
                                  <p:stCondLst>
                                    <p:cond delay="0"/>
                                  </p:stCondLst>
                                  <p:childTnLst>
                                    <p:set>
                                      <p:cBhvr>
                                        <p:cTn id="46" dur="1" fill="hold">
                                          <p:stCondLst>
                                            <p:cond delay="0"/>
                                          </p:stCondLst>
                                        </p:cTn>
                                        <p:tgtEl>
                                          <p:spTgt spid="79"/>
                                        </p:tgtEl>
                                        <p:attrNameLst>
                                          <p:attrName>style.visibility</p:attrName>
                                        </p:attrNameLst>
                                      </p:cBhvr>
                                      <p:to>
                                        <p:strVal val="visible"/>
                                      </p:to>
                                    </p:set>
                                    <p:animEffect transition="in" filter="wipe(left)">
                                      <p:cBhvr>
                                        <p:cTn id="47" dur="500"/>
                                        <p:tgtEl>
                                          <p:spTgt spid="79"/>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83"/>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68"/>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4" grpId="0"/>
      <p:bldP spid="77" grpId="0"/>
      <p:bldP spid="78" grpId="0"/>
      <p:bldP spid="53" grpId="0"/>
      <p:bldP spid="75" grpId="0"/>
      <p:bldP spid="83" grpId="0"/>
      <p:bldP spid="8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16"/>
          <p:cNvSpPr txBox="1">
            <a:spLocks noGrp="1"/>
          </p:cNvSpPr>
          <p:nvPr>
            <p:ph type="title"/>
          </p:nvPr>
        </p:nvSpPr>
        <p:spPr>
          <a:xfrm>
            <a:off x="0" y="0"/>
            <a:ext cx="12192000" cy="971550"/>
          </a:xfrm>
          <a:prstGeom prst="rect">
            <a:avLst/>
          </a:prstGeom>
          <a:solidFill>
            <a:srgbClr val="C0C0C0">
              <a:alpha val="49803"/>
            </a:srgbClr>
          </a:solidFill>
          <a:ln>
            <a:noFill/>
          </a:ln>
        </p:spPr>
        <p:txBody>
          <a:bodyPr spcFirstLastPara="1" wrap="square" lIns="216000" tIns="108000" rIns="216000" bIns="108000" anchor="ctr" anchorCtr="0">
            <a:normAutofit fontScale="90000"/>
          </a:bodyPr>
          <a:lstStyle/>
          <a:p>
            <a:pPr marL="0" lvl="0" indent="0" algn="l" rtl="0">
              <a:lnSpc>
                <a:spcPct val="90000"/>
              </a:lnSpc>
              <a:spcBef>
                <a:spcPts val="0"/>
              </a:spcBef>
              <a:spcAft>
                <a:spcPts val="0"/>
              </a:spcAft>
              <a:buClr>
                <a:srgbClr val="363636"/>
              </a:buClr>
              <a:buSzPct val="100000"/>
              <a:buFont typeface="Roboto Condensed"/>
              <a:buNone/>
            </a:pPr>
            <a:r>
              <a:rPr lang="en-US" sz="3400" b="1">
                <a:solidFill>
                  <a:srgbClr val="363636"/>
                </a:solidFill>
              </a:rPr>
              <a:t>Role Names or Association End Names</a:t>
            </a:r>
            <a:br>
              <a:rPr lang="en-US" sz="3400" b="1">
                <a:solidFill>
                  <a:srgbClr val="363636"/>
                </a:solidFill>
              </a:rPr>
            </a:br>
            <a:endParaRPr sz="3400" b="1">
              <a:solidFill>
                <a:srgbClr val="363636"/>
              </a:solidFill>
            </a:endParaRPr>
          </a:p>
        </p:txBody>
      </p:sp>
      <p:sp>
        <p:nvSpPr>
          <p:cNvPr id="416" name="Google Shape;416;p16"/>
          <p:cNvSpPr txBox="1">
            <a:spLocks noGrp="1"/>
          </p:cNvSpPr>
          <p:nvPr>
            <p:ph type="body" idx="1"/>
          </p:nvPr>
        </p:nvSpPr>
        <p:spPr>
          <a:xfrm>
            <a:off x="299544" y="1302024"/>
            <a:ext cx="11755821" cy="4525962"/>
          </a:xfrm>
          <a:prstGeom prst="rect">
            <a:avLst/>
          </a:prstGeom>
          <a:noFill/>
          <a:ln>
            <a:noFill/>
          </a:ln>
        </p:spPr>
        <p:txBody>
          <a:bodyPr spcFirstLastPara="1" wrap="square" lIns="91425" tIns="45700" rIns="91425" bIns="45700" anchor="t" anchorCtr="0">
            <a:normAutofit/>
          </a:bodyPr>
          <a:lstStyle/>
          <a:p>
            <a:pPr marL="91440" lvl="0" indent="-177800" algn="just" rtl="0">
              <a:lnSpc>
                <a:spcPct val="90000"/>
              </a:lnSpc>
              <a:spcBef>
                <a:spcPts val="0"/>
              </a:spcBef>
              <a:spcAft>
                <a:spcPts val="0"/>
              </a:spcAft>
              <a:buClr>
                <a:srgbClr val="424242"/>
              </a:buClr>
              <a:buSzPts val="2800"/>
              <a:buChar char="•"/>
            </a:pPr>
            <a:r>
              <a:rPr lang="en-US" b="1">
                <a:solidFill>
                  <a:srgbClr val="424242"/>
                </a:solidFill>
                <a:latin typeface="Book Antiqua"/>
                <a:ea typeface="Book Antiqua"/>
                <a:cs typeface="Book Antiqua"/>
                <a:sym typeface="Book Antiqua"/>
              </a:rPr>
              <a:t>A role is one end of an association.</a:t>
            </a:r>
            <a:endParaRPr/>
          </a:p>
          <a:p>
            <a:pPr marL="91440" lvl="0" indent="-177800" algn="just" rtl="0">
              <a:lnSpc>
                <a:spcPct val="90000"/>
              </a:lnSpc>
              <a:spcBef>
                <a:spcPts val="1000"/>
              </a:spcBef>
              <a:spcAft>
                <a:spcPts val="0"/>
              </a:spcAft>
              <a:buClr>
                <a:srgbClr val="424242"/>
              </a:buClr>
              <a:buSzPts val="2800"/>
              <a:buChar char="•"/>
            </a:pPr>
            <a:r>
              <a:rPr lang="en-US" b="1">
                <a:solidFill>
                  <a:srgbClr val="424242"/>
                </a:solidFill>
                <a:latin typeface="Book Antiqua"/>
                <a:ea typeface="Book Antiqua"/>
                <a:cs typeface="Book Antiqua"/>
                <a:sym typeface="Book Antiqua"/>
              </a:rPr>
              <a:t>A binary association has 2 roles, each of which may have a role name.</a:t>
            </a:r>
            <a:endParaRPr/>
          </a:p>
          <a:p>
            <a:pPr marL="91440" lvl="0" indent="-177800" algn="just" rtl="0">
              <a:lnSpc>
                <a:spcPct val="90000"/>
              </a:lnSpc>
              <a:spcBef>
                <a:spcPts val="1000"/>
              </a:spcBef>
              <a:spcAft>
                <a:spcPts val="0"/>
              </a:spcAft>
              <a:buClr>
                <a:srgbClr val="424242"/>
              </a:buClr>
              <a:buSzPts val="2800"/>
              <a:buChar char="•"/>
            </a:pPr>
            <a:r>
              <a:rPr lang="en-US" b="1">
                <a:solidFill>
                  <a:srgbClr val="424242"/>
                </a:solidFill>
                <a:latin typeface="Book Antiqua"/>
                <a:ea typeface="Book Antiqua"/>
                <a:cs typeface="Book Antiqua"/>
                <a:sym typeface="Book Antiqua"/>
              </a:rPr>
              <a:t>A role name is a name that uniquely identifies one end of an association.</a:t>
            </a:r>
            <a:endParaRPr/>
          </a:p>
          <a:p>
            <a:pPr marL="91440" lvl="0" indent="-177800" algn="just" rtl="0">
              <a:lnSpc>
                <a:spcPct val="90000"/>
              </a:lnSpc>
              <a:spcBef>
                <a:spcPts val="1000"/>
              </a:spcBef>
              <a:spcAft>
                <a:spcPts val="0"/>
              </a:spcAft>
              <a:buClr>
                <a:srgbClr val="FF0000"/>
              </a:buClr>
              <a:buSzPts val="2800"/>
              <a:buChar char="•"/>
            </a:pPr>
            <a:r>
              <a:rPr lang="en-US" b="1">
                <a:solidFill>
                  <a:srgbClr val="FF0000"/>
                </a:solidFill>
                <a:latin typeface="Book Antiqua"/>
                <a:ea typeface="Book Antiqua"/>
                <a:cs typeface="Book Antiqua"/>
                <a:sym typeface="Book Antiqua"/>
              </a:rPr>
              <a:t>Roles often appear as nouns in problem descriptions.</a:t>
            </a:r>
            <a:endParaRPr/>
          </a:p>
          <a:p>
            <a:pPr marL="91440" lvl="0" indent="-177800" algn="just" rtl="0">
              <a:lnSpc>
                <a:spcPct val="90000"/>
              </a:lnSpc>
              <a:spcBef>
                <a:spcPts val="1000"/>
              </a:spcBef>
              <a:spcAft>
                <a:spcPts val="0"/>
              </a:spcAft>
              <a:buClr>
                <a:srgbClr val="424242"/>
              </a:buClr>
              <a:buSzPts val="2800"/>
              <a:buChar char="•"/>
            </a:pPr>
            <a:r>
              <a:rPr lang="en-US" b="1">
                <a:solidFill>
                  <a:srgbClr val="424242"/>
                </a:solidFill>
                <a:latin typeface="Book Antiqua"/>
                <a:ea typeface="Book Antiqua"/>
                <a:cs typeface="Book Antiqua"/>
                <a:sym typeface="Book Antiqua"/>
              </a:rPr>
              <a:t>Use of role name is optional.</a:t>
            </a:r>
            <a:endParaRPr/>
          </a:p>
          <a:p>
            <a:pPr marL="91440" lvl="0" indent="-177800" algn="just" rtl="0">
              <a:lnSpc>
                <a:spcPct val="90000"/>
              </a:lnSpc>
              <a:spcBef>
                <a:spcPts val="1000"/>
              </a:spcBef>
              <a:spcAft>
                <a:spcPts val="0"/>
              </a:spcAft>
              <a:buClr>
                <a:srgbClr val="424242"/>
              </a:buClr>
              <a:buSzPts val="2800"/>
              <a:buChar char="•"/>
            </a:pPr>
            <a:r>
              <a:rPr lang="en-US" b="1">
                <a:solidFill>
                  <a:srgbClr val="424242"/>
                </a:solidFill>
                <a:latin typeface="Book Antiqua"/>
                <a:ea typeface="Book Antiqua"/>
                <a:cs typeface="Book Antiqua"/>
                <a:sym typeface="Book Antiqua"/>
              </a:rPr>
              <a:t>Association end names are necessary for associations between two objects of the same class.</a:t>
            </a:r>
            <a:endParaRPr b="1">
              <a:solidFill>
                <a:srgbClr val="424242"/>
              </a:solidFill>
              <a:latin typeface="Book Antiqua"/>
              <a:ea typeface="Book Antiqua"/>
              <a:cs typeface="Book Antiqua"/>
              <a:sym typeface="Book Antiqua"/>
            </a:endParaRPr>
          </a:p>
        </p:txBody>
      </p:sp>
    </p:spTree>
    <p:extLst>
      <p:ext uri="{BB962C8B-B14F-4D97-AF65-F5344CB8AC3E}">
        <p14:creationId xmlns:p14="http://schemas.microsoft.com/office/powerpoint/2010/main" val="795622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17"/>
          <p:cNvSpPr/>
          <p:nvPr/>
        </p:nvSpPr>
        <p:spPr>
          <a:xfrm>
            <a:off x="1847851" y="906464"/>
            <a:ext cx="2016125" cy="503237"/>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r>
              <a:rPr lang="en-US" sz="1800" b="1">
                <a:solidFill>
                  <a:schemeClr val="dk1"/>
                </a:solidFill>
                <a:latin typeface="Arial"/>
                <a:ea typeface="Arial"/>
                <a:cs typeface="Arial"/>
                <a:sym typeface="Arial"/>
              </a:rPr>
              <a:t>person</a:t>
            </a:r>
            <a:endParaRPr sz="1800" b="1">
              <a:solidFill>
                <a:schemeClr val="dk1"/>
              </a:solidFill>
              <a:latin typeface="Arial"/>
              <a:ea typeface="Arial"/>
              <a:cs typeface="Arial"/>
              <a:sym typeface="Arial"/>
            </a:endParaRPr>
          </a:p>
        </p:txBody>
      </p:sp>
      <p:sp>
        <p:nvSpPr>
          <p:cNvPr id="422" name="Google Shape;422;p17"/>
          <p:cNvSpPr/>
          <p:nvPr/>
        </p:nvSpPr>
        <p:spPr>
          <a:xfrm>
            <a:off x="7751764" y="906464"/>
            <a:ext cx="2016125" cy="503237"/>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r>
              <a:rPr lang="en-US" sz="1800" b="1">
                <a:solidFill>
                  <a:schemeClr val="dk1"/>
                </a:solidFill>
                <a:latin typeface="Arial"/>
                <a:ea typeface="Arial"/>
                <a:cs typeface="Arial"/>
                <a:sym typeface="Arial"/>
              </a:rPr>
              <a:t>company</a:t>
            </a:r>
            <a:endParaRPr sz="1800" b="1">
              <a:solidFill>
                <a:schemeClr val="dk1"/>
              </a:solidFill>
              <a:latin typeface="Arial"/>
              <a:ea typeface="Arial"/>
              <a:cs typeface="Arial"/>
              <a:sym typeface="Arial"/>
            </a:endParaRPr>
          </a:p>
        </p:txBody>
      </p:sp>
      <p:cxnSp>
        <p:nvCxnSpPr>
          <p:cNvPr id="423" name="Google Shape;423;p17"/>
          <p:cNvCxnSpPr>
            <a:stCxn id="421" idx="3"/>
            <a:endCxn id="422" idx="1"/>
          </p:cNvCxnSpPr>
          <p:nvPr/>
        </p:nvCxnSpPr>
        <p:spPr>
          <a:xfrm>
            <a:off x="3863976" y="1158083"/>
            <a:ext cx="3887700" cy="0"/>
          </a:xfrm>
          <a:prstGeom prst="straightConnector1">
            <a:avLst/>
          </a:prstGeom>
          <a:noFill/>
          <a:ln w="9525" cap="flat" cmpd="sng">
            <a:solidFill>
              <a:schemeClr val="dk1"/>
            </a:solidFill>
            <a:prstDash val="solid"/>
            <a:round/>
            <a:headEnd type="oval" w="med" len="med"/>
            <a:tailEnd type="none" w="med" len="med"/>
          </a:ln>
        </p:spPr>
      </p:cxnSp>
      <p:sp>
        <p:nvSpPr>
          <p:cNvPr id="424" name="Google Shape;424;p17"/>
          <p:cNvSpPr txBox="1"/>
          <p:nvPr/>
        </p:nvSpPr>
        <p:spPr>
          <a:xfrm>
            <a:off x="3843338" y="781050"/>
            <a:ext cx="1249362" cy="3698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Arial"/>
              <a:buNone/>
            </a:pPr>
            <a:r>
              <a:rPr lang="en-US" sz="1800" b="1">
                <a:solidFill>
                  <a:schemeClr val="dk1"/>
                </a:solidFill>
                <a:latin typeface="Arial"/>
                <a:ea typeface="Arial"/>
                <a:cs typeface="Arial"/>
                <a:sym typeface="Arial"/>
              </a:rPr>
              <a:t>employee</a:t>
            </a:r>
            <a:endParaRPr sz="1800" b="1">
              <a:solidFill>
                <a:schemeClr val="dk1"/>
              </a:solidFill>
              <a:latin typeface="Arial"/>
              <a:ea typeface="Arial"/>
              <a:cs typeface="Arial"/>
              <a:sym typeface="Arial"/>
            </a:endParaRPr>
          </a:p>
        </p:txBody>
      </p:sp>
      <p:sp>
        <p:nvSpPr>
          <p:cNvPr id="425" name="Google Shape;425;p17"/>
          <p:cNvSpPr txBox="1"/>
          <p:nvPr/>
        </p:nvSpPr>
        <p:spPr>
          <a:xfrm>
            <a:off x="6600826" y="762000"/>
            <a:ext cx="1211263" cy="3698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Arial"/>
              <a:buNone/>
            </a:pPr>
            <a:r>
              <a:rPr lang="en-US" sz="1800" b="1">
                <a:solidFill>
                  <a:schemeClr val="dk1"/>
                </a:solidFill>
                <a:latin typeface="Arial"/>
                <a:ea typeface="Arial"/>
                <a:cs typeface="Arial"/>
                <a:sym typeface="Arial"/>
              </a:rPr>
              <a:t>employer</a:t>
            </a:r>
            <a:endParaRPr sz="1800" b="1">
              <a:solidFill>
                <a:schemeClr val="dk1"/>
              </a:solidFill>
              <a:latin typeface="Arial"/>
              <a:ea typeface="Arial"/>
              <a:cs typeface="Arial"/>
              <a:sym typeface="Arial"/>
            </a:endParaRPr>
          </a:p>
        </p:txBody>
      </p:sp>
      <p:sp>
        <p:nvSpPr>
          <p:cNvPr id="426" name="Google Shape;426;p17"/>
          <p:cNvSpPr txBox="1"/>
          <p:nvPr/>
        </p:nvSpPr>
        <p:spPr>
          <a:xfrm>
            <a:off x="5067300" y="1069975"/>
            <a:ext cx="1270000" cy="3698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Arial"/>
              <a:buNone/>
            </a:pPr>
            <a:r>
              <a:rPr lang="en-US" sz="1800" b="1">
                <a:solidFill>
                  <a:schemeClr val="dk1"/>
                </a:solidFill>
                <a:latin typeface="Arial"/>
                <a:ea typeface="Arial"/>
                <a:cs typeface="Arial"/>
                <a:sym typeface="Arial"/>
              </a:rPr>
              <a:t>Works-for</a:t>
            </a:r>
            <a:endParaRPr sz="1800" b="1">
              <a:solidFill>
                <a:schemeClr val="dk1"/>
              </a:solidFill>
              <a:latin typeface="Arial"/>
              <a:ea typeface="Arial"/>
              <a:cs typeface="Arial"/>
              <a:sym typeface="Arial"/>
            </a:endParaRPr>
          </a:p>
        </p:txBody>
      </p:sp>
      <p:sp>
        <p:nvSpPr>
          <p:cNvPr id="427" name="Google Shape;427;p17"/>
          <p:cNvSpPr txBox="1"/>
          <p:nvPr/>
        </p:nvSpPr>
        <p:spPr>
          <a:xfrm>
            <a:off x="4440239" y="2346326"/>
            <a:ext cx="3311525" cy="11922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Arial"/>
              <a:buNone/>
            </a:pPr>
            <a:r>
              <a:rPr lang="en-US" sz="1800" b="1">
                <a:solidFill>
                  <a:schemeClr val="dk1"/>
                </a:solidFill>
                <a:latin typeface="Arial"/>
                <a:ea typeface="Arial"/>
                <a:cs typeface="Arial"/>
                <a:sym typeface="Arial"/>
              </a:rPr>
              <a:t>Employee	Employer</a:t>
            </a:r>
            <a:endParaRPr/>
          </a:p>
          <a:p>
            <a:pPr marL="0" marR="0" lvl="0" indent="0" algn="l" rtl="0">
              <a:spcBef>
                <a:spcPts val="900"/>
              </a:spcBef>
              <a:spcAft>
                <a:spcPts val="0"/>
              </a:spcAft>
              <a:buClr>
                <a:schemeClr val="dk1"/>
              </a:buClr>
              <a:buSzPts val="1800"/>
              <a:buFont typeface="Arial"/>
              <a:buNone/>
            </a:pPr>
            <a:r>
              <a:rPr lang="en-US" sz="1800" b="1">
                <a:solidFill>
                  <a:schemeClr val="dk1"/>
                </a:solidFill>
                <a:latin typeface="Arial"/>
                <a:ea typeface="Arial"/>
                <a:cs typeface="Arial"/>
                <a:sym typeface="Arial"/>
              </a:rPr>
              <a:t>Ram		TCS</a:t>
            </a:r>
            <a:endParaRPr/>
          </a:p>
          <a:p>
            <a:pPr marL="0" marR="0" lvl="0" indent="0" algn="l" rtl="0">
              <a:spcBef>
                <a:spcPts val="900"/>
              </a:spcBef>
              <a:spcAft>
                <a:spcPts val="0"/>
              </a:spcAft>
              <a:buClr>
                <a:schemeClr val="dk1"/>
              </a:buClr>
              <a:buSzPts val="1800"/>
              <a:buFont typeface="Arial"/>
              <a:buNone/>
            </a:pPr>
            <a:r>
              <a:rPr lang="en-US" sz="1800" b="1">
                <a:solidFill>
                  <a:schemeClr val="dk1"/>
                </a:solidFill>
                <a:latin typeface="Arial"/>
                <a:ea typeface="Arial"/>
                <a:cs typeface="Arial"/>
                <a:sym typeface="Arial"/>
              </a:rPr>
              <a:t>Mohan		Wipro</a:t>
            </a:r>
            <a:endParaRPr sz="1800" b="1">
              <a:solidFill>
                <a:schemeClr val="dk1"/>
              </a:solidFill>
              <a:latin typeface="Arial"/>
              <a:ea typeface="Arial"/>
              <a:cs typeface="Arial"/>
              <a:sym typeface="Arial"/>
            </a:endParaRPr>
          </a:p>
        </p:txBody>
      </p:sp>
      <p:sp>
        <p:nvSpPr>
          <p:cNvPr id="428" name="Google Shape;428;p17"/>
          <p:cNvSpPr txBox="1"/>
          <p:nvPr/>
        </p:nvSpPr>
        <p:spPr>
          <a:xfrm>
            <a:off x="133940" y="27153"/>
            <a:ext cx="9182728" cy="563231"/>
          </a:xfrm>
          <a:prstGeom prst="rect">
            <a:avLst/>
          </a:prstGeom>
          <a:solidFill>
            <a:srgbClr val="C0C0C0">
              <a:alpha val="49803"/>
            </a:srgbClr>
          </a:solidFill>
          <a:ln>
            <a:noFill/>
          </a:ln>
        </p:spPr>
        <p:txBody>
          <a:bodyPr spcFirstLastPara="1" wrap="square" lIns="216000" tIns="108000" rIns="216000" bIns="108000" anchor="ctr" anchorCtr="0">
            <a:normAutofit fontScale="90000" lnSpcReduction="20000"/>
          </a:bodyPr>
          <a:lstStyle/>
          <a:p>
            <a:pPr marL="0" marR="0" lvl="0" indent="0" algn="l" rtl="0">
              <a:lnSpc>
                <a:spcPct val="90000"/>
              </a:lnSpc>
              <a:spcBef>
                <a:spcPts val="0"/>
              </a:spcBef>
              <a:spcAft>
                <a:spcPts val="0"/>
              </a:spcAft>
              <a:buClr>
                <a:srgbClr val="363636"/>
              </a:buClr>
              <a:buSzPct val="100000"/>
              <a:buFont typeface="Roboto Condensed"/>
              <a:buNone/>
            </a:pPr>
            <a:r>
              <a:rPr lang="en-US" sz="3400" b="1">
                <a:solidFill>
                  <a:srgbClr val="363636"/>
                </a:solidFill>
                <a:latin typeface="Roboto Condensed"/>
                <a:ea typeface="Roboto Condensed"/>
                <a:cs typeface="Roboto Condensed"/>
                <a:sym typeface="Roboto Condensed"/>
              </a:rPr>
              <a:t>Role names for an association</a:t>
            </a:r>
            <a:endParaRPr sz="3400" b="1">
              <a:solidFill>
                <a:srgbClr val="363636"/>
              </a:solidFill>
              <a:latin typeface="Roboto Condensed"/>
              <a:ea typeface="Roboto Condensed"/>
              <a:cs typeface="Roboto Condensed"/>
              <a:sym typeface="Roboto Condensed"/>
            </a:endParaRPr>
          </a:p>
        </p:txBody>
      </p:sp>
      <p:sp>
        <p:nvSpPr>
          <p:cNvPr id="429" name="Google Shape;429;p17"/>
          <p:cNvSpPr txBox="1"/>
          <p:nvPr/>
        </p:nvSpPr>
        <p:spPr>
          <a:xfrm>
            <a:off x="325821" y="3949700"/>
            <a:ext cx="11708523" cy="178510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1">
                <a:solidFill>
                  <a:schemeClr val="dk1"/>
                </a:solidFill>
                <a:latin typeface="Roboto Condensed"/>
                <a:ea typeface="Roboto Condensed"/>
                <a:cs typeface="Roboto Condensed"/>
                <a:sym typeface="Roboto Condensed"/>
              </a:rPr>
              <a:t>A </a:t>
            </a:r>
            <a:r>
              <a:rPr lang="en-US" sz="2200" b="1" i="1" u="sng">
                <a:solidFill>
                  <a:srgbClr val="C00000"/>
                </a:solidFill>
                <a:latin typeface="Roboto Condensed"/>
                <a:ea typeface="Roboto Condensed"/>
                <a:cs typeface="Roboto Condensed"/>
                <a:sym typeface="Roboto Condensed"/>
              </a:rPr>
              <a:t>reference</a:t>
            </a:r>
            <a:r>
              <a:rPr lang="en-US" sz="2200" b="1" i="1">
                <a:solidFill>
                  <a:schemeClr val="dk1"/>
                </a:solidFill>
                <a:latin typeface="Roboto Condensed"/>
                <a:ea typeface="Roboto Condensed"/>
                <a:cs typeface="Roboto Condensed"/>
                <a:sym typeface="Roboto Condensed"/>
              </a:rPr>
              <a:t> </a:t>
            </a:r>
            <a:r>
              <a:rPr lang="en-US" sz="2200" b="1">
                <a:solidFill>
                  <a:schemeClr val="dk1"/>
                </a:solidFill>
                <a:latin typeface="Roboto Condensed"/>
                <a:ea typeface="Roboto Condensed"/>
                <a:cs typeface="Roboto Condensed"/>
                <a:sym typeface="Roboto Condensed"/>
              </a:rPr>
              <a:t>is an attribute in one object that refers to another object.</a:t>
            </a:r>
            <a:endParaRPr/>
          </a:p>
          <a:p>
            <a:pPr marL="0" marR="0" lvl="0" indent="0" algn="l" rtl="0">
              <a:spcBef>
                <a:spcPts val="0"/>
              </a:spcBef>
              <a:spcAft>
                <a:spcPts val="0"/>
              </a:spcAft>
              <a:buNone/>
            </a:pPr>
            <a:endParaRPr sz="2200" b="1">
              <a:solidFill>
                <a:schemeClr val="dk1"/>
              </a:solidFill>
              <a:latin typeface="Roboto Condensed"/>
              <a:ea typeface="Roboto Condensed"/>
              <a:cs typeface="Roboto Condensed"/>
              <a:sym typeface="Roboto Condensed"/>
            </a:endParaRPr>
          </a:p>
          <a:p>
            <a:pPr marL="0" marR="0" lvl="0" indent="0" algn="l" rtl="0">
              <a:spcBef>
                <a:spcPts val="0"/>
              </a:spcBef>
              <a:spcAft>
                <a:spcPts val="0"/>
              </a:spcAft>
              <a:buNone/>
            </a:pPr>
            <a:r>
              <a:rPr lang="en-US" sz="2200" b="1">
                <a:solidFill>
                  <a:schemeClr val="dk1"/>
                </a:solidFill>
                <a:latin typeface="Roboto Condensed"/>
                <a:ea typeface="Roboto Condensed"/>
                <a:cs typeface="Roboto Condensed"/>
                <a:sym typeface="Roboto Condensed"/>
              </a:rPr>
              <a:t>For example, a data structure for </a:t>
            </a:r>
            <a:r>
              <a:rPr lang="en-US" sz="2200" b="1" i="1">
                <a:solidFill>
                  <a:schemeClr val="dk1"/>
                </a:solidFill>
                <a:latin typeface="Roboto Condensed"/>
                <a:ea typeface="Roboto Condensed"/>
                <a:cs typeface="Roboto Condensed"/>
                <a:sym typeface="Roboto Condensed"/>
              </a:rPr>
              <a:t>Person </a:t>
            </a:r>
            <a:r>
              <a:rPr lang="en-US" sz="2200" b="1">
                <a:solidFill>
                  <a:schemeClr val="dk1"/>
                </a:solidFill>
                <a:latin typeface="Roboto Condensed"/>
                <a:ea typeface="Roboto Condensed"/>
                <a:cs typeface="Roboto Condensed"/>
                <a:sym typeface="Roboto Condensed"/>
              </a:rPr>
              <a:t>might contain an attribute </a:t>
            </a:r>
            <a:r>
              <a:rPr lang="en-US" sz="2200" b="1" i="1">
                <a:solidFill>
                  <a:schemeClr val="dk1"/>
                </a:solidFill>
                <a:latin typeface="Roboto Condensed"/>
                <a:ea typeface="Roboto Condensed"/>
                <a:cs typeface="Roboto Condensed"/>
                <a:sym typeface="Roboto Condensed"/>
              </a:rPr>
              <a:t>employer </a:t>
            </a:r>
            <a:r>
              <a:rPr lang="en-US" sz="2200" b="1">
                <a:solidFill>
                  <a:schemeClr val="dk1"/>
                </a:solidFill>
                <a:latin typeface="Roboto Condensed"/>
                <a:ea typeface="Roboto Condensed"/>
                <a:cs typeface="Roboto Condensed"/>
                <a:sym typeface="Roboto Condensed"/>
              </a:rPr>
              <a:t>that refers to a </a:t>
            </a:r>
            <a:r>
              <a:rPr lang="en-US" sz="2200" b="1" i="1">
                <a:solidFill>
                  <a:schemeClr val="dk1"/>
                </a:solidFill>
                <a:latin typeface="Roboto Condensed"/>
                <a:ea typeface="Roboto Condensed"/>
                <a:cs typeface="Roboto Condensed"/>
                <a:sym typeface="Roboto Condensed"/>
              </a:rPr>
              <a:t>Company </a:t>
            </a:r>
            <a:r>
              <a:rPr lang="en-US" sz="2200" b="1">
                <a:solidFill>
                  <a:schemeClr val="dk1"/>
                </a:solidFill>
                <a:latin typeface="Roboto Condensed"/>
                <a:ea typeface="Roboto Condensed"/>
                <a:cs typeface="Roboto Condensed"/>
                <a:sym typeface="Roboto Condensed"/>
              </a:rPr>
              <a:t>object, and a </a:t>
            </a:r>
            <a:r>
              <a:rPr lang="en-US" sz="2200" b="1" i="1">
                <a:solidFill>
                  <a:schemeClr val="dk1"/>
                </a:solidFill>
                <a:latin typeface="Roboto Condensed"/>
                <a:ea typeface="Roboto Condensed"/>
                <a:cs typeface="Roboto Condensed"/>
                <a:sym typeface="Roboto Condensed"/>
              </a:rPr>
              <a:t>Company </a:t>
            </a:r>
            <a:r>
              <a:rPr lang="en-US" sz="2200" b="1">
                <a:solidFill>
                  <a:schemeClr val="dk1"/>
                </a:solidFill>
                <a:latin typeface="Roboto Condensed"/>
                <a:ea typeface="Roboto Condensed"/>
                <a:cs typeface="Roboto Condensed"/>
                <a:sym typeface="Roboto Condensed"/>
              </a:rPr>
              <a:t>object might contain an attribute </a:t>
            </a:r>
            <a:r>
              <a:rPr lang="en-US" sz="2200" b="1" i="1">
                <a:solidFill>
                  <a:schemeClr val="dk1"/>
                </a:solidFill>
                <a:latin typeface="Roboto Condensed"/>
                <a:ea typeface="Roboto Condensed"/>
                <a:cs typeface="Roboto Condensed"/>
                <a:sym typeface="Roboto Condensed"/>
              </a:rPr>
              <a:t>employees </a:t>
            </a:r>
            <a:r>
              <a:rPr lang="en-US" sz="2200" b="1">
                <a:solidFill>
                  <a:schemeClr val="dk1"/>
                </a:solidFill>
                <a:latin typeface="Roboto Condensed"/>
                <a:ea typeface="Roboto Condensed"/>
                <a:cs typeface="Roboto Condensed"/>
                <a:sym typeface="Roboto Condensed"/>
              </a:rPr>
              <a:t>that refers to a set of </a:t>
            </a:r>
            <a:r>
              <a:rPr lang="en-US" sz="2200" b="1" i="1">
                <a:solidFill>
                  <a:schemeClr val="dk1"/>
                </a:solidFill>
                <a:latin typeface="Roboto Condensed"/>
                <a:ea typeface="Roboto Condensed"/>
                <a:cs typeface="Roboto Condensed"/>
                <a:sym typeface="Roboto Condensed"/>
              </a:rPr>
              <a:t>Person </a:t>
            </a:r>
            <a:r>
              <a:rPr lang="en-US" sz="2200" b="1">
                <a:solidFill>
                  <a:schemeClr val="dk1"/>
                </a:solidFill>
                <a:latin typeface="Roboto Condensed"/>
                <a:ea typeface="Roboto Condensed"/>
                <a:cs typeface="Roboto Condensed"/>
                <a:sym typeface="Roboto Condensed"/>
              </a:rPr>
              <a:t>objects.</a:t>
            </a:r>
            <a:endParaRPr/>
          </a:p>
        </p:txBody>
      </p:sp>
    </p:spTree>
    <p:extLst>
      <p:ext uri="{BB962C8B-B14F-4D97-AF65-F5344CB8AC3E}">
        <p14:creationId xmlns:p14="http://schemas.microsoft.com/office/powerpoint/2010/main" val="22649712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18"/>
          <p:cNvSpPr txBox="1"/>
          <p:nvPr/>
        </p:nvSpPr>
        <p:spPr>
          <a:xfrm>
            <a:off x="315309" y="1023045"/>
            <a:ext cx="11729545"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Roboto Condensed"/>
                <a:ea typeface="Roboto Condensed"/>
                <a:cs typeface="Roboto Condensed"/>
                <a:sym typeface="Roboto Condensed"/>
              </a:rPr>
              <a:t>Association end names are necessary for associations between two objects of the same class. They can also distinguish multiple associations between a pair of classes.</a:t>
            </a:r>
            <a:endParaRPr/>
          </a:p>
        </p:txBody>
      </p:sp>
      <p:sp>
        <p:nvSpPr>
          <p:cNvPr id="435" name="Google Shape;435;p18"/>
          <p:cNvSpPr txBox="1"/>
          <p:nvPr/>
        </p:nvSpPr>
        <p:spPr>
          <a:xfrm>
            <a:off x="84083" y="0"/>
            <a:ext cx="11813627" cy="89535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Clr>
                <a:srgbClr val="363636"/>
              </a:buClr>
              <a:buSzPts val="3600"/>
              <a:buFont typeface="Roboto Condensed"/>
              <a:buNone/>
            </a:pPr>
            <a:endParaRPr sz="3600" b="1">
              <a:solidFill>
                <a:srgbClr val="363636"/>
              </a:solidFill>
              <a:latin typeface="Arial"/>
              <a:ea typeface="Arial"/>
              <a:cs typeface="Arial"/>
              <a:sym typeface="Arial"/>
            </a:endParaRPr>
          </a:p>
          <a:p>
            <a:pPr marL="0" marR="0" lvl="0" indent="0" algn="l" rtl="0">
              <a:lnSpc>
                <a:spcPct val="90000"/>
              </a:lnSpc>
              <a:spcBef>
                <a:spcPts val="0"/>
              </a:spcBef>
              <a:spcAft>
                <a:spcPts val="0"/>
              </a:spcAft>
              <a:buClr>
                <a:srgbClr val="363636"/>
              </a:buClr>
              <a:buSzPts val="3600"/>
              <a:buFont typeface="Arial"/>
              <a:buNone/>
            </a:pPr>
            <a:r>
              <a:rPr lang="en-US" sz="3600" b="1">
                <a:solidFill>
                  <a:srgbClr val="363636"/>
                </a:solidFill>
                <a:latin typeface="Arial"/>
                <a:ea typeface="Arial"/>
                <a:cs typeface="Arial"/>
                <a:sym typeface="Arial"/>
              </a:rPr>
              <a:t>Advantages of Association End Names</a:t>
            </a:r>
            <a:br>
              <a:rPr lang="en-US" sz="3600" b="1">
                <a:solidFill>
                  <a:srgbClr val="363636"/>
                </a:solidFill>
                <a:latin typeface="Arial"/>
                <a:ea typeface="Arial"/>
                <a:cs typeface="Arial"/>
                <a:sym typeface="Arial"/>
              </a:rPr>
            </a:br>
            <a:endParaRPr sz="3600" b="1">
              <a:solidFill>
                <a:srgbClr val="363636"/>
              </a:solidFill>
              <a:latin typeface="Arial"/>
              <a:ea typeface="Arial"/>
              <a:cs typeface="Arial"/>
              <a:sym typeface="Arial"/>
            </a:endParaRPr>
          </a:p>
        </p:txBody>
      </p:sp>
      <p:pic>
        <p:nvPicPr>
          <p:cNvPr id="436" name="Google Shape;436;p18"/>
          <p:cNvPicPr preferRelativeResize="0"/>
          <p:nvPr/>
        </p:nvPicPr>
        <p:blipFill rotWithShape="1">
          <a:blip r:embed="rId3">
            <a:alphaModFix/>
          </a:blip>
          <a:srcRect/>
          <a:stretch/>
        </p:blipFill>
        <p:spPr>
          <a:xfrm>
            <a:off x="315309" y="2126397"/>
            <a:ext cx="8229600" cy="2457450"/>
          </a:xfrm>
          <a:prstGeom prst="rect">
            <a:avLst/>
          </a:prstGeom>
          <a:noFill/>
          <a:ln>
            <a:noFill/>
          </a:ln>
        </p:spPr>
      </p:pic>
      <p:sp>
        <p:nvSpPr>
          <p:cNvPr id="437" name="Google Shape;437;p18"/>
          <p:cNvSpPr txBox="1"/>
          <p:nvPr/>
        </p:nvSpPr>
        <p:spPr>
          <a:xfrm>
            <a:off x="388880" y="4856202"/>
            <a:ext cx="11582401" cy="16312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500"/>
              <a:buFont typeface="Book Antiqua"/>
              <a:buNone/>
            </a:pPr>
            <a:r>
              <a:rPr lang="en-US" sz="2500" b="1" i="1">
                <a:solidFill>
                  <a:schemeClr val="dk1"/>
                </a:solidFill>
                <a:latin typeface="Book Antiqua"/>
                <a:ea typeface="Book Antiqua"/>
                <a:cs typeface="Book Antiqua"/>
                <a:sym typeface="Book Antiqua"/>
              </a:rPr>
              <a:t>Container </a:t>
            </a:r>
            <a:r>
              <a:rPr lang="en-US" sz="2500" b="1">
                <a:solidFill>
                  <a:schemeClr val="dk1"/>
                </a:solidFill>
                <a:latin typeface="Book Antiqua"/>
                <a:ea typeface="Book Antiqua"/>
                <a:cs typeface="Book Antiqua"/>
                <a:sym typeface="Book Antiqua"/>
              </a:rPr>
              <a:t>and </a:t>
            </a:r>
            <a:r>
              <a:rPr lang="en-US" sz="2500" b="1" i="1">
                <a:solidFill>
                  <a:schemeClr val="dk1"/>
                </a:solidFill>
                <a:latin typeface="Book Antiqua"/>
                <a:ea typeface="Book Antiqua"/>
                <a:cs typeface="Book Antiqua"/>
                <a:sym typeface="Book Antiqua"/>
              </a:rPr>
              <a:t>contents </a:t>
            </a:r>
            <a:r>
              <a:rPr lang="en-US" sz="2500" b="1">
                <a:solidFill>
                  <a:schemeClr val="dk1"/>
                </a:solidFill>
                <a:latin typeface="Book Antiqua"/>
                <a:ea typeface="Book Antiqua"/>
                <a:cs typeface="Book Antiqua"/>
                <a:sym typeface="Book Antiqua"/>
              </a:rPr>
              <a:t>distinguish the two usages of </a:t>
            </a:r>
            <a:r>
              <a:rPr lang="en-US" sz="2500" b="1" i="1">
                <a:solidFill>
                  <a:schemeClr val="dk1"/>
                </a:solidFill>
                <a:latin typeface="Book Antiqua"/>
                <a:ea typeface="Book Antiqua"/>
                <a:cs typeface="Book Antiqua"/>
                <a:sym typeface="Book Antiqua"/>
              </a:rPr>
              <a:t>Directory </a:t>
            </a:r>
            <a:r>
              <a:rPr lang="en-US" sz="2500" b="1">
                <a:solidFill>
                  <a:schemeClr val="dk1"/>
                </a:solidFill>
                <a:latin typeface="Book Antiqua"/>
                <a:ea typeface="Book Antiqua"/>
                <a:cs typeface="Book Antiqua"/>
                <a:sym typeface="Book Antiqua"/>
              </a:rPr>
              <a:t>in the self-association.</a:t>
            </a:r>
            <a:endParaRPr/>
          </a:p>
          <a:p>
            <a:pPr marL="0" marR="0" lvl="0" indent="0" algn="l" rtl="0">
              <a:spcBef>
                <a:spcPts val="0"/>
              </a:spcBef>
              <a:spcAft>
                <a:spcPts val="0"/>
              </a:spcAft>
              <a:buClr>
                <a:schemeClr val="dk1"/>
              </a:buClr>
              <a:buSzPts val="2500"/>
              <a:buFont typeface="Book Antiqua"/>
              <a:buNone/>
            </a:pPr>
            <a:r>
              <a:rPr lang="en-US" sz="2500" b="1">
                <a:solidFill>
                  <a:schemeClr val="dk1"/>
                </a:solidFill>
                <a:latin typeface="Book Antiqua"/>
                <a:ea typeface="Book Antiqua"/>
                <a:cs typeface="Book Antiqua"/>
                <a:sym typeface="Book Antiqua"/>
              </a:rPr>
              <a:t>Each directory has exactly one user who is an owner and many users who are authorized to use the directory.</a:t>
            </a:r>
            <a:endParaRPr/>
          </a:p>
        </p:txBody>
      </p:sp>
      <p:grpSp>
        <p:nvGrpSpPr>
          <p:cNvPr id="438" name="Google Shape;438;p18"/>
          <p:cNvGrpSpPr/>
          <p:nvPr/>
        </p:nvGrpSpPr>
        <p:grpSpPr>
          <a:xfrm>
            <a:off x="5812221" y="2280745"/>
            <a:ext cx="2732688" cy="2271572"/>
            <a:chOff x="5812221" y="2280745"/>
            <a:chExt cx="2732688" cy="2271572"/>
          </a:xfrm>
        </p:grpSpPr>
        <p:sp>
          <p:nvSpPr>
            <p:cNvPr id="439" name="Google Shape;439;p18"/>
            <p:cNvSpPr/>
            <p:nvPr/>
          </p:nvSpPr>
          <p:spPr>
            <a:xfrm>
              <a:off x="5812221" y="2280745"/>
              <a:ext cx="2732688" cy="840827"/>
            </a:xfrm>
            <a:prstGeom prst="rect">
              <a:avLst/>
            </a:prstGeom>
            <a:solidFill>
              <a:schemeClr val="lt2"/>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Roboto Condensed"/>
                <a:ea typeface="Roboto Condensed"/>
                <a:cs typeface="Roboto Condensed"/>
                <a:sym typeface="Roboto Condensed"/>
              </a:endParaRPr>
            </a:p>
          </p:txBody>
        </p:sp>
        <p:sp>
          <p:nvSpPr>
            <p:cNvPr id="440" name="Google Shape;440;p18"/>
            <p:cNvSpPr/>
            <p:nvPr/>
          </p:nvSpPr>
          <p:spPr>
            <a:xfrm>
              <a:off x="6442841" y="3920360"/>
              <a:ext cx="2102068" cy="631957"/>
            </a:xfrm>
            <a:prstGeom prst="rect">
              <a:avLst/>
            </a:prstGeom>
            <a:solidFill>
              <a:schemeClr val="lt2"/>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Roboto Condensed"/>
                <a:ea typeface="Roboto Condensed"/>
                <a:cs typeface="Roboto Condensed"/>
                <a:sym typeface="Roboto Condensed"/>
              </a:endParaRPr>
            </a:p>
          </p:txBody>
        </p:sp>
        <p:sp>
          <p:nvSpPr>
            <p:cNvPr id="441" name="Google Shape;441;p18"/>
            <p:cNvSpPr/>
            <p:nvPr/>
          </p:nvSpPr>
          <p:spPr>
            <a:xfrm>
              <a:off x="8345214" y="3026979"/>
              <a:ext cx="199695" cy="1040524"/>
            </a:xfrm>
            <a:prstGeom prst="rect">
              <a:avLst/>
            </a:prstGeom>
            <a:solidFill>
              <a:schemeClr val="lt2"/>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Roboto Condensed"/>
                <a:ea typeface="Roboto Condensed"/>
                <a:cs typeface="Roboto Condensed"/>
                <a:sym typeface="Roboto Condensed"/>
              </a:endParaRPr>
            </a:p>
          </p:txBody>
        </p:sp>
      </p:grpSp>
    </p:spTree>
    <p:extLst>
      <p:ext uri="{BB962C8B-B14F-4D97-AF65-F5344CB8AC3E}">
        <p14:creationId xmlns:p14="http://schemas.microsoft.com/office/powerpoint/2010/main" val="38029469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19"/>
          <p:cNvSpPr txBox="1"/>
          <p:nvPr/>
        </p:nvSpPr>
        <p:spPr>
          <a:xfrm>
            <a:off x="5432044" y="1397876"/>
            <a:ext cx="6602301" cy="20621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3200"/>
              <a:buFont typeface="Times"/>
              <a:buNone/>
            </a:pPr>
            <a:r>
              <a:rPr lang="en-US" sz="3200" b="1">
                <a:solidFill>
                  <a:schemeClr val="dk1"/>
                </a:solidFill>
                <a:latin typeface="Times"/>
                <a:ea typeface="Times"/>
                <a:cs typeface="Times"/>
                <a:sym typeface="Times"/>
              </a:rPr>
              <a:t>One person instance participates in two or more links, twice as a parent and zero or more times as a child.</a:t>
            </a:r>
            <a:endParaRPr sz="3200" b="1">
              <a:solidFill>
                <a:schemeClr val="dk1"/>
              </a:solidFill>
              <a:latin typeface="Book Antiqua"/>
              <a:ea typeface="Book Antiqua"/>
              <a:cs typeface="Book Antiqua"/>
              <a:sym typeface="Book Antiqua"/>
            </a:endParaRPr>
          </a:p>
        </p:txBody>
      </p:sp>
      <p:pic>
        <p:nvPicPr>
          <p:cNvPr id="447" name="Google Shape;447;p19"/>
          <p:cNvPicPr preferRelativeResize="0"/>
          <p:nvPr/>
        </p:nvPicPr>
        <p:blipFill rotWithShape="1">
          <a:blip r:embed="rId3">
            <a:alphaModFix/>
          </a:blip>
          <a:srcRect/>
          <a:stretch/>
        </p:blipFill>
        <p:spPr>
          <a:xfrm>
            <a:off x="480848" y="1140372"/>
            <a:ext cx="3748088" cy="2909888"/>
          </a:xfrm>
          <a:prstGeom prst="rect">
            <a:avLst/>
          </a:prstGeom>
          <a:noFill/>
          <a:ln>
            <a:noFill/>
          </a:ln>
        </p:spPr>
      </p:pic>
      <p:sp>
        <p:nvSpPr>
          <p:cNvPr id="448" name="Google Shape;448;p19"/>
          <p:cNvSpPr txBox="1"/>
          <p:nvPr/>
        </p:nvSpPr>
        <p:spPr>
          <a:xfrm>
            <a:off x="84083" y="0"/>
            <a:ext cx="11813627" cy="895350"/>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marR="0" lvl="0" indent="0" algn="l" rtl="0">
              <a:lnSpc>
                <a:spcPct val="90000"/>
              </a:lnSpc>
              <a:spcBef>
                <a:spcPts val="0"/>
              </a:spcBef>
              <a:spcAft>
                <a:spcPts val="0"/>
              </a:spcAft>
              <a:buClr>
                <a:srgbClr val="363636"/>
              </a:buClr>
              <a:buSzPts val="3600"/>
              <a:buFont typeface="Roboto Condensed"/>
              <a:buNone/>
            </a:pPr>
            <a:endParaRPr sz="3600" b="1">
              <a:solidFill>
                <a:srgbClr val="363636"/>
              </a:solidFill>
              <a:latin typeface="Arial"/>
              <a:ea typeface="Arial"/>
              <a:cs typeface="Arial"/>
              <a:sym typeface="Arial"/>
            </a:endParaRPr>
          </a:p>
          <a:p>
            <a:pPr marL="0" marR="0" lvl="0" indent="0" algn="l" rtl="0">
              <a:lnSpc>
                <a:spcPct val="90000"/>
              </a:lnSpc>
              <a:spcBef>
                <a:spcPts val="0"/>
              </a:spcBef>
              <a:spcAft>
                <a:spcPts val="0"/>
              </a:spcAft>
              <a:buClr>
                <a:srgbClr val="363636"/>
              </a:buClr>
              <a:buSzPts val="3600"/>
              <a:buFont typeface="Arial"/>
              <a:buNone/>
            </a:pPr>
            <a:r>
              <a:rPr lang="en-US" sz="3600" b="1">
                <a:solidFill>
                  <a:srgbClr val="363636"/>
                </a:solidFill>
                <a:latin typeface="Arial"/>
                <a:ea typeface="Arial"/>
                <a:cs typeface="Arial"/>
                <a:sym typeface="Arial"/>
              </a:rPr>
              <a:t>Advantages of Association End Names</a:t>
            </a:r>
            <a:br>
              <a:rPr lang="en-US" sz="3600" b="1">
                <a:solidFill>
                  <a:srgbClr val="363636"/>
                </a:solidFill>
                <a:latin typeface="Arial"/>
                <a:ea typeface="Arial"/>
                <a:cs typeface="Arial"/>
                <a:sym typeface="Arial"/>
              </a:rPr>
            </a:br>
            <a:endParaRPr sz="3600" b="1">
              <a:solidFill>
                <a:srgbClr val="363636"/>
              </a:solidFill>
              <a:latin typeface="Arial"/>
              <a:ea typeface="Arial"/>
              <a:cs typeface="Arial"/>
              <a:sym typeface="Arial"/>
            </a:endParaRPr>
          </a:p>
        </p:txBody>
      </p:sp>
    </p:spTree>
    <p:extLst>
      <p:ext uri="{BB962C8B-B14F-4D97-AF65-F5344CB8AC3E}">
        <p14:creationId xmlns:p14="http://schemas.microsoft.com/office/powerpoint/2010/main" val="11849007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20"/>
          <p:cNvSpPr txBox="1">
            <a:spLocks noGrp="1"/>
          </p:cNvSpPr>
          <p:nvPr>
            <p:ph type="title"/>
          </p:nvPr>
        </p:nvSpPr>
        <p:spPr>
          <a:xfrm>
            <a:off x="105103" y="61800"/>
            <a:ext cx="10486697" cy="792163"/>
          </a:xfrm>
          <a:prstGeom prst="rect">
            <a:avLst/>
          </a:prstGeom>
          <a:solidFill>
            <a:srgbClr val="C0C0C0">
              <a:alpha val="49803"/>
            </a:srgbClr>
          </a:solidFill>
          <a:ln>
            <a:noFill/>
          </a:ln>
        </p:spPr>
        <p:txBody>
          <a:bodyPr spcFirstLastPara="1" wrap="square" lIns="216000" tIns="108000" rIns="216000" bIns="108000" anchor="ctr" anchorCtr="0">
            <a:noAutofit/>
          </a:bodyPr>
          <a:lstStyle/>
          <a:p>
            <a:pPr marL="0" lvl="0" indent="0" algn="l" rtl="0">
              <a:lnSpc>
                <a:spcPct val="90000"/>
              </a:lnSpc>
              <a:spcBef>
                <a:spcPts val="0"/>
              </a:spcBef>
              <a:spcAft>
                <a:spcPts val="0"/>
              </a:spcAft>
              <a:buClr>
                <a:srgbClr val="363636"/>
              </a:buClr>
              <a:buSzPts val="3600"/>
              <a:buFont typeface="Arial"/>
              <a:buNone/>
            </a:pPr>
            <a:r>
              <a:rPr lang="en-US" sz="3600" b="1">
                <a:solidFill>
                  <a:srgbClr val="363636"/>
                </a:solidFill>
                <a:latin typeface="Arial"/>
                <a:ea typeface="Arial"/>
                <a:cs typeface="Arial"/>
                <a:sym typeface="Arial"/>
              </a:rPr>
              <a:t>Qualification/Qualified Associations</a:t>
            </a:r>
            <a:endParaRPr sz="3600" b="1">
              <a:solidFill>
                <a:srgbClr val="363636"/>
              </a:solidFill>
              <a:latin typeface="Arial"/>
              <a:ea typeface="Arial"/>
              <a:cs typeface="Arial"/>
              <a:sym typeface="Arial"/>
            </a:endParaRPr>
          </a:p>
        </p:txBody>
      </p:sp>
      <p:sp>
        <p:nvSpPr>
          <p:cNvPr id="454" name="Google Shape;454;p20"/>
          <p:cNvSpPr txBox="1">
            <a:spLocks noGrp="1"/>
          </p:cNvSpPr>
          <p:nvPr>
            <p:ph type="body" idx="1"/>
          </p:nvPr>
        </p:nvSpPr>
        <p:spPr>
          <a:xfrm>
            <a:off x="241737" y="1006363"/>
            <a:ext cx="11803117" cy="5715000"/>
          </a:xfrm>
          <a:prstGeom prst="rect">
            <a:avLst/>
          </a:prstGeom>
          <a:noFill/>
          <a:ln>
            <a:noFill/>
          </a:ln>
        </p:spPr>
        <p:txBody>
          <a:bodyPr spcFirstLastPara="1" wrap="square" lIns="91425" tIns="45700" rIns="91425" bIns="45700" anchor="t" anchorCtr="0">
            <a:noAutofit/>
          </a:bodyPr>
          <a:lstStyle/>
          <a:p>
            <a:pPr marL="91440" lvl="0" indent="-146050" algn="l" rtl="0">
              <a:lnSpc>
                <a:spcPct val="90000"/>
              </a:lnSpc>
              <a:spcBef>
                <a:spcPts val="0"/>
              </a:spcBef>
              <a:spcAft>
                <a:spcPts val="0"/>
              </a:spcAft>
              <a:buClr>
                <a:srgbClr val="424242"/>
              </a:buClr>
              <a:buSzPts val="2300"/>
              <a:buChar char="•"/>
            </a:pPr>
            <a:r>
              <a:rPr lang="en-US" sz="2300" b="1">
                <a:solidFill>
                  <a:srgbClr val="424242"/>
                </a:solidFill>
                <a:latin typeface="Arial"/>
                <a:ea typeface="Arial"/>
                <a:cs typeface="Arial"/>
                <a:sym typeface="Arial"/>
              </a:rPr>
              <a:t>A qualified association is an association in which an attribute called the qualifier disambiguates the objects for a “many” association end.</a:t>
            </a:r>
            <a:endParaRPr/>
          </a:p>
          <a:p>
            <a:pPr marL="91440" lvl="0" indent="0" algn="l" rtl="0">
              <a:lnSpc>
                <a:spcPct val="90000"/>
              </a:lnSpc>
              <a:spcBef>
                <a:spcPts val="1000"/>
              </a:spcBef>
              <a:spcAft>
                <a:spcPts val="0"/>
              </a:spcAft>
              <a:buClr>
                <a:schemeClr val="dk1"/>
              </a:buClr>
              <a:buSzPts val="2300"/>
              <a:buNone/>
            </a:pPr>
            <a:endParaRPr sz="2300" b="1">
              <a:solidFill>
                <a:srgbClr val="424242"/>
              </a:solidFill>
              <a:latin typeface="Arial"/>
              <a:ea typeface="Arial"/>
              <a:cs typeface="Arial"/>
              <a:sym typeface="Arial"/>
            </a:endParaRPr>
          </a:p>
          <a:p>
            <a:pPr marL="91440" lvl="0" indent="-146050" algn="l" rtl="0">
              <a:lnSpc>
                <a:spcPct val="90000"/>
              </a:lnSpc>
              <a:spcBef>
                <a:spcPts val="1000"/>
              </a:spcBef>
              <a:spcAft>
                <a:spcPts val="0"/>
              </a:spcAft>
              <a:buClr>
                <a:srgbClr val="C00000"/>
              </a:buClr>
              <a:buSzPts val="2300"/>
              <a:buChar char="•"/>
            </a:pPr>
            <a:r>
              <a:rPr lang="en-US" sz="2300" b="1">
                <a:solidFill>
                  <a:srgbClr val="C00000"/>
                </a:solidFill>
                <a:latin typeface="Arial"/>
                <a:ea typeface="Arial"/>
                <a:cs typeface="Arial"/>
                <a:sym typeface="Arial"/>
              </a:rPr>
              <a:t>Qualification reduces the effective multiplicity of this association from one-to-many to one-to-one.</a:t>
            </a:r>
            <a:endParaRPr/>
          </a:p>
          <a:p>
            <a:pPr marL="91440" lvl="0" indent="0" algn="l" rtl="0">
              <a:lnSpc>
                <a:spcPct val="90000"/>
              </a:lnSpc>
              <a:spcBef>
                <a:spcPts val="1000"/>
              </a:spcBef>
              <a:spcAft>
                <a:spcPts val="0"/>
              </a:spcAft>
              <a:buClr>
                <a:schemeClr val="dk1"/>
              </a:buClr>
              <a:buSzPts val="2300"/>
              <a:buNone/>
            </a:pPr>
            <a:endParaRPr sz="2300" b="1">
              <a:solidFill>
                <a:srgbClr val="424242"/>
              </a:solidFill>
              <a:latin typeface="Arial"/>
              <a:ea typeface="Arial"/>
              <a:cs typeface="Arial"/>
              <a:sym typeface="Arial"/>
            </a:endParaRPr>
          </a:p>
          <a:p>
            <a:pPr marL="91440" lvl="0" indent="-146050" algn="l" rtl="0">
              <a:lnSpc>
                <a:spcPct val="90000"/>
              </a:lnSpc>
              <a:spcBef>
                <a:spcPts val="1000"/>
              </a:spcBef>
              <a:spcAft>
                <a:spcPts val="0"/>
              </a:spcAft>
              <a:buClr>
                <a:srgbClr val="424242"/>
              </a:buClr>
              <a:buSzPts val="2300"/>
              <a:buChar char="•"/>
            </a:pPr>
            <a:r>
              <a:rPr lang="en-US" sz="2300" b="1">
                <a:solidFill>
                  <a:srgbClr val="424242"/>
                </a:solidFill>
                <a:latin typeface="Arial"/>
                <a:ea typeface="Arial"/>
                <a:cs typeface="Arial"/>
                <a:sym typeface="Arial"/>
              </a:rPr>
              <a:t>The notation for a qualifier is a small box on the end of the association line near the source class. The qualifier box may grow out of any side (top, bottom, left, right) of the source class. The source class plus the qualifier yields the target class.</a:t>
            </a:r>
            <a:endParaRPr/>
          </a:p>
          <a:p>
            <a:pPr marL="91440" lvl="0" indent="0" algn="l" rtl="0">
              <a:lnSpc>
                <a:spcPct val="90000"/>
              </a:lnSpc>
              <a:spcBef>
                <a:spcPts val="1000"/>
              </a:spcBef>
              <a:spcAft>
                <a:spcPts val="0"/>
              </a:spcAft>
              <a:buClr>
                <a:schemeClr val="dk1"/>
              </a:buClr>
              <a:buSzPts val="2300"/>
              <a:buNone/>
            </a:pPr>
            <a:endParaRPr sz="2300" b="1">
              <a:solidFill>
                <a:srgbClr val="424242"/>
              </a:solidFill>
              <a:latin typeface="Arial"/>
              <a:ea typeface="Arial"/>
              <a:cs typeface="Arial"/>
              <a:sym typeface="Arial"/>
            </a:endParaRPr>
          </a:p>
          <a:p>
            <a:pPr marL="91440" lvl="0" indent="-146050" algn="l" rtl="0">
              <a:lnSpc>
                <a:spcPct val="90000"/>
              </a:lnSpc>
              <a:spcBef>
                <a:spcPts val="1000"/>
              </a:spcBef>
              <a:spcAft>
                <a:spcPts val="0"/>
              </a:spcAft>
              <a:buClr>
                <a:srgbClr val="424242"/>
              </a:buClr>
              <a:buSzPts val="2300"/>
              <a:buChar char="•"/>
            </a:pPr>
            <a:r>
              <a:rPr lang="en-US" sz="2300" b="1" i="1">
                <a:solidFill>
                  <a:srgbClr val="424242"/>
                </a:solidFill>
                <a:latin typeface="Arial"/>
                <a:ea typeface="Arial"/>
                <a:cs typeface="Arial"/>
                <a:sym typeface="Arial"/>
              </a:rPr>
              <a:t>A qualified association can also be considered a form of ternary association.</a:t>
            </a:r>
            <a:endParaRPr sz="2300" b="1" i="1">
              <a:solidFill>
                <a:srgbClr val="424242"/>
              </a:solidFill>
              <a:latin typeface="Arial"/>
              <a:ea typeface="Arial"/>
              <a:cs typeface="Arial"/>
              <a:sym typeface="Arial"/>
            </a:endParaRPr>
          </a:p>
        </p:txBody>
      </p:sp>
    </p:spTree>
    <p:extLst>
      <p:ext uri="{BB962C8B-B14F-4D97-AF65-F5344CB8AC3E}">
        <p14:creationId xmlns:p14="http://schemas.microsoft.com/office/powerpoint/2010/main" val="5627411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pic>
        <p:nvPicPr>
          <p:cNvPr id="459" name="Google Shape;459;p21"/>
          <p:cNvPicPr preferRelativeResize="0"/>
          <p:nvPr/>
        </p:nvPicPr>
        <p:blipFill rotWithShape="1">
          <a:blip r:embed="rId3">
            <a:alphaModFix/>
          </a:blip>
          <a:srcRect/>
          <a:stretch/>
        </p:blipFill>
        <p:spPr>
          <a:xfrm>
            <a:off x="233364" y="80964"/>
            <a:ext cx="11653836" cy="1825625"/>
          </a:xfrm>
          <a:prstGeom prst="rect">
            <a:avLst/>
          </a:prstGeom>
          <a:noFill/>
          <a:ln>
            <a:noFill/>
          </a:ln>
        </p:spPr>
      </p:pic>
      <p:sp>
        <p:nvSpPr>
          <p:cNvPr id="460" name="Google Shape;460;p21"/>
          <p:cNvSpPr txBox="1"/>
          <p:nvPr/>
        </p:nvSpPr>
        <p:spPr>
          <a:xfrm>
            <a:off x="315309" y="2193925"/>
            <a:ext cx="11729545" cy="155305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200" b="1">
                <a:solidFill>
                  <a:schemeClr val="dk1"/>
                </a:solidFill>
                <a:latin typeface="Arial"/>
                <a:ea typeface="Arial"/>
                <a:cs typeface="Arial"/>
                <a:sym typeface="Arial"/>
              </a:rPr>
              <a:t>A bank services multiple accounts. An account belongs to a single bank.</a:t>
            </a:r>
            <a:endParaRPr/>
          </a:p>
          <a:p>
            <a:pPr marL="0" marR="0" lvl="0" indent="0" algn="l" rtl="0">
              <a:lnSpc>
                <a:spcPct val="150000"/>
              </a:lnSpc>
              <a:spcBef>
                <a:spcPts val="0"/>
              </a:spcBef>
              <a:spcAft>
                <a:spcPts val="0"/>
              </a:spcAft>
              <a:buNone/>
            </a:pPr>
            <a:r>
              <a:rPr lang="en-US" sz="2200" b="1">
                <a:solidFill>
                  <a:schemeClr val="dk1"/>
                </a:solidFill>
                <a:latin typeface="Arial"/>
                <a:ea typeface="Arial"/>
                <a:cs typeface="Arial"/>
                <a:sym typeface="Arial"/>
              </a:rPr>
              <a:t> Within the context of a bank, the account number specifies a unique account. </a:t>
            </a:r>
            <a:endParaRPr sz="2200" b="1">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r>
              <a:rPr lang="en-US" sz="2200" b="1" i="1">
                <a:solidFill>
                  <a:schemeClr val="dk1"/>
                </a:solidFill>
                <a:latin typeface="Arial"/>
                <a:ea typeface="Arial"/>
                <a:cs typeface="Arial"/>
                <a:sym typeface="Arial"/>
              </a:rPr>
              <a:t>Bank </a:t>
            </a:r>
            <a:r>
              <a:rPr lang="en-US" sz="2200" b="1">
                <a:solidFill>
                  <a:schemeClr val="dk1"/>
                </a:solidFill>
                <a:latin typeface="Arial"/>
                <a:ea typeface="Arial"/>
                <a:cs typeface="Arial"/>
                <a:sym typeface="Arial"/>
              </a:rPr>
              <a:t>and </a:t>
            </a:r>
            <a:r>
              <a:rPr lang="en-US" sz="2200" b="1" i="1">
                <a:solidFill>
                  <a:schemeClr val="dk1"/>
                </a:solidFill>
                <a:latin typeface="Arial"/>
                <a:ea typeface="Arial"/>
                <a:cs typeface="Arial"/>
                <a:sym typeface="Arial"/>
              </a:rPr>
              <a:t>Account </a:t>
            </a:r>
            <a:r>
              <a:rPr lang="en-US" sz="2200" b="1">
                <a:solidFill>
                  <a:schemeClr val="dk1"/>
                </a:solidFill>
                <a:latin typeface="Arial"/>
                <a:ea typeface="Arial"/>
                <a:cs typeface="Arial"/>
                <a:sym typeface="Arial"/>
              </a:rPr>
              <a:t>are classes and </a:t>
            </a:r>
            <a:r>
              <a:rPr lang="en-US" sz="2200" b="1" i="1">
                <a:solidFill>
                  <a:schemeClr val="dk1"/>
                </a:solidFill>
                <a:latin typeface="Arial"/>
                <a:ea typeface="Arial"/>
                <a:cs typeface="Arial"/>
                <a:sym typeface="Arial"/>
              </a:rPr>
              <a:t>account Number </a:t>
            </a:r>
            <a:r>
              <a:rPr lang="en-US" sz="2200" b="1">
                <a:solidFill>
                  <a:schemeClr val="dk1"/>
                </a:solidFill>
                <a:latin typeface="Arial"/>
                <a:ea typeface="Arial"/>
                <a:cs typeface="Arial"/>
                <a:sym typeface="Arial"/>
              </a:rPr>
              <a:t>is the qualifier.</a:t>
            </a:r>
            <a:endParaRPr/>
          </a:p>
        </p:txBody>
      </p:sp>
      <p:sp>
        <p:nvSpPr>
          <p:cNvPr id="461" name="Google Shape;461;p21"/>
          <p:cNvSpPr/>
          <p:nvPr/>
        </p:nvSpPr>
        <p:spPr>
          <a:xfrm>
            <a:off x="2424113" y="4294789"/>
            <a:ext cx="1511300" cy="6477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r>
              <a:rPr lang="en-US" sz="1800" b="1">
                <a:solidFill>
                  <a:schemeClr val="dk1"/>
                </a:solidFill>
                <a:latin typeface="Arial"/>
                <a:ea typeface="Arial"/>
                <a:cs typeface="Arial"/>
                <a:sym typeface="Arial"/>
              </a:rPr>
              <a:t>Directory</a:t>
            </a:r>
            <a:endParaRPr sz="1800" b="1">
              <a:solidFill>
                <a:schemeClr val="dk1"/>
              </a:solidFill>
              <a:latin typeface="Arial"/>
              <a:ea typeface="Arial"/>
              <a:cs typeface="Arial"/>
              <a:sym typeface="Arial"/>
            </a:endParaRPr>
          </a:p>
        </p:txBody>
      </p:sp>
      <p:sp>
        <p:nvSpPr>
          <p:cNvPr id="462" name="Google Shape;462;p21"/>
          <p:cNvSpPr/>
          <p:nvPr/>
        </p:nvSpPr>
        <p:spPr>
          <a:xfrm>
            <a:off x="7391400" y="4221764"/>
            <a:ext cx="1511300" cy="6477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r>
              <a:rPr lang="en-US" sz="1800" b="1">
                <a:solidFill>
                  <a:schemeClr val="dk1"/>
                </a:solidFill>
                <a:latin typeface="Arial"/>
                <a:ea typeface="Arial"/>
                <a:cs typeface="Arial"/>
                <a:sym typeface="Arial"/>
              </a:rPr>
              <a:t>File</a:t>
            </a:r>
            <a:endParaRPr sz="1800" b="1">
              <a:solidFill>
                <a:schemeClr val="dk1"/>
              </a:solidFill>
              <a:latin typeface="Arial"/>
              <a:ea typeface="Arial"/>
              <a:cs typeface="Arial"/>
              <a:sym typeface="Arial"/>
            </a:endParaRPr>
          </a:p>
        </p:txBody>
      </p:sp>
      <p:sp>
        <p:nvSpPr>
          <p:cNvPr id="463" name="Google Shape;463;p21"/>
          <p:cNvSpPr/>
          <p:nvPr/>
        </p:nvSpPr>
        <p:spPr>
          <a:xfrm>
            <a:off x="3935413" y="4437664"/>
            <a:ext cx="1511300" cy="287338"/>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r>
              <a:rPr lang="en-US" sz="1800" b="1">
                <a:solidFill>
                  <a:schemeClr val="dk1"/>
                </a:solidFill>
                <a:latin typeface="Arial"/>
                <a:ea typeface="Arial"/>
                <a:cs typeface="Arial"/>
                <a:sym typeface="Arial"/>
              </a:rPr>
              <a:t>File name</a:t>
            </a:r>
            <a:endParaRPr sz="1800" b="1">
              <a:solidFill>
                <a:schemeClr val="dk1"/>
              </a:solidFill>
              <a:latin typeface="Arial"/>
              <a:ea typeface="Arial"/>
              <a:cs typeface="Arial"/>
              <a:sym typeface="Arial"/>
            </a:endParaRPr>
          </a:p>
        </p:txBody>
      </p:sp>
      <p:cxnSp>
        <p:nvCxnSpPr>
          <p:cNvPr id="464" name="Google Shape;464;p21"/>
          <p:cNvCxnSpPr>
            <a:stCxn id="463" idx="3"/>
            <a:endCxn id="462" idx="1"/>
          </p:cNvCxnSpPr>
          <p:nvPr/>
        </p:nvCxnSpPr>
        <p:spPr>
          <a:xfrm rot="10800000" flipH="1">
            <a:off x="5446713" y="4545633"/>
            <a:ext cx="1944600" cy="35700"/>
          </a:xfrm>
          <a:prstGeom prst="straightConnector1">
            <a:avLst/>
          </a:prstGeom>
          <a:noFill/>
          <a:ln w="9525" cap="flat" cmpd="sng">
            <a:solidFill>
              <a:schemeClr val="dk1"/>
            </a:solidFill>
            <a:prstDash val="solid"/>
            <a:round/>
            <a:headEnd type="none" w="med" len="med"/>
            <a:tailEnd type="none" w="med" len="med"/>
          </a:ln>
        </p:spPr>
      </p:cxnSp>
      <p:sp>
        <p:nvSpPr>
          <p:cNvPr id="465" name="Google Shape;465;p21"/>
          <p:cNvSpPr txBox="1"/>
          <p:nvPr/>
        </p:nvSpPr>
        <p:spPr>
          <a:xfrm>
            <a:off x="4851401" y="5791803"/>
            <a:ext cx="2689225" cy="369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Arial"/>
              <a:buNone/>
            </a:pPr>
            <a:r>
              <a:rPr lang="en-US" sz="1800" b="1">
                <a:solidFill>
                  <a:schemeClr val="dk1"/>
                </a:solidFill>
                <a:latin typeface="Arial"/>
                <a:ea typeface="Arial"/>
                <a:cs typeface="Arial"/>
                <a:sym typeface="Arial"/>
              </a:rPr>
              <a:t>A qualified association</a:t>
            </a:r>
            <a:endParaRPr sz="1800" b="1">
              <a:solidFill>
                <a:schemeClr val="dk1"/>
              </a:solidFill>
              <a:latin typeface="Arial"/>
              <a:ea typeface="Arial"/>
              <a:cs typeface="Arial"/>
              <a:sym typeface="Arial"/>
            </a:endParaRPr>
          </a:p>
        </p:txBody>
      </p:sp>
      <p:sp>
        <p:nvSpPr>
          <p:cNvPr id="466" name="Google Shape;466;p21"/>
          <p:cNvSpPr txBox="1"/>
          <p:nvPr/>
        </p:nvSpPr>
        <p:spPr>
          <a:xfrm>
            <a:off x="3765551" y="5193314"/>
            <a:ext cx="5307013" cy="3698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Arial"/>
              <a:buNone/>
            </a:pPr>
            <a:r>
              <a:rPr lang="en-US" sz="1800" b="1">
                <a:solidFill>
                  <a:schemeClr val="dk1"/>
                </a:solidFill>
                <a:latin typeface="Arial"/>
                <a:ea typeface="Arial"/>
                <a:cs typeface="Arial"/>
                <a:sym typeface="Arial"/>
              </a:rPr>
              <a:t>A directory plus a unique file name yields a file</a:t>
            </a:r>
            <a:endParaRPr sz="1800" b="1">
              <a:solidFill>
                <a:schemeClr val="dk1"/>
              </a:solidFill>
              <a:latin typeface="Arial"/>
              <a:ea typeface="Arial"/>
              <a:cs typeface="Arial"/>
              <a:sym typeface="Arial"/>
            </a:endParaRPr>
          </a:p>
        </p:txBody>
      </p:sp>
    </p:spTree>
    <p:extLst>
      <p:ext uri="{BB962C8B-B14F-4D97-AF65-F5344CB8AC3E}">
        <p14:creationId xmlns:p14="http://schemas.microsoft.com/office/powerpoint/2010/main" val="2685237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pic>
        <p:nvPicPr>
          <p:cNvPr id="471" name="Google Shape;471;p2" descr="https://circle.visual-paradigm.com/wp-content/uploads/2017/08/Class-Diagram-Company-Structure.png"/>
          <p:cNvPicPr preferRelativeResize="0"/>
          <p:nvPr/>
        </p:nvPicPr>
        <p:blipFill rotWithShape="1">
          <a:blip r:embed="rId3">
            <a:alphaModFix/>
          </a:blip>
          <a:srcRect/>
          <a:stretch/>
        </p:blipFill>
        <p:spPr>
          <a:xfrm>
            <a:off x="178676" y="94594"/>
            <a:ext cx="9711558" cy="6358758"/>
          </a:xfrm>
          <a:prstGeom prst="rect">
            <a:avLst/>
          </a:prstGeom>
          <a:noFill/>
          <a:ln>
            <a:noFill/>
          </a:ln>
        </p:spPr>
      </p:pic>
      <p:sp>
        <p:nvSpPr>
          <p:cNvPr id="472" name="Google Shape;472;p2"/>
          <p:cNvSpPr/>
          <p:nvPr/>
        </p:nvSpPr>
        <p:spPr>
          <a:xfrm>
            <a:off x="10008625" y="150050"/>
            <a:ext cx="2046600" cy="624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rgbClr val="002060"/>
                </a:solidFill>
                <a:latin typeface="Open Sans"/>
                <a:ea typeface="Open Sans"/>
                <a:cs typeface="Open Sans"/>
                <a:sym typeface="Open Sans"/>
              </a:rPr>
              <a:t>A company consists of departments. Departments are located in one or more offices. One office acts as a headquarter. Each department has a manager who is recruited from the set of employees. Your task is to model the system for the company.</a:t>
            </a:r>
            <a:endParaRPr sz="2000" b="1">
              <a:solidFill>
                <a:srgbClr val="002060"/>
              </a:solidFill>
              <a:latin typeface="Roboto Condensed"/>
              <a:ea typeface="Roboto Condensed"/>
              <a:cs typeface="Roboto Condensed"/>
              <a:sym typeface="Roboto Condensed"/>
            </a:endParaRPr>
          </a:p>
        </p:txBody>
      </p:sp>
    </p:spTree>
    <p:extLst>
      <p:ext uri="{BB962C8B-B14F-4D97-AF65-F5344CB8AC3E}">
        <p14:creationId xmlns:p14="http://schemas.microsoft.com/office/powerpoint/2010/main" val="37428127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C1F3BBF-1CBB-41FF-B8A4-A1AC5D61CAD3}"/>
              </a:ext>
            </a:extLst>
          </p:cNvPr>
          <p:cNvSpPr>
            <a:spLocks noGrp="1"/>
          </p:cNvSpPr>
          <p:nvPr>
            <p:ph type="title"/>
          </p:nvPr>
        </p:nvSpPr>
        <p:spPr/>
        <p:txBody>
          <a:bodyPr anchor="t"/>
          <a:lstStyle/>
          <a:p>
            <a:r>
              <a:rPr lang="en-US" dirty="0">
                <a:latin typeface="+mn-lt"/>
              </a:rPr>
              <a:t>Class Diagram Of Bank Management System</a:t>
            </a:r>
            <a:endParaRPr lang="en-IN" dirty="0">
              <a:latin typeface="+mn-lt"/>
            </a:endParaRPr>
          </a:p>
        </p:txBody>
      </p:sp>
      <p:grpSp>
        <p:nvGrpSpPr>
          <p:cNvPr id="70" name="Google Shape;325;p36">
            <a:extLst>
              <a:ext uri="{FF2B5EF4-FFF2-40B4-BE49-F238E27FC236}">
                <a16:creationId xmlns="" xmlns:a16="http://schemas.microsoft.com/office/drawing/2014/main" id="{D1245562-9F6B-470A-930D-44A91C97EA4C}"/>
              </a:ext>
            </a:extLst>
          </p:cNvPr>
          <p:cNvGrpSpPr/>
          <p:nvPr/>
        </p:nvGrpSpPr>
        <p:grpSpPr>
          <a:xfrm>
            <a:off x="2267507" y="995960"/>
            <a:ext cx="1876885" cy="1009650"/>
            <a:chOff x="381000" y="1981200"/>
            <a:chExt cx="2514600" cy="1954161"/>
          </a:xfrm>
        </p:grpSpPr>
        <p:sp>
          <p:nvSpPr>
            <p:cNvPr id="71" name="Google Shape;326;p36">
              <a:extLst>
                <a:ext uri="{FF2B5EF4-FFF2-40B4-BE49-F238E27FC236}">
                  <a16:creationId xmlns="" xmlns:a16="http://schemas.microsoft.com/office/drawing/2014/main" id="{ACF86343-BDC5-4A98-9199-F2FCE2853804}"/>
                </a:ext>
              </a:extLst>
            </p:cNvPr>
            <p:cNvSpPr/>
            <p:nvPr/>
          </p:nvSpPr>
          <p:spPr>
            <a:xfrm>
              <a:off x="381000" y="1981200"/>
              <a:ext cx="2514600" cy="457200"/>
            </a:xfrm>
            <a:prstGeom prst="rect">
              <a:avLst/>
            </a:prstGeom>
            <a:ln>
              <a:headEnd type="none" w="sm" len="sm"/>
              <a:tailEnd type="none" w="sm" len="sm"/>
            </a:ln>
          </p:spPr>
          <p:style>
            <a:lnRef idx="2">
              <a:schemeClr val="accent6">
                <a:shade val="50000"/>
              </a:schemeClr>
            </a:lnRef>
            <a:fillRef idx="1">
              <a:schemeClr val="accent6"/>
            </a:fillRef>
            <a:effectRef idx="0">
              <a:schemeClr val="accent6"/>
            </a:effectRef>
            <a:fontRef idx="minor">
              <a:schemeClr val="lt1"/>
            </a:fontRef>
          </p:style>
          <p:txBody>
            <a:bodyPr spcFirstLastPara="1" wrap="square" lIns="91425" tIns="45700" rIns="91425" bIns="45700" anchor="ctr" anchorCtr="0">
              <a:noAutofit/>
            </a:bodyPr>
            <a:lstStyle/>
            <a:p>
              <a:pPr marL="0" marR="0" lvl="0" indent="0" algn="ctr" rtl="0">
                <a:spcBef>
                  <a:spcPts val="0"/>
                </a:spcBef>
                <a:spcAft>
                  <a:spcPts val="0"/>
                </a:spcAft>
                <a:buNone/>
              </a:pPr>
              <a:r>
                <a:rPr lang="en-US" b="1" dirty="0">
                  <a:solidFill>
                    <a:schemeClr val="bg1"/>
                  </a:solidFill>
                  <a:cs typeface="Calibri"/>
                  <a:sym typeface="Calibri"/>
                </a:rPr>
                <a:t>Bank</a:t>
              </a:r>
              <a:endParaRPr b="1" dirty="0">
                <a:solidFill>
                  <a:schemeClr val="bg1"/>
                </a:solidFill>
              </a:endParaRPr>
            </a:p>
          </p:txBody>
        </p:sp>
        <p:sp>
          <p:nvSpPr>
            <p:cNvPr id="72" name="Google Shape;327;p36">
              <a:extLst>
                <a:ext uri="{FF2B5EF4-FFF2-40B4-BE49-F238E27FC236}">
                  <a16:creationId xmlns="" xmlns:a16="http://schemas.microsoft.com/office/drawing/2014/main" id="{4B0E74DE-52D0-4B3B-9A92-92A9C28FC408}"/>
                </a:ext>
              </a:extLst>
            </p:cNvPr>
            <p:cNvSpPr/>
            <p:nvPr/>
          </p:nvSpPr>
          <p:spPr>
            <a:xfrm>
              <a:off x="381000" y="2438400"/>
              <a:ext cx="2514600" cy="914400"/>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500" dirty="0">
                  <a:solidFill>
                    <a:schemeClr val="dk1"/>
                  </a:solidFill>
                  <a:ea typeface="Calibri"/>
                  <a:cs typeface="Calibri"/>
                  <a:sym typeface="Calibri"/>
                </a:rPr>
                <a:t>- name : string</a:t>
              </a:r>
              <a:endParaRPr sz="1500" dirty="0">
                <a:solidFill>
                  <a:schemeClr val="dk1"/>
                </a:solidFill>
                <a:ea typeface="Calibri"/>
                <a:cs typeface="Calibri"/>
                <a:sym typeface="Calibri"/>
              </a:endParaRPr>
            </a:p>
            <a:p>
              <a:pPr marL="0" marR="0" lvl="0" indent="0" algn="l" rtl="0">
                <a:spcBef>
                  <a:spcPts val="0"/>
                </a:spcBef>
                <a:spcAft>
                  <a:spcPts val="0"/>
                </a:spcAft>
                <a:buNone/>
              </a:pPr>
              <a:r>
                <a:rPr lang="en-US" sz="1500" dirty="0">
                  <a:solidFill>
                    <a:schemeClr val="dk1"/>
                  </a:solidFill>
                  <a:ea typeface="Calibri"/>
                  <a:cs typeface="Calibri"/>
                  <a:sym typeface="Calibri"/>
                </a:rPr>
                <a:t>- code: string</a:t>
              </a:r>
              <a:endParaRPr sz="1500" dirty="0">
                <a:solidFill>
                  <a:schemeClr val="dk1"/>
                </a:solidFill>
                <a:ea typeface="Calibri"/>
                <a:cs typeface="Calibri"/>
                <a:sym typeface="Calibri"/>
              </a:endParaRPr>
            </a:p>
          </p:txBody>
        </p:sp>
        <p:sp>
          <p:nvSpPr>
            <p:cNvPr id="73" name="Google Shape;328;p36">
              <a:extLst>
                <a:ext uri="{FF2B5EF4-FFF2-40B4-BE49-F238E27FC236}">
                  <a16:creationId xmlns="" xmlns:a16="http://schemas.microsoft.com/office/drawing/2014/main" id="{537AFCB2-8A6A-4EF3-8D54-E860DB8C5D63}"/>
                </a:ext>
              </a:extLst>
            </p:cNvPr>
            <p:cNvSpPr/>
            <p:nvPr/>
          </p:nvSpPr>
          <p:spPr>
            <a:xfrm>
              <a:off x="381000" y="3352800"/>
              <a:ext cx="2514600" cy="582561"/>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IN" sz="1500" dirty="0">
                  <a:solidFill>
                    <a:schemeClr val="dk1"/>
                  </a:solidFill>
                  <a:ea typeface="Calibri"/>
                  <a:cs typeface="Calibri"/>
                  <a:sym typeface="Calibri"/>
                </a:rPr>
                <a:t>+</a:t>
              </a:r>
              <a:r>
                <a:rPr lang="en-IN" sz="1500" dirty="0" err="1">
                  <a:solidFill>
                    <a:schemeClr val="dk1"/>
                  </a:solidFill>
                  <a:ea typeface="Calibri"/>
                  <a:cs typeface="Calibri"/>
                  <a:sym typeface="Calibri"/>
                </a:rPr>
                <a:t>manageBranch</a:t>
              </a:r>
              <a:r>
                <a:rPr lang="en-IN" sz="1500" dirty="0">
                  <a:solidFill>
                    <a:schemeClr val="dk1"/>
                  </a:solidFill>
                  <a:ea typeface="Calibri"/>
                  <a:cs typeface="Calibri"/>
                  <a:sym typeface="Calibri"/>
                </a:rPr>
                <a:t>();</a:t>
              </a:r>
              <a:endParaRPr sz="1500" dirty="0">
                <a:solidFill>
                  <a:schemeClr val="dk1"/>
                </a:solidFill>
                <a:ea typeface="Calibri"/>
                <a:cs typeface="Calibri"/>
                <a:sym typeface="Calibri"/>
              </a:endParaRPr>
            </a:p>
          </p:txBody>
        </p:sp>
      </p:grpSp>
      <p:grpSp>
        <p:nvGrpSpPr>
          <p:cNvPr id="78" name="Google Shape;321;p36">
            <a:extLst>
              <a:ext uri="{FF2B5EF4-FFF2-40B4-BE49-F238E27FC236}">
                <a16:creationId xmlns="" xmlns:a16="http://schemas.microsoft.com/office/drawing/2014/main" id="{5759603B-2A5E-4D2D-803A-44F24DAEF62C}"/>
              </a:ext>
            </a:extLst>
          </p:cNvPr>
          <p:cNvGrpSpPr/>
          <p:nvPr/>
        </p:nvGrpSpPr>
        <p:grpSpPr>
          <a:xfrm>
            <a:off x="7254904" y="2106102"/>
            <a:ext cx="3619860" cy="1614484"/>
            <a:chOff x="3886199" y="1866902"/>
            <a:chExt cx="2590800" cy="1529621"/>
          </a:xfrm>
        </p:grpSpPr>
        <p:sp>
          <p:nvSpPr>
            <p:cNvPr id="79" name="Google Shape;322;p36">
              <a:extLst>
                <a:ext uri="{FF2B5EF4-FFF2-40B4-BE49-F238E27FC236}">
                  <a16:creationId xmlns="" xmlns:a16="http://schemas.microsoft.com/office/drawing/2014/main" id="{8DB8AAA1-CE8E-4439-8768-14E5D59BBCAE}"/>
                </a:ext>
              </a:extLst>
            </p:cNvPr>
            <p:cNvSpPr/>
            <p:nvPr/>
          </p:nvSpPr>
          <p:spPr>
            <a:xfrm>
              <a:off x="3886199" y="1866902"/>
              <a:ext cx="2590800" cy="381000"/>
            </a:xfrm>
            <a:prstGeom prst="rect">
              <a:avLst/>
            </a:prstGeom>
            <a:ln>
              <a:headEnd type="none" w="sm" len="sm"/>
              <a:tailEnd type="none" w="sm" len="sm"/>
            </a:ln>
          </p:spPr>
          <p:style>
            <a:lnRef idx="2">
              <a:schemeClr val="accent6">
                <a:shade val="50000"/>
              </a:schemeClr>
            </a:lnRef>
            <a:fillRef idx="1">
              <a:schemeClr val="accent6"/>
            </a:fillRef>
            <a:effectRef idx="0">
              <a:schemeClr val="accent6"/>
            </a:effectRef>
            <a:fontRef idx="minor">
              <a:schemeClr val="lt1"/>
            </a:fontRef>
          </p:style>
          <p:txBody>
            <a:bodyPr spcFirstLastPara="1" wrap="square" lIns="91425" tIns="45700" rIns="91425" bIns="45700" anchor="ctr" anchorCtr="0">
              <a:noAutofit/>
            </a:bodyPr>
            <a:lstStyle/>
            <a:p>
              <a:pPr algn="ctr"/>
              <a:r>
                <a:rPr lang="en-US" sz="2400" b="1" i="1" dirty="0">
                  <a:solidFill>
                    <a:schemeClr val="bg1"/>
                  </a:solidFill>
                  <a:cs typeface="Calibri"/>
                  <a:sym typeface="Calibri"/>
                </a:rPr>
                <a:t>Account</a:t>
              </a:r>
              <a:endParaRPr sz="2400" b="1" i="1" dirty="0">
                <a:solidFill>
                  <a:schemeClr val="bg1"/>
                </a:solidFill>
                <a:cs typeface="Calibri"/>
              </a:endParaRPr>
            </a:p>
          </p:txBody>
        </p:sp>
        <p:sp>
          <p:nvSpPr>
            <p:cNvPr id="80" name="Google Shape;323;p36">
              <a:extLst>
                <a:ext uri="{FF2B5EF4-FFF2-40B4-BE49-F238E27FC236}">
                  <a16:creationId xmlns="" xmlns:a16="http://schemas.microsoft.com/office/drawing/2014/main" id="{BCDAFCB6-245A-4430-81FB-CD61034B4A4D}"/>
                </a:ext>
              </a:extLst>
            </p:cNvPr>
            <p:cNvSpPr/>
            <p:nvPr/>
          </p:nvSpPr>
          <p:spPr>
            <a:xfrm>
              <a:off x="3886199" y="2247901"/>
              <a:ext cx="2590800" cy="521994"/>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r>
                <a:rPr lang="en-US" sz="1500" dirty="0">
                  <a:solidFill>
                    <a:schemeClr val="dk1"/>
                  </a:solidFill>
                  <a:cs typeface="Calibri"/>
                  <a:sym typeface="Calibri"/>
                </a:rPr>
                <a:t>~ </a:t>
              </a:r>
              <a:r>
                <a:rPr lang="en-US" sz="1500" dirty="0" err="1">
                  <a:solidFill>
                    <a:schemeClr val="dk1"/>
                  </a:solidFill>
                  <a:cs typeface="Calibri"/>
                  <a:sym typeface="Calibri"/>
                </a:rPr>
                <a:t>accountNumber</a:t>
              </a:r>
              <a:r>
                <a:rPr lang="en-US" sz="1500" dirty="0">
                  <a:solidFill>
                    <a:schemeClr val="dk1"/>
                  </a:solidFill>
                  <a:cs typeface="Calibri"/>
                  <a:sym typeface="Calibri"/>
                </a:rPr>
                <a:t>: string</a:t>
              </a:r>
              <a:endParaRPr sz="1500" dirty="0">
                <a:solidFill>
                  <a:schemeClr val="dk1"/>
                </a:solidFill>
                <a:cs typeface="Calibri"/>
              </a:endParaRPr>
            </a:p>
            <a:p>
              <a:r>
                <a:rPr lang="en-US" sz="1500" dirty="0">
                  <a:solidFill>
                    <a:schemeClr val="dk1"/>
                  </a:solidFill>
                  <a:cs typeface="Calibri"/>
                  <a:sym typeface="Calibri"/>
                </a:rPr>
                <a:t>- balance: number</a:t>
              </a:r>
              <a:endParaRPr sz="1500" dirty="0">
                <a:solidFill>
                  <a:schemeClr val="dk1"/>
                </a:solidFill>
                <a:cs typeface="Calibri"/>
              </a:endParaRPr>
            </a:p>
          </p:txBody>
        </p:sp>
        <p:sp>
          <p:nvSpPr>
            <p:cNvPr id="81" name="Google Shape;324;p36">
              <a:extLst>
                <a:ext uri="{FF2B5EF4-FFF2-40B4-BE49-F238E27FC236}">
                  <a16:creationId xmlns="" xmlns:a16="http://schemas.microsoft.com/office/drawing/2014/main" id="{345EA689-046B-4FE6-A512-9A5310554050}"/>
                </a:ext>
              </a:extLst>
            </p:cNvPr>
            <p:cNvSpPr/>
            <p:nvPr/>
          </p:nvSpPr>
          <p:spPr>
            <a:xfrm>
              <a:off x="3886199" y="2709426"/>
              <a:ext cx="2590800" cy="687097"/>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r>
                <a:rPr lang="en-US" sz="1500" dirty="0">
                  <a:solidFill>
                    <a:schemeClr val="dk1"/>
                  </a:solidFill>
                  <a:cs typeface="Calibri"/>
                  <a:sym typeface="Calibri"/>
                </a:rPr>
                <a:t>+</a:t>
              </a:r>
              <a:r>
                <a:rPr lang="en-US" sz="1500" dirty="0" err="1">
                  <a:solidFill>
                    <a:schemeClr val="dk1"/>
                  </a:solidFill>
                  <a:cs typeface="Calibri"/>
                  <a:sym typeface="Calibri"/>
                </a:rPr>
                <a:t>debitAmount</a:t>
              </a:r>
              <a:r>
                <a:rPr lang="en-US" sz="1500" dirty="0">
                  <a:solidFill>
                    <a:schemeClr val="dk1"/>
                  </a:solidFill>
                  <a:cs typeface="Calibri"/>
                  <a:sym typeface="Calibri"/>
                </a:rPr>
                <a:t>(</a:t>
              </a:r>
              <a:r>
                <a:rPr lang="en-US" sz="1500" dirty="0" err="1">
                  <a:solidFill>
                    <a:schemeClr val="dk1"/>
                  </a:solidFill>
                  <a:cs typeface="Calibri"/>
                  <a:sym typeface="Calibri"/>
                </a:rPr>
                <a:t>amount:double</a:t>
              </a:r>
              <a:r>
                <a:rPr lang="en-US" sz="1500" dirty="0">
                  <a:solidFill>
                    <a:schemeClr val="dk1"/>
                  </a:solidFill>
                  <a:cs typeface="Calibri"/>
                  <a:sym typeface="Calibri"/>
                </a:rPr>
                <a:t>): void</a:t>
              </a:r>
            </a:p>
            <a:p>
              <a:r>
                <a:rPr lang="en-US" sz="1500" dirty="0">
                  <a:solidFill>
                    <a:schemeClr val="dk1"/>
                  </a:solidFill>
                  <a:cs typeface="Calibri"/>
                  <a:sym typeface="Calibri"/>
                </a:rPr>
                <a:t>+</a:t>
              </a:r>
              <a:r>
                <a:rPr lang="en-US" sz="1500" dirty="0" err="1">
                  <a:solidFill>
                    <a:schemeClr val="dk1"/>
                  </a:solidFill>
                  <a:cs typeface="Calibri"/>
                  <a:sym typeface="Calibri"/>
                </a:rPr>
                <a:t>creditAmount</a:t>
              </a:r>
              <a:r>
                <a:rPr lang="en-US" sz="1500" dirty="0">
                  <a:solidFill>
                    <a:schemeClr val="dk1"/>
                  </a:solidFill>
                  <a:cs typeface="Calibri"/>
                  <a:sym typeface="Calibri"/>
                </a:rPr>
                <a:t>(</a:t>
              </a:r>
              <a:r>
                <a:rPr lang="en-US" sz="1500" dirty="0" err="1">
                  <a:solidFill>
                    <a:schemeClr val="dk1"/>
                  </a:solidFill>
                  <a:cs typeface="Calibri"/>
                  <a:sym typeface="Calibri"/>
                </a:rPr>
                <a:t>amount:double</a:t>
              </a:r>
              <a:r>
                <a:rPr lang="en-US" sz="1500" dirty="0">
                  <a:solidFill>
                    <a:schemeClr val="dk1"/>
                  </a:solidFill>
                  <a:cs typeface="Calibri"/>
                  <a:sym typeface="Calibri"/>
                </a:rPr>
                <a:t>) : int</a:t>
              </a:r>
            </a:p>
            <a:p>
              <a:r>
                <a:rPr lang="en-US" sz="1500" dirty="0">
                  <a:solidFill>
                    <a:schemeClr val="dk1"/>
                  </a:solidFill>
                  <a:cs typeface="Calibri"/>
                  <a:sym typeface="Calibri"/>
                </a:rPr>
                <a:t>+</a:t>
              </a:r>
              <a:r>
                <a:rPr lang="en-US" sz="1500" dirty="0" err="1">
                  <a:solidFill>
                    <a:schemeClr val="dk1"/>
                  </a:solidFill>
                  <a:cs typeface="Calibri"/>
                  <a:sym typeface="Calibri"/>
                </a:rPr>
                <a:t>getBalance</a:t>
              </a:r>
              <a:r>
                <a:rPr lang="en-US" sz="1500" dirty="0">
                  <a:solidFill>
                    <a:schemeClr val="dk1"/>
                  </a:solidFill>
                  <a:cs typeface="Calibri"/>
                  <a:sym typeface="Calibri"/>
                </a:rPr>
                <a:t>(</a:t>
              </a:r>
              <a:r>
                <a:rPr lang="en-US" sz="1500" dirty="0" err="1">
                  <a:solidFill>
                    <a:schemeClr val="dk1"/>
                  </a:solidFill>
                  <a:cs typeface="Calibri"/>
                  <a:sym typeface="Calibri"/>
                </a:rPr>
                <a:t>accountNo:long</a:t>
              </a:r>
              <a:r>
                <a:rPr lang="en-US" sz="1500" dirty="0">
                  <a:solidFill>
                    <a:schemeClr val="dk1"/>
                  </a:solidFill>
                  <a:cs typeface="Calibri"/>
                  <a:sym typeface="Calibri"/>
                </a:rPr>
                <a:t>) : double </a:t>
              </a:r>
              <a:endParaRPr sz="1500" dirty="0">
                <a:solidFill>
                  <a:schemeClr val="dk1"/>
                </a:solidFill>
                <a:cs typeface="Calibri"/>
              </a:endParaRPr>
            </a:p>
          </p:txBody>
        </p:sp>
      </p:grpSp>
      <p:grpSp>
        <p:nvGrpSpPr>
          <p:cNvPr id="176" name="Group 175">
            <a:extLst>
              <a:ext uri="{FF2B5EF4-FFF2-40B4-BE49-F238E27FC236}">
                <a16:creationId xmlns="" xmlns:a16="http://schemas.microsoft.com/office/drawing/2014/main" id="{65F1CDE7-8301-4461-8017-0B2E27EDDD77}"/>
              </a:ext>
            </a:extLst>
          </p:cNvPr>
          <p:cNvGrpSpPr/>
          <p:nvPr/>
        </p:nvGrpSpPr>
        <p:grpSpPr>
          <a:xfrm>
            <a:off x="6096000" y="3756529"/>
            <a:ext cx="5950998" cy="2038082"/>
            <a:chOff x="6096000" y="3756529"/>
            <a:chExt cx="5950998" cy="2038082"/>
          </a:xfrm>
        </p:grpSpPr>
        <p:grpSp>
          <p:nvGrpSpPr>
            <p:cNvPr id="82" name="Google Shape;333;p36">
              <a:extLst>
                <a:ext uri="{FF2B5EF4-FFF2-40B4-BE49-F238E27FC236}">
                  <a16:creationId xmlns="" xmlns:a16="http://schemas.microsoft.com/office/drawing/2014/main" id="{C97CDB32-F24A-4F36-B2CC-39A300FB8BCD}"/>
                </a:ext>
              </a:extLst>
            </p:cNvPr>
            <p:cNvGrpSpPr/>
            <p:nvPr/>
          </p:nvGrpSpPr>
          <p:grpSpPr>
            <a:xfrm>
              <a:off x="6096000" y="4736342"/>
              <a:ext cx="2061470" cy="1058268"/>
              <a:chOff x="381000" y="1673740"/>
              <a:chExt cx="2514600" cy="2261621"/>
            </a:xfrm>
          </p:grpSpPr>
          <p:sp>
            <p:nvSpPr>
              <p:cNvPr id="84" name="Google Shape;335;p36">
                <a:extLst>
                  <a:ext uri="{FF2B5EF4-FFF2-40B4-BE49-F238E27FC236}">
                    <a16:creationId xmlns="" xmlns:a16="http://schemas.microsoft.com/office/drawing/2014/main" id="{36B18744-C264-496C-A290-44C1D01AFAEA}"/>
                  </a:ext>
                </a:extLst>
              </p:cNvPr>
              <p:cNvSpPr/>
              <p:nvPr/>
            </p:nvSpPr>
            <p:spPr>
              <a:xfrm>
                <a:off x="381000" y="2438400"/>
                <a:ext cx="2514600" cy="914400"/>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endParaRPr sz="1200" dirty="0">
                  <a:solidFill>
                    <a:schemeClr val="dk1"/>
                  </a:solidFill>
                  <a:cs typeface="Calibri"/>
                  <a:sym typeface="Calibri"/>
                </a:endParaRPr>
              </a:p>
            </p:txBody>
          </p:sp>
          <p:sp>
            <p:nvSpPr>
              <p:cNvPr id="85" name="Google Shape;336;p36">
                <a:extLst>
                  <a:ext uri="{FF2B5EF4-FFF2-40B4-BE49-F238E27FC236}">
                    <a16:creationId xmlns="" xmlns:a16="http://schemas.microsoft.com/office/drawing/2014/main" id="{35E7DCF0-3A6A-4E96-B60C-71A63091B9AB}"/>
                  </a:ext>
                </a:extLst>
              </p:cNvPr>
              <p:cNvSpPr/>
              <p:nvPr/>
            </p:nvSpPr>
            <p:spPr>
              <a:xfrm>
                <a:off x="381000" y="3352800"/>
                <a:ext cx="2514600" cy="582561"/>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endParaRPr sz="1200">
                  <a:solidFill>
                    <a:schemeClr val="dk1"/>
                  </a:solidFill>
                  <a:cs typeface="Calibri"/>
                  <a:sym typeface="Calibri"/>
                </a:endParaRPr>
              </a:p>
            </p:txBody>
          </p:sp>
          <p:sp>
            <p:nvSpPr>
              <p:cNvPr id="83" name="Google Shape;334;p36">
                <a:extLst>
                  <a:ext uri="{FF2B5EF4-FFF2-40B4-BE49-F238E27FC236}">
                    <a16:creationId xmlns="" xmlns:a16="http://schemas.microsoft.com/office/drawing/2014/main" id="{E6D61EBC-98CB-46BC-AC84-5C569600111E}"/>
                  </a:ext>
                </a:extLst>
              </p:cNvPr>
              <p:cNvSpPr/>
              <p:nvPr/>
            </p:nvSpPr>
            <p:spPr>
              <a:xfrm>
                <a:off x="381000" y="1673740"/>
                <a:ext cx="2514600" cy="764660"/>
              </a:xfrm>
              <a:prstGeom prst="rect">
                <a:avLst/>
              </a:prstGeom>
              <a:ln>
                <a:headEnd type="none" w="sm" len="sm"/>
                <a:tailEnd type="none" w="sm" len="sm"/>
              </a:ln>
            </p:spPr>
            <p:style>
              <a:lnRef idx="2">
                <a:schemeClr val="accent6">
                  <a:shade val="50000"/>
                </a:schemeClr>
              </a:lnRef>
              <a:fillRef idx="1">
                <a:schemeClr val="accent6"/>
              </a:fillRef>
              <a:effectRef idx="0">
                <a:schemeClr val="accent6"/>
              </a:effectRef>
              <a:fontRef idx="minor">
                <a:schemeClr val="lt1"/>
              </a:fontRef>
            </p:style>
            <p:txBody>
              <a:bodyPr spcFirstLastPara="1" wrap="square" lIns="91425" tIns="45700" rIns="91425" bIns="45700" anchor="ctr" anchorCtr="0">
                <a:noAutofit/>
              </a:bodyPr>
              <a:lstStyle/>
              <a:p>
                <a:pPr algn="ctr"/>
                <a:r>
                  <a:rPr lang="en-US" b="1" dirty="0" err="1">
                    <a:solidFill>
                      <a:schemeClr val="bg1"/>
                    </a:solidFill>
                    <a:cs typeface="Calibri"/>
                    <a:sym typeface="Calibri"/>
                  </a:rPr>
                  <a:t>CurrentAccount</a:t>
                </a:r>
                <a:endParaRPr b="1" dirty="0">
                  <a:solidFill>
                    <a:schemeClr val="bg1"/>
                  </a:solidFill>
                  <a:cs typeface="Calibri"/>
                </a:endParaRPr>
              </a:p>
            </p:txBody>
          </p:sp>
        </p:grpSp>
        <p:grpSp>
          <p:nvGrpSpPr>
            <p:cNvPr id="90" name="Google Shape;374;p36">
              <a:extLst>
                <a:ext uri="{FF2B5EF4-FFF2-40B4-BE49-F238E27FC236}">
                  <a16:creationId xmlns="" xmlns:a16="http://schemas.microsoft.com/office/drawing/2014/main" id="{C7F3789D-2AEE-440B-9EA9-63B538A3FCB3}"/>
                </a:ext>
              </a:extLst>
            </p:cNvPr>
            <p:cNvGrpSpPr/>
            <p:nvPr/>
          </p:nvGrpSpPr>
          <p:grpSpPr>
            <a:xfrm>
              <a:off x="7126735" y="3756529"/>
              <a:ext cx="3437265" cy="1098203"/>
              <a:chOff x="3135130" y="4114800"/>
              <a:chExt cx="2847283" cy="1098203"/>
            </a:xfrm>
          </p:grpSpPr>
          <p:cxnSp>
            <p:nvCxnSpPr>
              <p:cNvPr id="91" name="Google Shape;375;p36">
                <a:extLst>
                  <a:ext uri="{FF2B5EF4-FFF2-40B4-BE49-F238E27FC236}">
                    <a16:creationId xmlns="" xmlns:a16="http://schemas.microsoft.com/office/drawing/2014/main" id="{E00FB652-94C8-48B2-A1C4-9FFC75FBA07D}"/>
                  </a:ext>
                </a:extLst>
              </p:cNvPr>
              <p:cNvCxnSpPr>
                <a:cxnSpLocks/>
              </p:cNvCxnSpPr>
              <p:nvPr/>
            </p:nvCxnSpPr>
            <p:spPr>
              <a:xfrm>
                <a:off x="3135130" y="4562303"/>
                <a:ext cx="2846570" cy="9697"/>
              </a:xfrm>
              <a:prstGeom prst="straightConnector1">
                <a:avLst/>
              </a:prstGeom>
              <a:noFill/>
              <a:ln w="19050" cap="flat" cmpd="sng">
                <a:solidFill>
                  <a:srgbClr val="A32D19"/>
                </a:solidFill>
                <a:prstDash val="solid"/>
                <a:round/>
                <a:headEnd type="none" w="sm" len="sm"/>
                <a:tailEnd type="none" w="sm" len="sm"/>
              </a:ln>
            </p:spPr>
          </p:cxnSp>
          <p:cxnSp>
            <p:nvCxnSpPr>
              <p:cNvPr id="92" name="Google Shape;376;p36">
                <a:extLst>
                  <a:ext uri="{FF2B5EF4-FFF2-40B4-BE49-F238E27FC236}">
                    <a16:creationId xmlns="" xmlns:a16="http://schemas.microsoft.com/office/drawing/2014/main" id="{4912276D-D8BD-4D20-A9D4-75E6C55B2693}"/>
                  </a:ext>
                </a:extLst>
              </p:cNvPr>
              <p:cNvCxnSpPr>
                <a:cxnSpLocks/>
                <a:endCxn id="83" idx="0"/>
              </p:cNvCxnSpPr>
              <p:nvPr/>
            </p:nvCxnSpPr>
            <p:spPr>
              <a:xfrm>
                <a:off x="3135130" y="4562303"/>
                <a:ext cx="0" cy="532310"/>
              </a:xfrm>
              <a:prstGeom prst="straightConnector1">
                <a:avLst/>
              </a:prstGeom>
              <a:noFill/>
              <a:ln w="19050" cap="flat" cmpd="sng">
                <a:solidFill>
                  <a:srgbClr val="A32D19"/>
                </a:solidFill>
                <a:prstDash val="solid"/>
                <a:round/>
                <a:headEnd type="none" w="sm" len="sm"/>
                <a:tailEnd type="none" w="sm" len="sm"/>
              </a:ln>
            </p:spPr>
          </p:cxnSp>
          <p:cxnSp>
            <p:nvCxnSpPr>
              <p:cNvPr id="93" name="Google Shape;377;p36">
                <a:extLst>
                  <a:ext uri="{FF2B5EF4-FFF2-40B4-BE49-F238E27FC236}">
                    <a16:creationId xmlns="" xmlns:a16="http://schemas.microsoft.com/office/drawing/2014/main" id="{96D11BB8-9685-49B6-91F6-58C4F59DC04A}"/>
                  </a:ext>
                </a:extLst>
              </p:cNvPr>
              <p:cNvCxnSpPr>
                <a:cxnSpLocks/>
              </p:cNvCxnSpPr>
              <p:nvPr/>
            </p:nvCxnSpPr>
            <p:spPr>
              <a:xfrm>
                <a:off x="5982413" y="4562303"/>
                <a:ext cx="0" cy="650700"/>
              </a:xfrm>
              <a:prstGeom prst="straightConnector1">
                <a:avLst/>
              </a:prstGeom>
              <a:noFill/>
              <a:ln w="19050" cap="flat" cmpd="sng">
                <a:solidFill>
                  <a:srgbClr val="A32D19"/>
                </a:solidFill>
                <a:prstDash val="solid"/>
                <a:round/>
                <a:headEnd type="none" w="sm" len="sm"/>
                <a:tailEnd type="none" w="sm" len="sm"/>
              </a:ln>
            </p:spPr>
          </p:cxnSp>
          <p:sp>
            <p:nvSpPr>
              <p:cNvPr id="94" name="Google Shape;378;p36">
                <a:extLst>
                  <a:ext uri="{FF2B5EF4-FFF2-40B4-BE49-F238E27FC236}">
                    <a16:creationId xmlns="" xmlns:a16="http://schemas.microsoft.com/office/drawing/2014/main" id="{316646F2-9FDD-49FF-A899-DAA0B0F3D560}"/>
                  </a:ext>
                </a:extLst>
              </p:cNvPr>
              <p:cNvSpPr/>
              <p:nvPr/>
            </p:nvSpPr>
            <p:spPr>
              <a:xfrm>
                <a:off x="4457700" y="4114800"/>
                <a:ext cx="228600" cy="457199"/>
              </a:xfrm>
              <a:prstGeom prst="upArrow">
                <a:avLst>
                  <a:gd name="adj1" fmla="val 2775"/>
                  <a:gd name="adj2" fmla="val 50000"/>
                </a:avLst>
              </a:prstGeom>
              <a:solidFill>
                <a:srgbClr val="A32D19"/>
              </a:solidFill>
              <a:ln w="1905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pPr marL="0" marR="0" lvl="0" indent="0" rtl="0">
                  <a:spcBef>
                    <a:spcPts val="0"/>
                  </a:spcBef>
                  <a:spcAft>
                    <a:spcPts val="0"/>
                  </a:spcAft>
                  <a:buNone/>
                </a:pPr>
                <a:endParaRPr sz="1200">
                  <a:solidFill>
                    <a:schemeClr val="lt1"/>
                  </a:solidFill>
                  <a:ea typeface="Calibri"/>
                  <a:cs typeface="Calibri"/>
                  <a:sym typeface="Calibri"/>
                </a:endParaRPr>
              </a:p>
            </p:txBody>
          </p:sp>
        </p:grpSp>
        <p:grpSp>
          <p:nvGrpSpPr>
            <p:cNvPr id="95" name="Google Shape;333;p36">
              <a:extLst>
                <a:ext uri="{FF2B5EF4-FFF2-40B4-BE49-F238E27FC236}">
                  <a16:creationId xmlns="" xmlns:a16="http://schemas.microsoft.com/office/drawing/2014/main" id="{8F4543C9-8B8E-45A9-AAF5-AEA46297955C}"/>
                </a:ext>
              </a:extLst>
            </p:cNvPr>
            <p:cNvGrpSpPr/>
            <p:nvPr/>
          </p:nvGrpSpPr>
          <p:grpSpPr>
            <a:xfrm>
              <a:off x="8398278" y="4736342"/>
              <a:ext cx="3648720" cy="1058269"/>
              <a:chOff x="381000" y="1673741"/>
              <a:chExt cx="2514600" cy="2261622"/>
            </a:xfrm>
          </p:grpSpPr>
          <p:sp>
            <p:nvSpPr>
              <p:cNvPr id="96" name="Google Shape;334;p36">
                <a:extLst>
                  <a:ext uri="{FF2B5EF4-FFF2-40B4-BE49-F238E27FC236}">
                    <a16:creationId xmlns="" xmlns:a16="http://schemas.microsoft.com/office/drawing/2014/main" id="{D847E89A-C19E-4C72-A08A-23E4E90D8EBE}"/>
                  </a:ext>
                </a:extLst>
              </p:cNvPr>
              <p:cNvSpPr/>
              <p:nvPr/>
            </p:nvSpPr>
            <p:spPr>
              <a:xfrm>
                <a:off x="381000" y="1673741"/>
                <a:ext cx="2514600" cy="764660"/>
              </a:xfrm>
              <a:prstGeom prst="rect">
                <a:avLst/>
              </a:prstGeom>
              <a:ln>
                <a:headEnd type="none" w="sm" len="sm"/>
                <a:tailEnd type="none" w="sm" len="sm"/>
              </a:ln>
            </p:spPr>
            <p:style>
              <a:lnRef idx="2">
                <a:schemeClr val="accent6">
                  <a:shade val="50000"/>
                </a:schemeClr>
              </a:lnRef>
              <a:fillRef idx="1">
                <a:schemeClr val="accent6"/>
              </a:fillRef>
              <a:effectRef idx="0">
                <a:schemeClr val="accent6"/>
              </a:effectRef>
              <a:fontRef idx="minor">
                <a:schemeClr val="lt1"/>
              </a:fontRef>
            </p:style>
            <p:txBody>
              <a:bodyPr spcFirstLastPara="1" wrap="square" lIns="91425" tIns="45700" rIns="91425" bIns="45700" anchor="ctr" anchorCtr="0">
                <a:noAutofit/>
              </a:bodyPr>
              <a:lstStyle/>
              <a:p>
                <a:pPr algn="ctr"/>
                <a:r>
                  <a:rPr lang="en-US" b="1" dirty="0" err="1">
                    <a:solidFill>
                      <a:schemeClr val="dk1"/>
                    </a:solidFill>
                    <a:cs typeface="Calibri"/>
                    <a:sym typeface="Calibri"/>
                  </a:rPr>
                  <a:t>SavingAccount</a:t>
                </a:r>
                <a:endParaRPr b="1" dirty="0">
                  <a:solidFill>
                    <a:schemeClr val="dk1"/>
                  </a:solidFill>
                  <a:cs typeface="Calibri"/>
                </a:endParaRPr>
              </a:p>
            </p:txBody>
          </p:sp>
          <p:sp>
            <p:nvSpPr>
              <p:cNvPr id="97" name="Google Shape;335;p36">
                <a:extLst>
                  <a:ext uri="{FF2B5EF4-FFF2-40B4-BE49-F238E27FC236}">
                    <a16:creationId xmlns="" xmlns:a16="http://schemas.microsoft.com/office/drawing/2014/main" id="{D6410A81-CBAA-4A8E-A0E1-E6859931E92E}"/>
                  </a:ext>
                </a:extLst>
              </p:cNvPr>
              <p:cNvSpPr/>
              <p:nvPr/>
            </p:nvSpPr>
            <p:spPr>
              <a:xfrm>
                <a:off x="381000" y="2438401"/>
                <a:ext cx="2514600" cy="596049"/>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r>
                  <a:rPr lang="en-US" sz="1500" dirty="0">
                    <a:solidFill>
                      <a:schemeClr val="dk1"/>
                    </a:solidFill>
                    <a:cs typeface="Calibri"/>
                    <a:sym typeface="Calibri"/>
                  </a:rPr>
                  <a:t>- </a:t>
                </a:r>
                <a:r>
                  <a:rPr lang="en-US" sz="1500" dirty="0" err="1">
                    <a:solidFill>
                      <a:schemeClr val="dk1"/>
                    </a:solidFill>
                    <a:cs typeface="Calibri"/>
                    <a:sym typeface="Calibri"/>
                  </a:rPr>
                  <a:t>interestRate:double</a:t>
                </a:r>
                <a:endParaRPr sz="1500" dirty="0">
                  <a:solidFill>
                    <a:schemeClr val="dk1"/>
                  </a:solidFill>
                  <a:cs typeface="Calibri"/>
                </a:endParaRPr>
              </a:p>
            </p:txBody>
          </p:sp>
          <p:sp>
            <p:nvSpPr>
              <p:cNvPr id="98" name="Google Shape;336;p36">
                <a:extLst>
                  <a:ext uri="{FF2B5EF4-FFF2-40B4-BE49-F238E27FC236}">
                    <a16:creationId xmlns="" xmlns:a16="http://schemas.microsoft.com/office/drawing/2014/main" id="{D7F99E27-1022-43A8-B15E-E57FDD9E21A7}"/>
                  </a:ext>
                </a:extLst>
              </p:cNvPr>
              <p:cNvSpPr/>
              <p:nvPr/>
            </p:nvSpPr>
            <p:spPr>
              <a:xfrm>
                <a:off x="381000" y="3013727"/>
                <a:ext cx="2514600" cy="921636"/>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r>
                  <a:rPr lang="en-IN" sz="1500" dirty="0">
                    <a:solidFill>
                      <a:schemeClr val="dk1"/>
                    </a:solidFill>
                    <a:cs typeface="Calibri"/>
                    <a:sym typeface="Calibri"/>
                  </a:rPr>
                  <a:t>+ </a:t>
                </a:r>
                <a:r>
                  <a:rPr lang="en-IN" sz="1500" dirty="0" err="1">
                    <a:solidFill>
                      <a:schemeClr val="dk1"/>
                    </a:solidFill>
                    <a:cs typeface="Calibri"/>
                    <a:sym typeface="Calibri"/>
                  </a:rPr>
                  <a:t>isTransactionLimitOut</a:t>
                </a:r>
                <a:r>
                  <a:rPr lang="en-IN" sz="1500" dirty="0">
                    <a:solidFill>
                      <a:schemeClr val="dk1"/>
                    </a:solidFill>
                    <a:cs typeface="Calibri"/>
                    <a:sym typeface="Calibri"/>
                  </a:rPr>
                  <a:t>(</a:t>
                </a:r>
                <a:r>
                  <a:rPr lang="en-IN" sz="1500" dirty="0" err="1">
                    <a:solidFill>
                      <a:schemeClr val="dk1"/>
                    </a:solidFill>
                    <a:cs typeface="Calibri"/>
                    <a:sym typeface="Calibri"/>
                  </a:rPr>
                  <a:t>accountNo:long</a:t>
                </a:r>
                <a:r>
                  <a:rPr lang="en-IN" sz="1500" dirty="0">
                    <a:solidFill>
                      <a:schemeClr val="dk1"/>
                    </a:solidFill>
                    <a:cs typeface="Calibri"/>
                    <a:sym typeface="Calibri"/>
                  </a:rPr>
                  <a:t>) : int</a:t>
                </a:r>
                <a:endParaRPr sz="1500" dirty="0">
                  <a:solidFill>
                    <a:schemeClr val="dk1"/>
                  </a:solidFill>
                  <a:cs typeface="Calibri"/>
                  <a:sym typeface="Calibri"/>
                </a:endParaRPr>
              </a:p>
            </p:txBody>
          </p:sp>
        </p:grpSp>
      </p:grpSp>
      <p:grpSp>
        <p:nvGrpSpPr>
          <p:cNvPr id="99" name="Google Shape;325;p36">
            <a:extLst>
              <a:ext uri="{FF2B5EF4-FFF2-40B4-BE49-F238E27FC236}">
                <a16:creationId xmlns="" xmlns:a16="http://schemas.microsoft.com/office/drawing/2014/main" id="{3992F289-67E3-4297-8BA7-2A0455338B9F}"/>
              </a:ext>
            </a:extLst>
          </p:cNvPr>
          <p:cNvGrpSpPr/>
          <p:nvPr/>
        </p:nvGrpSpPr>
        <p:grpSpPr>
          <a:xfrm>
            <a:off x="378786" y="2307170"/>
            <a:ext cx="1876885" cy="1009652"/>
            <a:chOff x="381000" y="1981197"/>
            <a:chExt cx="2514600" cy="1954164"/>
          </a:xfrm>
        </p:grpSpPr>
        <p:sp>
          <p:nvSpPr>
            <p:cNvPr id="100" name="Google Shape;326;p36">
              <a:extLst>
                <a:ext uri="{FF2B5EF4-FFF2-40B4-BE49-F238E27FC236}">
                  <a16:creationId xmlns="" xmlns:a16="http://schemas.microsoft.com/office/drawing/2014/main" id="{58EDC685-6A8C-4260-996F-165E248FA14C}"/>
                </a:ext>
              </a:extLst>
            </p:cNvPr>
            <p:cNvSpPr/>
            <p:nvPr/>
          </p:nvSpPr>
          <p:spPr>
            <a:xfrm>
              <a:off x="381000" y="1981197"/>
              <a:ext cx="2514600" cy="457200"/>
            </a:xfrm>
            <a:prstGeom prst="rect">
              <a:avLst/>
            </a:prstGeom>
            <a:ln>
              <a:headEnd type="none" w="sm" len="sm"/>
              <a:tailEnd type="none" w="sm" len="sm"/>
            </a:ln>
          </p:spPr>
          <p:style>
            <a:lnRef idx="2">
              <a:schemeClr val="accent6">
                <a:shade val="50000"/>
              </a:schemeClr>
            </a:lnRef>
            <a:fillRef idx="1">
              <a:schemeClr val="accent6"/>
            </a:fillRef>
            <a:effectRef idx="0">
              <a:schemeClr val="accent6"/>
            </a:effectRef>
            <a:fontRef idx="minor">
              <a:schemeClr val="lt1"/>
            </a:fontRef>
          </p:style>
          <p:txBody>
            <a:bodyPr spcFirstLastPara="1" wrap="square" lIns="91425" tIns="45700" rIns="91425" bIns="45700" anchor="ctr" anchorCtr="0">
              <a:noAutofit/>
            </a:bodyPr>
            <a:lstStyle/>
            <a:p>
              <a:pPr algn="ctr"/>
              <a:r>
                <a:rPr lang="en-US" b="1" dirty="0">
                  <a:solidFill>
                    <a:schemeClr val="bg1"/>
                  </a:solidFill>
                  <a:cs typeface="Calibri"/>
                  <a:sym typeface="Calibri"/>
                </a:rPr>
                <a:t>ATM</a:t>
              </a:r>
              <a:endParaRPr b="1" dirty="0">
                <a:solidFill>
                  <a:schemeClr val="bg1"/>
                </a:solidFill>
                <a:cs typeface="Calibri"/>
              </a:endParaRPr>
            </a:p>
          </p:txBody>
        </p:sp>
        <p:sp>
          <p:nvSpPr>
            <p:cNvPr id="101" name="Google Shape;327;p36">
              <a:extLst>
                <a:ext uri="{FF2B5EF4-FFF2-40B4-BE49-F238E27FC236}">
                  <a16:creationId xmlns="" xmlns:a16="http://schemas.microsoft.com/office/drawing/2014/main" id="{3D2D6B7F-6D5D-4754-B975-EA5A65CA8EDC}"/>
                </a:ext>
              </a:extLst>
            </p:cNvPr>
            <p:cNvSpPr/>
            <p:nvPr/>
          </p:nvSpPr>
          <p:spPr>
            <a:xfrm>
              <a:off x="381000" y="2438399"/>
              <a:ext cx="2514600" cy="914400"/>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r>
                <a:rPr lang="en-US" sz="1500" dirty="0">
                  <a:solidFill>
                    <a:schemeClr val="dk1"/>
                  </a:solidFill>
                  <a:cs typeface="Calibri"/>
                  <a:sym typeface="Calibri"/>
                </a:rPr>
                <a:t>- location : string</a:t>
              </a:r>
              <a:endParaRPr sz="1500" dirty="0">
                <a:solidFill>
                  <a:schemeClr val="dk1"/>
                </a:solidFill>
                <a:cs typeface="Calibri"/>
                <a:sym typeface="Calibri"/>
              </a:endParaRPr>
            </a:p>
            <a:p>
              <a:r>
                <a:rPr lang="en-US" sz="1500" dirty="0">
                  <a:solidFill>
                    <a:schemeClr val="dk1"/>
                  </a:solidFill>
                  <a:cs typeface="Calibri"/>
                  <a:sym typeface="Calibri"/>
                </a:rPr>
                <a:t>- </a:t>
              </a:r>
              <a:r>
                <a:rPr lang="en-US" sz="1500" dirty="0" err="1">
                  <a:solidFill>
                    <a:schemeClr val="dk1"/>
                  </a:solidFill>
                  <a:cs typeface="Calibri"/>
                  <a:sym typeface="Calibri"/>
                </a:rPr>
                <a:t>manageBy</a:t>
              </a:r>
              <a:r>
                <a:rPr lang="en-US" sz="1500" dirty="0">
                  <a:solidFill>
                    <a:schemeClr val="dk1"/>
                  </a:solidFill>
                  <a:cs typeface="Calibri"/>
                  <a:sym typeface="Calibri"/>
                </a:rPr>
                <a:t>: string</a:t>
              </a:r>
              <a:endParaRPr sz="1500" dirty="0">
                <a:solidFill>
                  <a:schemeClr val="dk1"/>
                </a:solidFill>
                <a:cs typeface="Calibri"/>
                <a:sym typeface="Calibri"/>
              </a:endParaRPr>
            </a:p>
          </p:txBody>
        </p:sp>
        <p:sp>
          <p:nvSpPr>
            <p:cNvPr id="102" name="Google Shape;328;p36">
              <a:extLst>
                <a:ext uri="{FF2B5EF4-FFF2-40B4-BE49-F238E27FC236}">
                  <a16:creationId xmlns="" xmlns:a16="http://schemas.microsoft.com/office/drawing/2014/main" id="{A27EE8FE-639F-4CBD-A9F8-0B58E256AE2A}"/>
                </a:ext>
              </a:extLst>
            </p:cNvPr>
            <p:cNvSpPr/>
            <p:nvPr/>
          </p:nvSpPr>
          <p:spPr>
            <a:xfrm>
              <a:off x="381000" y="3352800"/>
              <a:ext cx="2514600" cy="582561"/>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r>
                <a:rPr lang="en-IN" sz="1500" dirty="0">
                  <a:solidFill>
                    <a:schemeClr val="dk1"/>
                  </a:solidFill>
                  <a:cs typeface="Calibri"/>
                  <a:sym typeface="Calibri"/>
                </a:rPr>
                <a:t>+transaction();</a:t>
              </a:r>
              <a:endParaRPr sz="1500" dirty="0">
                <a:solidFill>
                  <a:schemeClr val="dk1"/>
                </a:solidFill>
                <a:cs typeface="Calibri"/>
                <a:sym typeface="Calibri"/>
              </a:endParaRPr>
            </a:p>
          </p:txBody>
        </p:sp>
      </p:grpSp>
      <p:grpSp>
        <p:nvGrpSpPr>
          <p:cNvPr id="103" name="Google Shape;325;p36">
            <a:extLst>
              <a:ext uri="{FF2B5EF4-FFF2-40B4-BE49-F238E27FC236}">
                <a16:creationId xmlns="" xmlns:a16="http://schemas.microsoft.com/office/drawing/2014/main" id="{369F0AD7-D4A7-43D1-806F-AF33B88EA08C}"/>
              </a:ext>
            </a:extLst>
          </p:cNvPr>
          <p:cNvGrpSpPr/>
          <p:nvPr/>
        </p:nvGrpSpPr>
        <p:grpSpPr>
          <a:xfrm>
            <a:off x="4028552" y="2323525"/>
            <a:ext cx="2270462" cy="1136531"/>
            <a:chOff x="381000" y="1981199"/>
            <a:chExt cx="2514600" cy="2199736"/>
          </a:xfrm>
        </p:grpSpPr>
        <p:sp>
          <p:nvSpPr>
            <p:cNvPr id="104" name="Google Shape;326;p36">
              <a:extLst>
                <a:ext uri="{FF2B5EF4-FFF2-40B4-BE49-F238E27FC236}">
                  <a16:creationId xmlns="" xmlns:a16="http://schemas.microsoft.com/office/drawing/2014/main" id="{EF381FE0-2C55-4C20-B0C4-6A521A7CDE35}"/>
                </a:ext>
              </a:extLst>
            </p:cNvPr>
            <p:cNvSpPr/>
            <p:nvPr/>
          </p:nvSpPr>
          <p:spPr>
            <a:xfrm>
              <a:off x="381000" y="1981199"/>
              <a:ext cx="2514600" cy="457200"/>
            </a:xfrm>
            <a:prstGeom prst="rect">
              <a:avLst/>
            </a:prstGeom>
            <a:ln>
              <a:headEnd type="none" w="sm" len="sm"/>
              <a:tailEnd type="none" w="sm" len="sm"/>
            </a:ln>
          </p:spPr>
          <p:style>
            <a:lnRef idx="2">
              <a:schemeClr val="accent6">
                <a:shade val="50000"/>
              </a:schemeClr>
            </a:lnRef>
            <a:fillRef idx="1">
              <a:schemeClr val="accent6"/>
            </a:fillRef>
            <a:effectRef idx="0">
              <a:schemeClr val="accent6"/>
            </a:effectRef>
            <a:fontRef idx="minor">
              <a:schemeClr val="lt1"/>
            </a:fontRef>
          </p:style>
          <p:txBody>
            <a:bodyPr spcFirstLastPara="1" wrap="square" lIns="91425" tIns="45700" rIns="91425" bIns="45700" anchor="ctr" anchorCtr="0">
              <a:noAutofit/>
            </a:bodyPr>
            <a:lstStyle/>
            <a:p>
              <a:pPr algn="ctr"/>
              <a:r>
                <a:rPr lang="en-US" b="1" dirty="0">
                  <a:solidFill>
                    <a:schemeClr val="bg1"/>
                  </a:solidFill>
                  <a:cs typeface="Calibri"/>
                  <a:sym typeface="Calibri"/>
                </a:rPr>
                <a:t>Branch</a:t>
              </a:r>
              <a:endParaRPr b="1" dirty="0">
                <a:solidFill>
                  <a:schemeClr val="bg1"/>
                </a:solidFill>
                <a:cs typeface="Calibri"/>
              </a:endParaRPr>
            </a:p>
          </p:txBody>
        </p:sp>
        <p:sp>
          <p:nvSpPr>
            <p:cNvPr id="105" name="Google Shape;327;p36">
              <a:extLst>
                <a:ext uri="{FF2B5EF4-FFF2-40B4-BE49-F238E27FC236}">
                  <a16:creationId xmlns="" xmlns:a16="http://schemas.microsoft.com/office/drawing/2014/main" id="{C1FFE657-22A6-453D-A021-30136EE166E9}"/>
                </a:ext>
              </a:extLst>
            </p:cNvPr>
            <p:cNvSpPr/>
            <p:nvPr/>
          </p:nvSpPr>
          <p:spPr>
            <a:xfrm>
              <a:off x="381000" y="2438399"/>
              <a:ext cx="2514600" cy="914399"/>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r>
                <a:rPr lang="en-US" sz="1200" dirty="0">
                  <a:solidFill>
                    <a:schemeClr val="dk1"/>
                  </a:solidFill>
                  <a:cs typeface="Calibri"/>
                  <a:sym typeface="Calibri"/>
                </a:rPr>
                <a:t>- </a:t>
              </a:r>
              <a:r>
                <a:rPr lang="en-US" sz="1500" dirty="0" err="1">
                  <a:solidFill>
                    <a:schemeClr val="dk1"/>
                  </a:solidFill>
                  <a:cs typeface="Calibri"/>
                  <a:sym typeface="Calibri"/>
                </a:rPr>
                <a:t>branchName</a:t>
              </a:r>
              <a:r>
                <a:rPr lang="en-US" sz="1500" dirty="0">
                  <a:solidFill>
                    <a:schemeClr val="dk1"/>
                  </a:solidFill>
                  <a:cs typeface="Calibri"/>
                  <a:sym typeface="Calibri"/>
                </a:rPr>
                <a:t> : string</a:t>
              </a:r>
              <a:endParaRPr sz="1500" dirty="0">
                <a:solidFill>
                  <a:schemeClr val="dk1"/>
                </a:solidFill>
                <a:cs typeface="Calibri"/>
                <a:sym typeface="Calibri"/>
              </a:endParaRPr>
            </a:p>
            <a:p>
              <a:r>
                <a:rPr lang="en-US" sz="1500" dirty="0">
                  <a:solidFill>
                    <a:schemeClr val="dk1"/>
                  </a:solidFill>
                  <a:cs typeface="Calibri"/>
                  <a:sym typeface="Calibri"/>
                </a:rPr>
                <a:t>- </a:t>
              </a:r>
              <a:r>
                <a:rPr lang="en-US" sz="1500" dirty="0" err="1">
                  <a:solidFill>
                    <a:schemeClr val="dk1"/>
                  </a:solidFill>
                  <a:cs typeface="Calibri"/>
                  <a:sym typeface="Calibri"/>
                </a:rPr>
                <a:t>branchCode</a:t>
              </a:r>
              <a:r>
                <a:rPr lang="en-US" sz="1500" dirty="0">
                  <a:solidFill>
                    <a:schemeClr val="dk1"/>
                  </a:solidFill>
                  <a:cs typeface="Calibri"/>
                  <a:sym typeface="Calibri"/>
                </a:rPr>
                <a:t>: string</a:t>
              </a:r>
              <a:endParaRPr sz="1500" dirty="0">
                <a:solidFill>
                  <a:schemeClr val="dk1"/>
                </a:solidFill>
                <a:cs typeface="Calibri"/>
                <a:sym typeface="Calibri"/>
              </a:endParaRPr>
            </a:p>
          </p:txBody>
        </p:sp>
        <p:sp>
          <p:nvSpPr>
            <p:cNvPr id="106" name="Google Shape;328;p36">
              <a:extLst>
                <a:ext uri="{FF2B5EF4-FFF2-40B4-BE49-F238E27FC236}">
                  <a16:creationId xmlns="" xmlns:a16="http://schemas.microsoft.com/office/drawing/2014/main" id="{2166BDC9-45DE-4EAF-BFDD-D9DE1B9020B7}"/>
                </a:ext>
              </a:extLst>
            </p:cNvPr>
            <p:cNvSpPr/>
            <p:nvPr/>
          </p:nvSpPr>
          <p:spPr>
            <a:xfrm>
              <a:off x="381000" y="3352800"/>
              <a:ext cx="2514600" cy="828135"/>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r>
                <a:rPr lang="en-IN" sz="1500" dirty="0">
                  <a:solidFill>
                    <a:schemeClr val="dk1"/>
                  </a:solidFill>
                  <a:cs typeface="Calibri"/>
                  <a:sym typeface="Calibri"/>
                </a:rPr>
                <a:t>+ </a:t>
              </a:r>
              <a:r>
                <a:rPr lang="en-IN" sz="1500" dirty="0" err="1">
                  <a:solidFill>
                    <a:schemeClr val="dk1"/>
                  </a:solidFill>
                  <a:cs typeface="Calibri"/>
                  <a:sym typeface="Calibri"/>
                </a:rPr>
                <a:t>manageAccount</a:t>
              </a:r>
              <a:r>
                <a:rPr lang="en-IN" sz="1500" dirty="0">
                  <a:solidFill>
                    <a:schemeClr val="dk1"/>
                  </a:solidFill>
                  <a:cs typeface="Calibri"/>
                  <a:sym typeface="Calibri"/>
                </a:rPr>
                <a:t>():void</a:t>
              </a:r>
            </a:p>
            <a:p>
              <a:r>
                <a:rPr lang="en-IN" sz="1500" dirty="0">
                  <a:solidFill>
                    <a:schemeClr val="dk1"/>
                  </a:solidFill>
                  <a:cs typeface="Calibri"/>
                  <a:sym typeface="Calibri"/>
                </a:rPr>
                <a:t>+ transaction():</a:t>
              </a:r>
              <a:r>
                <a:rPr lang="en-IN" sz="1500" dirty="0" err="1">
                  <a:solidFill>
                    <a:schemeClr val="dk1"/>
                  </a:solidFill>
                  <a:cs typeface="Calibri"/>
                  <a:sym typeface="Calibri"/>
                </a:rPr>
                <a:t>init</a:t>
              </a:r>
              <a:endParaRPr sz="1500" dirty="0">
                <a:solidFill>
                  <a:schemeClr val="dk1"/>
                </a:solidFill>
                <a:cs typeface="Calibri"/>
                <a:sym typeface="Calibri"/>
              </a:endParaRPr>
            </a:p>
          </p:txBody>
        </p:sp>
      </p:grpSp>
      <p:grpSp>
        <p:nvGrpSpPr>
          <p:cNvPr id="107" name="Google Shape;325;p36">
            <a:extLst>
              <a:ext uri="{FF2B5EF4-FFF2-40B4-BE49-F238E27FC236}">
                <a16:creationId xmlns="" xmlns:a16="http://schemas.microsoft.com/office/drawing/2014/main" id="{ACEE4321-934F-4CF3-B620-29899A6030E3}"/>
              </a:ext>
            </a:extLst>
          </p:cNvPr>
          <p:cNvGrpSpPr/>
          <p:nvPr/>
        </p:nvGrpSpPr>
        <p:grpSpPr>
          <a:xfrm>
            <a:off x="3083884" y="4355726"/>
            <a:ext cx="2270462" cy="1666985"/>
            <a:chOff x="381000" y="1809411"/>
            <a:chExt cx="2514600" cy="3226420"/>
          </a:xfrm>
        </p:grpSpPr>
        <p:sp>
          <p:nvSpPr>
            <p:cNvPr id="108" name="Google Shape;326;p36">
              <a:extLst>
                <a:ext uri="{FF2B5EF4-FFF2-40B4-BE49-F238E27FC236}">
                  <a16:creationId xmlns="" xmlns:a16="http://schemas.microsoft.com/office/drawing/2014/main" id="{9C9F59CE-AE3E-49C5-B51A-22F1F473DF91}"/>
                </a:ext>
              </a:extLst>
            </p:cNvPr>
            <p:cNvSpPr/>
            <p:nvPr/>
          </p:nvSpPr>
          <p:spPr>
            <a:xfrm>
              <a:off x="381000" y="1809411"/>
              <a:ext cx="2514600" cy="628987"/>
            </a:xfrm>
            <a:prstGeom prst="rect">
              <a:avLst/>
            </a:prstGeom>
            <a:ln>
              <a:headEnd type="none" w="sm" len="sm"/>
              <a:tailEnd type="none" w="sm" len="sm"/>
            </a:ln>
          </p:spPr>
          <p:style>
            <a:lnRef idx="2">
              <a:schemeClr val="accent6">
                <a:shade val="50000"/>
              </a:schemeClr>
            </a:lnRef>
            <a:fillRef idx="1">
              <a:schemeClr val="accent6"/>
            </a:fillRef>
            <a:effectRef idx="0">
              <a:schemeClr val="accent6"/>
            </a:effectRef>
            <a:fontRef idx="minor">
              <a:schemeClr val="lt1"/>
            </a:fontRef>
          </p:style>
          <p:txBody>
            <a:bodyPr spcFirstLastPara="1" wrap="square" lIns="91425" tIns="45700" rIns="91425" bIns="45700" anchor="ctr" anchorCtr="0">
              <a:noAutofit/>
            </a:bodyPr>
            <a:lstStyle/>
            <a:p>
              <a:pPr algn="ctr"/>
              <a:r>
                <a:rPr lang="en-US" b="1" dirty="0">
                  <a:solidFill>
                    <a:schemeClr val="bg1"/>
                  </a:solidFill>
                  <a:cs typeface="Calibri"/>
                  <a:sym typeface="Calibri"/>
                </a:rPr>
                <a:t>Customer</a:t>
              </a:r>
              <a:endParaRPr b="1" dirty="0">
                <a:solidFill>
                  <a:schemeClr val="bg1"/>
                </a:solidFill>
                <a:cs typeface="Calibri"/>
              </a:endParaRPr>
            </a:p>
          </p:txBody>
        </p:sp>
        <p:sp>
          <p:nvSpPr>
            <p:cNvPr id="109" name="Google Shape;327;p36">
              <a:extLst>
                <a:ext uri="{FF2B5EF4-FFF2-40B4-BE49-F238E27FC236}">
                  <a16:creationId xmlns="" xmlns:a16="http://schemas.microsoft.com/office/drawing/2014/main" id="{C23A7961-F094-4DD3-B86D-63D231B47588}"/>
                </a:ext>
              </a:extLst>
            </p:cNvPr>
            <p:cNvSpPr/>
            <p:nvPr/>
          </p:nvSpPr>
          <p:spPr>
            <a:xfrm>
              <a:off x="381000" y="2438398"/>
              <a:ext cx="2514600" cy="1769298"/>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t" anchorCtr="0">
              <a:noAutofit/>
            </a:bodyPr>
            <a:lstStyle/>
            <a:p>
              <a:r>
                <a:rPr lang="en-US" sz="1450" dirty="0">
                  <a:solidFill>
                    <a:schemeClr val="dk1"/>
                  </a:solidFill>
                  <a:cs typeface="Calibri"/>
                  <a:sym typeface="Calibri"/>
                </a:rPr>
                <a:t>- name: string</a:t>
              </a:r>
              <a:endParaRPr sz="1450" dirty="0">
                <a:solidFill>
                  <a:schemeClr val="dk1"/>
                </a:solidFill>
                <a:cs typeface="Calibri"/>
                <a:sym typeface="Calibri"/>
              </a:endParaRPr>
            </a:p>
            <a:p>
              <a:r>
                <a:rPr lang="en-US" sz="1450" dirty="0">
                  <a:solidFill>
                    <a:schemeClr val="dk1"/>
                  </a:solidFill>
                  <a:cs typeface="Calibri"/>
                  <a:sym typeface="Calibri"/>
                </a:rPr>
                <a:t>- address: string</a:t>
              </a:r>
            </a:p>
            <a:p>
              <a:r>
                <a:rPr lang="en-US" sz="1450" dirty="0">
                  <a:solidFill>
                    <a:schemeClr val="dk1"/>
                  </a:solidFill>
                  <a:cs typeface="Calibri"/>
                  <a:sym typeface="Calibri"/>
                </a:rPr>
                <a:t>- dob: date</a:t>
              </a:r>
            </a:p>
            <a:p>
              <a:r>
                <a:rPr lang="en-US" sz="1450" dirty="0">
                  <a:solidFill>
                    <a:schemeClr val="dk1"/>
                  </a:solidFill>
                  <a:cs typeface="Calibri"/>
                  <a:sym typeface="Calibri"/>
                </a:rPr>
                <a:t>- </a:t>
              </a:r>
              <a:r>
                <a:rPr lang="en-US" sz="1450" dirty="0" err="1">
                  <a:solidFill>
                    <a:schemeClr val="dk1"/>
                  </a:solidFill>
                  <a:cs typeface="Calibri"/>
                  <a:sym typeface="Calibri"/>
                </a:rPr>
                <a:t>panNumber</a:t>
              </a:r>
              <a:r>
                <a:rPr lang="en-US" sz="1450" dirty="0">
                  <a:solidFill>
                    <a:schemeClr val="dk1"/>
                  </a:solidFill>
                  <a:cs typeface="Calibri"/>
                  <a:sym typeface="Calibri"/>
                </a:rPr>
                <a:t>: string</a:t>
              </a:r>
              <a:endParaRPr sz="1450" dirty="0">
                <a:solidFill>
                  <a:schemeClr val="dk1"/>
                </a:solidFill>
                <a:cs typeface="Calibri"/>
                <a:sym typeface="Calibri"/>
              </a:endParaRPr>
            </a:p>
          </p:txBody>
        </p:sp>
        <p:sp>
          <p:nvSpPr>
            <p:cNvPr id="110" name="Google Shape;328;p36">
              <a:extLst>
                <a:ext uri="{FF2B5EF4-FFF2-40B4-BE49-F238E27FC236}">
                  <a16:creationId xmlns="" xmlns:a16="http://schemas.microsoft.com/office/drawing/2014/main" id="{9CA27B33-8EF7-48A2-8974-A6980F7E1881}"/>
                </a:ext>
              </a:extLst>
            </p:cNvPr>
            <p:cNvSpPr/>
            <p:nvPr/>
          </p:nvSpPr>
          <p:spPr>
            <a:xfrm>
              <a:off x="381000" y="4207696"/>
              <a:ext cx="2514600" cy="828135"/>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r>
                <a:rPr lang="en-IN" sz="1500" dirty="0">
                  <a:solidFill>
                    <a:schemeClr val="dk1"/>
                  </a:solidFill>
                  <a:cs typeface="Calibri"/>
                  <a:sym typeface="Calibri"/>
                </a:rPr>
                <a:t>+ </a:t>
              </a:r>
              <a:r>
                <a:rPr lang="en-IN" sz="1500" dirty="0" err="1">
                  <a:solidFill>
                    <a:schemeClr val="dk1"/>
                  </a:solidFill>
                  <a:cs typeface="Calibri"/>
                  <a:sym typeface="Calibri"/>
                </a:rPr>
                <a:t>manageAccount</a:t>
              </a:r>
              <a:r>
                <a:rPr lang="en-IN" sz="1500" dirty="0">
                  <a:solidFill>
                    <a:schemeClr val="dk1"/>
                  </a:solidFill>
                  <a:cs typeface="Calibri"/>
                  <a:sym typeface="Calibri"/>
                </a:rPr>
                <a:t>():void</a:t>
              </a:r>
            </a:p>
            <a:p>
              <a:r>
                <a:rPr lang="en-IN" sz="1500" dirty="0">
                  <a:solidFill>
                    <a:schemeClr val="dk1"/>
                  </a:solidFill>
                  <a:cs typeface="Calibri"/>
                  <a:sym typeface="Calibri"/>
                </a:rPr>
                <a:t>+ transaction():</a:t>
              </a:r>
              <a:r>
                <a:rPr lang="en-IN" sz="1500" dirty="0" err="1">
                  <a:solidFill>
                    <a:schemeClr val="dk1"/>
                  </a:solidFill>
                  <a:cs typeface="Calibri"/>
                  <a:sym typeface="Calibri"/>
                </a:rPr>
                <a:t>init</a:t>
              </a:r>
              <a:endParaRPr sz="1500" dirty="0">
                <a:solidFill>
                  <a:schemeClr val="dk1"/>
                </a:solidFill>
                <a:cs typeface="Calibri"/>
                <a:sym typeface="Calibri"/>
              </a:endParaRPr>
            </a:p>
          </p:txBody>
        </p:sp>
      </p:grpSp>
      <p:grpSp>
        <p:nvGrpSpPr>
          <p:cNvPr id="174" name="Group 173">
            <a:extLst>
              <a:ext uri="{FF2B5EF4-FFF2-40B4-BE49-F238E27FC236}">
                <a16:creationId xmlns="" xmlns:a16="http://schemas.microsoft.com/office/drawing/2014/main" id="{A807F8B5-9424-4AC2-86CD-2BA131BC1C53}"/>
              </a:ext>
            </a:extLst>
          </p:cNvPr>
          <p:cNvGrpSpPr/>
          <p:nvPr/>
        </p:nvGrpSpPr>
        <p:grpSpPr>
          <a:xfrm>
            <a:off x="6293633" y="2543390"/>
            <a:ext cx="1217501" cy="303492"/>
            <a:chOff x="6293633" y="2543390"/>
            <a:chExt cx="1217501" cy="303492"/>
          </a:xfrm>
        </p:grpSpPr>
        <p:cxnSp>
          <p:nvCxnSpPr>
            <p:cNvPr id="124" name="Straight Connector 123">
              <a:extLst>
                <a:ext uri="{FF2B5EF4-FFF2-40B4-BE49-F238E27FC236}">
                  <a16:creationId xmlns="" xmlns:a16="http://schemas.microsoft.com/office/drawing/2014/main" id="{31646223-1A90-4E92-8C87-716424AF80FA}"/>
                </a:ext>
              </a:extLst>
            </p:cNvPr>
            <p:cNvCxnSpPr>
              <a:stCxn id="105" idx="3"/>
              <a:endCxn id="80" idx="1"/>
            </p:cNvCxnSpPr>
            <p:nvPr/>
          </p:nvCxnSpPr>
          <p:spPr>
            <a:xfrm flipV="1">
              <a:off x="6299014" y="2783716"/>
              <a:ext cx="955890" cy="12249"/>
            </a:xfrm>
            <a:prstGeom prst="line">
              <a:avLst/>
            </a:prstGeom>
            <a:ln w="19050">
              <a:solidFill>
                <a:srgbClr val="A32D19"/>
              </a:solidFill>
            </a:ln>
          </p:spPr>
          <p:style>
            <a:lnRef idx="1">
              <a:schemeClr val="accent1"/>
            </a:lnRef>
            <a:fillRef idx="0">
              <a:schemeClr val="accent1"/>
            </a:fillRef>
            <a:effectRef idx="0">
              <a:schemeClr val="accent1"/>
            </a:effectRef>
            <a:fontRef idx="minor">
              <a:schemeClr val="tx1"/>
            </a:fontRef>
          </p:style>
        </p:cxnSp>
        <p:sp>
          <p:nvSpPr>
            <p:cNvPr id="153" name="TextBox 152">
              <a:extLst>
                <a:ext uri="{FF2B5EF4-FFF2-40B4-BE49-F238E27FC236}">
                  <a16:creationId xmlns="" xmlns:a16="http://schemas.microsoft.com/office/drawing/2014/main" id="{212365AE-2584-4549-9504-2839ADB1947F}"/>
                </a:ext>
              </a:extLst>
            </p:cNvPr>
            <p:cNvSpPr txBox="1"/>
            <p:nvPr/>
          </p:nvSpPr>
          <p:spPr>
            <a:xfrm>
              <a:off x="6293633" y="2569883"/>
              <a:ext cx="260008" cy="276999"/>
            </a:xfrm>
            <a:prstGeom prst="rect">
              <a:avLst/>
            </a:prstGeom>
            <a:noFill/>
          </p:spPr>
          <p:txBody>
            <a:bodyPr wrap="none" rtlCol="0">
              <a:spAutoFit/>
            </a:bodyPr>
            <a:lstStyle/>
            <a:p>
              <a:r>
                <a:rPr lang="en-IN" sz="1200" dirty="0"/>
                <a:t>1</a:t>
              </a:r>
            </a:p>
          </p:txBody>
        </p:sp>
        <p:sp>
          <p:nvSpPr>
            <p:cNvPr id="154" name="TextBox 153">
              <a:extLst>
                <a:ext uri="{FF2B5EF4-FFF2-40B4-BE49-F238E27FC236}">
                  <a16:creationId xmlns="" xmlns:a16="http://schemas.microsoft.com/office/drawing/2014/main" id="{3D732D72-7DA1-4344-B8A2-D73E540F8F5F}"/>
                </a:ext>
              </a:extLst>
            </p:cNvPr>
            <p:cNvSpPr txBox="1"/>
            <p:nvPr/>
          </p:nvSpPr>
          <p:spPr>
            <a:xfrm>
              <a:off x="6876661" y="2543390"/>
              <a:ext cx="634473" cy="276999"/>
            </a:xfrm>
            <a:prstGeom prst="rect">
              <a:avLst/>
            </a:prstGeom>
            <a:noFill/>
          </p:spPr>
          <p:txBody>
            <a:bodyPr wrap="square" rtlCol="0">
              <a:spAutoFit/>
            </a:bodyPr>
            <a:lstStyle/>
            <a:p>
              <a:r>
                <a:rPr lang="en-IN" sz="1200" dirty="0"/>
                <a:t>1..*</a:t>
              </a:r>
            </a:p>
          </p:txBody>
        </p:sp>
        <p:sp>
          <p:nvSpPr>
            <p:cNvPr id="166" name="Google Shape;357;p36">
              <a:extLst>
                <a:ext uri="{FF2B5EF4-FFF2-40B4-BE49-F238E27FC236}">
                  <a16:creationId xmlns="" xmlns:a16="http://schemas.microsoft.com/office/drawing/2014/main" id="{2D65370D-B926-4FEC-94B4-AE2700B11A03}"/>
                </a:ext>
              </a:extLst>
            </p:cNvPr>
            <p:cNvSpPr txBox="1"/>
            <p:nvPr/>
          </p:nvSpPr>
          <p:spPr>
            <a:xfrm>
              <a:off x="6495709" y="2569883"/>
              <a:ext cx="634473"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ea typeface="Calibri"/>
                  <a:cs typeface="Calibri"/>
                  <a:sym typeface="Calibri"/>
                </a:rPr>
                <a:t>have</a:t>
              </a:r>
              <a:endParaRPr sz="1200" dirty="0"/>
            </a:p>
          </p:txBody>
        </p:sp>
      </p:grpSp>
      <p:grpSp>
        <p:nvGrpSpPr>
          <p:cNvPr id="178" name="Group 177">
            <a:extLst>
              <a:ext uri="{FF2B5EF4-FFF2-40B4-BE49-F238E27FC236}">
                <a16:creationId xmlns="" xmlns:a16="http://schemas.microsoft.com/office/drawing/2014/main" id="{D8772B87-9069-49ED-9A56-10E5D3B577F6}"/>
              </a:ext>
            </a:extLst>
          </p:cNvPr>
          <p:cNvGrpSpPr/>
          <p:nvPr/>
        </p:nvGrpSpPr>
        <p:grpSpPr>
          <a:xfrm>
            <a:off x="2220236" y="2508240"/>
            <a:ext cx="1808316" cy="544756"/>
            <a:chOff x="2220236" y="2508240"/>
            <a:chExt cx="1808316" cy="544756"/>
          </a:xfrm>
        </p:grpSpPr>
        <p:cxnSp>
          <p:nvCxnSpPr>
            <p:cNvPr id="126" name="Straight Connector 125">
              <a:extLst>
                <a:ext uri="{FF2B5EF4-FFF2-40B4-BE49-F238E27FC236}">
                  <a16:creationId xmlns="" xmlns:a16="http://schemas.microsoft.com/office/drawing/2014/main" id="{0C23F97C-527C-460D-87C3-ABC3903D55AF}"/>
                </a:ext>
              </a:extLst>
            </p:cNvPr>
            <p:cNvCxnSpPr>
              <a:stCxn id="101" idx="3"/>
              <a:endCxn id="105" idx="1"/>
            </p:cNvCxnSpPr>
            <p:nvPr/>
          </p:nvCxnSpPr>
          <p:spPr>
            <a:xfrm>
              <a:off x="2255671" y="2779610"/>
              <a:ext cx="1772881" cy="16355"/>
            </a:xfrm>
            <a:prstGeom prst="line">
              <a:avLst/>
            </a:prstGeom>
            <a:ln w="19050">
              <a:solidFill>
                <a:srgbClr val="A32D19"/>
              </a:solidFill>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 xmlns:a16="http://schemas.microsoft.com/office/drawing/2014/main" id="{772B129F-7709-4360-B286-087FD43C0EC4}"/>
                </a:ext>
              </a:extLst>
            </p:cNvPr>
            <p:cNvSpPr txBox="1"/>
            <p:nvPr/>
          </p:nvSpPr>
          <p:spPr>
            <a:xfrm>
              <a:off x="3772323" y="2773918"/>
              <a:ext cx="250390" cy="276999"/>
            </a:xfrm>
            <a:prstGeom prst="rect">
              <a:avLst/>
            </a:prstGeom>
            <a:noFill/>
          </p:spPr>
          <p:txBody>
            <a:bodyPr wrap="none" rtlCol="0">
              <a:spAutoFit/>
            </a:bodyPr>
            <a:lstStyle/>
            <a:p>
              <a:r>
                <a:rPr lang="en-IN" sz="1200" dirty="0"/>
                <a:t>*</a:t>
              </a:r>
            </a:p>
          </p:txBody>
        </p:sp>
        <p:sp>
          <p:nvSpPr>
            <p:cNvPr id="158" name="TextBox 157">
              <a:extLst>
                <a:ext uri="{FF2B5EF4-FFF2-40B4-BE49-F238E27FC236}">
                  <a16:creationId xmlns="" xmlns:a16="http://schemas.microsoft.com/office/drawing/2014/main" id="{38EEF831-9BBF-4F9A-92C5-8D1F7E1CD8DC}"/>
                </a:ext>
              </a:extLst>
            </p:cNvPr>
            <p:cNvSpPr txBox="1"/>
            <p:nvPr/>
          </p:nvSpPr>
          <p:spPr>
            <a:xfrm>
              <a:off x="2220236" y="2775997"/>
              <a:ext cx="250390" cy="276999"/>
            </a:xfrm>
            <a:prstGeom prst="rect">
              <a:avLst/>
            </a:prstGeom>
            <a:noFill/>
          </p:spPr>
          <p:txBody>
            <a:bodyPr wrap="none" rtlCol="0">
              <a:spAutoFit/>
            </a:bodyPr>
            <a:lstStyle/>
            <a:p>
              <a:r>
                <a:rPr lang="en-IN" sz="1200" dirty="0"/>
                <a:t>*</a:t>
              </a:r>
            </a:p>
          </p:txBody>
        </p:sp>
        <p:sp>
          <p:nvSpPr>
            <p:cNvPr id="167" name="Google Shape;357;p36">
              <a:extLst>
                <a:ext uri="{FF2B5EF4-FFF2-40B4-BE49-F238E27FC236}">
                  <a16:creationId xmlns="" xmlns:a16="http://schemas.microsoft.com/office/drawing/2014/main" id="{908AC993-787C-4F71-AB11-5BCC57CC2BE4}"/>
                </a:ext>
              </a:extLst>
            </p:cNvPr>
            <p:cNvSpPr txBox="1"/>
            <p:nvPr/>
          </p:nvSpPr>
          <p:spPr>
            <a:xfrm>
              <a:off x="2787449" y="2508240"/>
              <a:ext cx="949439" cy="3121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ea typeface="Calibri"/>
                  <a:cs typeface="Calibri"/>
                  <a:sym typeface="Calibri"/>
                </a:rPr>
                <a:t>manage</a:t>
              </a:r>
              <a:endParaRPr sz="1200" dirty="0"/>
            </a:p>
          </p:txBody>
        </p:sp>
      </p:grpSp>
      <p:grpSp>
        <p:nvGrpSpPr>
          <p:cNvPr id="173" name="Group 172">
            <a:extLst>
              <a:ext uri="{FF2B5EF4-FFF2-40B4-BE49-F238E27FC236}">
                <a16:creationId xmlns="" xmlns:a16="http://schemas.microsoft.com/office/drawing/2014/main" id="{D0654059-E238-4532-9DDA-C420E644F952}"/>
              </a:ext>
            </a:extLst>
          </p:cNvPr>
          <p:cNvGrpSpPr/>
          <p:nvPr/>
        </p:nvGrpSpPr>
        <p:grpSpPr>
          <a:xfrm>
            <a:off x="4108474" y="1236915"/>
            <a:ext cx="1464216" cy="1119466"/>
            <a:chOff x="4108474" y="1236915"/>
            <a:chExt cx="1464216" cy="1119466"/>
          </a:xfrm>
        </p:grpSpPr>
        <p:cxnSp>
          <p:nvCxnSpPr>
            <p:cNvPr id="122" name="Straight Connector 121">
              <a:extLst>
                <a:ext uri="{FF2B5EF4-FFF2-40B4-BE49-F238E27FC236}">
                  <a16:creationId xmlns="" xmlns:a16="http://schemas.microsoft.com/office/drawing/2014/main" id="{CB91D909-9A9E-43AB-9CA0-04AF24FE5B05}"/>
                </a:ext>
              </a:extLst>
            </p:cNvPr>
            <p:cNvCxnSpPr>
              <a:cxnSpLocks/>
              <a:stCxn id="137" idx="2"/>
              <a:endCxn id="104" idx="0"/>
            </p:cNvCxnSpPr>
            <p:nvPr/>
          </p:nvCxnSpPr>
          <p:spPr>
            <a:xfrm>
              <a:off x="4360068" y="1539388"/>
              <a:ext cx="803715" cy="784137"/>
            </a:xfrm>
            <a:prstGeom prst="line">
              <a:avLst/>
            </a:prstGeom>
          </p:spPr>
          <p:style>
            <a:lnRef idx="3">
              <a:schemeClr val="accent6"/>
            </a:lnRef>
            <a:fillRef idx="0">
              <a:schemeClr val="accent6"/>
            </a:fillRef>
            <a:effectRef idx="2">
              <a:schemeClr val="accent6"/>
            </a:effectRef>
            <a:fontRef idx="minor">
              <a:schemeClr val="tx1"/>
            </a:fontRef>
          </p:style>
        </p:cxnSp>
        <p:sp>
          <p:nvSpPr>
            <p:cNvPr id="137" name="Google Shape;353;p36">
              <a:extLst>
                <a:ext uri="{FF2B5EF4-FFF2-40B4-BE49-F238E27FC236}">
                  <a16:creationId xmlns="" xmlns:a16="http://schemas.microsoft.com/office/drawing/2014/main" id="{0B096D3B-C762-4898-84C8-04AE499EA1F5}"/>
                </a:ext>
              </a:extLst>
            </p:cNvPr>
            <p:cNvSpPr/>
            <p:nvPr/>
          </p:nvSpPr>
          <p:spPr>
            <a:xfrm rot="17300657">
              <a:off x="4165851" y="1389115"/>
              <a:ext cx="171450" cy="228600"/>
            </a:xfrm>
            <a:prstGeom prst="flowChartDecision">
              <a:avLst/>
            </a:prstGeom>
            <a:solidFill>
              <a:schemeClr val="lt1"/>
            </a:solidFill>
            <a:ln w="2540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dirty="0">
                <a:solidFill>
                  <a:schemeClr val="dk1"/>
                </a:solidFill>
                <a:ea typeface="Calibri"/>
                <a:cs typeface="Calibri"/>
                <a:sym typeface="Calibri"/>
              </a:endParaRPr>
            </a:p>
          </p:txBody>
        </p:sp>
        <p:sp>
          <p:nvSpPr>
            <p:cNvPr id="151" name="TextBox 150">
              <a:extLst>
                <a:ext uri="{FF2B5EF4-FFF2-40B4-BE49-F238E27FC236}">
                  <a16:creationId xmlns="" xmlns:a16="http://schemas.microsoft.com/office/drawing/2014/main" id="{9A7DDF49-67CD-4C0C-AF9D-8E8F3823244E}"/>
                </a:ext>
              </a:extLst>
            </p:cNvPr>
            <p:cNvSpPr txBox="1"/>
            <p:nvPr/>
          </p:nvSpPr>
          <p:spPr>
            <a:xfrm>
              <a:off x="4108474" y="1236915"/>
              <a:ext cx="250390" cy="276999"/>
            </a:xfrm>
            <a:prstGeom prst="rect">
              <a:avLst/>
            </a:prstGeom>
            <a:noFill/>
          </p:spPr>
          <p:txBody>
            <a:bodyPr wrap="none" rtlCol="0">
              <a:spAutoFit/>
            </a:bodyPr>
            <a:lstStyle/>
            <a:p>
              <a:r>
                <a:rPr lang="en-IN" sz="1200" dirty="0"/>
                <a:t>*</a:t>
              </a:r>
            </a:p>
          </p:txBody>
        </p:sp>
        <p:sp>
          <p:nvSpPr>
            <p:cNvPr id="152" name="TextBox 151">
              <a:extLst>
                <a:ext uri="{FF2B5EF4-FFF2-40B4-BE49-F238E27FC236}">
                  <a16:creationId xmlns="" xmlns:a16="http://schemas.microsoft.com/office/drawing/2014/main" id="{35146104-9D6E-4B49-9E05-AFA24492EDD2}"/>
                </a:ext>
              </a:extLst>
            </p:cNvPr>
            <p:cNvSpPr txBox="1"/>
            <p:nvPr/>
          </p:nvSpPr>
          <p:spPr>
            <a:xfrm>
              <a:off x="5032978" y="2079382"/>
              <a:ext cx="539712" cy="276999"/>
            </a:xfrm>
            <a:prstGeom prst="rect">
              <a:avLst/>
            </a:prstGeom>
            <a:noFill/>
          </p:spPr>
          <p:txBody>
            <a:bodyPr wrap="square" rtlCol="0">
              <a:spAutoFit/>
            </a:bodyPr>
            <a:lstStyle/>
            <a:p>
              <a:r>
                <a:rPr lang="en-IN" sz="1200" dirty="0"/>
                <a:t>1..*</a:t>
              </a:r>
            </a:p>
          </p:txBody>
        </p:sp>
        <p:sp>
          <p:nvSpPr>
            <p:cNvPr id="168" name="Google Shape;357;p36">
              <a:extLst>
                <a:ext uri="{FF2B5EF4-FFF2-40B4-BE49-F238E27FC236}">
                  <a16:creationId xmlns="" xmlns:a16="http://schemas.microsoft.com/office/drawing/2014/main" id="{CB1BD673-E672-49B3-8A0D-F83B8A7C5B40}"/>
                </a:ext>
              </a:extLst>
            </p:cNvPr>
            <p:cNvSpPr txBox="1"/>
            <p:nvPr/>
          </p:nvSpPr>
          <p:spPr>
            <a:xfrm rot="2675241">
              <a:off x="4508426" y="1717823"/>
              <a:ext cx="634473"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ea typeface="Calibri"/>
                  <a:cs typeface="Calibri"/>
                  <a:sym typeface="Calibri"/>
                </a:rPr>
                <a:t>have</a:t>
              </a:r>
              <a:endParaRPr sz="1200" dirty="0"/>
            </a:p>
          </p:txBody>
        </p:sp>
      </p:grpSp>
      <p:grpSp>
        <p:nvGrpSpPr>
          <p:cNvPr id="179" name="Group 178">
            <a:extLst>
              <a:ext uri="{FF2B5EF4-FFF2-40B4-BE49-F238E27FC236}">
                <a16:creationId xmlns="" xmlns:a16="http://schemas.microsoft.com/office/drawing/2014/main" id="{F35FB4A7-979F-4C3A-B11A-CABA31D9CD20}"/>
              </a:ext>
            </a:extLst>
          </p:cNvPr>
          <p:cNvGrpSpPr/>
          <p:nvPr/>
        </p:nvGrpSpPr>
        <p:grpSpPr>
          <a:xfrm>
            <a:off x="1105223" y="1092460"/>
            <a:ext cx="1193435" cy="1269657"/>
            <a:chOff x="1105223" y="1092460"/>
            <a:chExt cx="1193435" cy="1269657"/>
          </a:xfrm>
        </p:grpSpPr>
        <p:cxnSp>
          <p:nvCxnSpPr>
            <p:cNvPr id="146" name="Straight Connector 145">
              <a:extLst>
                <a:ext uri="{FF2B5EF4-FFF2-40B4-BE49-F238E27FC236}">
                  <a16:creationId xmlns="" xmlns:a16="http://schemas.microsoft.com/office/drawing/2014/main" id="{9B2A9D22-8C3B-45F7-889E-DD9533F487C4}"/>
                </a:ext>
              </a:extLst>
            </p:cNvPr>
            <p:cNvCxnSpPr>
              <a:cxnSpLocks/>
              <a:stCxn id="100" idx="0"/>
              <a:endCxn id="147" idx="0"/>
            </p:cNvCxnSpPr>
            <p:nvPr/>
          </p:nvCxnSpPr>
          <p:spPr>
            <a:xfrm flipV="1">
              <a:off x="1317229" y="1439440"/>
              <a:ext cx="714211" cy="867730"/>
            </a:xfrm>
            <a:prstGeom prst="line">
              <a:avLst/>
            </a:prstGeom>
          </p:spPr>
          <p:style>
            <a:lnRef idx="3">
              <a:schemeClr val="accent6"/>
            </a:lnRef>
            <a:fillRef idx="0">
              <a:schemeClr val="accent6"/>
            </a:fillRef>
            <a:effectRef idx="2">
              <a:schemeClr val="accent6"/>
            </a:effectRef>
            <a:fontRef idx="minor">
              <a:schemeClr val="tx1"/>
            </a:fontRef>
          </p:style>
        </p:cxnSp>
        <p:sp>
          <p:nvSpPr>
            <p:cNvPr id="147" name="Google Shape;353;p36">
              <a:extLst>
                <a:ext uri="{FF2B5EF4-FFF2-40B4-BE49-F238E27FC236}">
                  <a16:creationId xmlns="" xmlns:a16="http://schemas.microsoft.com/office/drawing/2014/main" id="{2D8ED3F8-B30A-426B-BD65-AEAFD3AFC40B}"/>
                </a:ext>
              </a:extLst>
            </p:cNvPr>
            <p:cNvSpPr/>
            <p:nvPr/>
          </p:nvSpPr>
          <p:spPr>
            <a:xfrm rot="15878944">
              <a:off x="2059517" y="1314481"/>
              <a:ext cx="171450" cy="228600"/>
            </a:xfrm>
            <a:prstGeom prst="flowChartDecision">
              <a:avLst/>
            </a:prstGeom>
            <a:solidFill>
              <a:schemeClr val="lt1"/>
            </a:solidFill>
            <a:ln w="2540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dirty="0">
                <a:solidFill>
                  <a:schemeClr val="dk1"/>
                </a:solidFill>
                <a:ea typeface="Calibri"/>
                <a:cs typeface="Calibri"/>
                <a:sym typeface="Calibri"/>
              </a:endParaRPr>
            </a:p>
          </p:txBody>
        </p:sp>
        <p:sp>
          <p:nvSpPr>
            <p:cNvPr id="149" name="TextBox 148">
              <a:extLst>
                <a:ext uri="{FF2B5EF4-FFF2-40B4-BE49-F238E27FC236}">
                  <a16:creationId xmlns="" xmlns:a16="http://schemas.microsoft.com/office/drawing/2014/main" id="{1CCEB0B8-72C3-4788-9731-496CDEBF734C}"/>
                </a:ext>
              </a:extLst>
            </p:cNvPr>
            <p:cNvSpPr txBox="1"/>
            <p:nvPr/>
          </p:nvSpPr>
          <p:spPr>
            <a:xfrm>
              <a:off x="1105223" y="2085118"/>
              <a:ext cx="250390" cy="276999"/>
            </a:xfrm>
            <a:prstGeom prst="rect">
              <a:avLst/>
            </a:prstGeom>
            <a:noFill/>
          </p:spPr>
          <p:txBody>
            <a:bodyPr wrap="none" rtlCol="0">
              <a:spAutoFit/>
            </a:bodyPr>
            <a:lstStyle/>
            <a:p>
              <a:r>
                <a:rPr lang="en-IN" sz="1200" dirty="0"/>
                <a:t>*</a:t>
              </a:r>
            </a:p>
          </p:txBody>
        </p:sp>
        <p:sp>
          <p:nvSpPr>
            <p:cNvPr id="150" name="TextBox 149">
              <a:extLst>
                <a:ext uri="{FF2B5EF4-FFF2-40B4-BE49-F238E27FC236}">
                  <a16:creationId xmlns="" xmlns:a16="http://schemas.microsoft.com/office/drawing/2014/main" id="{565037C1-AC98-4C37-9D77-BD3A4751C9A3}"/>
                </a:ext>
              </a:extLst>
            </p:cNvPr>
            <p:cNvSpPr txBox="1"/>
            <p:nvPr/>
          </p:nvSpPr>
          <p:spPr>
            <a:xfrm>
              <a:off x="2048268" y="1092460"/>
              <a:ext cx="250390" cy="276999"/>
            </a:xfrm>
            <a:prstGeom prst="rect">
              <a:avLst/>
            </a:prstGeom>
            <a:noFill/>
          </p:spPr>
          <p:txBody>
            <a:bodyPr wrap="none" rtlCol="0">
              <a:spAutoFit/>
            </a:bodyPr>
            <a:lstStyle/>
            <a:p>
              <a:r>
                <a:rPr lang="en-IN" sz="1200" dirty="0"/>
                <a:t>*</a:t>
              </a:r>
            </a:p>
          </p:txBody>
        </p:sp>
        <p:sp>
          <p:nvSpPr>
            <p:cNvPr id="169" name="Google Shape;357;p36">
              <a:extLst>
                <a:ext uri="{FF2B5EF4-FFF2-40B4-BE49-F238E27FC236}">
                  <a16:creationId xmlns="" xmlns:a16="http://schemas.microsoft.com/office/drawing/2014/main" id="{F667045D-7A9E-4CEA-9774-EF749EFB3197}"/>
                </a:ext>
              </a:extLst>
            </p:cNvPr>
            <p:cNvSpPr txBox="1"/>
            <p:nvPr/>
          </p:nvSpPr>
          <p:spPr>
            <a:xfrm rot="18671847">
              <a:off x="1335399" y="1598063"/>
              <a:ext cx="634473"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ea typeface="Calibri"/>
                  <a:cs typeface="Calibri"/>
                  <a:sym typeface="Calibri"/>
                </a:rPr>
                <a:t>have</a:t>
              </a:r>
              <a:endParaRPr sz="1200" dirty="0"/>
            </a:p>
          </p:txBody>
        </p:sp>
      </p:grpSp>
      <p:grpSp>
        <p:nvGrpSpPr>
          <p:cNvPr id="177" name="Group 176">
            <a:extLst>
              <a:ext uri="{FF2B5EF4-FFF2-40B4-BE49-F238E27FC236}">
                <a16:creationId xmlns="" xmlns:a16="http://schemas.microsoft.com/office/drawing/2014/main" id="{0106DEC9-3A66-4EEC-9DF7-A8500D4EB2D0}"/>
              </a:ext>
            </a:extLst>
          </p:cNvPr>
          <p:cNvGrpSpPr/>
          <p:nvPr/>
        </p:nvGrpSpPr>
        <p:grpSpPr>
          <a:xfrm>
            <a:off x="1126666" y="3283529"/>
            <a:ext cx="1966800" cy="2070704"/>
            <a:chOff x="1126666" y="3283529"/>
            <a:chExt cx="1966800" cy="2070704"/>
          </a:xfrm>
        </p:grpSpPr>
        <p:cxnSp>
          <p:nvCxnSpPr>
            <p:cNvPr id="128" name="Straight Connector 127">
              <a:extLst>
                <a:ext uri="{FF2B5EF4-FFF2-40B4-BE49-F238E27FC236}">
                  <a16:creationId xmlns="" xmlns:a16="http://schemas.microsoft.com/office/drawing/2014/main" id="{67B48C68-5DD3-45B4-ACF0-07035A11F188}"/>
                </a:ext>
              </a:extLst>
            </p:cNvPr>
            <p:cNvCxnSpPr>
              <a:cxnSpLocks/>
              <a:stCxn id="102" idx="2"/>
              <a:endCxn id="109" idx="1"/>
            </p:cNvCxnSpPr>
            <p:nvPr/>
          </p:nvCxnSpPr>
          <p:spPr>
            <a:xfrm>
              <a:off x="1317229" y="3316820"/>
              <a:ext cx="1766655" cy="1820952"/>
            </a:xfrm>
            <a:prstGeom prst="line">
              <a:avLst/>
            </a:prstGeom>
          </p:spPr>
          <p:style>
            <a:lnRef idx="3">
              <a:schemeClr val="accent6"/>
            </a:lnRef>
            <a:fillRef idx="0">
              <a:schemeClr val="accent6"/>
            </a:fillRef>
            <a:effectRef idx="2">
              <a:schemeClr val="accent6"/>
            </a:effectRef>
            <a:fontRef idx="minor">
              <a:schemeClr val="tx1"/>
            </a:fontRef>
          </p:style>
        </p:cxnSp>
        <p:sp>
          <p:nvSpPr>
            <p:cNvPr id="133" name="TextBox 132">
              <a:extLst>
                <a:ext uri="{FF2B5EF4-FFF2-40B4-BE49-F238E27FC236}">
                  <a16:creationId xmlns="" xmlns:a16="http://schemas.microsoft.com/office/drawing/2014/main" id="{8318A95E-0C39-4923-BB51-5B3A5D5BA903}"/>
                </a:ext>
              </a:extLst>
            </p:cNvPr>
            <p:cNvSpPr txBox="1"/>
            <p:nvPr/>
          </p:nvSpPr>
          <p:spPr>
            <a:xfrm>
              <a:off x="1126666" y="3283529"/>
              <a:ext cx="250390" cy="276999"/>
            </a:xfrm>
            <a:prstGeom prst="rect">
              <a:avLst/>
            </a:prstGeom>
            <a:noFill/>
          </p:spPr>
          <p:txBody>
            <a:bodyPr wrap="none" rtlCol="0">
              <a:spAutoFit/>
            </a:bodyPr>
            <a:lstStyle/>
            <a:p>
              <a:r>
                <a:rPr lang="en-IN" sz="1200" dirty="0"/>
                <a:t>*</a:t>
              </a:r>
            </a:p>
          </p:txBody>
        </p:sp>
        <p:sp>
          <p:nvSpPr>
            <p:cNvPr id="134" name="TextBox 133">
              <a:extLst>
                <a:ext uri="{FF2B5EF4-FFF2-40B4-BE49-F238E27FC236}">
                  <a16:creationId xmlns="" xmlns:a16="http://schemas.microsoft.com/office/drawing/2014/main" id="{AAE8BF68-29F9-4287-92D5-A6A79118B4FF}"/>
                </a:ext>
              </a:extLst>
            </p:cNvPr>
            <p:cNvSpPr txBox="1"/>
            <p:nvPr/>
          </p:nvSpPr>
          <p:spPr>
            <a:xfrm>
              <a:off x="2843076" y="5077234"/>
              <a:ext cx="250390" cy="276999"/>
            </a:xfrm>
            <a:prstGeom prst="rect">
              <a:avLst/>
            </a:prstGeom>
            <a:noFill/>
          </p:spPr>
          <p:txBody>
            <a:bodyPr wrap="none" rtlCol="0">
              <a:spAutoFit/>
            </a:bodyPr>
            <a:lstStyle/>
            <a:p>
              <a:r>
                <a:rPr lang="en-IN" sz="1200" dirty="0"/>
                <a:t>*</a:t>
              </a:r>
            </a:p>
          </p:txBody>
        </p:sp>
        <p:sp>
          <p:nvSpPr>
            <p:cNvPr id="170" name="Google Shape;357;p36">
              <a:extLst>
                <a:ext uri="{FF2B5EF4-FFF2-40B4-BE49-F238E27FC236}">
                  <a16:creationId xmlns="" xmlns:a16="http://schemas.microsoft.com/office/drawing/2014/main" id="{C6D1E10F-3BFD-4908-A53B-58A963F328FB}"/>
                </a:ext>
              </a:extLst>
            </p:cNvPr>
            <p:cNvSpPr txBox="1"/>
            <p:nvPr/>
          </p:nvSpPr>
          <p:spPr>
            <a:xfrm rot="2899168">
              <a:off x="1757143" y="3928390"/>
              <a:ext cx="883272" cy="31519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ea typeface="Calibri"/>
                  <a:cs typeface="Calibri"/>
                  <a:sym typeface="Calibri"/>
                </a:rPr>
                <a:t>transaction</a:t>
              </a:r>
              <a:endParaRPr sz="1200" dirty="0"/>
            </a:p>
          </p:txBody>
        </p:sp>
      </p:grpSp>
      <p:grpSp>
        <p:nvGrpSpPr>
          <p:cNvPr id="175" name="Group 174">
            <a:extLst>
              <a:ext uri="{FF2B5EF4-FFF2-40B4-BE49-F238E27FC236}">
                <a16:creationId xmlns="" xmlns:a16="http://schemas.microsoft.com/office/drawing/2014/main" id="{5651500D-2267-4E3E-AFEB-1619AA82AEA7}"/>
              </a:ext>
            </a:extLst>
          </p:cNvPr>
          <p:cNvGrpSpPr/>
          <p:nvPr/>
        </p:nvGrpSpPr>
        <p:grpSpPr>
          <a:xfrm>
            <a:off x="5299858" y="3180125"/>
            <a:ext cx="1955045" cy="1957647"/>
            <a:chOff x="5299858" y="3180125"/>
            <a:chExt cx="1955045" cy="1957647"/>
          </a:xfrm>
        </p:grpSpPr>
        <p:cxnSp>
          <p:nvCxnSpPr>
            <p:cNvPr id="118" name="Straight Connector 117">
              <a:extLst>
                <a:ext uri="{FF2B5EF4-FFF2-40B4-BE49-F238E27FC236}">
                  <a16:creationId xmlns="" xmlns:a16="http://schemas.microsoft.com/office/drawing/2014/main" id="{5FBB4442-51B4-4505-B7E2-A1F264740E20}"/>
                </a:ext>
              </a:extLst>
            </p:cNvPr>
            <p:cNvCxnSpPr>
              <a:cxnSpLocks/>
              <a:stCxn id="109" idx="3"/>
              <a:endCxn id="81" idx="1"/>
            </p:cNvCxnSpPr>
            <p:nvPr/>
          </p:nvCxnSpPr>
          <p:spPr>
            <a:xfrm flipV="1">
              <a:off x="5354346" y="3357980"/>
              <a:ext cx="1900557" cy="1779792"/>
            </a:xfrm>
            <a:prstGeom prst="line">
              <a:avLst/>
            </a:prstGeom>
          </p:spPr>
          <p:style>
            <a:lnRef idx="3">
              <a:schemeClr val="accent6"/>
            </a:lnRef>
            <a:fillRef idx="0">
              <a:schemeClr val="accent6"/>
            </a:fillRef>
            <a:effectRef idx="2">
              <a:schemeClr val="accent6"/>
            </a:effectRef>
            <a:fontRef idx="minor">
              <a:schemeClr val="tx1"/>
            </a:fontRef>
          </p:style>
        </p:cxnSp>
        <p:sp>
          <p:nvSpPr>
            <p:cNvPr id="155" name="TextBox 154">
              <a:extLst>
                <a:ext uri="{FF2B5EF4-FFF2-40B4-BE49-F238E27FC236}">
                  <a16:creationId xmlns="" xmlns:a16="http://schemas.microsoft.com/office/drawing/2014/main" id="{DB6CC7DC-8B2E-4997-B462-B6D35F59ACA3}"/>
                </a:ext>
              </a:extLst>
            </p:cNvPr>
            <p:cNvSpPr txBox="1"/>
            <p:nvPr/>
          </p:nvSpPr>
          <p:spPr>
            <a:xfrm>
              <a:off x="5299858" y="4765114"/>
              <a:ext cx="260008" cy="276999"/>
            </a:xfrm>
            <a:prstGeom prst="rect">
              <a:avLst/>
            </a:prstGeom>
            <a:noFill/>
          </p:spPr>
          <p:txBody>
            <a:bodyPr wrap="none" rtlCol="0">
              <a:spAutoFit/>
            </a:bodyPr>
            <a:lstStyle/>
            <a:p>
              <a:r>
                <a:rPr lang="en-IN" sz="1200" dirty="0"/>
                <a:t>1</a:t>
              </a:r>
            </a:p>
          </p:txBody>
        </p:sp>
        <p:sp>
          <p:nvSpPr>
            <p:cNvPr id="156" name="TextBox 155">
              <a:extLst>
                <a:ext uri="{FF2B5EF4-FFF2-40B4-BE49-F238E27FC236}">
                  <a16:creationId xmlns="" xmlns:a16="http://schemas.microsoft.com/office/drawing/2014/main" id="{111363EB-A885-438D-820D-C1E2D2AFDF5E}"/>
                </a:ext>
              </a:extLst>
            </p:cNvPr>
            <p:cNvSpPr txBox="1"/>
            <p:nvPr/>
          </p:nvSpPr>
          <p:spPr>
            <a:xfrm>
              <a:off x="6808901" y="3180125"/>
              <a:ext cx="415498" cy="276999"/>
            </a:xfrm>
            <a:prstGeom prst="rect">
              <a:avLst/>
            </a:prstGeom>
            <a:noFill/>
          </p:spPr>
          <p:txBody>
            <a:bodyPr wrap="none" rtlCol="0">
              <a:spAutoFit/>
            </a:bodyPr>
            <a:lstStyle/>
            <a:p>
              <a:r>
                <a:rPr lang="en-IN" sz="1200" dirty="0"/>
                <a:t>1..2</a:t>
              </a:r>
            </a:p>
          </p:txBody>
        </p:sp>
        <p:sp>
          <p:nvSpPr>
            <p:cNvPr id="172" name="Google Shape;357;p36">
              <a:extLst>
                <a:ext uri="{FF2B5EF4-FFF2-40B4-BE49-F238E27FC236}">
                  <a16:creationId xmlns="" xmlns:a16="http://schemas.microsoft.com/office/drawing/2014/main" id="{A204AAA7-FFF6-4752-AF03-69B3BFEE812D}"/>
                </a:ext>
              </a:extLst>
            </p:cNvPr>
            <p:cNvSpPr txBox="1"/>
            <p:nvPr/>
          </p:nvSpPr>
          <p:spPr>
            <a:xfrm rot="19168837">
              <a:off x="6037789" y="3909917"/>
              <a:ext cx="634473"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ea typeface="Calibri"/>
                  <a:cs typeface="Calibri"/>
                  <a:sym typeface="Calibri"/>
                </a:rPr>
                <a:t>have</a:t>
              </a:r>
              <a:endParaRPr sz="1200" dirty="0"/>
            </a:p>
          </p:txBody>
        </p:sp>
      </p:grpSp>
      <p:grpSp>
        <p:nvGrpSpPr>
          <p:cNvPr id="181" name="Group 180">
            <a:extLst>
              <a:ext uri="{FF2B5EF4-FFF2-40B4-BE49-F238E27FC236}">
                <a16:creationId xmlns="" xmlns:a16="http://schemas.microsoft.com/office/drawing/2014/main" id="{9D55495F-AF8D-465E-BD7D-30F219A6C905}"/>
              </a:ext>
            </a:extLst>
          </p:cNvPr>
          <p:cNvGrpSpPr/>
          <p:nvPr/>
        </p:nvGrpSpPr>
        <p:grpSpPr>
          <a:xfrm>
            <a:off x="4219115" y="3451189"/>
            <a:ext cx="1132860" cy="1018391"/>
            <a:chOff x="4219115" y="3451189"/>
            <a:chExt cx="1132860" cy="1018391"/>
          </a:xfrm>
        </p:grpSpPr>
        <p:cxnSp>
          <p:nvCxnSpPr>
            <p:cNvPr id="132" name="Straight Connector 131">
              <a:extLst>
                <a:ext uri="{FF2B5EF4-FFF2-40B4-BE49-F238E27FC236}">
                  <a16:creationId xmlns="" xmlns:a16="http://schemas.microsoft.com/office/drawing/2014/main" id="{226F1950-B7A5-415B-AC9A-4F3087CA5F56}"/>
                </a:ext>
              </a:extLst>
            </p:cNvPr>
            <p:cNvCxnSpPr>
              <a:cxnSpLocks/>
              <a:stCxn id="106" idx="2"/>
              <a:endCxn id="108" idx="0"/>
            </p:cNvCxnSpPr>
            <p:nvPr/>
          </p:nvCxnSpPr>
          <p:spPr>
            <a:xfrm flipH="1">
              <a:off x="4219115" y="3460055"/>
              <a:ext cx="944668" cy="895671"/>
            </a:xfrm>
            <a:prstGeom prst="line">
              <a:avLst/>
            </a:prstGeom>
          </p:spPr>
          <p:style>
            <a:lnRef idx="3">
              <a:schemeClr val="accent6"/>
            </a:lnRef>
            <a:fillRef idx="0">
              <a:schemeClr val="accent6"/>
            </a:fillRef>
            <a:effectRef idx="2">
              <a:schemeClr val="accent6"/>
            </a:effectRef>
            <a:fontRef idx="minor">
              <a:schemeClr val="tx1"/>
            </a:fontRef>
          </p:style>
        </p:cxnSp>
        <p:sp>
          <p:nvSpPr>
            <p:cNvPr id="159" name="TextBox 158">
              <a:extLst>
                <a:ext uri="{FF2B5EF4-FFF2-40B4-BE49-F238E27FC236}">
                  <a16:creationId xmlns="" xmlns:a16="http://schemas.microsoft.com/office/drawing/2014/main" id="{6E66EEFF-26F6-42A2-8D06-75221FE70BF5}"/>
                </a:ext>
              </a:extLst>
            </p:cNvPr>
            <p:cNvSpPr txBox="1"/>
            <p:nvPr/>
          </p:nvSpPr>
          <p:spPr>
            <a:xfrm>
              <a:off x="5101585" y="3451189"/>
              <a:ext cx="250390" cy="276999"/>
            </a:xfrm>
            <a:prstGeom prst="rect">
              <a:avLst/>
            </a:prstGeom>
            <a:noFill/>
          </p:spPr>
          <p:txBody>
            <a:bodyPr wrap="none" rtlCol="0">
              <a:spAutoFit/>
            </a:bodyPr>
            <a:lstStyle/>
            <a:p>
              <a:r>
                <a:rPr lang="en-IN" sz="1200" dirty="0"/>
                <a:t>*</a:t>
              </a:r>
            </a:p>
          </p:txBody>
        </p:sp>
        <p:sp>
          <p:nvSpPr>
            <p:cNvPr id="160" name="TextBox 159">
              <a:extLst>
                <a:ext uri="{FF2B5EF4-FFF2-40B4-BE49-F238E27FC236}">
                  <a16:creationId xmlns="" xmlns:a16="http://schemas.microsoft.com/office/drawing/2014/main" id="{5487CE42-C514-4A15-98E8-50BD7A6D628A}"/>
                </a:ext>
              </a:extLst>
            </p:cNvPr>
            <p:cNvSpPr txBox="1"/>
            <p:nvPr/>
          </p:nvSpPr>
          <p:spPr>
            <a:xfrm>
              <a:off x="4265586" y="4192581"/>
              <a:ext cx="250390" cy="276999"/>
            </a:xfrm>
            <a:prstGeom prst="rect">
              <a:avLst/>
            </a:prstGeom>
            <a:noFill/>
          </p:spPr>
          <p:txBody>
            <a:bodyPr wrap="none" rtlCol="0">
              <a:spAutoFit/>
            </a:bodyPr>
            <a:lstStyle/>
            <a:p>
              <a:r>
                <a:rPr lang="en-IN" sz="1200" dirty="0"/>
                <a:t>*</a:t>
              </a:r>
            </a:p>
          </p:txBody>
        </p:sp>
        <p:sp>
          <p:nvSpPr>
            <p:cNvPr id="180" name="TextBox 179">
              <a:extLst>
                <a:ext uri="{FF2B5EF4-FFF2-40B4-BE49-F238E27FC236}">
                  <a16:creationId xmlns="" xmlns:a16="http://schemas.microsoft.com/office/drawing/2014/main" id="{B8942D9C-5A58-416D-A174-DE4543C1C7F1}"/>
                </a:ext>
              </a:extLst>
            </p:cNvPr>
            <p:cNvSpPr txBox="1"/>
            <p:nvPr/>
          </p:nvSpPr>
          <p:spPr>
            <a:xfrm rot="18785206">
              <a:off x="4192189" y="3793996"/>
              <a:ext cx="668773" cy="276999"/>
            </a:xfrm>
            <a:prstGeom prst="rect">
              <a:avLst/>
            </a:prstGeom>
            <a:noFill/>
          </p:spPr>
          <p:txBody>
            <a:bodyPr wrap="none" rtlCol="0">
              <a:spAutoFit/>
            </a:bodyPr>
            <a:lstStyle/>
            <a:p>
              <a:r>
                <a:rPr lang="en-IN" sz="1200" dirty="0"/>
                <a:t>manage</a:t>
              </a:r>
            </a:p>
          </p:txBody>
        </p:sp>
      </p:grpSp>
    </p:spTree>
    <p:extLst>
      <p:ext uri="{BB962C8B-B14F-4D97-AF65-F5344CB8AC3E}">
        <p14:creationId xmlns:p14="http://schemas.microsoft.com/office/powerpoint/2010/main" val="3260490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fade">
                                      <p:cBhvr>
                                        <p:cTn id="7" dur="500"/>
                                        <p:tgtEl>
                                          <p:spTgt spid="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9"/>
                                        </p:tgtEl>
                                        <p:attrNameLst>
                                          <p:attrName>style.visibility</p:attrName>
                                        </p:attrNameLst>
                                      </p:cBhvr>
                                      <p:to>
                                        <p:strVal val="visible"/>
                                      </p:to>
                                    </p:set>
                                    <p:animEffect transition="in" filter="fade">
                                      <p:cBhvr>
                                        <p:cTn id="12" dur="500"/>
                                        <p:tgtEl>
                                          <p:spTgt spid="9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3"/>
                                        </p:tgtEl>
                                        <p:attrNameLst>
                                          <p:attrName>style.visibility</p:attrName>
                                        </p:attrNameLst>
                                      </p:cBhvr>
                                      <p:to>
                                        <p:strVal val="visible"/>
                                      </p:to>
                                    </p:set>
                                    <p:animEffect transition="in" filter="fade">
                                      <p:cBhvr>
                                        <p:cTn id="17" dur="500"/>
                                        <p:tgtEl>
                                          <p:spTgt spid="10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9"/>
                                        </p:tgtEl>
                                        <p:attrNameLst>
                                          <p:attrName>style.visibility</p:attrName>
                                        </p:attrNameLst>
                                      </p:cBhvr>
                                      <p:to>
                                        <p:strVal val="visible"/>
                                      </p:to>
                                    </p:set>
                                    <p:animEffect transition="in" filter="fade">
                                      <p:cBhvr>
                                        <p:cTn id="22" dur="500"/>
                                        <p:tgtEl>
                                          <p:spTgt spid="179"/>
                                        </p:tgtEl>
                                      </p:cBhvr>
                                    </p:animEffect>
                                  </p:childTnLst>
                                </p:cTn>
                              </p:par>
                              <p:par>
                                <p:cTn id="23" presetID="10" presetClass="entr" presetSubtype="0" fill="hold" nodeType="withEffect">
                                  <p:stCondLst>
                                    <p:cond delay="0"/>
                                  </p:stCondLst>
                                  <p:childTnLst>
                                    <p:set>
                                      <p:cBhvr>
                                        <p:cTn id="24" dur="1" fill="hold">
                                          <p:stCondLst>
                                            <p:cond delay="0"/>
                                          </p:stCondLst>
                                        </p:cTn>
                                        <p:tgtEl>
                                          <p:spTgt spid="173"/>
                                        </p:tgtEl>
                                        <p:attrNameLst>
                                          <p:attrName>style.visibility</p:attrName>
                                        </p:attrNameLst>
                                      </p:cBhvr>
                                      <p:to>
                                        <p:strVal val="visible"/>
                                      </p:to>
                                    </p:set>
                                    <p:animEffect transition="in" filter="fade">
                                      <p:cBhvr>
                                        <p:cTn id="25" dur="500"/>
                                        <p:tgtEl>
                                          <p:spTgt spid="17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78"/>
                                        </p:tgtEl>
                                        <p:attrNameLst>
                                          <p:attrName>style.visibility</p:attrName>
                                        </p:attrNameLst>
                                      </p:cBhvr>
                                      <p:to>
                                        <p:strVal val="visible"/>
                                      </p:to>
                                    </p:set>
                                    <p:animEffect transition="in" filter="fade">
                                      <p:cBhvr>
                                        <p:cTn id="30" dur="500"/>
                                        <p:tgtEl>
                                          <p:spTgt spid="7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76"/>
                                        </p:tgtEl>
                                        <p:attrNameLst>
                                          <p:attrName>style.visibility</p:attrName>
                                        </p:attrNameLst>
                                      </p:cBhvr>
                                      <p:to>
                                        <p:strVal val="visible"/>
                                      </p:to>
                                    </p:set>
                                    <p:animEffect transition="in" filter="fade">
                                      <p:cBhvr>
                                        <p:cTn id="35" dur="500"/>
                                        <p:tgtEl>
                                          <p:spTgt spid="17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74"/>
                                        </p:tgtEl>
                                        <p:attrNameLst>
                                          <p:attrName>style.visibility</p:attrName>
                                        </p:attrNameLst>
                                      </p:cBhvr>
                                      <p:to>
                                        <p:strVal val="visible"/>
                                      </p:to>
                                    </p:set>
                                    <p:animEffect transition="in" filter="fade">
                                      <p:cBhvr>
                                        <p:cTn id="40" dur="500"/>
                                        <p:tgtEl>
                                          <p:spTgt spid="174"/>
                                        </p:tgtEl>
                                      </p:cBhvr>
                                    </p:animEffect>
                                  </p:childTnLst>
                                </p:cTn>
                              </p:par>
                              <p:par>
                                <p:cTn id="41" presetID="10" presetClass="entr" presetSubtype="0" fill="hold" nodeType="withEffect">
                                  <p:stCondLst>
                                    <p:cond delay="0"/>
                                  </p:stCondLst>
                                  <p:childTnLst>
                                    <p:set>
                                      <p:cBhvr>
                                        <p:cTn id="42" dur="1" fill="hold">
                                          <p:stCondLst>
                                            <p:cond delay="0"/>
                                          </p:stCondLst>
                                        </p:cTn>
                                        <p:tgtEl>
                                          <p:spTgt spid="178"/>
                                        </p:tgtEl>
                                        <p:attrNameLst>
                                          <p:attrName>style.visibility</p:attrName>
                                        </p:attrNameLst>
                                      </p:cBhvr>
                                      <p:to>
                                        <p:strVal val="visible"/>
                                      </p:to>
                                    </p:set>
                                    <p:animEffect transition="in" filter="fade">
                                      <p:cBhvr>
                                        <p:cTn id="43" dur="500"/>
                                        <p:tgtEl>
                                          <p:spTgt spid="178"/>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07"/>
                                        </p:tgtEl>
                                        <p:attrNameLst>
                                          <p:attrName>style.visibility</p:attrName>
                                        </p:attrNameLst>
                                      </p:cBhvr>
                                      <p:to>
                                        <p:strVal val="visible"/>
                                      </p:to>
                                    </p:set>
                                    <p:animEffect transition="in" filter="fade">
                                      <p:cBhvr>
                                        <p:cTn id="48" dur="500"/>
                                        <p:tgtEl>
                                          <p:spTgt spid="107"/>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75"/>
                                        </p:tgtEl>
                                        <p:attrNameLst>
                                          <p:attrName>style.visibility</p:attrName>
                                        </p:attrNameLst>
                                      </p:cBhvr>
                                      <p:to>
                                        <p:strVal val="visible"/>
                                      </p:to>
                                    </p:set>
                                    <p:animEffect transition="in" filter="fade">
                                      <p:cBhvr>
                                        <p:cTn id="53" dur="500"/>
                                        <p:tgtEl>
                                          <p:spTgt spid="175"/>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77"/>
                                        </p:tgtEl>
                                        <p:attrNameLst>
                                          <p:attrName>style.visibility</p:attrName>
                                        </p:attrNameLst>
                                      </p:cBhvr>
                                      <p:to>
                                        <p:strVal val="visible"/>
                                      </p:to>
                                    </p:set>
                                    <p:animEffect transition="in" filter="fade">
                                      <p:cBhvr>
                                        <p:cTn id="58" dur="500"/>
                                        <p:tgtEl>
                                          <p:spTgt spid="177"/>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81"/>
                                        </p:tgtEl>
                                        <p:attrNameLst>
                                          <p:attrName>style.visibility</p:attrName>
                                        </p:attrNameLst>
                                      </p:cBhvr>
                                      <p:to>
                                        <p:strVal val="visible"/>
                                      </p:to>
                                    </p:set>
                                    <p:animEffect transition="in" filter="fade">
                                      <p:cBhvr>
                                        <p:cTn id="63" dur="500"/>
                                        <p:tgtEl>
                                          <p:spTgt spid="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C1F3BBF-1CBB-41FF-B8A4-A1AC5D61CAD3}"/>
              </a:ext>
            </a:extLst>
          </p:cNvPr>
          <p:cNvSpPr>
            <a:spLocks noGrp="1"/>
          </p:cNvSpPr>
          <p:nvPr>
            <p:ph type="title"/>
          </p:nvPr>
        </p:nvSpPr>
        <p:spPr>
          <a:xfrm>
            <a:off x="0" y="0"/>
            <a:ext cx="12192000" cy="711200"/>
          </a:xfrm>
          <a:solidFill>
            <a:srgbClr val="C0C0C0">
              <a:alpha val="50000"/>
            </a:srgbClr>
          </a:solidFill>
          <a:ln>
            <a:noFill/>
          </a:ln>
        </p:spPr>
        <p:txBody>
          <a:bodyPr vert="horz" lIns="216000" tIns="108000" rIns="216000" bIns="108000" rtlCol="0" anchor="t">
            <a:normAutofit/>
          </a:bodyPr>
          <a:lstStyle/>
          <a:p>
            <a:r>
              <a:rPr lang="en-US" dirty="0">
                <a:latin typeface="+mn-lt"/>
              </a:rPr>
              <a:t>Class Diagram Of Library Management System</a:t>
            </a:r>
            <a:endParaRPr lang="en-IN" dirty="0">
              <a:latin typeface="+mn-lt"/>
            </a:endParaRPr>
          </a:p>
        </p:txBody>
      </p:sp>
      <p:grpSp>
        <p:nvGrpSpPr>
          <p:cNvPr id="4" name="Google Shape;317;p36">
            <a:extLst>
              <a:ext uri="{FF2B5EF4-FFF2-40B4-BE49-F238E27FC236}">
                <a16:creationId xmlns="" xmlns:a16="http://schemas.microsoft.com/office/drawing/2014/main" id="{C639963D-CD28-4AA8-90E0-16C2B39DFEDC}"/>
              </a:ext>
            </a:extLst>
          </p:cNvPr>
          <p:cNvGrpSpPr/>
          <p:nvPr/>
        </p:nvGrpSpPr>
        <p:grpSpPr>
          <a:xfrm>
            <a:off x="1490404" y="786283"/>
            <a:ext cx="3305019" cy="1963758"/>
            <a:chOff x="377079" y="1981200"/>
            <a:chExt cx="3105261" cy="2146957"/>
          </a:xfrm>
        </p:grpSpPr>
        <p:sp>
          <p:nvSpPr>
            <p:cNvPr id="5" name="Google Shape;318;p36">
              <a:extLst>
                <a:ext uri="{FF2B5EF4-FFF2-40B4-BE49-F238E27FC236}">
                  <a16:creationId xmlns="" xmlns:a16="http://schemas.microsoft.com/office/drawing/2014/main" id="{3B30E9E2-9741-4347-92DD-786B7E34F085}"/>
                </a:ext>
              </a:extLst>
            </p:cNvPr>
            <p:cNvSpPr/>
            <p:nvPr/>
          </p:nvSpPr>
          <p:spPr>
            <a:xfrm>
              <a:off x="381000" y="1981200"/>
              <a:ext cx="3101340" cy="457200"/>
            </a:xfrm>
            <a:prstGeom prst="rect">
              <a:avLst/>
            </a:prstGeom>
            <a:ln>
              <a:headEnd type="none" w="sm" len="sm"/>
              <a:tailEnd type="none" w="sm" len="sm"/>
            </a:ln>
          </p:spPr>
          <p:style>
            <a:lnRef idx="2">
              <a:schemeClr val="accent6">
                <a:shade val="50000"/>
              </a:schemeClr>
            </a:lnRef>
            <a:fillRef idx="1">
              <a:schemeClr val="accent6"/>
            </a:fillRef>
            <a:effectRef idx="0">
              <a:schemeClr val="accent6"/>
            </a:effectRef>
            <a:fontRef idx="minor">
              <a:schemeClr val="lt1"/>
            </a:fontRef>
          </p:style>
          <p:txBody>
            <a:bodyPr spcFirstLastPara="1" wrap="square" lIns="91425" tIns="45700" rIns="91425" bIns="45700" anchor="ctr" anchorCtr="0">
              <a:noAutofit/>
            </a:bodyPr>
            <a:lstStyle/>
            <a:p>
              <a:pPr algn="ctr"/>
              <a:r>
                <a:rPr lang="en-US" sz="2400" b="1" dirty="0">
                  <a:solidFill>
                    <a:schemeClr val="bg1"/>
                  </a:solidFill>
                  <a:cs typeface="Calibri"/>
                  <a:sym typeface="Calibri"/>
                </a:rPr>
                <a:t>Librarian</a:t>
              </a:r>
              <a:endParaRPr sz="2400" b="1" dirty="0">
                <a:solidFill>
                  <a:schemeClr val="bg1"/>
                </a:solidFill>
                <a:cs typeface="Calibri"/>
              </a:endParaRPr>
            </a:p>
          </p:txBody>
        </p:sp>
        <p:sp>
          <p:nvSpPr>
            <p:cNvPr id="6" name="Google Shape;319;p36">
              <a:extLst>
                <a:ext uri="{FF2B5EF4-FFF2-40B4-BE49-F238E27FC236}">
                  <a16:creationId xmlns="" xmlns:a16="http://schemas.microsoft.com/office/drawing/2014/main" id="{0CFD11F6-0A93-47A4-8376-F98BEBAE9331}"/>
                </a:ext>
              </a:extLst>
            </p:cNvPr>
            <p:cNvSpPr/>
            <p:nvPr/>
          </p:nvSpPr>
          <p:spPr>
            <a:xfrm>
              <a:off x="381000" y="2438400"/>
              <a:ext cx="3101340" cy="588825"/>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t" anchorCtr="0">
              <a:noAutofit/>
            </a:bodyPr>
            <a:lstStyle/>
            <a:p>
              <a:r>
                <a:rPr lang="en-US" sz="1500" dirty="0">
                  <a:solidFill>
                    <a:schemeClr val="dk1"/>
                  </a:solidFill>
                  <a:cs typeface="Calibri"/>
                  <a:sym typeface="Calibri"/>
                </a:rPr>
                <a:t>- </a:t>
              </a:r>
              <a:r>
                <a:rPr lang="en-US" sz="1500" dirty="0" err="1">
                  <a:solidFill>
                    <a:schemeClr val="dk1"/>
                  </a:solidFill>
                  <a:cs typeface="Calibri"/>
                  <a:sym typeface="Calibri"/>
                </a:rPr>
                <a:t>name:string</a:t>
              </a:r>
              <a:endParaRPr sz="1500" dirty="0">
                <a:solidFill>
                  <a:schemeClr val="dk1"/>
                </a:solidFill>
                <a:cs typeface="Calibri"/>
                <a:sym typeface="Calibri"/>
              </a:endParaRPr>
            </a:p>
            <a:p>
              <a:r>
                <a:rPr lang="en-US" sz="1500" dirty="0">
                  <a:solidFill>
                    <a:schemeClr val="dk1"/>
                  </a:solidFill>
                  <a:cs typeface="Calibri"/>
                  <a:sym typeface="Calibri"/>
                </a:rPr>
                <a:t>- </a:t>
              </a:r>
              <a:r>
                <a:rPr lang="en-US" sz="1500" dirty="0" err="1">
                  <a:solidFill>
                    <a:schemeClr val="dk1"/>
                  </a:solidFill>
                  <a:cs typeface="Calibri"/>
                  <a:sym typeface="Calibri"/>
                </a:rPr>
                <a:t>contactNo</a:t>
              </a:r>
              <a:r>
                <a:rPr lang="en-US" sz="1500" dirty="0">
                  <a:solidFill>
                    <a:schemeClr val="dk1"/>
                  </a:solidFill>
                  <a:cs typeface="Calibri"/>
                  <a:sym typeface="Calibri"/>
                </a:rPr>
                <a:t>: number</a:t>
              </a:r>
              <a:endParaRPr sz="1500" dirty="0">
                <a:solidFill>
                  <a:schemeClr val="dk1"/>
                </a:solidFill>
                <a:cs typeface="Calibri"/>
              </a:endParaRPr>
            </a:p>
          </p:txBody>
        </p:sp>
        <p:sp>
          <p:nvSpPr>
            <p:cNvPr id="7" name="Google Shape;320;p36">
              <a:extLst>
                <a:ext uri="{FF2B5EF4-FFF2-40B4-BE49-F238E27FC236}">
                  <a16:creationId xmlns="" xmlns:a16="http://schemas.microsoft.com/office/drawing/2014/main" id="{C1F61AAE-EF9C-4029-AC3B-3F65080B2652}"/>
                </a:ext>
              </a:extLst>
            </p:cNvPr>
            <p:cNvSpPr/>
            <p:nvPr/>
          </p:nvSpPr>
          <p:spPr>
            <a:xfrm>
              <a:off x="377079" y="3022924"/>
              <a:ext cx="3101340" cy="1105233"/>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t" anchorCtr="0">
              <a:noAutofit/>
            </a:bodyPr>
            <a:lstStyle/>
            <a:p>
              <a:r>
                <a:rPr lang="en-US" sz="1500" dirty="0">
                  <a:solidFill>
                    <a:schemeClr val="dk1"/>
                  </a:solidFill>
                  <a:cs typeface="Calibri"/>
                  <a:sym typeface="Calibri"/>
                </a:rPr>
                <a:t>+ </a:t>
              </a:r>
              <a:r>
                <a:rPr lang="en-US" sz="1500" dirty="0" err="1">
                  <a:solidFill>
                    <a:schemeClr val="dk1"/>
                  </a:solidFill>
                  <a:cs typeface="Calibri"/>
                  <a:sym typeface="Calibri"/>
                </a:rPr>
                <a:t>addLibrarian</a:t>
              </a:r>
              <a:r>
                <a:rPr lang="en-US" sz="1500" dirty="0">
                  <a:solidFill>
                    <a:schemeClr val="dk1"/>
                  </a:solidFill>
                  <a:cs typeface="Calibri"/>
                  <a:sym typeface="Calibri"/>
                </a:rPr>
                <a:t>():void</a:t>
              </a:r>
              <a:endParaRPr sz="1500" dirty="0">
                <a:solidFill>
                  <a:schemeClr val="dk1"/>
                </a:solidFill>
                <a:cs typeface="Calibri"/>
              </a:endParaRPr>
            </a:p>
            <a:p>
              <a:r>
                <a:rPr lang="en-US" sz="1500" dirty="0">
                  <a:solidFill>
                    <a:schemeClr val="dk1"/>
                  </a:solidFill>
                  <a:cs typeface="Calibri"/>
                  <a:sym typeface="Calibri"/>
                </a:rPr>
                <a:t>+ </a:t>
              </a:r>
              <a:r>
                <a:rPr lang="en-US" sz="1500" dirty="0" err="1">
                  <a:solidFill>
                    <a:schemeClr val="dk1"/>
                  </a:solidFill>
                  <a:cs typeface="Calibri"/>
                  <a:sym typeface="Calibri"/>
                </a:rPr>
                <a:t>updateInfo</a:t>
              </a:r>
              <a:r>
                <a:rPr lang="en-US" sz="1500" dirty="0">
                  <a:solidFill>
                    <a:schemeClr val="dk1"/>
                  </a:solidFill>
                  <a:cs typeface="Calibri"/>
                  <a:sym typeface="Calibri"/>
                </a:rPr>
                <a:t>():int</a:t>
              </a:r>
              <a:endParaRPr sz="1500" dirty="0">
                <a:solidFill>
                  <a:schemeClr val="dk1"/>
                </a:solidFill>
                <a:cs typeface="Calibri"/>
                <a:sym typeface="Calibri"/>
              </a:endParaRPr>
            </a:p>
            <a:p>
              <a:r>
                <a:rPr lang="en-US" sz="1500" dirty="0">
                  <a:solidFill>
                    <a:schemeClr val="dk1"/>
                  </a:solidFill>
                  <a:cs typeface="Calibri"/>
                  <a:sym typeface="Calibri"/>
                </a:rPr>
                <a:t>+ </a:t>
              </a:r>
              <a:r>
                <a:rPr lang="en-US" sz="1500" dirty="0" err="1">
                  <a:solidFill>
                    <a:schemeClr val="dk1"/>
                  </a:solidFill>
                  <a:cs typeface="Calibri"/>
                  <a:sym typeface="Calibri"/>
                </a:rPr>
                <a:t>removeLibrarian</a:t>
              </a:r>
              <a:r>
                <a:rPr lang="en-US" sz="1500" dirty="0">
                  <a:solidFill>
                    <a:schemeClr val="dk1"/>
                  </a:solidFill>
                  <a:cs typeface="Calibri"/>
                  <a:sym typeface="Calibri"/>
                </a:rPr>
                <a:t>(</a:t>
              </a:r>
              <a:r>
                <a:rPr lang="en-US" sz="1500" dirty="0" err="1">
                  <a:solidFill>
                    <a:schemeClr val="dk1"/>
                  </a:solidFill>
                  <a:cs typeface="Calibri"/>
                  <a:sym typeface="Calibri"/>
                </a:rPr>
                <a:t>id:int</a:t>
              </a:r>
              <a:r>
                <a:rPr lang="en-US" sz="1500" dirty="0">
                  <a:solidFill>
                    <a:schemeClr val="dk1"/>
                  </a:solidFill>
                  <a:cs typeface="Calibri"/>
                  <a:sym typeface="Calibri"/>
                </a:rPr>
                <a:t>):int</a:t>
              </a:r>
              <a:endParaRPr sz="1500" dirty="0">
                <a:solidFill>
                  <a:schemeClr val="dk1"/>
                </a:solidFill>
                <a:cs typeface="Calibri"/>
                <a:sym typeface="Calibri"/>
              </a:endParaRPr>
            </a:p>
            <a:p>
              <a:r>
                <a:rPr lang="en-US" sz="1500" dirty="0">
                  <a:solidFill>
                    <a:schemeClr val="dk1"/>
                  </a:solidFill>
                  <a:cs typeface="Calibri"/>
                  <a:sym typeface="Calibri"/>
                </a:rPr>
                <a:t>+ login(</a:t>
              </a:r>
              <a:r>
                <a:rPr lang="en-US" sz="1500" dirty="0" err="1">
                  <a:solidFill>
                    <a:schemeClr val="dk1"/>
                  </a:solidFill>
                  <a:cs typeface="Calibri"/>
                  <a:sym typeface="Calibri"/>
                </a:rPr>
                <a:t>uname:string,pass:string</a:t>
              </a:r>
              <a:r>
                <a:rPr lang="en-US" sz="1500" dirty="0">
                  <a:solidFill>
                    <a:schemeClr val="dk1"/>
                  </a:solidFill>
                  <a:cs typeface="Calibri"/>
                  <a:sym typeface="Calibri"/>
                </a:rPr>
                <a:t>):int</a:t>
              </a:r>
              <a:endParaRPr sz="1500" dirty="0">
                <a:solidFill>
                  <a:schemeClr val="dk1"/>
                </a:solidFill>
                <a:cs typeface="Calibri"/>
                <a:sym typeface="Calibri"/>
              </a:endParaRPr>
            </a:p>
          </p:txBody>
        </p:sp>
      </p:grpSp>
      <p:grpSp>
        <p:nvGrpSpPr>
          <p:cNvPr id="8" name="Google Shape;321;p36">
            <a:extLst>
              <a:ext uri="{FF2B5EF4-FFF2-40B4-BE49-F238E27FC236}">
                <a16:creationId xmlns="" xmlns:a16="http://schemas.microsoft.com/office/drawing/2014/main" id="{AF035319-2E45-48B0-B3D4-BA74D846016D}"/>
              </a:ext>
            </a:extLst>
          </p:cNvPr>
          <p:cNvGrpSpPr/>
          <p:nvPr/>
        </p:nvGrpSpPr>
        <p:grpSpPr>
          <a:xfrm>
            <a:off x="8296361" y="811212"/>
            <a:ext cx="2885117" cy="3000829"/>
            <a:chOff x="3886200" y="1784169"/>
            <a:chExt cx="2591118" cy="2726657"/>
          </a:xfrm>
        </p:grpSpPr>
        <p:sp>
          <p:nvSpPr>
            <p:cNvPr id="9" name="Google Shape;322;p36">
              <a:extLst>
                <a:ext uri="{FF2B5EF4-FFF2-40B4-BE49-F238E27FC236}">
                  <a16:creationId xmlns="" xmlns:a16="http://schemas.microsoft.com/office/drawing/2014/main" id="{F8E8ED6D-247B-4084-9F27-BFEF4EB918EF}"/>
                </a:ext>
              </a:extLst>
            </p:cNvPr>
            <p:cNvSpPr/>
            <p:nvPr/>
          </p:nvSpPr>
          <p:spPr>
            <a:xfrm>
              <a:off x="3886200" y="1784169"/>
              <a:ext cx="2590800" cy="390998"/>
            </a:xfrm>
            <a:prstGeom prst="rect">
              <a:avLst/>
            </a:prstGeom>
            <a:ln>
              <a:headEnd type="none" w="sm" len="sm"/>
              <a:tailEnd type="none" w="sm" len="sm"/>
            </a:ln>
          </p:spPr>
          <p:style>
            <a:lnRef idx="2">
              <a:schemeClr val="accent6">
                <a:shade val="50000"/>
              </a:schemeClr>
            </a:lnRef>
            <a:fillRef idx="1">
              <a:schemeClr val="accent6"/>
            </a:fillRef>
            <a:effectRef idx="0">
              <a:schemeClr val="accent6"/>
            </a:effectRef>
            <a:fontRef idx="minor">
              <a:schemeClr val="lt1"/>
            </a:fontRef>
          </p:style>
          <p:txBody>
            <a:bodyPr spcFirstLastPara="1" wrap="square" lIns="91425" tIns="45700" rIns="91425" bIns="45700" anchor="ctr" anchorCtr="0">
              <a:noAutofit/>
            </a:bodyPr>
            <a:lstStyle/>
            <a:p>
              <a:pPr algn="ctr"/>
              <a:r>
                <a:rPr lang="en-US" sz="2400" b="1" dirty="0">
                  <a:solidFill>
                    <a:schemeClr val="bg1"/>
                  </a:solidFill>
                  <a:cs typeface="Calibri"/>
                  <a:sym typeface="Calibri"/>
                </a:rPr>
                <a:t>Member</a:t>
              </a:r>
              <a:endParaRPr sz="2400" b="1" dirty="0">
                <a:solidFill>
                  <a:schemeClr val="bg1"/>
                </a:solidFill>
                <a:cs typeface="Calibri"/>
              </a:endParaRPr>
            </a:p>
          </p:txBody>
        </p:sp>
        <p:sp>
          <p:nvSpPr>
            <p:cNvPr id="10" name="Google Shape;323;p36">
              <a:extLst>
                <a:ext uri="{FF2B5EF4-FFF2-40B4-BE49-F238E27FC236}">
                  <a16:creationId xmlns="" xmlns:a16="http://schemas.microsoft.com/office/drawing/2014/main" id="{9D7A75A2-435E-442C-8360-B8F8B7E8905D}"/>
                </a:ext>
              </a:extLst>
            </p:cNvPr>
            <p:cNvSpPr/>
            <p:nvPr/>
          </p:nvSpPr>
          <p:spPr>
            <a:xfrm>
              <a:off x="3886518" y="2162320"/>
              <a:ext cx="2590800" cy="1061910"/>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t" anchorCtr="0">
              <a:noAutofit/>
            </a:bodyPr>
            <a:lstStyle/>
            <a:p>
              <a:r>
                <a:rPr lang="en-US" sz="1500" dirty="0">
                  <a:solidFill>
                    <a:schemeClr val="dk1"/>
                  </a:solidFill>
                  <a:cs typeface="Calibri"/>
                  <a:sym typeface="Calibri"/>
                </a:rPr>
                <a:t>~ </a:t>
              </a:r>
              <a:r>
                <a:rPr lang="en-US" sz="1500" dirty="0" err="1">
                  <a:solidFill>
                    <a:schemeClr val="dk1"/>
                  </a:solidFill>
                  <a:cs typeface="Calibri"/>
                  <a:sym typeface="Calibri"/>
                </a:rPr>
                <a:t>mName</a:t>
              </a:r>
              <a:r>
                <a:rPr lang="en-US" sz="1500" dirty="0">
                  <a:solidFill>
                    <a:schemeClr val="dk1"/>
                  </a:solidFill>
                  <a:cs typeface="Calibri"/>
                  <a:sym typeface="Calibri"/>
                </a:rPr>
                <a:t>: string</a:t>
              </a:r>
              <a:endParaRPr sz="1500" dirty="0">
                <a:solidFill>
                  <a:schemeClr val="dk1"/>
                </a:solidFill>
                <a:cs typeface="Calibri"/>
              </a:endParaRPr>
            </a:p>
            <a:p>
              <a:r>
                <a:rPr lang="en-US" sz="1500" dirty="0">
                  <a:solidFill>
                    <a:schemeClr val="dk1"/>
                  </a:solidFill>
                  <a:cs typeface="Calibri"/>
                  <a:sym typeface="Calibri"/>
                </a:rPr>
                <a:t>- </a:t>
              </a:r>
              <a:r>
                <a:rPr lang="en-US" sz="1500" dirty="0" err="1">
                  <a:solidFill>
                    <a:schemeClr val="dk1"/>
                  </a:solidFill>
                  <a:cs typeface="Calibri"/>
                  <a:sym typeface="Calibri"/>
                </a:rPr>
                <a:t>mContact</a:t>
              </a:r>
              <a:r>
                <a:rPr lang="en-US" sz="1500" dirty="0">
                  <a:solidFill>
                    <a:schemeClr val="dk1"/>
                  </a:solidFill>
                  <a:cs typeface="Calibri"/>
                  <a:sym typeface="Calibri"/>
                </a:rPr>
                <a:t>: number</a:t>
              </a:r>
              <a:endParaRPr sz="1500" dirty="0">
                <a:solidFill>
                  <a:schemeClr val="dk1"/>
                </a:solidFill>
                <a:cs typeface="Calibri"/>
              </a:endParaRPr>
            </a:p>
            <a:p>
              <a:r>
                <a:rPr lang="en-US" sz="1500" dirty="0">
                  <a:solidFill>
                    <a:schemeClr val="dk1"/>
                  </a:solidFill>
                  <a:cs typeface="Calibri"/>
                  <a:sym typeface="Calibri"/>
                </a:rPr>
                <a:t>- </a:t>
              </a:r>
              <a:r>
                <a:rPr lang="en-US" sz="1500" dirty="0" err="1">
                  <a:solidFill>
                    <a:schemeClr val="dk1"/>
                  </a:solidFill>
                  <a:cs typeface="Calibri"/>
                  <a:sym typeface="Calibri"/>
                </a:rPr>
                <a:t>mType</a:t>
              </a:r>
              <a:r>
                <a:rPr lang="en-US" sz="1500" dirty="0">
                  <a:solidFill>
                    <a:schemeClr val="dk1"/>
                  </a:solidFill>
                  <a:cs typeface="Calibri"/>
                  <a:sym typeface="Calibri"/>
                </a:rPr>
                <a:t>: string</a:t>
              </a:r>
              <a:endParaRPr sz="1500" dirty="0">
                <a:solidFill>
                  <a:schemeClr val="dk1"/>
                </a:solidFill>
                <a:cs typeface="Calibri"/>
              </a:endParaRPr>
            </a:p>
            <a:p>
              <a:r>
                <a:rPr lang="en-US" sz="1500" dirty="0">
                  <a:solidFill>
                    <a:schemeClr val="dk1"/>
                  </a:solidFill>
                  <a:cs typeface="Calibri"/>
                  <a:sym typeface="Calibri"/>
                </a:rPr>
                <a:t>- </a:t>
              </a:r>
              <a:r>
                <a:rPr lang="en-US" sz="1500" dirty="0" err="1">
                  <a:solidFill>
                    <a:schemeClr val="dk1"/>
                  </a:solidFill>
                  <a:cs typeface="Calibri"/>
                  <a:sym typeface="Calibri"/>
                </a:rPr>
                <a:t>mNoOfBookIssued</a:t>
              </a:r>
              <a:r>
                <a:rPr lang="en-US" sz="1500" dirty="0">
                  <a:solidFill>
                    <a:schemeClr val="dk1"/>
                  </a:solidFill>
                  <a:cs typeface="Calibri"/>
                  <a:sym typeface="Calibri"/>
                </a:rPr>
                <a:t>: int</a:t>
              </a:r>
              <a:endParaRPr sz="1500" dirty="0">
                <a:solidFill>
                  <a:schemeClr val="dk1"/>
                </a:solidFill>
                <a:cs typeface="Calibri"/>
                <a:sym typeface="Calibri"/>
              </a:endParaRPr>
            </a:p>
          </p:txBody>
        </p:sp>
        <p:sp>
          <p:nvSpPr>
            <p:cNvPr id="11" name="Google Shape;324;p36">
              <a:extLst>
                <a:ext uri="{FF2B5EF4-FFF2-40B4-BE49-F238E27FC236}">
                  <a16:creationId xmlns="" xmlns:a16="http://schemas.microsoft.com/office/drawing/2014/main" id="{B5B71F04-E42A-472E-B6A1-017AC2F24FB2}"/>
                </a:ext>
              </a:extLst>
            </p:cNvPr>
            <p:cNvSpPr/>
            <p:nvPr/>
          </p:nvSpPr>
          <p:spPr>
            <a:xfrm>
              <a:off x="3886200" y="3175273"/>
              <a:ext cx="2590800" cy="1335553"/>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t" anchorCtr="0">
              <a:noAutofit/>
            </a:bodyPr>
            <a:lstStyle/>
            <a:p>
              <a:r>
                <a:rPr lang="en-US" sz="1500" dirty="0">
                  <a:solidFill>
                    <a:schemeClr val="dk1"/>
                  </a:solidFill>
                  <a:cs typeface="Calibri"/>
                  <a:sym typeface="Calibri"/>
                </a:rPr>
                <a:t>+ </a:t>
              </a:r>
              <a:r>
                <a:rPr lang="en-US" sz="1500" dirty="0" err="1">
                  <a:solidFill>
                    <a:schemeClr val="dk1"/>
                  </a:solidFill>
                  <a:cs typeface="Calibri"/>
                  <a:sym typeface="Calibri"/>
                </a:rPr>
                <a:t>addMember</a:t>
              </a:r>
              <a:r>
                <a:rPr lang="en-US" sz="1500" dirty="0">
                  <a:solidFill>
                    <a:schemeClr val="dk1"/>
                  </a:solidFill>
                  <a:cs typeface="Calibri"/>
                  <a:sym typeface="Calibri"/>
                </a:rPr>
                <a:t>():void</a:t>
              </a:r>
              <a:endParaRPr sz="1500" dirty="0">
                <a:solidFill>
                  <a:schemeClr val="dk1"/>
                </a:solidFill>
                <a:cs typeface="Calibri"/>
              </a:endParaRPr>
            </a:p>
            <a:p>
              <a:r>
                <a:rPr lang="en-US" sz="1500" dirty="0">
                  <a:solidFill>
                    <a:schemeClr val="dk1"/>
                  </a:solidFill>
                  <a:cs typeface="Calibri"/>
                  <a:sym typeface="Calibri"/>
                </a:rPr>
                <a:t>+ </a:t>
              </a:r>
              <a:r>
                <a:rPr lang="en-US" sz="1500" dirty="0" err="1">
                  <a:solidFill>
                    <a:schemeClr val="dk1"/>
                  </a:solidFill>
                  <a:cs typeface="Calibri"/>
                  <a:sym typeface="Calibri"/>
                </a:rPr>
                <a:t>udateMember</a:t>
              </a:r>
              <a:r>
                <a:rPr lang="en-US" sz="1500" dirty="0">
                  <a:solidFill>
                    <a:schemeClr val="dk1"/>
                  </a:solidFill>
                  <a:cs typeface="Calibri"/>
                  <a:sym typeface="Calibri"/>
                </a:rPr>
                <a:t>():</a:t>
              </a:r>
              <a:r>
                <a:rPr lang="en-US" sz="1500" dirty="0" err="1">
                  <a:solidFill>
                    <a:schemeClr val="dk1"/>
                  </a:solidFill>
                  <a:cs typeface="Calibri"/>
                  <a:sym typeface="Calibri"/>
                </a:rPr>
                <a:t>int</a:t>
              </a:r>
              <a:endParaRPr sz="1500" dirty="0">
                <a:solidFill>
                  <a:schemeClr val="dk1"/>
                </a:solidFill>
                <a:cs typeface="Calibri"/>
                <a:sym typeface="Calibri"/>
              </a:endParaRPr>
            </a:p>
            <a:p>
              <a:r>
                <a:rPr lang="en-US" sz="1500" dirty="0">
                  <a:solidFill>
                    <a:schemeClr val="dk1"/>
                  </a:solidFill>
                  <a:cs typeface="Calibri"/>
                  <a:sym typeface="Calibri"/>
                </a:rPr>
                <a:t>+ </a:t>
              </a:r>
              <a:r>
                <a:rPr lang="en-US" sz="1500" dirty="0" err="1">
                  <a:solidFill>
                    <a:schemeClr val="dk1"/>
                  </a:solidFill>
                  <a:cs typeface="Calibri"/>
                  <a:sym typeface="Calibri"/>
                </a:rPr>
                <a:t>issueBook</a:t>
              </a:r>
              <a:r>
                <a:rPr lang="en-US" sz="1500" dirty="0">
                  <a:solidFill>
                    <a:schemeClr val="dk1"/>
                  </a:solidFill>
                  <a:cs typeface="Calibri"/>
                  <a:sym typeface="Calibri"/>
                </a:rPr>
                <a:t>(</a:t>
              </a:r>
              <a:r>
                <a:rPr lang="en-US" sz="1500" dirty="0" err="1">
                  <a:solidFill>
                    <a:schemeClr val="dk1"/>
                  </a:solidFill>
                  <a:cs typeface="Calibri"/>
                  <a:sym typeface="Calibri"/>
                </a:rPr>
                <a:t>bookID:int</a:t>
              </a:r>
              <a:r>
                <a:rPr lang="en-US" sz="1500" dirty="0">
                  <a:solidFill>
                    <a:schemeClr val="dk1"/>
                  </a:solidFill>
                  <a:cs typeface="Calibri"/>
                  <a:sym typeface="Calibri"/>
                </a:rPr>
                <a:t>):void</a:t>
              </a:r>
              <a:endParaRPr sz="1500" dirty="0">
                <a:solidFill>
                  <a:schemeClr val="dk1"/>
                </a:solidFill>
                <a:cs typeface="Calibri"/>
              </a:endParaRPr>
            </a:p>
            <a:p>
              <a:r>
                <a:rPr lang="en-US" sz="1500" dirty="0">
                  <a:solidFill>
                    <a:schemeClr val="dk1"/>
                  </a:solidFill>
                  <a:cs typeface="Calibri"/>
                  <a:sym typeface="Calibri"/>
                </a:rPr>
                <a:t>+ </a:t>
              </a:r>
              <a:r>
                <a:rPr lang="en-US" sz="1500" dirty="0" err="1">
                  <a:solidFill>
                    <a:schemeClr val="dk1"/>
                  </a:solidFill>
                  <a:cs typeface="Calibri"/>
                  <a:sym typeface="Calibri"/>
                </a:rPr>
                <a:t>returnBook</a:t>
              </a:r>
              <a:r>
                <a:rPr lang="en-US" sz="1500" dirty="0">
                  <a:solidFill>
                    <a:schemeClr val="dk1"/>
                  </a:solidFill>
                  <a:cs typeface="Calibri"/>
                  <a:sym typeface="Calibri"/>
                </a:rPr>
                <a:t>(</a:t>
              </a:r>
              <a:r>
                <a:rPr lang="en-US" sz="1500" dirty="0" err="1">
                  <a:solidFill>
                    <a:schemeClr val="dk1"/>
                  </a:solidFill>
                  <a:cs typeface="Calibri"/>
                  <a:sym typeface="Calibri"/>
                </a:rPr>
                <a:t>bookID:int</a:t>
              </a:r>
              <a:r>
                <a:rPr lang="en-US" sz="1500" dirty="0">
                  <a:solidFill>
                    <a:schemeClr val="dk1"/>
                  </a:solidFill>
                  <a:cs typeface="Calibri"/>
                  <a:sym typeface="Calibri"/>
                </a:rPr>
                <a:t>):void</a:t>
              </a:r>
              <a:endParaRPr sz="1500" dirty="0">
                <a:solidFill>
                  <a:schemeClr val="dk1"/>
                </a:solidFill>
                <a:cs typeface="Calibri"/>
              </a:endParaRPr>
            </a:p>
            <a:p>
              <a:r>
                <a:rPr lang="en-US" sz="1500" dirty="0">
                  <a:solidFill>
                    <a:schemeClr val="dk1"/>
                  </a:solidFill>
                  <a:cs typeface="Calibri"/>
                  <a:sym typeface="Calibri"/>
                </a:rPr>
                <a:t>+ registration():void</a:t>
              </a:r>
              <a:endParaRPr sz="1500" dirty="0">
                <a:solidFill>
                  <a:schemeClr val="dk1"/>
                </a:solidFill>
                <a:cs typeface="Calibri"/>
              </a:endParaRPr>
            </a:p>
            <a:p>
              <a:r>
                <a:rPr lang="en-US" sz="1500" dirty="0">
                  <a:solidFill>
                    <a:schemeClr val="dk1"/>
                  </a:solidFill>
                  <a:cs typeface="Calibri"/>
                  <a:sym typeface="Calibri"/>
                </a:rPr>
                <a:t>+ authentication(mID:int):int</a:t>
              </a:r>
              <a:endParaRPr sz="1500" dirty="0">
                <a:solidFill>
                  <a:schemeClr val="dk1"/>
                </a:solidFill>
                <a:cs typeface="Calibri"/>
              </a:endParaRPr>
            </a:p>
          </p:txBody>
        </p:sp>
      </p:grpSp>
      <p:grpSp>
        <p:nvGrpSpPr>
          <p:cNvPr id="12" name="Google Shape;325;p36">
            <a:extLst>
              <a:ext uri="{FF2B5EF4-FFF2-40B4-BE49-F238E27FC236}">
                <a16:creationId xmlns="" xmlns:a16="http://schemas.microsoft.com/office/drawing/2014/main" id="{066D80C1-C7D7-4750-AC99-EEAE80AE3633}"/>
              </a:ext>
            </a:extLst>
          </p:cNvPr>
          <p:cNvGrpSpPr/>
          <p:nvPr/>
        </p:nvGrpSpPr>
        <p:grpSpPr>
          <a:xfrm>
            <a:off x="5633623" y="2067288"/>
            <a:ext cx="1447800" cy="1009650"/>
            <a:chOff x="381000" y="1981200"/>
            <a:chExt cx="2514600" cy="1954161"/>
          </a:xfrm>
        </p:grpSpPr>
        <p:sp>
          <p:nvSpPr>
            <p:cNvPr id="13" name="Google Shape;326;p36">
              <a:extLst>
                <a:ext uri="{FF2B5EF4-FFF2-40B4-BE49-F238E27FC236}">
                  <a16:creationId xmlns="" xmlns:a16="http://schemas.microsoft.com/office/drawing/2014/main" id="{A9DBA5F8-9C8E-46E6-913F-9569F6E64AA0}"/>
                </a:ext>
              </a:extLst>
            </p:cNvPr>
            <p:cNvSpPr/>
            <p:nvPr/>
          </p:nvSpPr>
          <p:spPr>
            <a:xfrm>
              <a:off x="381000" y="1981200"/>
              <a:ext cx="2514600" cy="457200"/>
            </a:xfrm>
            <a:prstGeom prst="rect">
              <a:avLst/>
            </a:prstGeom>
            <a:ln>
              <a:headEnd type="none" w="sm" len="sm"/>
              <a:tailEnd type="none" w="sm" len="sm"/>
            </a:ln>
          </p:spPr>
          <p:style>
            <a:lnRef idx="2">
              <a:schemeClr val="accent6">
                <a:shade val="50000"/>
              </a:schemeClr>
            </a:lnRef>
            <a:fillRef idx="1">
              <a:schemeClr val="accent6"/>
            </a:fillRef>
            <a:effectRef idx="0">
              <a:schemeClr val="accent6"/>
            </a:effectRef>
            <a:fontRef idx="minor">
              <a:schemeClr val="lt1"/>
            </a:fontRef>
          </p:style>
          <p:txBody>
            <a:bodyPr spcFirstLastPara="1" wrap="square" lIns="91425" tIns="45700" rIns="91425" bIns="45700" anchor="ctr" anchorCtr="0">
              <a:noAutofit/>
            </a:bodyPr>
            <a:lstStyle/>
            <a:p>
              <a:pPr algn="ctr"/>
              <a:r>
                <a:rPr lang="en-US" b="1" dirty="0">
                  <a:solidFill>
                    <a:schemeClr val="bg1"/>
                  </a:solidFill>
                  <a:cs typeface="Calibri"/>
                  <a:sym typeface="Calibri"/>
                </a:rPr>
                <a:t>Library</a:t>
              </a:r>
              <a:endParaRPr b="1" dirty="0">
                <a:solidFill>
                  <a:schemeClr val="bg1"/>
                </a:solidFill>
                <a:cs typeface="Calibri"/>
              </a:endParaRPr>
            </a:p>
          </p:txBody>
        </p:sp>
        <p:sp>
          <p:nvSpPr>
            <p:cNvPr id="14" name="Google Shape;327;p36">
              <a:extLst>
                <a:ext uri="{FF2B5EF4-FFF2-40B4-BE49-F238E27FC236}">
                  <a16:creationId xmlns="" xmlns:a16="http://schemas.microsoft.com/office/drawing/2014/main" id="{305908A5-8614-42A2-BC61-7FF74A78D136}"/>
                </a:ext>
              </a:extLst>
            </p:cNvPr>
            <p:cNvSpPr/>
            <p:nvPr/>
          </p:nvSpPr>
          <p:spPr>
            <a:xfrm>
              <a:off x="381000" y="2438400"/>
              <a:ext cx="2514600" cy="914400"/>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r>
                <a:rPr lang="en-US" sz="1500" dirty="0">
                  <a:solidFill>
                    <a:schemeClr val="dk1"/>
                  </a:solidFill>
                  <a:cs typeface="Calibri"/>
                  <a:sym typeface="Calibri"/>
                </a:rPr>
                <a:t>- </a:t>
              </a:r>
              <a:r>
                <a:rPr lang="en-US" sz="1500" dirty="0" err="1">
                  <a:solidFill>
                    <a:schemeClr val="dk1"/>
                  </a:solidFill>
                  <a:cs typeface="Calibri"/>
                  <a:sym typeface="Calibri"/>
                </a:rPr>
                <a:t>id:int</a:t>
              </a:r>
              <a:endParaRPr sz="1500" dirty="0">
                <a:solidFill>
                  <a:schemeClr val="dk1"/>
                </a:solidFill>
                <a:cs typeface="Calibri"/>
                <a:sym typeface="Calibri"/>
              </a:endParaRPr>
            </a:p>
            <a:p>
              <a:r>
                <a:rPr lang="en-US" sz="1500" dirty="0">
                  <a:solidFill>
                    <a:schemeClr val="dk1"/>
                  </a:solidFill>
                  <a:cs typeface="Calibri"/>
                  <a:sym typeface="Calibri"/>
                </a:rPr>
                <a:t>- </a:t>
              </a:r>
              <a:r>
                <a:rPr lang="en-US" sz="1500" dirty="0" err="1">
                  <a:solidFill>
                    <a:schemeClr val="dk1"/>
                  </a:solidFill>
                  <a:cs typeface="Calibri"/>
                  <a:sym typeface="Calibri"/>
                </a:rPr>
                <a:t>name:string</a:t>
              </a:r>
              <a:endParaRPr sz="1500" dirty="0">
                <a:solidFill>
                  <a:schemeClr val="dk1"/>
                </a:solidFill>
                <a:cs typeface="Calibri"/>
                <a:sym typeface="Calibri"/>
              </a:endParaRPr>
            </a:p>
          </p:txBody>
        </p:sp>
        <p:sp>
          <p:nvSpPr>
            <p:cNvPr id="15" name="Google Shape;328;p36">
              <a:extLst>
                <a:ext uri="{FF2B5EF4-FFF2-40B4-BE49-F238E27FC236}">
                  <a16:creationId xmlns="" xmlns:a16="http://schemas.microsoft.com/office/drawing/2014/main" id="{8A2C92CE-F73C-4706-A2D7-5FE2CD05017E}"/>
                </a:ext>
              </a:extLst>
            </p:cNvPr>
            <p:cNvSpPr/>
            <p:nvPr/>
          </p:nvSpPr>
          <p:spPr>
            <a:xfrm>
              <a:off x="381000" y="3352800"/>
              <a:ext cx="2514600" cy="582561"/>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endParaRPr sz="1200">
                <a:solidFill>
                  <a:schemeClr val="dk1"/>
                </a:solidFill>
                <a:cs typeface="Calibri"/>
                <a:sym typeface="Calibri"/>
              </a:endParaRPr>
            </a:p>
          </p:txBody>
        </p:sp>
      </p:grpSp>
      <p:grpSp>
        <p:nvGrpSpPr>
          <p:cNvPr id="16" name="Google Shape;329;p36">
            <a:extLst>
              <a:ext uri="{FF2B5EF4-FFF2-40B4-BE49-F238E27FC236}">
                <a16:creationId xmlns="" xmlns:a16="http://schemas.microsoft.com/office/drawing/2014/main" id="{577A9A0E-51F0-495D-BBC4-2DE48B84FC06}"/>
              </a:ext>
            </a:extLst>
          </p:cNvPr>
          <p:cNvGrpSpPr/>
          <p:nvPr/>
        </p:nvGrpSpPr>
        <p:grpSpPr>
          <a:xfrm>
            <a:off x="3833187" y="3549378"/>
            <a:ext cx="3093286" cy="1918921"/>
            <a:chOff x="3886200" y="1866900"/>
            <a:chExt cx="2590800" cy="1918921"/>
          </a:xfrm>
        </p:grpSpPr>
        <p:sp>
          <p:nvSpPr>
            <p:cNvPr id="17" name="Google Shape;330;p36">
              <a:extLst>
                <a:ext uri="{FF2B5EF4-FFF2-40B4-BE49-F238E27FC236}">
                  <a16:creationId xmlns="" xmlns:a16="http://schemas.microsoft.com/office/drawing/2014/main" id="{468476F6-6A54-40E3-88B2-6470D204C4A7}"/>
                </a:ext>
              </a:extLst>
            </p:cNvPr>
            <p:cNvSpPr/>
            <p:nvPr/>
          </p:nvSpPr>
          <p:spPr>
            <a:xfrm>
              <a:off x="3886200" y="1866900"/>
              <a:ext cx="2590800" cy="381000"/>
            </a:xfrm>
            <a:prstGeom prst="rect">
              <a:avLst/>
            </a:prstGeom>
            <a:ln>
              <a:headEnd type="none" w="sm" len="sm"/>
              <a:tailEnd type="none" w="sm" len="sm"/>
            </a:ln>
          </p:spPr>
          <p:style>
            <a:lnRef idx="2">
              <a:schemeClr val="accent6">
                <a:shade val="50000"/>
              </a:schemeClr>
            </a:lnRef>
            <a:fillRef idx="1">
              <a:schemeClr val="accent6"/>
            </a:fillRef>
            <a:effectRef idx="0">
              <a:schemeClr val="accent6"/>
            </a:effectRef>
            <a:fontRef idx="minor">
              <a:schemeClr val="lt1"/>
            </a:fontRef>
          </p:style>
          <p:txBody>
            <a:bodyPr spcFirstLastPara="1" wrap="square" lIns="91425" tIns="45700" rIns="91425" bIns="45700" anchor="ctr" anchorCtr="0">
              <a:noAutofit/>
            </a:bodyPr>
            <a:lstStyle/>
            <a:p>
              <a:pPr algn="ctr"/>
              <a:r>
                <a:rPr lang="en-US" sz="2400" b="1" i="1" dirty="0">
                  <a:solidFill>
                    <a:schemeClr val="bg1"/>
                  </a:solidFill>
                  <a:cs typeface="Calibri"/>
                  <a:sym typeface="Calibri"/>
                </a:rPr>
                <a:t>Material</a:t>
              </a:r>
              <a:endParaRPr sz="2400" b="1" i="1" dirty="0">
                <a:solidFill>
                  <a:schemeClr val="bg1"/>
                </a:solidFill>
                <a:cs typeface="Calibri"/>
              </a:endParaRPr>
            </a:p>
          </p:txBody>
        </p:sp>
        <p:sp>
          <p:nvSpPr>
            <p:cNvPr id="18" name="Google Shape;331;p36">
              <a:extLst>
                <a:ext uri="{FF2B5EF4-FFF2-40B4-BE49-F238E27FC236}">
                  <a16:creationId xmlns="" xmlns:a16="http://schemas.microsoft.com/office/drawing/2014/main" id="{A552D723-7B1E-4F9A-B853-C69B1CA8EB59}"/>
                </a:ext>
              </a:extLst>
            </p:cNvPr>
            <p:cNvSpPr/>
            <p:nvPr/>
          </p:nvSpPr>
          <p:spPr>
            <a:xfrm>
              <a:off x="3886200" y="2247900"/>
              <a:ext cx="2590800" cy="363630"/>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t" anchorCtr="0">
              <a:noAutofit/>
            </a:bodyPr>
            <a:lstStyle/>
            <a:p>
              <a:r>
                <a:rPr lang="en-US" sz="1500" dirty="0">
                  <a:solidFill>
                    <a:schemeClr val="dk1"/>
                  </a:solidFill>
                  <a:cs typeface="Calibri"/>
                  <a:sym typeface="Calibri"/>
                </a:rPr>
                <a:t>- </a:t>
              </a:r>
              <a:r>
                <a:rPr lang="en-US" sz="1500" dirty="0" err="1">
                  <a:solidFill>
                    <a:schemeClr val="dk1"/>
                  </a:solidFill>
                  <a:cs typeface="Calibri"/>
                  <a:sym typeface="Calibri"/>
                </a:rPr>
                <a:t>materialID:int</a:t>
              </a:r>
              <a:endParaRPr sz="1500" dirty="0">
                <a:solidFill>
                  <a:schemeClr val="dk1"/>
                </a:solidFill>
                <a:cs typeface="Calibri"/>
                <a:sym typeface="Calibri"/>
              </a:endParaRPr>
            </a:p>
          </p:txBody>
        </p:sp>
        <p:sp>
          <p:nvSpPr>
            <p:cNvPr id="19" name="Google Shape;332;p36">
              <a:extLst>
                <a:ext uri="{FF2B5EF4-FFF2-40B4-BE49-F238E27FC236}">
                  <a16:creationId xmlns="" xmlns:a16="http://schemas.microsoft.com/office/drawing/2014/main" id="{BCA6B49F-90B9-4455-B1AD-36F78EB59A01}"/>
                </a:ext>
              </a:extLst>
            </p:cNvPr>
            <p:cNvSpPr/>
            <p:nvPr/>
          </p:nvSpPr>
          <p:spPr>
            <a:xfrm>
              <a:off x="3886200" y="2565241"/>
              <a:ext cx="2590800" cy="1220580"/>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t" anchorCtr="0">
              <a:noAutofit/>
            </a:bodyPr>
            <a:lstStyle/>
            <a:p>
              <a:r>
                <a:rPr lang="en-US" sz="1500" dirty="0">
                  <a:solidFill>
                    <a:schemeClr val="dk1"/>
                  </a:solidFill>
                  <a:cs typeface="Calibri"/>
                  <a:sym typeface="Calibri"/>
                </a:rPr>
                <a:t>+ </a:t>
              </a:r>
              <a:r>
                <a:rPr lang="en-US" sz="1500" dirty="0" err="1">
                  <a:solidFill>
                    <a:schemeClr val="dk1"/>
                  </a:solidFill>
                  <a:cs typeface="Calibri"/>
                  <a:sym typeface="Calibri"/>
                </a:rPr>
                <a:t>addMaterial</a:t>
              </a:r>
              <a:r>
                <a:rPr lang="en-US" sz="1500" dirty="0">
                  <a:solidFill>
                    <a:schemeClr val="dk1"/>
                  </a:solidFill>
                  <a:cs typeface="Calibri"/>
                  <a:sym typeface="Calibri"/>
                </a:rPr>
                <a:t>():void</a:t>
              </a:r>
              <a:endParaRPr lang="en-US" sz="1500" dirty="0">
                <a:solidFill>
                  <a:schemeClr val="dk1"/>
                </a:solidFill>
                <a:cs typeface="Calibri"/>
              </a:endParaRPr>
            </a:p>
            <a:p>
              <a:r>
                <a:rPr lang="en-US" sz="1500" dirty="0">
                  <a:solidFill>
                    <a:schemeClr val="dk1"/>
                  </a:solidFill>
                  <a:cs typeface="Calibri"/>
                  <a:sym typeface="Calibri"/>
                </a:rPr>
                <a:t>+ </a:t>
              </a:r>
              <a:r>
                <a:rPr lang="en-US" sz="1500" dirty="0" err="1">
                  <a:solidFill>
                    <a:schemeClr val="dk1"/>
                  </a:solidFill>
                  <a:cs typeface="Calibri"/>
                  <a:sym typeface="Calibri"/>
                </a:rPr>
                <a:t>updateMaterial</a:t>
              </a:r>
              <a:r>
                <a:rPr lang="en-US" sz="1500" dirty="0">
                  <a:solidFill>
                    <a:schemeClr val="dk1"/>
                  </a:solidFill>
                  <a:cs typeface="Calibri"/>
                  <a:sym typeface="Calibri"/>
                </a:rPr>
                <a:t>():int</a:t>
              </a:r>
            </a:p>
            <a:p>
              <a:r>
                <a:rPr lang="en-US" sz="1500" dirty="0">
                  <a:solidFill>
                    <a:schemeClr val="dk1"/>
                  </a:solidFill>
                  <a:cs typeface="Calibri"/>
                  <a:sym typeface="Calibri"/>
                </a:rPr>
                <a:t>+ </a:t>
              </a:r>
              <a:r>
                <a:rPr lang="en-US" sz="1500" dirty="0" err="1">
                  <a:solidFill>
                    <a:schemeClr val="dk1"/>
                  </a:solidFill>
                  <a:cs typeface="Calibri"/>
                  <a:sym typeface="Calibri"/>
                </a:rPr>
                <a:t>removeMaterial</a:t>
              </a:r>
              <a:r>
                <a:rPr lang="en-US" sz="1500" dirty="0">
                  <a:solidFill>
                    <a:schemeClr val="dk1"/>
                  </a:solidFill>
                  <a:cs typeface="Calibri"/>
                  <a:sym typeface="Calibri"/>
                </a:rPr>
                <a:t>(</a:t>
              </a:r>
              <a:r>
                <a:rPr lang="en-US" sz="1500" dirty="0" err="1">
                  <a:solidFill>
                    <a:schemeClr val="dk1"/>
                  </a:solidFill>
                  <a:cs typeface="Calibri"/>
                  <a:sym typeface="Calibri"/>
                </a:rPr>
                <a:t>bookID:int</a:t>
              </a:r>
              <a:r>
                <a:rPr lang="en-US" sz="1500" dirty="0">
                  <a:solidFill>
                    <a:schemeClr val="dk1"/>
                  </a:solidFill>
                  <a:cs typeface="Calibri"/>
                  <a:sym typeface="Calibri"/>
                </a:rPr>
                <a:t>):int</a:t>
              </a:r>
              <a:endParaRPr sz="1500" dirty="0">
                <a:solidFill>
                  <a:schemeClr val="dk1"/>
                </a:solidFill>
                <a:cs typeface="Calibri"/>
                <a:sym typeface="Calibri"/>
              </a:endParaRPr>
            </a:p>
            <a:p>
              <a:r>
                <a:rPr lang="en-US" sz="1500" dirty="0">
                  <a:solidFill>
                    <a:schemeClr val="dk1"/>
                  </a:solidFill>
                  <a:cs typeface="Calibri"/>
                  <a:sym typeface="Calibri"/>
                </a:rPr>
                <a:t>+ </a:t>
              </a:r>
              <a:r>
                <a:rPr lang="en-US" sz="1500" dirty="0" err="1">
                  <a:solidFill>
                    <a:schemeClr val="dk1"/>
                  </a:solidFill>
                  <a:cs typeface="Calibri"/>
                  <a:sym typeface="Calibri"/>
                </a:rPr>
                <a:t>issueMaterial</a:t>
              </a:r>
              <a:r>
                <a:rPr lang="en-US" sz="1500" dirty="0">
                  <a:solidFill>
                    <a:schemeClr val="dk1"/>
                  </a:solidFill>
                  <a:cs typeface="Calibri"/>
                  <a:sym typeface="Calibri"/>
                </a:rPr>
                <a:t>(</a:t>
              </a:r>
              <a:r>
                <a:rPr lang="en-US" sz="1500" dirty="0" err="1">
                  <a:solidFill>
                    <a:schemeClr val="dk1"/>
                  </a:solidFill>
                  <a:cs typeface="Calibri"/>
                  <a:sym typeface="Calibri"/>
                </a:rPr>
                <a:t>bookID:int</a:t>
              </a:r>
              <a:r>
                <a:rPr lang="en-US" sz="1500" dirty="0">
                  <a:solidFill>
                    <a:schemeClr val="dk1"/>
                  </a:solidFill>
                  <a:cs typeface="Calibri"/>
                  <a:sym typeface="Calibri"/>
                </a:rPr>
                <a:t>):void</a:t>
              </a:r>
              <a:endParaRPr sz="1500" dirty="0">
                <a:solidFill>
                  <a:schemeClr val="dk1"/>
                </a:solidFill>
                <a:cs typeface="Calibri"/>
              </a:endParaRPr>
            </a:p>
            <a:p>
              <a:r>
                <a:rPr lang="en-US" sz="1500" dirty="0">
                  <a:solidFill>
                    <a:schemeClr val="dk1"/>
                  </a:solidFill>
                  <a:cs typeface="Calibri"/>
                  <a:sym typeface="Calibri"/>
                </a:rPr>
                <a:t>+ </a:t>
              </a:r>
              <a:r>
                <a:rPr lang="en-US" sz="1500" dirty="0" err="1">
                  <a:solidFill>
                    <a:schemeClr val="dk1"/>
                  </a:solidFill>
                  <a:cs typeface="Calibri"/>
                  <a:sym typeface="Calibri"/>
                </a:rPr>
                <a:t>returnMaterial</a:t>
              </a:r>
              <a:r>
                <a:rPr lang="en-US" sz="1500" dirty="0">
                  <a:solidFill>
                    <a:schemeClr val="dk1"/>
                  </a:solidFill>
                  <a:cs typeface="Calibri"/>
                  <a:sym typeface="Calibri"/>
                </a:rPr>
                <a:t>(</a:t>
              </a:r>
              <a:r>
                <a:rPr lang="en-US" sz="1500" dirty="0" err="1">
                  <a:solidFill>
                    <a:schemeClr val="dk1"/>
                  </a:solidFill>
                  <a:cs typeface="Calibri"/>
                  <a:sym typeface="Calibri"/>
                </a:rPr>
                <a:t>bookID:int</a:t>
              </a:r>
              <a:r>
                <a:rPr lang="en-US" sz="1500" dirty="0">
                  <a:solidFill>
                    <a:schemeClr val="dk1"/>
                  </a:solidFill>
                  <a:cs typeface="Calibri"/>
                  <a:sym typeface="Calibri"/>
                </a:rPr>
                <a:t>):void</a:t>
              </a:r>
              <a:endParaRPr sz="1500" dirty="0">
                <a:solidFill>
                  <a:schemeClr val="dk1"/>
                </a:solidFill>
                <a:cs typeface="Calibri"/>
              </a:endParaRPr>
            </a:p>
          </p:txBody>
        </p:sp>
      </p:grpSp>
      <p:grpSp>
        <p:nvGrpSpPr>
          <p:cNvPr id="20" name="Google Shape;333;p36">
            <a:extLst>
              <a:ext uri="{FF2B5EF4-FFF2-40B4-BE49-F238E27FC236}">
                <a16:creationId xmlns="" xmlns:a16="http://schemas.microsoft.com/office/drawing/2014/main" id="{3AC8D005-6A63-40ED-B95A-EEBA8BEE9EDB}"/>
              </a:ext>
            </a:extLst>
          </p:cNvPr>
          <p:cNvGrpSpPr/>
          <p:nvPr/>
        </p:nvGrpSpPr>
        <p:grpSpPr>
          <a:xfrm>
            <a:off x="7843423" y="4839063"/>
            <a:ext cx="1295400" cy="882906"/>
            <a:chOff x="381000" y="1981200"/>
            <a:chExt cx="2514600" cy="1648164"/>
          </a:xfrm>
        </p:grpSpPr>
        <p:sp>
          <p:nvSpPr>
            <p:cNvPr id="21" name="Google Shape;334;p36">
              <a:extLst>
                <a:ext uri="{FF2B5EF4-FFF2-40B4-BE49-F238E27FC236}">
                  <a16:creationId xmlns="" xmlns:a16="http://schemas.microsoft.com/office/drawing/2014/main" id="{86C892C6-6AE7-428A-9138-BA7C43AAB07D}"/>
                </a:ext>
              </a:extLst>
            </p:cNvPr>
            <p:cNvSpPr/>
            <p:nvPr/>
          </p:nvSpPr>
          <p:spPr>
            <a:xfrm>
              <a:off x="381000" y="1981200"/>
              <a:ext cx="2514600" cy="457200"/>
            </a:xfrm>
            <a:prstGeom prst="rect">
              <a:avLst/>
            </a:prstGeom>
            <a:ln>
              <a:headEnd type="none" w="sm" len="sm"/>
              <a:tailEnd type="none" w="sm" len="sm"/>
            </a:ln>
          </p:spPr>
          <p:style>
            <a:lnRef idx="2">
              <a:schemeClr val="accent6">
                <a:shade val="50000"/>
              </a:schemeClr>
            </a:lnRef>
            <a:fillRef idx="1">
              <a:schemeClr val="accent6"/>
            </a:fillRef>
            <a:effectRef idx="0">
              <a:schemeClr val="accent6"/>
            </a:effectRef>
            <a:fontRef idx="minor">
              <a:schemeClr val="lt1"/>
            </a:fontRef>
          </p:style>
          <p:txBody>
            <a:bodyPr spcFirstLastPara="1" wrap="square" lIns="91425" tIns="45700" rIns="91425" bIns="45700" anchor="ctr" anchorCtr="0">
              <a:noAutofit/>
            </a:bodyPr>
            <a:lstStyle/>
            <a:p>
              <a:pPr algn="ctr"/>
              <a:r>
                <a:rPr lang="en-US" b="1" dirty="0">
                  <a:solidFill>
                    <a:schemeClr val="bg1"/>
                  </a:solidFill>
                  <a:cs typeface="Calibri"/>
                  <a:sym typeface="Calibri"/>
                </a:rPr>
                <a:t>Staff</a:t>
              </a:r>
              <a:endParaRPr b="1" dirty="0">
                <a:solidFill>
                  <a:schemeClr val="bg1"/>
                </a:solidFill>
                <a:cs typeface="Calibri"/>
              </a:endParaRPr>
            </a:p>
          </p:txBody>
        </p:sp>
        <p:sp>
          <p:nvSpPr>
            <p:cNvPr id="22" name="Google Shape;335;p36">
              <a:extLst>
                <a:ext uri="{FF2B5EF4-FFF2-40B4-BE49-F238E27FC236}">
                  <a16:creationId xmlns="" xmlns:a16="http://schemas.microsoft.com/office/drawing/2014/main" id="{1B2C22B6-13DF-4065-A6D9-1D9B677F0168}"/>
                </a:ext>
              </a:extLst>
            </p:cNvPr>
            <p:cNvSpPr/>
            <p:nvPr/>
          </p:nvSpPr>
          <p:spPr>
            <a:xfrm>
              <a:off x="381000" y="2438399"/>
              <a:ext cx="2514600" cy="608402"/>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t" anchorCtr="0">
              <a:noAutofit/>
            </a:bodyPr>
            <a:lstStyle/>
            <a:p>
              <a:r>
                <a:rPr lang="en-US" sz="1500" dirty="0">
                  <a:solidFill>
                    <a:schemeClr val="dk1"/>
                  </a:solidFill>
                  <a:cs typeface="Calibri"/>
                  <a:sym typeface="Calibri"/>
                </a:rPr>
                <a:t>- </a:t>
              </a:r>
              <a:r>
                <a:rPr lang="en-US" sz="1500" dirty="0" err="1">
                  <a:solidFill>
                    <a:schemeClr val="dk1"/>
                  </a:solidFill>
                  <a:cs typeface="Calibri"/>
                  <a:sym typeface="Calibri"/>
                </a:rPr>
                <a:t>name:string</a:t>
              </a:r>
              <a:endParaRPr sz="1500" dirty="0">
                <a:solidFill>
                  <a:schemeClr val="dk1"/>
                </a:solidFill>
                <a:cs typeface="Calibri"/>
                <a:sym typeface="Calibri"/>
              </a:endParaRPr>
            </a:p>
          </p:txBody>
        </p:sp>
        <p:sp>
          <p:nvSpPr>
            <p:cNvPr id="23" name="Google Shape;336;p36">
              <a:extLst>
                <a:ext uri="{FF2B5EF4-FFF2-40B4-BE49-F238E27FC236}">
                  <a16:creationId xmlns="" xmlns:a16="http://schemas.microsoft.com/office/drawing/2014/main" id="{010AD6B8-19AB-4BEE-A7C4-9AFB0A4AC49C}"/>
                </a:ext>
              </a:extLst>
            </p:cNvPr>
            <p:cNvSpPr/>
            <p:nvPr/>
          </p:nvSpPr>
          <p:spPr>
            <a:xfrm>
              <a:off x="381000" y="3046802"/>
              <a:ext cx="2514600" cy="582562"/>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endParaRPr sz="1200">
                <a:solidFill>
                  <a:schemeClr val="dk1"/>
                </a:solidFill>
                <a:cs typeface="Calibri"/>
                <a:sym typeface="Calibri"/>
              </a:endParaRPr>
            </a:p>
          </p:txBody>
        </p:sp>
      </p:grpSp>
      <p:grpSp>
        <p:nvGrpSpPr>
          <p:cNvPr id="24" name="Google Shape;337;p36">
            <a:extLst>
              <a:ext uri="{FF2B5EF4-FFF2-40B4-BE49-F238E27FC236}">
                <a16:creationId xmlns="" xmlns:a16="http://schemas.microsoft.com/office/drawing/2014/main" id="{0366AB7C-F3A5-49F2-BF51-E4948914C2D0}"/>
              </a:ext>
            </a:extLst>
          </p:cNvPr>
          <p:cNvGrpSpPr/>
          <p:nvPr/>
        </p:nvGrpSpPr>
        <p:grpSpPr>
          <a:xfrm>
            <a:off x="9535384" y="4818671"/>
            <a:ext cx="1455167" cy="1067218"/>
            <a:chOff x="381000" y="1981200"/>
            <a:chExt cx="2514600" cy="1954161"/>
          </a:xfrm>
        </p:grpSpPr>
        <p:sp>
          <p:nvSpPr>
            <p:cNvPr id="25" name="Google Shape;338;p36">
              <a:extLst>
                <a:ext uri="{FF2B5EF4-FFF2-40B4-BE49-F238E27FC236}">
                  <a16:creationId xmlns="" xmlns:a16="http://schemas.microsoft.com/office/drawing/2014/main" id="{990BF8F1-7801-4B85-A600-4D6D9258656D}"/>
                </a:ext>
              </a:extLst>
            </p:cNvPr>
            <p:cNvSpPr/>
            <p:nvPr/>
          </p:nvSpPr>
          <p:spPr>
            <a:xfrm>
              <a:off x="381000" y="1981200"/>
              <a:ext cx="2514600" cy="457200"/>
            </a:xfrm>
            <a:prstGeom prst="rect">
              <a:avLst/>
            </a:prstGeom>
            <a:ln>
              <a:headEnd type="none" w="sm" len="sm"/>
              <a:tailEnd type="none" w="sm" len="sm"/>
            </a:ln>
          </p:spPr>
          <p:style>
            <a:lnRef idx="2">
              <a:schemeClr val="accent6">
                <a:shade val="50000"/>
              </a:schemeClr>
            </a:lnRef>
            <a:fillRef idx="1">
              <a:schemeClr val="accent6"/>
            </a:fillRef>
            <a:effectRef idx="0">
              <a:schemeClr val="accent6"/>
            </a:effectRef>
            <a:fontRef idx="minor">
              <a:schemeClr val="lt1"/>
            </a:fontRef>
          </p:style>
          <p:txBody>
            <a:bodyPr spcFirstLastPara="1" wrap="square" lIns="91425" tIns="45700" rIns="91425" bIns="45700" anchor="ctr" anchorCtr="0">
              <a:noAutofit/>
            </a:bodyPr>
            <a:lstStyle/>
            <a:p>
              <a:pPr algn="ctr"/>
              <a:r>
                <a:rPr lang="en-US" b="1" dirty="0">
                  <a:solidFill>
                    <a:schemeClr val="bg1"/>
                  </a:solidFill>
                  <a:cs typeface="Calibri"/>
                  <a:sym typeface="Calibri"/>
                </a:rPr>
                <a:t>Student</a:t>
              </a:r>
              <a:endParaRPr b="1" dirty="0">
                <a:solidFill>
                  <a:schemeClr val="bg1"/>
                </a:solidFill>
                <a:cs typeface="Calibri"/>
              </a:endParaRPr>
            </a:p>
          </p:txBody>
        </p:sp>
        <p:sp>
          <p:nvSpPr>
            <p:cNvPr id="26" name="Google Shape;339;p36">
              <a:extLst>
                <a:ext uri="{FF2B5EF4-FFF2-40B4-BE49-F238E27FC236}">
                  <a16:creationId xmlns="" xmlns:a16="http://schemas.microsoft.com/office/drawing/2014/main" id="{2FE0D714-EBF7-423E-8BDA-EC21C3DF0CA0}"/>
                </a:ext>
              </a:extLst>
            </p:cNvPr>
            <p:cNvSpPr/>
            <p:nvPr/>
          </p:nvSpPr>
          <p:spPr>
            <a:xfrm>
              <a:off x="381000" y="2438400"/>
              <a:ext cx="2514600" cy="914400"/>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r>
                <a:rPr lang="en-US" sz="1500" dirty="0">
                  <a:solidFill>
                    <a:schemeClr val="dk1"/>
                  </a:solidFill>
                  <a:cs typeface="Calibri"/>
                  <a:sym typeface="Calibri"/>
                </a:rPr>
                <a:t>- </a:t>
              </a:r>
              <a:r>
                <a:rPr lang="en-US" sz="1500" dirty="0" err="1">
                  <a:solidFill>
                    <a:schemeClr val="dk1"/>
                  </a:solidFill>
                  <a:cs typeface="Calibri"/>
                  <a:sym typeface="Calibri"/>
                </a:rPr>
                <a:t>enrNo:int</a:t>
              </a:r>
              <a:endParaRPr sz="1500" dirty="0">
                <a:solidFill>
                  <a:schemeClr val="dk1"/>
                </a:solidFill>
                <a:cs typeface="Calibri"/>
                <a:sym typeface="Calibri"/>
              </a:endParaRPr>
            </a:p>
            <a:p>
              <a:r>
                <a:rPr lang="en-US" sz="1500" dirty="0">
                  <a:solidFill>
                    <a:schemeClr val="dk1"/>
                  </a:solidFill>
                  <a:cs typeface="Calibri"/>
                  <a:sym typeface="Calibri"/>
                </a:rPr>
                <a:t>- </a:t>
              </a:r>
              <a:r>
                <a:rPr lang="en-US" sz="1500" dirty="0" err="1">
                  <a:solidFill>
                    <a:schemeClr val="dk1"/>
                  </a:solidFill>
                  <a:cs typeface="Calibri"/>
                  <a:sym typeface="Calibri"/>
                </a:rPr>
                <a:t>name:string</a:t>
              </a:r>
              <a:endParaRPr sz="1500" dirty="0">
                <a:solidFill>
                  <a:schemeClr val="dk1"/>
                </a:solidFill>
                <a:cs typeface="Calibri"/>
                <a:sym typeface="Calibri"/>
              </a:endParaRPr>
            </a:p>
          </p:txBody>
        </p:sp>
        <p:sp>
          <p:nvSpPr>
            <p:cNvPr id="27" name="Google Shape;340;p36">
              <a:extLst>
                <a:ext uri="{FF2B5EF4-FFF2-40B4-BE49-F238E27FC236}">
                  <a16:creationId xmlns="" xmlns:a16="http://schemas.microsoft.com/office/drawing/2014/main" id="{7F6979E4-1127-42DD-B703-60BAB4596C96}"/>
                </a:ext>
              </a:extLst>
            </p:cNvPr>
            <p:cNvSpPr/>
            <p:nvPr/>
          </p:nvSpPr>
          <p:spPr>
            <a:xfrm>
              <a:off x="381000" y="3352800"/>
              <a:ext cx="2514600" cy="582561"/>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r>
                <a:rPr lang="en-US" sz="1500" dirty="0">
                  <a:solidFill>
                    <a:schemeClr val="dk1"/>
                  </a:solidFill>
                  <a:cs typeface="Calibri"/>
                  <a:sym typeface="Calibri"/>
                </a:rPr>
                <a:t>+ </a:t>
              </a:r>
              <a:r>
                <a:rPr lang="en-US" sz="1500" dirty="0" err="1">
                  <a:solidFill>
                    <a:schemeClr val="dk1"/>
                  </a:solidFill>
                  <a:cs typeface="Calibri"/>
                  <a:sym typeface="Calibri"/>
                </a:rPr>
                <a:t>payFine</a:t>
              </a:r>
              <a:r>
                <a:rPr lang="en-US" sz="1500" dirty="0">
                  <a:solidFill>
                    <a:schemeClr val="dk1"/>
                  </a:solidFill>
                  <a:cs typeface="Calibri"/>
                  <a:sym typeface="Calibri"/>
                </a:rPr>
                <a:t>():</a:t>
              </a:r>
              <a:r>
                <a:rPr lang="en-US" sz="1500" dirty="0" err="1">
                  <a:solidFill>
                    <a:schemeClr val="dk1"/>
                  </a:solidFill>
                  <a:cs typeface="Calibri"/>
                  <a:sym typeface="Calibri"/>
                </a:rPr>
                <a:t>int</a:t>
              </a:r>
              <a:endParaRPr sz="1500" dirty="0">
                <a:solidFill>
                  <a:schemeClr val="dk1"/>
                </a:solidFill>
                <a:cs typeface="Calibri"/>
                <a:sym typeface="Calibri"/>
              </a:endParaRPr>
            </a:p>
          </p:txBody>
        </p:sp>
      </p:grpSp>
      <p:grpSp>
        <p:nvGrpSpPr>
          <p:cNvPr id="28" name="Google Shape;341;p36">
            <a:extLst>
              <a:ext uri="{FF2B5EF4-FFF2-40B4-BE49-F238E27FC236}">
                <a16:creationId xmlns="" xmlns:a16="http://schemas.microsoft.com/office/drawing/2014/main" id="{373116BF-9A4F-473A-AB1A-8A0AD634945F}"/>
              </a:ext>
            </a:extLst>
          </p:cNvPr>
          <p:cNvGrpSpPr/>
          <p:nvPr/>
        </p:nvGrpSpPr>
        <p:grpSpPr>
          <a:xfrm>
            <a:off x="6536939" y="1527541"/>
            <a:ext cx="1831341" cy="672405"/>
            <a:chOff x="5026650" y="1795948"/>
            <a:chExt cx="1831341" cy="672405"/>
          </a:xfrm>
        </p:grpSpPr>
        <p:sp>
          <p:nvSpPr>
            <p:cNvPr id="29" name="Google Shape;342;p36">
              <a:extLst>
                <a:ext uri="{FF2B5EF4-FFF2-40B4-BE49-F238E27FC236}">
                  <a16:creationId xmlns="" xmlns:a16="http://schemas.microsoft.com/office/drawing/2014/main" id="{CF6797F4-373B-4C6B-BAB6-3036B9A36438}"/>
                </a:ext>
              </a:extLst>
            </p:cNvPr>
            <p:cNvSpPr/>
            <p:nvPr/>
          </p:nvSpPr>
          <p:spPr>
            <a:xfrm>
              <a:off x="5026650" y="2081199"/>
              <a:ext cx="171450" cy="228600"/>
            </a:xfrm>
            <a:prstGeom prst="flowChartDecision">
              <a:avLst/>
            </a:prstGeom>
            <a:solidFill>
              <a:schemeClr val="lt1"/>
            </a:solidFill>
            <a:ln w="2540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dk1"/>
                </a:solidFill>
                <a:ea typeface="Calibri"/>
                <a:cs typeface="Calibri"/>
                <a:sym typeface="Calibri"/>
              </a:endParaRPr>
            </a:p>
          </p:txBody>
        </p:sp>
        <p:cxnSp>
          <p:nvCxnSpPr>
            <p:cNvPr id="30" name="Google Shape;343;p36">
              <a:extLst>
                <a:ext uri="{FF2B5EF4-FFF2-40B4-BE49-F238E27FC236}">
                  <a16:creationId xmlns="" xmlns:a16="http://schemas.microsoft.com/office/drawing/2014/main" id="{CA4907B2-C5A3-4F9A-9079-2352ED985A8F}"/>
                </a:ext>
              </a:extLst>
            </p:cNvPr>
            <p:cNvCxnSpPr>
              <a:cxnSpLocks/>
              <a:stCxn id="29" idx="0"/>
              <a:endCxn id="10" idx="1"/>
            </p:cNvCxnSpPr>
            <p:nvPr/>
          </p:nvCxnSpPr>
          <p:spPr>
            <a:xfrm flipV="1">
              <a:off x="5112375" y="2080138"/>
              <a:ext cx="1674051" cy="1061"/>
            </a:xfrm>
            <a:prstGeom prst="straightConnector1">
              <a:avLst/>
            </a:prstGeom>
            <a:ln>
              <a:headEnd type="none" w="sm" len="sm"/>
              <a:tailEnd type="none" w="sm" len="sm"/>
            </a:ln>
          </p:spPr>
          <p:style>
            <a:lnRef idx="3">
              <a:schemeClr val="accent6"/>
            </a:lnRef>
            <a:fillRef idx="0">
              <a:schemeClr val="accent6"/>
            </a:fillRef>
            <a:effectRef idx="2">
              <a:schemeClr val="accent6"/>
            </a:effectRef>
            <a:fontRef idx="minor">
              <a:schemeClr val="tx1"/>
            </a:fontRef>
          </p:style>
        </p:cxnSp>
        <p:sp>
          <p:nvSpPr>
            <p:cNvPr id="31" name="Google Shape;344;p36">
              <a:extLst>
                <a:ext uri="{FF2B5EF4-FFF2-40B4-BE49-F238E27FC236}">
                  <a16:creationId xmlns="" xmlns:a16="http://schemas.microsoft.com/office/drawing/2014/main" id="{B35B09B6-C2BB-49EE-BCD3-176C545B6BB5}"/>
                </a:ext>
              </a:extLst>
            </p:cNvPr>
            <p:cNvSpPr txBox="1"/>
            <p:nvPr/>
          </p:nvSpPr>
          <p:spPr>
            <a:xfrm>
              <a:off x="6583557" y="2039336"/>
              <a:ext cx="274434"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ea typeface="Calibri"/>
                  <a:cs typeface="Calibri"/>
                  <a:sym typeface="Calibri"/>
                </a:rPr>
                <a:t>*</a:t>
              </a:r>
              <a:endParaRPr sz="1200" dirty="0"/>
            </a:p>
          </p:txBody>
        </p:sp>
        <p:sp>
          <p:nvSpPr>
            <p:cNvPr id="32" name="Google Shape;345;p36">
              <a:extLst>
                <a:ext uri="{FF2B5EF4-FFF2-40B4-BE49-F238E27FC236}">
                  <a16:creationId xmlns="" xmlns:a16="http://schemas.microsoft.com/office/drawing/2014/main" id="{4A0E0CB3-8D2C-4991-9BF3-D2FF26BCA957}"/>
                </a:ext>
              </a:extLst>
            </p:cNvPr>
            <p:cNvSpPr txBox="1"/>
            <p:nvPr/>
          </p:nvSpPr>
          <p:spPr>
            <a:xfrm>
              <a:off x="5113472" y="2160576"/>
              <a:ext cx="274434"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ea typeface="Calibri"/>
                  <a:cs typeface="Calibri"/>
                  <a:sym typeface="Calibri"/>
                </a:rPr>
                <a:t>*</a:t>
              </a:r>
              <a:endParaRPr sz="1200"/>
            </a:p>
          </p:txBody>
        </p:sp>
        <p:sp>
          <p:nvSpPr>
            <p:cNvPr id="33" name="Google Shape;346;p36">
              <a:extLst>
                <a:ext uri="{FF2B5EF4-FFF2-40B4-BE49-F238E27FC236}">
                  <a16:creationId xmlns="" xmlns:a16="http://schemas.microsoft.com/office/drawing/2014/main" id="{BAFA52AF-2EEC-4DF9-B7BE-1729480A4AFF}"/>
                </a:ext>
              </a:extLst>
            </p:cNvPr>
            <p:cNvSpPr txBox="1"/>
            <p:nvPr/>
          </p:nvSpPr>
          <p:spPr>
            <a:xfrm>
              <a:off x="5444574" y="1795948"/>
              <a:ext cx="1244637" cy="16644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500" dirty="0">
                  <a:solidFill>
                    <a:schemeClr val="dk1"/>
                  </a:solidFill>
                  <a:ea typeface="Calibri"/>
                  <a:cs typeface="Calibri"/>
                  <a:sym typeface="Calibri"/>
                </a:rPr>
                <a:t>membership</a:t>
              </a:r>
              <a:endParaRPr sz="1500" dirty="0"/>
            </a:p>
          </p:txBody>
        </p:sp>
      </p:grpSp>
      <p:grpSp>
        <p:nvGrpSpPr>
          <p:cNvPr id="34" name="Google Shape;347;p36">
            <a:extLst>
              <a:ext uri="{FF2B5EF4-FFF2-40B4-BE49-F238E27FC236}">
                <a16:creationId xmlns="" xmlns:a16="http://schemas.microsoft.com/office/drawing/2014/main" id="{D0219945-362A-4E70-8C72-5EC689FFE55B}"/>
              </a:ext>
            </a:extLst>
          </p:cNvPr>
          <p:cNvGrpSpPr/>
          <p:nvPr/>
        </p:nvGrpSpPr>
        <p:grpSpPr>
          <a:xfrm>
            <a:off x="6879136" y="2815847"/>
            <a:ext cx="1602818" cy="1303971"/>
            <a:chOff x="4979313" y="3082184"/>
            <a:chExt cx="1602818" cy="1303971"/>
          </a:xfrm>
        </p:grpSpPr>
        <p:cxnSp>
          <p:nvCxnSpPr>
            <p:cNvPr id="35" name="Google Shape;348;p36">
              <a:extLst>
                <a:ext uri="{FF2B5EF4-FFF2-40B4-BE49-F238E27FC236}">
                  <a16:creationId xmlns="" xmlns:a16="http://schemas.microsoft.com/office/drawing/2014/main" id="{54E9951F-6909-4CF4-A900-93E556D50C2E}"/>
                </a:ext>
              </a:extLst>
            </p:cNvPr>
            <p:cNvCxnSpPr>
              <a:cxnSpLocks/>
              <a:stCxn id="18" idx="3"/>
              <a:endCxn id="11" idx="1"/>
            </p:cNvCxnSpPr>
            <p:nvPr/>
          </p:nvCxnSpPr>
          <p:spPr>
            <a:xfrm flipV="1">
              <a:off x="5026650" y="3343455"/>
              <a:ext cx="1369888" cy="1035075"/>
            </a:xfrm>
            <a:prstGeom prst="bentConnector3">
              <a:avLst>
                <a:gd name="adj1" fmla="val 50000"/>
              </a:avLst>
            </a:prstGeom>
            <a:ln>
              <a:headEnd type="none" w="sm" len="sm"/>
              <a:tailEnd type="none" w="sm" len="sm"/>
            </a:ln>
          </p:spPr>
          <p:style>
            <a:lnRef idx="3">
              <a:schemeClr val="accent6"/>
            </a:lnRef>
            <a:fillRef idx="0">
              <a:schemeClr val="accent6"/>
            </a:fillRef>
            <a:effectRef idx="2">
              <a:schemeClr val="accent6"/>
            </a:effectRef>
            <a:fontRef idx="minor">
              <a:schemeClr val="tx1"/>
            </a:fontRef>
          </p:style>
        </p:cxnSp>
        <p:sp>
          <p:nvSpPr>
            <p:cNvPr id="36" name="Google Shape;349;p36">
              <a:extLst>
                <a:ext uri="{FF2B5EF4-FFF2-40B4-BE49-F238E27FC236}">
                  <a16:creationId xmlns="" xmlns:a16="http://schemas.microsoft.com/office/drawing/2014/main" id="{79B3BCE0-F80F-4165-861B-61E0A4CD3631}"/>
                </a:ext>
              </a:extLst>
            </p:cNvPr>
            <p:cNvSpPr txBox="1"/>
            <p:nvPr/>
          </p:nvSpPr>
          <p:spPr>
            <a:xfrm>
              <a:off x="4979313" y="4078378"/>
              <a:ext cx="584703"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ea typeface="Calibri"/>
                  <a:cs typeface="Calibri"/>
                  <a:sym typeface="Calibri"/>
                </a:rPr>
                <a:t>0…3</a:t>
              </a:r>
              <a:endParaRPr sz="1200" dirty="0"/>
            </a:p>
          </p:txBody>
        </p:sp>
        <p:sp>
          <p:nvSpPr>
            <p:cNvPr id="37" name="Google Shape;350;p36">
              <a:extLst>
                <a:ext uri="{FF2B5EF4-FFF2-40B4-BE49-F238E27FC236}">
                  <a16:creationId xmlns="" xmlns:a16="http://schemas.microsoft.com/office/drawing/2014/main" id="{ECAB4F66-9D8F-4790-AE24-429BB6803223}"/>
                </a:ext>
              </a:extLst>
            </p:cNvPr>
            <p:cNvSpPr txBox="1"/>
            <p:nvPr/>
          </p:nvSpPr>
          <p:spPr>
            <a:xfrm>
              <a:off x="6154691" y="3311521"/>
              <a:ext cx="276038"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ea typeface="Calibri"/>
                  <a:cs typeface="Calibri"/>
                  <a:sym typeface="Calibri"/>
                </a:rPr>
                <a:t>1</a:t>
              </a:r>
              <a:endParaRPr sz="1200" dirty="0"/>
            </a:p>
          </p:txBody>
        </p:sp>
        <p:sp>
          <p:nvSpPr>
            <p:cNvPr id="38" name="Google Shape;351;p36">
              <a:extLst>
                <a:ext uri="{FF2B5EF4-FFF2-40B4-BE49-F238E27FC236}">
                  <a16:creationId xmlns="" xmlns:a16="http://schemas.microsoft.com/office/drawing/2014/main" id="{597F523D-C366-43AA-B01C-C68AA8E9C574}"/>
                </a:ext>
              </a:extLst>
            </p:cNvPr>
            <p:cNvSpPr txBox="1"/>
            <p:nvPr/>
          </p:nvSpPr>
          <p:spPr>
            <a:xfrm>
              <a:off x="5559689" y="3082184"/>
              <a:ext cx="1022442"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500" dirty="0" smtClean="0">
                  <a:solidFill>
                    <a:schemeClr val="dk1"/>
                  </a:solidFill>
                  <a:ea typeface="Calibri"/>
                  <a:cs typeface="Calibri"/>
                  <a:sym typeface="Calibri"/>
                </a:rPr>
                <a:t>request</a:t>
              </a:r>
              <a:endParaRPr sz="1500" dirty="0">
                <a:solidFill>
                  <a:schemeClr val="dk1"/>
                </a:solidFill>
                <a:ea typeface="Calibri"/>
                <a:cs typeface="Calibri"/>
                <a:sym typeface="Calibri"/>
              </a:endParaRPr>
            </a:p>
          </p:txBody>
        </p:sp>
      </p:grpSp>
      <p:grpSp>
        <p:nvGrpSpPr>
          <p:cNvPr id="39" name="Google Shape;352;p36">
            <a:extLst>
              <a:ext uri="{FF2B5EF4-FFF2-40B4-BE49-F238E27FC236}">
                <a16:creationId xmlns="" xmlns:a16="http://schemas.microsoft.com/office/drawing/2014/main" id="{FBC57CD4-579A-4C3F-91F5-91BF38A3D56D}"/>
              </a:ext>
            </a:extLst>
          </p:cNvPr>
          <p:cNvGrpSpPr/>
          <p:nvPr/>
        </p:nvGrpSpPr>
        <p:grpSpPr>
          <a:xfrm>
            <a:off x="5398633" y="3034039"/>
            <a:ext cx="1013176" cy="585035"/>
            <a:chOff x="3498810" y="3300376"/>
            <a:chExt cx="1013176" cy="585035"/>
          </a:xfrm>
        </p:grpSpPr>
        <p:sp>
          <p:nvSpPr>
            <p:cNvPr id="40" name="Google Shape;353;p36">
              <a:extLst>
                <a:ext uri="{FF2B5EF4-FFF2-40B4-BE49-F238E27FC236}">
                  <a16:creationId xmlns="" xmlns:a16="http://schemas.microsoft.com/office/drawing/2014/main" id="{3D93C3F0-533A-4402-BF8E-38A03AD705BB}"/>
                </a:ext>
              </a:extLst>
            </p:cNvPr>
            <p:cNvSpPr/>
            <p:nvPr/>
          </p:nvSpPr>
          <p:spPr>
            <a:xfrm>
              <a:off x="3918800" y="3354624"/>
              <a:ext cx="171450" cy="228600"/>
            </a:xfrm>
            <a:prstGeom prst="flowChartDecision">
              <a:avLst/>
            </a:prstGeom>
            <a:solidFill>
              <a:schemeClr val="lt1"/>
            </a:solidFill>
            <a:ln w="2540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dirty="0">
                <a:solidFill>
                  <a:schemeClr val="dk1"/>
                </a:solidFill>
                <a:ea typeface="Calibri"/>
                <a:cs typeface="Calibri"/>
                <a:sym typeface="Calibri"/>
              </a:endParaRPr>
            </a:p>
          </p:txBody>
        </p:sp>
        <p:cxnSp>
          <p:nvCxnSpPr>
            <p:cNvPr id="41" name="Google Shape;354;p36">
              <a:extLst>
                <a:ext uri="{FF2B5EF4-FFF2-40B4-BE49-F238E27FC236}">
                  <a16:creationId xmlns="" xmlns:a16="http://schemas.microsoft.com/office/drawing/2014/main" id="{AE0F87C9-9EC2-4987-AC85-0DB76D0F13F9}"/>
                </a:ext>
              </a:extLst>
            </p:cNvPr>
            <p:cNvCxnSpPr>
              <a:stCxn id="40" idx="2"/>
            </p:cNvCxnSpPr>
            <p:nvPr/>
          </p:nvCxnSpPr>
          <p:spPr>
            <a:xfrm>
              <a:off x="4004525" y="3583224"/>
              <a:ext cx="0" cy="232500"/>
            </a:xfrm>
            <a:prstGeom prst="straightConnector1">
              <a:avLst/>
            </a:prstGeom>
            <a:noFill/>
            <a:ln w="9525" cap="flat" cmpd="sng">
              <a:solidFill>
                <a:srgbClr val="A32D19"/>
              </a:solidFill>
              <a:prstDash val="solid"/>
              <a:round/>
              <a:headEnd type="none" w="sm" len="sm"/>
              <a:tailEnd type="none" w="sm" len="sm"/>
            </a:ln>
          </p:spPr>
        </p:cxnSp>
        <p:sp>
          <p:nvSpPr>
            <p:cNvPr id="42" name="Google Shape;355;p36">
              <a:extLst>
                <a:ext uri="{FF2B5EF4-FFF2-40B4-BE49-F238E27FC236}">
                  <a16:creationId xmlns="" xmlns:a16="http://schemas.microsoft.com/office/drawing/2014/main" id="{86676A23-B402-42A8-BFE4-52D23E394DED}"/>
                </a:ext>
              </a:extLst>
            </p:cNvPr>
            <p:cNvSpPr txBox="1"/>
            <p:nvPr/>
          </p:nvSpPr>
          <p:spPr>
            <a:xfrm>
              <a:off x="4033716" y="3300376"/>
              <a:ext cx="276038"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ea typeface="Calibri"/>
                  <a:cs typeface="Calibri"/>
                  <a:sym typeface="Calibri"/>
                </a:rPr>
                <a:t>1</a:t>
              </a:r>
              <a:endParaRPr sz="1200"/>
            </a:p>
          </p:txBody>
        </p:sp>
        <p:sp>
          <p:nvSpPr>
            <p:cNvPr id="43" name="Google Shape;356;p36">
              <a:extLst>
                <a:ext uri="{FF2B5EF4-FFF2-40B4-BE49-F238E27FC236}">
                  <a16:creationId xmlns="" xmlns:a16="http://schemas.microsoft.com/office/drawing/2014/main" id="{C919C504-E77C-40C6-9ACA-DA9C421DF277}"/>
                </a:ext>
              </a:extLst>
            </p:cNvPr>
            <p:cNvSpPr txBox="1"/>
            <p:nvPr/>
          </p:nvSpPr>
          <p:spPr>
            <a:xfrm>
              <a:off x="3944551" y="3577634"/>
              <a:ext cx="567435"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ea typeface="Calibri"/>
                  <a:cs typeface="Calibri"/>
                  <a:sym typeface="Calibri"/>
                </a:rPr>
                <a:t>1…*</a:t>
              </a:r>
              <a:endParaRPr sz="1200" dirty="0"/>
            </a:p>
          </p:txBody>
        </p:sp>
        <p:sp>
          <p:nvSpPr>
            <p:cNvPr id="44" name="Google Shape;357;p36">
              <a:extLst>
                <a:ext uri="{FF2B5EF4-FFF2-40B4-BE49-F238E27FC236}">
                  <a16:creationId xmlns="" xmlns:a16="http://schemas.microsoft.com/office/drawing/2014/main" id="{CCC8985A-7AED-4073-A45B-811EC22061E5}"/>
                </a:ext>
              </a:extLst>
            </p:cNvPr>
            <p:cNvSpPr txBox="1"/>
            <p:nvPr/>
          </p:nvSpPr>
          <p:spPr>
            <a:xfrm>
              <a:off x="3498810" y="3497462"/>
              <a:ext cx="634473"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500" dirty="0">
                  <a:solidFill>
                    <a:schemeClr val="dk1"/>
                  </a:solidFill>
                  <a:ea typeface="Calibri"/>
                  <a:cs typeface="Calibri"/>
                  <a:sym typeface="Calibri"/>
                </a:rPr>
                <a:t>have</a:t>
              </a:r>
              <a:endParaRPr sz="1500" dirty="0"/>
            </a:p>
          </p:txBody>
        </p:sp>
      </p:grpSp>
      <p:grpSp>
        <p:nvGrpSpPr>
          <p:cNvPr id="45" name="Google Shape;358;p36">
            <a:extLst>
              <a:ext uri="{FF2B5EF4-FFF2-40B4-BE49-F238E27FC236}">
                <a16:creationId xmlns="" xmlns:a16="http://schemas.microsoft.com/office/drawing/2014/main" id="{DB179EAA-65CF-4587-9894-F084E6E3E054}"/>
              </a:ext>
            </a:extLst>
          </p:cNvPr>
          <p:cNvGrpSpPr/>
          <p:nvPr/>
        </p:nvGrpSpPr>
        <p:grpSpPr>
          <a:xfrm>
            <a:off x="2933297" y="2744649"/>
            <a:ext cx="899890" cy="1682765"/>
            <a:chOff x="1494066" y="2894637"/>
            <a:chExt cx="899890" cy="1682765"/>
          </a:xfrm>
        </p:grpSpPr>
        <p:cxnSp>
          <p:nvCxnSpPr>
            <p:cNvPr id="46" name="Google Shape;359;p36">
              <a:extLst>
                <a:ext uri="{FF2B5EF4-FFF2-40B4-BE49-F238E27FC236}">
                  <a16:creationId xmlns="" xmlns:a16="http://schemas.microsoft.com/office/drawing/2014/main" id="{875910E6-2BE1-4009-8185-711B3484694D}"/>
                </a:ext>
              </a:extLst>
            </p:cNvPr>
            <p:cNvCxnSpPr>
              <a:cxnSpLocks/>
              <a:stCxn id="7" idx="2"/>
              <a:endCxn id="18" idx="1"/>
            </p:cNvCxnSpPr>
            <p:nvPr/>
          </p:nvCxnSpPr>
          <p:spPr>
            <a:xfrm rot="16200000" flipH="1">
              <a:off x="1366700" y="3243803"/>
              <a:ext cx="1362152" cy="692360"/>
            </a:xfrm>
            <a:prstGeom prst="bentConnector2">
              <a:avLst/>
            </a:prstGeom>
            <a:noFill/>
            <a:ln w="19050" cap="flat" cmpd="sng">
              <a:solidFill>
                <a:srgbClr val="C00000"/>
              </a:solidFill>
              <a:prstDash val="solid"/>
              <a:round/>
              <a:headEnd type="none" w="sm" len="sm"/>
              <a:tailEnd type="none" w="sm" len="sm"/>
            </a:ln>
          </p:spPr>
        </p:cxnSp>
        <p:sp>
          <p:nvSpPr>
            <p:cNvPr id="47" name="Google Shape;360;p36">
              <a:extLst>
                <a:ext uri="{FF2B5EF4-FFF2-40B4-BE49-F238E27FC236}">
                  <a16:creationId xmlns="" xmlns:a16="http://schemas.microsoft.com/office/drawing/2014/main" id="{7ADFE637-5A32-4B28-9461-D9CE50C37A00}"/>
                </a:ext>
              </a:extLst>
            </p:cNvPr>
            <p:cNvSpPr txBox="1"/>
            <p:nvPr/>
          </p:nvSpPr>
          <p:spPr>
            <a:xfrm>
              <a:off x="2083929" y="4269625"/>
              <a:ext cx="276436"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ea typeface="Calibri"/>
                  <a:cs typeface="Calibri"/>
                  <a:sym typeface="Calibri"/>
                </a:rPr>
                <a:t>*</a:t>
              </a:r>
              <a:endParaRPr sz="1200" dirty="0"/>
            </a:p>
          </p:txBody>
        </p:sp>
        <p:sp>
          <p:nvSpPr>
            <p:cNvPr id="48" name="Google Shape;361;p36">
              <a:extLst>
                <a:ext uri="{FF2B5EF4-FFF2-40B4-BE49-F238E27FC236}">
                  <a16:creationId xmlns="" xmlns:a16="http://schemas.microsoft.com/office/drawing/2014/main" id="{48A47980-B23A-4A22-A865-030746EA546A}"/>
                </a:ext>
              </a:extLst>
            </p:cNvPr>
            <p:cNvSpPr txBox="1"/>
            <p:nvPr/>
          </p:nvSpPr>
          <p:spPr>
            <a:xfrm>
              <a:off x="1494066" y="2894637"/>
              <a:ext cx="276038"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ea typeface="Calibri"/>
                  <a:cs typeface="Calibri"/>
                  <a:sym typeface="Calibri"/>
                </a:rPr>
                <a:t>1</a:t>
              </a:r>
              <a:endParaRPr sz="1200" dirty="0"/>
            </a:p>
          </p:txBody>
        </p:sp>
        <p:sp>
          <p:nvSpPr>
            <p:cNvPr id="49" name="Google Shape;362;p36">
              <a:extLst>
                <a:ext uri="{FF2B5EF4-FFF2-40B4-BE49-F238E27FC236}">
                  <a16:creationId xmlns="" xmlns:a16="http://schemas.microsoft.com/office/drawing/2014/main" id="{3349BA18-893B-4D87-9F47-1E69267299EA}"/>
                </a:ext>
              </a:extLst>
            </p:cNvPr>
            <p:cNvSpPr txBox="1"/>
            <p:nvPr/>
          </p:nvSpPr>
          <p:spPr>
            <a:xfrm rot="5400000">
              <a:off x="1138660" y="3714075"/>
              <a:ext cx="1022442"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500" dirty="0">
                  <a:solidFill>
                    <a:schemeClr val="dk1"/>
                  </a:solidFill>
                  <a:ea typeface="Calibri"/>
                  <a:cs typeface="Calibri"/>
                  <a:sym typeface="Calibri"/>
                </a:rPr>
                <a:t>manage</a:t>
              </a:r>
              <a:endParaRPr sz="1500" dirty="0"/>
            </a:p>
          </p:txBody>
        </p:sp>
      </p:grpSp>
      <p:grpSp>
        <p:nvGrpSpPr>
          <p:cNvPr id="50" name="Google Shape;363;p36">
            <a:extLst>
              <a:ext uri="{FF2B5EF4-FFF2-40B4-BE49-F238E27FC236}">
                <a16:creationId xmlns="" xmlns:a16="http://schemas.microsoft.com/office/drawing/2014/main" id="{029268F3-E60E-42EF-A1F7-98B7D786B05A}"/>
              </a:ext>
            </a:extLst>
          </p:cNvPr>
          <p:cNvGrpSpPr/>
          <p:nvPr/>
        </p:nvGrpSpPr>
        <p:grpSpPr>
          <a:xfrm>
            <a:off x="4753933" y="1196028"/>
            <a:ext cx="1633641" cy="909863"/>
            <a:chOff x="2854110" y="1462365"/>
            <a:chExt cx="1633641" cy="909863"/>
          </a:xfrm>
        </p:grpSpPr>
        <p:sp>
          <p:nvSpPr>
            <p:cNvPr id="51" name="Google Shape;364;p36">
              <a:extLst>
                <a:ext uri="{FF2B5EF4-FFF2-40B4-BE49-F238E27FC236}">
                  <a16:creationId xmlns="" xmlns:a16="http://schemas.microsoft.com/office/drawing/2014/main" id="{A94E8903-2601-4293-8B37-EE6AE0D7F277}"/>
                </a:ext>
              </a:extLst>
            </p:cNvPr>
            <p:cNvSpPr/>
            <p:nvPr/>
          </p:nvSpPr>
          <p:spPr>
            <a:xfrm>
              <a:off x="4316301" y="2081199"/>
              <a:ext cx="171450" cy="228600"/>
            </a:xfrm>
            <a:prstGeom prst="flowChartDecision">
              <a:avLst/>
            </a:prstGeom>
            <a:solidFill>
              <a:schemeClr val="lt1"/>
            </a:solidFill>
            <a:ln w="2540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dk1"/>
                </a:solidFill>
                <a:ea typeface="Calibri"/>
                <a:cs typeface="Calibri"/>
                <a:sym typeface="Calibri"/>
              </a:endParaRPr>
            </a:p>
          </p:txBody>
        </p:sp>
        <p:cxnSp>
          <p:nvCxnSpPr>
            <p:cNvPr id="52" name="Google Shape;365;p36">
              <a:extLst>
                <a:ext uri="{FF2B5EF4-FFF2-40B4-BE49-F238E27FC236}">
                  <a16:creationId xmlns="" xmlns:a16="http://schemas.microsoft.com/office/drawing/2014/main" id="{3126AB8A-0531-4542-8C65-1E42327022E4}"/>
                </a:ext>
              </a:extLst>
            </p:cNvPr>
            <p:cNvCxnSpPr>
              <a:cxnSpLocks/>
              <a:stCxn id="6" idx="3"/>
              <a:endCxn id="51" idx="0"/>
            </p:cNvCxnSpPr>
            <p:nvPr/>
          </p:nvCxnSpPr>
          <p:spPr>
            <a:xfrm>
              <a:off x="2895600" y="1748976"/>
              <a:ext cx="1506426" cy="332223"/>
            </a:xfrm>
            <a:prstGeom prst="bentConnector2">
              <a:avLst/>
            </a:prstGeom>
            <a:ln>
              <a:headEnd type="none" w="sm" len="sm"/>
              <a:tailEnd type="none" w="sm" len="sm"/>
            </a:ln>
          </p:spPr>
          <p:style>
            <a:lnRef idx="3">
              <a:schemeClr val="accent6"/>
            </a:lnRef>
            <a:fillRef idx="0">
              <a:schemeClr val="accent6"/>
            </a:fillRef>
            <a:effectRef idx="2">
              <a:schemeClr val="accent6"/>
            </a:effectRef>
            <a:fontRef idx="minor">
              <a:schemeClr val="tx1"/>
            </a:fontRef>
          </p:style>
        </p:cxnSp>
        <p:sp>
          <p:nvSpPr>
            <p:cNvPr id="53" name="Google Shape;366;p36">
              <a:extLst>
                <a:ext uri="{FF2B5EF4-FFF2-40B4-BE49-F238E27FC236}">
                  <a16:creationId xmlns="" xmlns:a16="http://schemas.microsoft.com/office/drawing/2014/main" id="{011A4725-A596-4B62-B31C-29A6A5202F6D}"/>
                </a:ext>
              </a:extLst>
            </p:cNvPr>
            <p:cNvSpPr txBox="1"/>
            <p:nvPr/>
          </p:nvSpPr>
          <p:spPr>
            <a:xfrm>
              <a:off x="2854110" y="1684039"/>
              <a:ext cx="276038"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ea typeface="Calibri"/>
                  <a:cs typeface="Calibri"/>
                  <a:sym typeface="Calibri"/>
                </a:rPr>
                <a:t>1</a:t>
              </a:r>
              <a:endParaRPr sz="1200" dirty="0"/>
            </a:p>
          </p:txBody>
        </p:sp>
        <p:sp>
          <p:nvSpPr>
            <p:cNvPr id="54" name="Google Shape;367;p36">
              <a:extLst>
                <a:ext uri="{FF2B5EF4-FFF2-40B4-BE49-F238E27FC236}">
                  <a16:creationId xmlns="" xmlns:a16="http://schemas.microsoft.com/office/drawing/2014/main" id="{CB8B3B9B-C2A8-4973-8193-EAC2CEFC9774}"/>
                </a:ext>
              </a:extLst>
            </p:cNvPr>
            <p:cNvSpPr txBox="1"/>
            <p:nvPr/>
          </p:nvSpPr>
          <p:spPr>
            <a:xfrm>
              <a:off x="4090250" y="2064451"/>
              <a:ext cx="276038"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ea typeface="Calibri"/>
                  <a:cs typeface="Calibri"/>
                  <a:sym typeface="Calibri"/>
                </a:rPr>
                <a:t>1</a:t>
              </a:r>
              <a:endParaRPr sz="1200"/>
            </a:p>
          </p:txBody>
        </p:sp>
        <p:sp>
          <p:nvSpPr>
            <p:cNvPr id="55" name="Google Shape;368;p36">
              <a:extLst>
                <a:ext uri="{FF2B5EF4-FFF2-40B4-BE49-F238E27FC236}">
                  <a16:creationId xmlns="" xmlns:a16="http://schemas.microsoft.com/office/drawing/2014/main" id="{BE9DE9C0-C65D-4AC0-99FE-D9E392D0B9A4}"/>
                </a:ext>
              </a:extLst>
            </p:cNvPr>
            <p:cNvSpPr txBox="1"/>
            <p:nvPr/>
          </p:nvSpPr>
          <p:spPr>
            <a:xfrm>
              <a:off x="3304825" y="1462365"/>
              <a:ext cx="1022442"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500" dirty="0" err="1">
                  <a:solidFill>
                    <a:schemeClr val="dk1"/>
                  </a:solidFill>
                  <a:ea typeface="Calibri"/>
                  <a:cs typeface="Calibri"/>
                  <a:sym typeface="Calibri"/>
                </a:rPr>
                <a:t>workFor</a:t>
              </a:r>
              <a:endParaRPr sz="1500" dirty="0">
                <a:solidFill>
                  <a:schemeClr val="dk1"/>
                </a:solidFill>
                <a:ea typeface="Calibri"/>
                <a:cs typeface="Calibri"/>
                <a:sym typeface="Calibri"/>
              </a:endParaRPr>
            </a:p>
          </p:txBody>
        </p:sp>
      </p:grpSp>
      <p:grpSp>
        <p:nvGrpSpPr>
          <p:cNvPr id="56" name="Google Shape;369;p36">
            <a:extLst>
              <a:ext uri="{FF2B5EF4-FFF2-40B4-BE49-F238E27FC236}">
                <a16:creationId xmlns="" xmlns:a16="http://schemas.microsoft.com/office/drawing/2014/main" id="{BE03B2C9-33DF-4A51-9BA1-5579D304EB2E}"/>
              </a:ext>
            </a:extLst>
          </p:cNvPr>
          <p:cNvGrpSpPr/>
          <p:nvPr/>
        </p:nvGrpSpPr>
        <p:grpSpPr>
          <a:xfrm>
            <a:off x="4757995" y="853483"/>
            <a:ext cx="3538366" cy="631487"/>
            <a:chOff x="-1273472" y="4434337"/>
            <a:chExt cx="3538366" cy="631487"/>
          </a:xfrm>
        </p:grpSpPr>
        <p:cxnSp>
          <p:nvCxnSpPr>
            <p:cNvPr id="57" name="Google Shape;370;p36">
              <a:extLst>
                <a:ext uri="{FF2B5EF4-FFF2-40B4-BE49-F238E27FC236}">
                  <a16:creationId xmlns="" xmlns:a16="http://schemas.microsoft.com/office/drawing/2014/main" id="{9E93F3AB-DA25-4773-BF80-6B1E51F14BA5}"/>
                </a:ext>
              </a:extLst>
            </p:cNvPr>
            <p:cNvCxnSpPr>
              <a:cxnSpLocks/>
            </p:cNvCxnSpPr>
            <p:nvPr/>
          </p:nvCxnSpPr>
          <p:spPr>
            <a:xfrm flipV="1">
              <a:off x="-1236044" y="4737579"/>
              <a:ext cx="3500938" cy="47745"/>
            </a:xfrm>
            <a:prstGeom prst="straightConnector1">
              <a:avLst/>
            </a:prstGeom>
            <a:ln>
              <a:headEnd type="none" w="sm" len="sm"/>
              <a:tailEnd type="none" w="sm" len="sm"/>
            </a:ln>
          </p:spPr>
          <p:style>
            <a:lnRef idx="3">
              <a:schemeClr val="accent6"/>
            </a:lnRef>
            <a:fillRef idx="0">
              <a:schemeClr val="accent6"/>
            </a:fillRef>
            <a:effectRef idx="2">
              <a:schemeClr val="accent6"/>
            </a:effectRef>
            <a:fontRef idx="minor">
              <a:schemeClr val="tx1"/>
            </a:fontRef>
          </p:style>
        </p:cxnSp>
        <p:sp>
          <p:nvSpPr>
            <p:cNvPr id="58" name="Google Shape;371;p36">
              <a:extLst>
                <a:ext uri="{FF2B5EF4-FFF2-40B4-BE49-F238E27FC236}">
                  <a16:creationId xmlns="" xmlns:a16="http://schemas.microsoft.com/office/drawing/2014/main" id="{FB89BBB6-2814-4D40-8185-16D1E6901F1D}"/>
                </a:ext>
              </a:extLst>
            </p:cNvPr>
            <p:cNvSpPr txBox="1"/>
            <p:nvPr/>
          </p:nvSpPr>
          <p:spPr>
            <a:xfrm>
              <a:off x="1933761" y="4758047"/>
              <a:ext cx="276038"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ea typeface="Calibri"/>
                  <a:cs typeface="Calibri"/>
                  <a:sym typeface="Calibri"/>
                </a:rPr>
                <a:t>*</a:t>
              </a:r>
              <a:endParaRPr sz="1200"/>
            </a:p>
          </p:txBody>
        </p:sp>
        <p:sp>
          <p:nvSpPr>
            <p:cNvPr id="59" name="Google Shape;372;p36">
              <a:extLst>
                <a:ext uri="{FF2B5EF4-FFF2-40B4-BE49-F238E27FC236}">
                  <a16:creationId xmlns="" xmlns:a16="http://schemas.microsoft.com/office/drawing/2014/main" id="{7628A1BB-6D3D-4FCD-90F3-129414562DC1}"/>
                </a:ext>
              </a:extLst>
            </p:cNvPr>
            <p:cNvSpPr txBox="1"/>
            <p:nvPr/>
          </p:nvSpPr>
          <p:spPr>
            <a:xfrm>
              <a:off x="-1273472" y="4434337"/>
              <a:ext cx="276038"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ea typeface="Calibri"/>
                  <a:cs typeface="Calibri"/>
                  <a:sym typeface="Calibri"/>
                </a:rPr>
                <a:t>1</a:t>
              </a:r>
              <a:endParaRPr sz="1200"/>
            </a:p>
          </p:txBody>
        </p:sp>
        <p:sp>
          <p:nvSpPr>
            <p:cNvPr id="60" name="Google Shape;373;p36">
              <a:extLst>
                <a:ext uri="{FF2B5EF4-FFF2-40B4-BE49-F238E27FC236}">
                  <a16:creationId xmlns="" xmlns:a16="http://schemas.microsoft.com/office/drawing/2014/main" id="{2C8B0318-457F-4609-8A6E-A0272F9B13AF}"/>
                </a:ext>
              </a:extLst>
            </p:cNvPr>
            <p:cNvSpPr txBox="1"/>
            <p:nvPr/>
          </p:nvSpPr>
          <p:spPr>
            <a:xfrm>
              <a:off x="469510" y="4460835"/>
              <a:ext cx="1022442" cy="276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500" dirty="0">
                  <a:solidFill>
                    <a:schemeClr val="dk1"/>
                  </a:solidFill>
                  <a:ea typeface="Calibri"/>
                  <a:cs typeface="Calibri"/>
                  <a:sym typeface="Calibri"/>
                </a:rPr>
                <a:t>manage</a:t>
              </a:r>
              <a:endParaRPr sz="1500" dirty="0"/>
            </a:p>
          </p:txBody>
        </p:sp>
      </p:grpSp>
      <p:grpSp>
        <p:nvGrpSpPr>
          <p:cNvPr id="61" name="Google Shape;374;p36">
            <a:extLst>
              <a:ext uri="{FF2B5EF4-FFF2-40B4-BE49-F238E27FC236}">
                <a16:creationId xmlns="" xmlns:a16="http://schemas.microsoft.com/office/drawing/2014/main" id="{768A6638-6CC1-4BE7-B49F-89FBF09B55ED}"/>
              </a:ext>
            </a:extLst>
          </p:cNvPr>
          <p:cNvGrpSpPr/>
          <p:nvPr/>
        </p:nvGrpSpPr>
        <p:grpSpPr>
          <a:xfrm>
            <a:off x="8641510" y="3812041"/>
            <a:ext cx="1580074" cy="1027022"/>
            <a:chOff x="3162300" y="4114800"/>
            <a:chExt cx="2820113" cy="1118595"/>
          </a:xfrm>
        </p:grpSpPr>
        <p:cxnSp>
          <p:nvCxnSpPr>
            <p:cNvPr id="62" name="Google Shape;375;p36">
              <a:extLst>
                <a:ext uri="{FF2B5EF4-FFF2-40B4-BE49-F238E27FC236}">
                  <a16:creationId xmlns="" xmlns:a16="http://schemas.microsoft.com/office/drawing/2014/main" id="{4BF50DF7-6906-4339-B694-3D9149951410}"/>
                </a:ext>
              </a:extLst>
            </p:cNvPr>
            <p:cNvCxnSpPr/>
            <p:nvPr/>
          </p:nvCxnSpPr>
          <p:spPr>
            <a:xfrm>
              <a:off x="3162300" y="4572000"/>
              <a:ext cx="2819400" cy="0"/>
            </a:xfrm>
            <a:prstGeom prst="straightConnector1">
              <a:avLst/>
            </a:prstGeom>
            <a:noFill/>
            <a:ln w="19050" cap="flat" cmpd="sng">
              <a:solidFill>
                <a:srgbClr val="A32D19"/>
              </a:solidFill>
              <a:prstDash val="solid"/>
              <a:round/>
              <a:headEnd type="none" w="sm" len="sm"/>
              <a:tailEnd type="none" w="sm" len="sm"/>
            </a:ln>
          </p:spPr>
        </p:cxnSp>
        <p:cxnSp>
          <p:nvCxnSpPr>
            <p:cNvPr id="63" name="Google Shape;376;p36">
              <a:extLst>
                <a:ext uri="{FF2B5EF4-FFF2-40B4-BE49-F238E27FC236}">
                  <a16:creationId xmlns="" xmlns:a16="http://schemas.microsoft.com/office/drawing/2014/main" id="{27C12048-F53F-4305-8F1C-B1291BEC0AB1}"/>
                </a:ext>
              </a:extLst>
            </p:cNvPr>
            <p:cNvCxnSpPr/>
            <p:nvPr/>
          </p:nvCxnSpPr>
          <p:spPr>
            <a:xfrm>
              <a:off x="3162300" y="4572000"/>
              <a:ext cx="0" cy="661395"/>
            </a:xfrm>
            <a:prstGeom prst="straightConnector1">
              <a:avLst/>
            </a:prstGeom>
            <a:noFill/>
            <a:ln w="19050" cap="flat" cmpd="sng">
              <a:solidFill>
                <a:srgbClr val="A32D19"/>
              </a:solidFill>
              <a:prstDash val="solid"/>
              <a:round/>
              <a:headEnd type="none" w="sm" len="sm"/>
              <a:tailEnd type="none" w="sm" len="sm"/>
            </a:ln>
          </p:spPr>
        </p:cxnSp>
        <p:cxnSp>
          <p:nvCxnSpPr>
            <p:cNvPr id="64" name="Google Shape;377;p36">
              <a:extLst>
                <a:ext uri="{FF2B5EF4-FFF2-40B4-BE49-F238E27FC236}">
                  <a16:creationId xmlns="" xmlns:a16="http://schemas.microsoft.com/office/drawing/2014/main" id="{F420A226-814C-4BB2-AAC1-CFEE605BCD82}"/>
                </a:ext>
              </a:extLst>
            </p:cNvPr>
            <p:cNvCxnSpPr>
              <a:cxnSpLocks/>
            </p:cNvCxnSpPr>
            <p:nvPr/>
          </p:nvCxnSpPr>
          <p:spPr>
            <a:xfrm>
              <a:off x="5982413" y="4562303"/>
              <a:ext cx="0" cy="650700"/>
            </a:xfrm>
            <a:prstGeom prst="straightConnector1">
              <a:avLst/>
            </a:prstGeom>
            <a:noFill/>
            <a:ln w="19050" cap="flat" cmpd="sng">
              <a:solidFill>
                <a:srgbClr val="A32D19"/>
              </a:solidFill>
              <a:prstDash val="solid"/>
              <a:round/>
              <a:headEnd type="none" w="sm" len="sm"/>
              <a:tailEnd type="none" w="sm" len="sm"/>
            </a:ln>
          </p:spPr>
        </p:cxnSp>
        <p:sp>
          <p:nvSpPr>
            <p:cNvPr id="65" name="Google Shape;378;p36">
              <a:extLst>
                <a:ext uri="{FF2B5EF4-FFF2-40B4-BE49-F238E27FC236}">
                  <a16:creationId xmlns="" xmlns:a16="http://schemas.microsoft.com/office/drawing/2014/main" id="{D021029E-0748-47C8-9D85-2908E2878652}"/>
                </a:ext>
              </a:extLst>
            </p:cNvPr>
            <p:cNvSpPr/>
            <p:nvPr/>
          </p:nvSpPr>
          <p:spPr>
            <a:xfrm>
              <a:off x="4457700" y="4114800"/>
              <a:ext cx="228600" cy="457199"/>
            </a:xfrm>
            <a:prstGeom prst="upArrow">
              <a:avLst>
                <a:gd name="adj1" fmla="val 2775"/>
                <a:gd name="adj2" fmla="val 50000"/>
              </a:avLst>
            </a:prstGeom>
            <a:solidFill>
              <a:schemeClr val="accent1"/>
            </a:solidFill>
            <a:ln w="1905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ea typeface="Calibri"/>
                <a:cs typeface="Calibri"/>
                <a:sym typeface="Calibri"/>
              </a:endParaRPr>
            </a:p>
          </p:txBody>
        </p:sp>
      </p:grpSp>
      <p:grpSp>
        <p:nvGrpSpPr>
          <p:cNvPr id="74" name="Google Shape;333;p36">
            <a:extLst>
              <a:ext uri="{FF2B5EF4-FFF2-40B4-BE49-F238E27FC236}">
                <a16:creationId xmlns="" xmlns:a16="http://schemas.microsoft.com/office/drawing/2014/main" id="{A7152F57-F5A2-4D0D-936B-5E991158EA66}"/>
              </a:ext>
            </a:extLst>
          </p:cNvPr>
          <p:cNvGrpSpPr/>
          <p:nvPr/>
        </p:nvGrpSpPr>
        <p:grpSpPr>
          <a:xfrm>
            <a:off x="291467" y="3230987"/>
            <a:ext cx="2278291" cy="882906"/>
            <a:chOff x="381000" y="1981200"/>
            <a:chExt cx="2514600" cy="1648164"/>
          </a:xfrm>
        </p:grpSpPr>
        <p:sp>
          <p:nvSpPr>
            <p:cNvPr id="75" name="Google Shape;334;p36">
              <a:extLst>
                <a:ext uri="{FF2B5EF4-FFF2-40B4-BE49-F238E27FC236}">
                  <a16:creationId xmlns="" xmlns:a16="http://schemas.microsoft.com/office/drawing/2014/main" id="{A185E5AD-034F-4C7B-8DDE-11EA936949C5}"/>
                </a:ext>
              </a:extLst>
            </p:cNvPr>
            <p:cNvSpPr/>
            <p:nvPr/>
          </p:nvSpPr>
          <p:spPr>
            <a:xfrm>
              <a:off x="381000" y="1981200"/>
              <a:ext cx="2514600" cy="457200"/>
            </a:xfrm>
            <a:prstGeom prst="rect">
              <a:avLst/>
            </a:prstGeom>
            <a:ln>
              <a:headEnd type="none" w="sm" len="sm"/>
              <a:tailEnd type="none" w="sm" len="sm"/>
            </a:ln>
          </p:spPr>
          <p:style>
            <a:lnRef idx="2">
              <a:schemeClr val="accent6">
                <a:shade val="50000"/>
              </a:schemeClr>
            </a:lnRef>
            <a:fillRef idx="1">
              <a:schemeClr val="accent6"/>
            </a:fillRef>
            <a:effectRef idx="0">
              <a:schemeClr val="accent6"/>
            </a:effectRef>
            <a:fontRef idx="minor">
              <a:schemeClr val="lt1"/>
            </a:fontRef>
          </p:style>
          <p:txBody>
            <a:bodyPr spcFirstLastPara="1" wrap="square" lIns="91425" tIns="45700" rIns="91425" bIns="45700" anchor="ctr" anchorCtr="0">
              <a:noAutofit/>
            </a:bodyPr>
            <a:lstStyle/>
            <a:p>
              <a:pPr algn="ctr"/>
              <a:r>
                <a:rPr lang="en-US" b="1" dirty="0">
                  <a:solidFill>
                    <a:schemeClr val="bg1"/>
                  </a:solidFill>
                  <a:cs typeface="Calibri"/>
                  <a:sym typeface="Calibri"/>
                </a:rPr>
                <a:t>Book</a:t>
              </a:r>
              <a:endParaRPr b="1" dirty="0">
                <a:solidFill>
                  <a:schemeClr val="bg1"/>
                </a:solidFill>
                <a:cs typeface="Calibri"/>
              </a:endParaRPr>
            </a:p>
          </p:txBody>
        </p:sp>
        <p:sp>
          <p:nvSpPr>
            <p:cNvPr id="76" name="Google Shape;335;p36">
              <a:extLst>
                <a:ext uri="{FF2B5EF4-FFF2-40B4-BE49-F238E27FC236}">
                  <a16:creationId xmlns="" xmlns:a16="http://schemas.microsoft.com/office/drawing/2014/main" id="{513A2B4F-CF7D-4225-AD00-56E933E1E0FA}"/>
                </a:ext>
              </a:extLst>
            </p:cNvPr>
            <p:cNvSpPr/>
            <p:nvPr/>
          </p:nvSpPr>
          <p:spPr>
            <a:xfrm>
              <a:off x="381000" y="2438399"/>
              <a:ext cx="2514600" cy="944222"/>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t" anchorCtr="0">
              <a:noAutofit/>
            </a:bodyPr>
            <a:lstStyle/>
            <a:p>
              <a:r>
                <a:rPr lang="en-US" sz="1500" dirty="0">
                  <a:solidFill>
                    <a:schemeClr val="dk1"/>
                  </a:solidFill>
                  <a:cs typeface="Calibri"/>
                  <a:sym typeface="Calibri"/>
                </a:rPr>
                <a:t>- </a:t>
              </a:r>
              <a:r>
                <a:rPr lang="en-US" sz="1500" dirty="0" err="1">
                  <a:solidFill>
                    <a:schemeClr val="dk1"/>
                  </a:solidFill>
                  <a:cs typeface="Calibri"/>
                  <a:sym typeface="Calibri"/>
                </a:rPr>
                <a:t>authorName:string</a:t>
              </a:r>
              <a:endParaRPr lang="en-US" sz="1500" dirty="0">
                <a:solidFill>
                  <a:schemeClr val="dk1"/>
                </a:solidFill>
                <a:cs typeface="Calibri"/>
                <a:sym typeface="Calibri"/>
              </a:endParaRPr>
            </a:p>
            <a:p>
              <a:r>
                <a:rPr lang="en-IN" sz="1500" dirty="0">
                  <a:solidFill>
                    <a:schemeClr val="dk1"/>
                  </a:solidFill>
                  <a:cs typeface="Calibri"/>
                  <a:sym typeface="Calibri"/>
                </a:rPr>
                <a:t>- </a:t>
              </a:r>
              <a:r>
                <a:rPr lang="en-IN" sz="1500" dirty="0" err="1">
                  <a:solidFill>
                    <a:schemeClr val="dk1"/>
                  </a:solidFill>
                  <a:cs typeface="Calibri"/>
                  <a:sym typeface="Calibri"/>
                </a:rPr>
                <a:t>publisherName:String</a:t>
              </a:r>
              <a:endParaRPr sz="1500" dirty="0">
                <a:solidFill>
                  <a:schemeClr val="dk1"/>
                </a:solidFill>
                <a:cs typeface="Calibri"/>
                <a:sym typeface="Calibri"/>
              </a:endParaRPr>
            </a:p>
          </p:txBody>
        </p:sp>
        <p:sp>
          <p:nvSpPr>
            <p:cNvPr id="77" name="Google Shape;336;p36">
              <a:extLst>
                <a:ext uri="{FF2B5EF4-FFF2-40B4-BE49-F238E27FC236}">
                  <a16:creationId xmlns="" xmlns:a16="http://schemas.microsoft.com/office/drawing/2014/main" id="{5FB2BC0A-32C5-493A-8ACD-4ED75C348739}"/>
                </a:ext>
              </a:extLst>
            </p:cNvPr>
            <p:cNvSpPr/>
            <p:nvPr/>
          </p:nvSpPr>
          <p:spPr>
            <a:xfrm>
              <a:off x="381000" y="3382621"/>
              <a:ext cx="2514600" cy="246743"/>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endParaRPr sz="1200">
                <a:solidFill>
                  <a:schemeClr val="dk1"/>
                </a:solidFill>
                <a:cs typeface="Calibri"/>
                <a:sym typeface="Calibri"/>
              </a:endParaRPr>
            </a:p>
          </p:txBody>
        </p:sp>
      </p:grpSp>
      <p:grpSp>
        <p:nvGrpSpPr>
          <p:cNvPr id="81" name="Google Shape;333;p36">
            <a:extLst>
              <a:ext uri="{FF2B5EF4-FFF2-40B4-BE49-F238E27FC236}">
                <a16:creationId xmlns="" xmlns:a16="http://schemas.microsoft.com/office/drawing/2014/main" id="{D153DAA9-85CD-45F1-9ECC-25E38A504E7E}"/>
              </a:ext>
            </a:extLst>
          </p:cNvPr>
          <p:cNvGrpSpPr/>
          <p:nvPr/>
        </p:nvGrpSpPr>
        <p:grpSpPr>
          <a:xfrm>
            <a:off x="300888" y="4306881"/>
            <a:ext cx="2278291" cy="882906"/>
            <a:chOff x="381000" y="1981200"/>
            <a:chExt cx="2514600" cy="1648164"/>
          </a:xfrm>
        </p:grpSpPr>
        <p:sp>
          <p:nvSpPr>
            <p:cNvPr id="82" name="Google Shape;334;p36">
              <a:extLst>
                <a:ext uri="{FF2B5EF4-FFF2-40B4-BE49-F238E27FC236}">
                  <a16:creationId xmlns="" xmlns:a16="http://schemas.microsoft.com/office/drawing/2014/main" id="{C85866C8-64D8-4AE0-A199-4F0A917272BC}"/>
                </a:ext>
              </a:extLst>
            </p:cNvPr>
            <p:cNvSpPr/>
            <p:nvPr/>
          </p:nvSpPr>
          <p:spPr>
            <a:xfrm>
              <a:off x="381000" y="1981200"/>
              <a:ext cx="2514600" cy="457200"/>
            </a:xfrm>
            <a:prstGeom prst="rect">
              <a:avLst/>
            </a:prstGeom>
            <a:ln>
              <a:headEnd type="none" w="sm" len="sm"/>
              <a:tailEnd type="none" w="sm" len="sm"/>
            </a:ln>
          </p:spPr>
          <p:style>
            <a:lnRef idx="2">
              <a:schemeClr val="accent6">
                <a:shade val="50000"/>
              </a:schemeClr>
            </a:lnRef>
            <a:fillRef idx="1">
              <a:schemeClr val="accent6"/>
            </a:fillRef>
            <a:effectRef idx="0">
              <a:schemeClr val="accent6"/>
            </a:effectRef>
            <a:fontRef idx="minor">
              <a:schemeClr val="lt1"/>
            </a:fontRef>
          </p:style>
          <p:txBody>
            <a:bodyPr spcFirstLastPara="1" wrap="square" lIns="91425" tIns="45700" rIns="91425" bIns="45700" anchor="ctr" anchorCtr="0">
              <a:noAutofit/>
            </a:bodyPr>
            <a:lstStyle/>
            <a:p>
              <a:pPr algn="ctr"/>
              <a:r>
                <a:rPr lang="en-US" b="1" dirty="0" err="1">
                  <a:solidFill>
                    <a:schemeClr val="bg1"/>
                  </a:solidFill>
                  <a:cs typeface="Calibri"/>
                  <a:sym typeface="Calibri"/>
                </a:rPr>
                <a:t>QestionPaper</a:t>
              </a:r>
              <a:endParaRPr b="1" dirty="0">
                <a:solidFill>
                  <a:schemeClr val="bg1"/>
                </a:solidFill>
                <a:cs typeface="Calibri"/>
              </a:endParaRPr>
            </a:p>
          </p:txBody>
        </p:sp>
        <p:sp>
          <p:nvSpPr>
            <p:cNvPr id="83" name="Google Shape;335;p36">
              <a:extLst>
                <a:ext uri="{FF2B5EF4-FFF2-40B4-BE49-F238E27FC236}">
                  <a16:creationId xmlns="" xmlns:a16="http://schemas.microsoft.com/office/drawing/2014/main" id="{0A0CEA97-23C8-4770-B505-55220A2B6481}"/>
                </a:ext>
              </a:extLst>
            </p:cNvPr>
            <p:cNvSpPr/>
            <p:nvPr/>
          </p:nvSpPr>
          <p:spPr>
            <a:xfrm>
              <a:off x="381000" y="2438399"/>
              <a:ext cx="2514600" cy="944222"/>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t" anchorCtr="0">
              <a:noAutofit/>
            </a:bodyPr>
            <a:lstStyle/>
            <a:p>
              <a:r>
                <a:rPr lang="en-US" sz="1500" dirty="0">
                  <a:solidFill>
                    <a:schemeClr val="dk1"/>
                  </a:solidFill>
                  <a:cs typeface="Calibri"/>
                  <a:sym typeface="Calibri"/>
                </a:rPr>
                <a:t>- </a:t>
              </a:r>
              <a:r>
                <a:rPr lang="en-US" sz="1500" dirty="0" err="1">
                  <a:solidFill>
                    <a:schemeClr val="dk1"/>
                  </a:solidFill>
                  <a:cs typeface="Calibri"/>
                  <a:sym typeface="Calibri"/>
                </a:rPr>
                <a:t>subject:string</a:t>
              </a:r>
              <a:endParaRPr lang="en-US" sz="1500" dirty="0">
                <a:solidFill>
                  <a:schemeClr val="dk1"/>
                </a:solidFill>
                <a:cs typeface="Calibri"/>
                <a:sym typeface="Calibri"/>
              </a:endParaRPr>
            </a:p>
            <a:p>
              <a:r>
                <a:rPr lang="en-IN" sz="1500" dirty="0">
                  <a:solidFill>
                    <a:schemeClr val="dk1"/>
                  </a:solidFill>
                  <a:cs typeface="Calibri"/>
                  <a:sym typeface="Calibri"/>
                </a:rPr>
                <a:t>- </a:t>
              </a:r>
              <a:r>
                <a:rPr lang="en-IN" sz="1500" dirty="0" err="1">
                  <a:solidFill>
                    <a:schemeClr val="dk1"/>
                  </a:solidFill>
                  <a:cs typeface="Calibri"/>
                  <a:sym typeface="Calibri"/>
                </a:rPr>
                <a:t>examName:String</a:t>
              </a:r>
              <a:endParaRPr sz="1500" dirty="0">
                <a:solidFill>
                  <a:schemeClr val="dk1"/>
                </a:solidFill>
                <a:cs typeface="Calibri"/>
                <a:sym typeface="Calibri"/>
              </a:endParaRPr>
            </a:p>
          </p:txBody>
        </p:sp>
        <p:sp>
          <p:nvSpPr>
            <p:cNvPr id="84" name="Google Shape;336;p36">
              <a:extLst>
                <a:ext uri="{FF2B5EF4-FFF2-40B4-BE49-F238E27FC236}">
                  <a16:creationId xmlns="" xmlns:a16="http://schemas.microsoft.com/office/drawing/2014/main" id="{235C6388-8011-4EF4-8847-902150BDE0EF}"/>
                </a:ext>
              </a:extLst>
            </p:cNvPr>
            <p:cNvSpPr/>
            <p:nvPr/>
          </p:nvSpPr>
          <p:spPr>
            <a:xfrm>
              <a:off x="381000" y="3382621"/>
              <a:ext cx="2514600" cy="246743"/>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endParaRPr sz="1200">
                <a:solidFill>
                  <a:schemeClr val="dk1"/>
                </a:solidFill>
                <a:cs typeface="Calibri"/>
                <a:sym typeface="Calibri"/>
              </a:endParaRPr>
            </a:p>
          </p:txBody>
        </p:sp>
      </p:grpSp>
      <p:grpSp>
        <p:nvGrpSpPr>
          <p:cNvPr id="86" name="Google Shape;333;p36">
            <a:extLst>
              <a:ext uri="{FF2B5EF4-FFF2-40B4-BE49-F238E27FC236}">
                <a16:creationId xmlns="" xmlns:a16="http://schemas.microsoft.com/office/drawing/2014/main" id="{7610504B-202E-4701-9CF7-22BFA0DBB49D}"/>
              </a:ext>
            </a:extLst>
          </p:cNvPr>
          <p:cNvGrpSpPr/>
          <p:nvPr/>
        </p:nvGrpSpPr>
        <p:grpSpPr>
          <a:xfrm>
            <a:off x="309222" y="5515460"/>
            <a:ext cx="2278291" cy="882906"/>
            <a:chOff x="381000" y="1981200"/>
            <a:chExt cx="2514600" cy="1648164"/>
          </a:xfrm>
        </p:grpSpPr>
        <p:sp>
          <p:nvSpPr>
            <p:cNvPr id="87" name="Google Shape;334;p36">
              <a:extLst>
                <a:ext uri="{FF2B5EF4-FFF2-40B4-BE49-F238E27FC236}">
                  <a16:creationId xmlns="" xmlns:a16="http://schemas.microsoft.com/office/drawing/2014/main" id="{5B28DE8F-A935-474D-A5DA-B375526458B1}"/>
                </a:ext>
              </a:extLst>
            </p:cNvPr>
            <p:cNvSpPr/>
            <p:nvPr/>
          </p:nvSpPr>
          <p:spPr>
            <a:xfrm>
              <a:off x="381000" y="1981200"/>
              <a:ext cx="2514600" cy="457200"/>
            </a:xfrm>
            <a:prstGeom prst="rect">
              <a:avLst/>
            </a:prstGeom>
            <a:ln>
              <a:headEnd type="none" w="sm" len="sm"/>
              <a:tailEnd type="none" w="sm" len="sm"/>
            </a:ln>
          </p:spPr>
          <p:style>
            <a:lnRef idx="2">
              <a:schemeClr val="accent6">
                <a:shade val="50000"/>
              </a:schemeClr>
            </a:lnRef>
            <a:fillRef idx="1">
              <a:schemeClr val="accent6"/>
            </a:fillRef>
            <a:effectRef idx="0">
              <a:schemeClr val="accent6"/>
            </a:effectRef>
            <a:fontRef idx="minor">
              <a:schemeClr val="lt1"/>
            </a:fontRef>
          </p:style>
          <p:txBody>
            <a:bodyPr spcFirstLastPara="1" wrap="square" lIns="91425" tIns="45700" rIns="91425" bIns="45700" anchor="ctr" anchorCtr="0">
              <a:noAutofit/>
            </a:bodyPr>
            <a:lstStyle/>
            <a:p>
              <a:pPr algn="ctr"/>
              <a:r>
                <a:rPr lang="en-US" b="1" dirty="0">
                  <a:solidFill>
                    <a:schemeClr val="bg1"/>
                  </a:solidFill>
                  <a:cs typeface="Calibri"/>
                  <a:sym typeface="Calibri"/>
                </a:rPr>
                <a:t>CD/DVD</a:t>
              </a:r>
              <a:endParaRPr b="1" dirty="0">
                <a:solidFill>
                  <a:schemeClr val="bg1"/>
                </a:solidFill>
                <a:cs typeface="Calibri"/>
              </a:endParaRPr>
            </a:p>
          </p:txBody>
        </p:sp>
        <p:sp>
          <p:nvSpPr>
            <p:cNvPr id="88" name="Google Shape;335;p36">
              <a:extLst>
                <a:ext uri="{FF2B5EF4-FFF2-40B4-BE49-F238E27FC236}">
                  <a16:creationId xmlns="" xmlns:a16="http://schemas.microsoft.com/office/drawing/2014/main" id="{2CAC40D0-F473-49FC-9A0E-CABAB3EDC7B6}"/>
                </a:ext>
              </a:extLst>
            </p:cNvPr>
            <p:cNvSpPr/>
            <p:nvPr/>
          </p:nvSpPr>
          <p:spPr>
            <a:xfrm>
              <a:off x="381000" y="2438399"/>
              <a:ext cx="2514600" cy="944222"/>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t" anchorCtr="0">
              <a:noAutofit/>
            </a:bodyPr>
            <a:lstStyle/>
            <a:p>
              <a:r>
                <a:rPr lang="en-US" sz="1500" dirty="0">
                  <a:solidFill>
                    <a:schemeClr val="dk1"/>
                  </a:solidFill>
                  <a:cs typeface="Calibri"/>
                  <a:sym typeface="Calibri"/>
                </a:rPr>
                <a:t>- </a:t>
              </a:r>
              <a:r>
                <a:rPr lang="en-US" sz="1500" dirty="0" err="1">
                  <a:solidFill>
                    <a:schemeClr val="dk1"/>
                  </a:solidFill>
                  <a:cs typeface="Calibri"/>
                  <a:sym typeface="Calibri"/>
                </a:rPr>
                <a:t>type:string</a:t>
              </a:r>
              <a:endParaRPr lang="en-US" sz="1500" dirty="0">
                <a:solidFill>
                  <a:schemeClr val="dk1"/>
                </a:solidFill>
                <a:cs typeface="Calibri"/>
                <a:sym typeface="Calibri"/>
              </a:endParaRPr>
            </a:p>
            <a:p>
              <a:r>
                <a:rPr lang="en-IN" sz="1500" dirty="0">
                  <a:solidFill>
                    <a:schemeClr val="dk1"/>
                  </a:solidFill>
                  <a:cs typeface="Calibri"/>
                  <a:sym typeface="Calibri"/>
                </a:rPr>
                <a:t>- </a:t>
              </a:r>
              <a:r>
                <a:rPr lang="en-IN" sz="1500" dirty="0" err="1">
                  <a:solidFill>
                    <a:schemeClr val="dk1"/>
                  </a:solidFill>
                  <a:cs typeface="Calibri"/>
                  <a:sym typeface="Calibri"/>
                </a:rPr>
                <a:t>topic:String</a:t>
              </a:r>
              <a:endParaRPr sz="1500" dirty="0">
                <a:solidFill>
                  <a:schemeClr val="dk1"/>
                </a:solidFill>
                <a:cs typeface="Calibri"/>
                <a:sym typeface="Calibri"/>
              </a:endParaRPr>
            </a:p>
          </p:txBody>
        </p:sp>
        <p:sp>
          <p:nvSpPr>
            <p:cNvPr id="89" name="Google Shape;336;p36">
              <a:extLst>
                <a:ext uri="{FF2B5EF4-FFF2-40B4-BE49-F238E27FC236}">
                  <a16:creationId xmlns="" xmlns:a16="http://schemas.microsoft.com/office/drawing/2014/main" id="{7BEB10A0-74DB-4F60-AD6F-A6E5621E00A7}"/>
                </a:ext>
              </a:extLst>
            </p:cNvPr>
            <p:cNvSpPr/>
            <p:nvPr/>
          </p:nvSpPr>
          <p:spPr>
            <a:xfrm>
              <a:off x="381000" y="3382621"/>
              <a:ext cx="2514600" cy="246743"/>
            </a:xfrm>
            <a:prstGeom prst="rect">
              <a:avLst/>
            </a:prstGeom>
            <a:solidFill>
              <a:schemeClr val="lt1"/>
            </a:solidFill>
            <a:ln w="1270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endParaRPr sz="1200">
                <a:solidFill>
                  <a:schemeClr val="dk1"/>
                </a:solidFill>
                <a:cs typeface="Calibri"/>
                <a:sym typeface="Calibri"/>
              </a:endParaRPr>
            </a:p>
          </p:txBody>
        </p:sp>
      </p:grpSp>
      <p:grpSp>
        <p:nvGrpSpPr>
          <p:cNvPr id="102" name="Group 101">
            <a:extLst>
              <a:ext uri="{FF2B5EF4-FFF2-40B4-BE49-F238E27FC236}">
                <a16:creationId xmlns="" xmlns:a16="http://schemas.microsoft.com/office/drawing/2014/main" id="{7B27EA8D-595A-4245-A3DA-7D1F114D5123}"/>
              </a:ext>
            </a:extLst>
          </p:cNvPr>
          <p:cNvGrpSpPr/>
          <p:nvPr/>
        </p:nvGrpSpPr>
        <p:grpSpPr>
          <a:xfrm>
            <a:off x="2569758" y="4047804"/>
            <a:ext cx="1263233" cy="1590115"/>
            <a:chOff x="2569758" y="4047804"/>
            <a:chExt cx="1263233" cy="1590115"/>
          </a:xfrm>
        </p:grpSpPr>
        <p:cxnSp>
          <p:nvCxnSpPr>
            <p:cNvPr id="93" name="Google Shape;376;p36">
              <a:extLst>
                <a:ext uri="{FF2B5EF4-FFF2-40B4-BE49-F238E27FC236}">
                  <a16:creationId xmlns="" xmlns:a16="http://schemas.microsoft.com/office/drawing/2014/main" id="{DC9F94FC-3937-434C-8879-75EE21FC453F}"/>
                </a:ext>
              </a:extLst>
            </p:cNvPr>
            <p:cNvCxnSpPr>
              <a:cxnSpLocks/>
              <a:stCxn id="95" idx="2"/>
              <a:endCxn id="77" idx="3"/>
            </p:cNvCxnSpPr>
            <p:nvPr/>
          </p:nvCxnSpPr>
          <p:spPr>
            <a:xfrm flipH="1" flipV="1">
              <a:off x="2569758" y="4047804"/>
              <a:ext cx="843463" cy="746656"/>
            </a:xfrm>
            <a:prstGeom prst="straightConnector1">
              <a:avLst/>
            </a:prstGeom>
            <a:noFill/>
            <a:ln w="19050" cap="flat" cmpd="sng">
              <a:solidFill>
                <a:srgbClr val="A32D19"/>
              </a:solidFill>
              <a:prstDash val="solid"/>
              <a:round/>
              <a:headEnd type="none" w="sm" len="sm"/>
              <a:tailEnd type="none" w="sm" len="sm"/>
            </a:ln>
          </p:spPr>
        </p:cxnSp>
        <p:cxnSp>
          <p:nvCxnSpPr>
            <p:cNvPr id="94" name="Google Shape;377;p36">
              <a:extLst>
                <a:ext uri="{FF2B5EF4-FFF2-40B4-BE49-F238E27FC236}">
                  <a16:creationId xmlns="" xmlns:a16="http://schemas.microsoft.com/office/drawing/2014/main" id="{6D9C51AA-DDAD-44AA-BB88-51EFD90BB740}"/>
                </a:ext>
              </a:extLst>
            </p:cNvPr>
            <p:cNvCxnSpPr>
              <a:cxnSpLocks/>
              <a:stCxn id="95" idx="2"/>
              <a:endCxn id="87" idx="3"/>
            </p:cNvCxnSpPr>
            <p:nvPr/>
          </p:nvCxnSpPr>
          <p:spPr>
            <a:xfrm flipH="1">
              <a:off x="2587513" y="4794460"/>
              <a:ext cx="825708" cy="843459"/>
            </a:xfrm>
            <a:prstGeom prst="straightConnector1">
              <a:avLst/>
            </a:prstGeom>
            <a:noFill/>
            <a:ln w="19050" cap="flat" cmpd="sng">
              <a:solidFill>
                <a:srgbClr val="A32D19"/>
              </a:solidFill>
              <a:prstDash val="solid"/>
              <a:round/>
              <a:headEnd type="none" w="sm" len="sm"/>
              <a:tailEnd type="none" w="sm" len="sm"/>
            </a:ln>
          </p:spPr>
        </p:cxnSp>
        <p:sp>
          <p:nvSpPr>
            <p:cNvPr id="95" name="Google Shape;378;p36">
              <a:extLst>
                <a:ext uri="{FF2B5EF4-FFF2-40B4-BE49-F238E27FC236}">
                  <a16:creationId xmlns="" xmlns:a16="http://schemas.microsoft.com/office/drawing/2014/main" id="{709C46B6-FA3E-4098-8D4A-B5B68C27BFD3}"/>
                </a:ext>
              </a:extLst>
            </p:cNvPr>
            <p:cNvSpPr/>
            <p:nvPr/>
          </p:nvSpPr>
          <p:spPr>
            <a:xfrm rot="5400000">
              <a:off x="3559065" y="4584574"/>
              <a:ext cx="128082" cy="419771"/>
            </a:xfrm>
            <a:prstGeom prst="upArrow">
              <a:avLst>
                <a:gd name="adj1" fmla="val 2775"/>
                <a:gd name="adj2" fmla="val 50000"/>
              </a:avLst>
            </a:prstGeom>
            <a:solidFill>
              <a:schemeClr val="accent1"/>
            </a:solidFill>
            <a:ln w="19050" cap="flat" cmpd="sng">
              <a:solidFill>
                <a:srgbClr val="A32D1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ea typeface="Calibri"/>
                <a:cs typeface="Calibri"/>
                <a:sym typeface="Calibri"/>
              </a:endParaRPr>
            </a:p>
          </p:txBody>
        </p:sp>
        <p:cxnSp>
          <p:nvCxnSpPr>
            <p:cNvPr id="85" name="Google Shape;377;p36">
              <a:extLst>
                <a:ext uri="{FF2B5EF4-FFF2-40B4-BE49-F238E27FC236}">
                  <a16:creationId xmlns="" xmlns:a16="http://schemas.microsoft.com/office/drawing/2014/main" id="{FDAB24FB-9B04-4F8B-92A1-8CDB47123A94}"/>
                </a:ext>
              </a:extLst>
            </p:cNvPr>
            <p:cNvCxnSpPr>
              <a:cxnSpLocks/>
              <a:stCxn id="95" idx="2"/>
              <a:endCxn id="83" idx="3"/>
            </p:cNvCxnSpPr>
            <p:nvPr/>
          </p:nvCxnSpPr>
          <p:spPr>
            <a:xfrm flipH="1">
              <a:off x="2579179" y="4794460"/>
              <a:ext cx="834042" cy="10244"/>
            </a:xfrm>
            <a:prstGeom prst="straightConnector1">
              <a:avLst/>
            </a:prstGeom>
            <a:noFill/>
            <a:ln w="19050" cap="flat" cmpd="sng">
              <a:solidFill>
                <a:srgbClr val="A32D19"/>
              </a:solidFill>
              <a:prstDash val="solid"/>
              <a:round/>
              <a:headEnd type="none" w="sm" len="sm"/>
              <a:tailEnd type="none" w="sm" len="sm"/>
            </a:ln>
          </p:spPr>
        </p:cxnSp>
      </p:grpSp>
    </p:spTree>
    <p:extLst>
      <p:ext uri="{BB962C8B-B14F-4D97-AF65-F5344CB8AC3E}">
        <p14:creationId xmlns:p14="http://schemas.microsoft.com/office/powerpoint/2010/main" val="2244416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1"/>
                                        </p:tgtEl>
                                        <p:attrNameLst>
                                          <p:attrName>style.visibility</p:attrName>
                                        </p:attrNameLst>
                                      </p:cBhvr>
                                      <p:to>
                                        <p:strVal val="visible"/>
                                      </p:to>
                                    </p:set>
                                    <p:animEffect transition="in" filter="fade">
                                      <p:cBhvr>
                                        <p:cTn id="18" dur="500"/>
                                        <p:tgtEl>
                                          <p:spTgt spid="61"/>
                                        </p:tgtEl>
                                      </p:cBhvr>
                                    </p:animEffect>
                                  </p:childTnLst>
                                </p:cTn>
                              </p:par>
                              <p:par>
                                <p:cTn id="19" presetID="10"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par>
                                <p:cTn id="22" presetID="10" presetClass="entr" presetSubtype="0" fill="hold"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500"/>
                                        <p:tgtEl>
                                          <p:spTgt spid="24"/>
                                        </p:tgtEl>
                                      </p:cBhvr>
                                    </p:animEffect>
                                  </p:childTnLst>
                                </p:cTn>
                              </p:par>
                              <p:par>
                                <p:cTn id="25" presetID="10" presetClass="entr" presetSubtype="0" fill="hold" nodeType="withEffect">
                                  <p:stCondLst>
                                    <p:cond delay="0"/>
                                  </p:stCondLst>
                                  <p:childTnLst>
                                    <p:set>
                                      <p:cBhvr>
                                        <p:cTn id="26" dur="1" fill="hold">
                                          <p:stCondLst>
                                            <p:cond delay="0"/>
                                          </p:stCondLst>
                                        </p:cTn>
                                        <p:tgtEl>
                                          <p:spTgt spid="74"/>
                                        </p:tgtEl>
                                        <p:attrNameLst>
                                          <p:attrName>style.visibility</p:attrName>
                                        </p:attrNameLst>
                                      </p:cBhvr>
                                      <p:to>
                                        <p:strVal val="visible"/>
                                      </p:to>
                                    </p:set>
                                    <p:animEffect transition="in" filter="fade">
                                      <p:cBhvr>
                                        <p:cTn id="27" dur="500"/>
                                        <p:tgtEl>
                                          <p:spTgt spid="74"/>
                                        </p:tgtEl>
                                      </p:cBhvr>
                                    </p:animEffect>
                                  </p:childTnLst>
                                </p:cTn>
                              </p:par>
                              <p:par>
                                <p:cTn id="28" presetID="10" presetClass="entr" presetSubtype="0" fill="hold" nodeType="withEffect">
                                  <p:stCondLst>
                                    <p:cond delay="0"/>
                                  </p:stCondLst>
                                  <p:childTnLst>
                                    <p:set>
                                      <p:cBhvr>
                                        <p:cTn id="29" dur="1" fill="hold">
                                          <p:stCondLst>
                                            <p:cond delay="0"/>
                                          </p:stCondLst>
                                        </p:cTn>
                                        <p:tgtEl>
                                          <p:spTgt spid="81"/>
                                        </p:tgtEl>
                                        <p:attrNameLst>
                                          <p:attrName>style.visibility</p:attrName>
                                        </p:attrNameLst>
                                      </p:cBhvr>
                                      <p:to>
                                        <p:strVal val="visible"/>
                                      </p:to>
                                    </p:set>
                                    <p:animEffect transition="in" filter="fade">
                                      <p:cBhvr>
                                        <p:cTn id="30" dur="500"/>
                                        <p:tgtEl>
                                          <p:spTgt spid="81"/>
                                        </p:tgtEl>
                                      </p:cBhvr>
                                    </p:animEffect>
                                  </p:childTnLst>
                                </p:cTn>
                              </p:par>
                              <p:par>
                                <p:cTn id="31" presetID="10" presetClass="entr" presetSubtype="0" fill="hold" nodeType="withEffect">
                                  <p:stCondLst>
                                    <p:cond delay="0"/>
                                  </p:stCondLst>
                                  <p:childTnLst>
                                    <p:set>
                                      <p:cBhvr>
                                        <p:cTn id="32" dur="1" fill="hold">
                                          <p:stCondLst>
                                            <p:cond delay="0"/>
                                          </p:stCondLst>
                                        </p:cTn>
                                        <p:tgtEl>
                                          <p:spTgt spid="86"/>
                                        </p:tgtEl>
                                        <p:attrNameLst>
                                          <p:attrName>style.visibility</p:attrName>
                                        </p:attrNameLst>
                                      </p:cBhvr>
                                      <p:to>
                                        <p:strVal val="visible"/>
                                      </p:to>
                                    </p:set>
                                    <p:animEffect transition="in" filter="fade">
                                      <p:cBhvr>
                                        <p:cTn id="33" dur="500"/>
                                        <p:tgtEl>
                                          <p:spTgt spid="86"/>
                                        </p:tgtEl>
                                      </p:cBhvr>
                                    </p:animEffect>
                                  </p:childTnLst>
                                </p:cTn>
                              </p:par>
                              <p:par>
                                <p:cTn id="34" presetID="10" presetClass="entr" presetSubtype="0" fill="hold" nodeType="withEffect">
                                  <p:stCondLst>
                                    <p:cond delay="0"/>
                                  </p:stCondLst>
                                  <p:childTnLst>
                                    <p:set>
                                      <p:cBhvr>
                                        <p:cTn id="35" dur="1" fill="hold">
                                          <p:stCondLst>
                                            <p:cond delay="0"/>
                                          </p:stCondLst>
                                        </p:cTn>
                                        <p:tgtEl>
                                          <p:spTgt spid="102"/>
                                        </p:tgtEl>
                                        <p:attrNameLst>
                                          <p:attrName>style.visibility</p:attrName>
                                        </p:attrNameLst>
                                      </p:cBhvr>
                                      <p:to>
                                        <p:strVal val="visible"/>
                                      </p:to>
                                    </p:set>
                                    <p:animEffect transition="in" filter="fade">
                                      <p:cBhvr>
                                        <p:cTn id="36" dur="500"/>
                                        <p:tgtEl>
                                          <p:spTgt spid="10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50"/>
                                        </p:tgtEl>
                                        <p:attrNameLst>
                                          <p:attrName>style.visibility</p:attrName>
                                        </p:attrNameLst>
                                      </p:cBhvr>
                                      <p:to>
                                        <p:strVal val="visible"/>
                                      </p:to>
                                    </p:set>
                                    <p:animEffect transition="in" filter="fade">
                                      <p:cBhvr>
                                        <p:cTn id="46" dur="500"/>
                                        <p:tgtEl>
                                          <p:spTgt spid="50"/>
                                        </p:tgtEl>
                                      </p:cBhvr>
                                    </p:animEffect>
                                  </p:childTnLst>
                                </p:cTn>
                              </p:par>
                              <p:par>
                                <p:cTn id="47" presetID="10" presetClass="entr" presetSubtype="0" fill="hold" nodeType="with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500"/>
                                        <p:tgtEl>
                                          <p:spTgt spid="28"/>
                                        </p:tgtEl>
                                      </p:cBhvr>
                                    </p:animEffect>
                                  </p:childTnLst>
                                </p:cTn>
                              </p:par>
                              <p:par>
                                <p:cTn id="50" presetID="10" presetClass="entr" presetSubtype="0" fill="hold" nodeType="with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fade">
                                      <p:cBhvr>
                                        <p:cTn id="52" dur="500"/>
                                        <p:tgtEl>
                                          <p:spTgt spid="39"/>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5"/>
                                        </p:tgtEl>
                                        <p:attrNameLst>
                                          <p:attrName>style.visibility</p:attrName>
                                        </p:attrNameLst>
                                      </p:cBhvr>
                                      <p:to>
                                        <p:strVal val="visible"/>
                                      </p:to>
                                    </p:set>
                                    <p:animEffect transition="in" filter="fade">
                                      <p:cBhvr>
                                        <p:cTn id="57" dur="500"/>
                                        <p:tgtEl>
                                          <p:spTgt spid="4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fade">
                                      <p:cBhvr>
                                        <p:cTn id="62" dur="500"/>
                                        <p:tgtEl>
                                          <p:spTgt spid="3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56"/>
                                        </p:tgtEl>
                                        <p:attrNameLst>
                                          <p:attrName>style.visibility</p:attrName>
                                        </p:attrNameLst>
                                      </p:cBhvr>
                                      <p:to>
                                        <p:strVal val="visible"/>
                                      </p:to>
                                    </p:set>
                                    <p:animEffect transition="in" filter="fade">
                                      <p:cBhvr>
                                        <p:cTn id="6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34145" y="2421082"/>
            <a:ext cx="5486400" cy="1015663"/>
          </a:xfrm>
          <a:prstGeom prst="rect">
            <a:avLst/>
          </a:prstGeom>
          <a:noFill/>
        </p:spPr>
        <p:txBody>
          <a:bodyPr wrap="square" rtlCol="0">
            <a:spAutoFit/>
          </a:bodyPr>
          <a:lstStyle/>
          <a:p>
            <a:pPr algn="ctr"/>
            <a:r>
              <a:rPr lang="en-US" sz="6000" b="1" dirty="0" smtClean="0">
                <a:latin typeface="Calibri" panose="020F0502020204030204" pitchFamily="34" charset="0"/>
                <a:cs typeface="Calibri" panose="020F0502020204030204" pitchFamily="34" charset="0"/>
              </a:rPr>
              <a:t>Thank You</a:t>
            </a:r>
            <a:endParaRPr lang="en-IN" sz="60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00725211"/>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50D4EBEFF7470478324E53EDEEEB054" ma:contentTypeVersion="3" ma:contentTypeDescription="Create a new document." ma:contentTypeScope="" ma:versionID="b6c877c1dc40e70caf4ed1441861c67a">
  <xsd:schema xmlns:xsd="http://www.w3.org/2001/XMLSchema" xmlns:xs="http://www.w3.org/2001/XMLSchema" xmlns:p="http://schemas.microsoft.com/office/2006/metadata/properties" xmlns:ns2="90f73b58-fc9b-41f5-a9d0-0306e47cdf01" targetNamespace="http://schemas.microsoft.com/office/2006/metadata/properties" ma:root="true" ma:fieldsID="d34ada8c5e7c47e334716a783ca32266" ns2:_="">
    <xsd:import namespace="90f73b58-fc9b-41f5-a9d0-0306e47cdf0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0f73b58-fc9b-41f5-a9d0-0306e47cdf0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DFC575C-42CE-466A-83F6-2215FC40C9DE}"/>
</file>

<file path=customXml/itemProps2.xml><?xml version="1.0" encoding="utf-8"?>
<ds:datastoreItem xmlns:ds="http://schemas.openxmlformats.org/officeDocument/2006/customXml" ds:itemID="{E7BAA29D-1359-4917-9D7F-2F768B7D0D4A}"/>
</file>

<file path=customXml/itemProps3.xml><?xml version="1.0" encoding="utf-8"?>
<ds:datastoreItem xmlns:ds="http://schemas.openxmlformats.org/officeDocument/2006/customXml" ds:itemID="{1A17D5EF-7F84-4881-A23B-C19F81E50DF1}"/>
</file>

<file path=docProps/app.xml><?xml version="1.0" encoding="utf-8"?>
<Properties xmlns="http://schemas.openxmlformats.org/officeDocument/2006/extended-properties" xmlns:vt="http://schemas.openxmlformats.org/officeDocument/2006/docPropsVTypes">
  <TotalTime>3606</TotalTime>
  <Words>2085</Words>
  <Application>Microsoft Office PowerPoint</Application>
  <PresentationFormat>Widescreen</PresentationFormat>
  <Paragraphs>353</Paragraphs>
  <Slides>24</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Book Antiqua</vt:lpstr>
      <vt:lpstr>Wingdings</vt:lpstr>
      <vt:lpstr>Wingdings 3</vt:lpstr>
      <vt:lpstr>Times</vt:lpstr>
      <vt:lpstr>Calibri</vt:lpstr>
      <vt:lpstr>Roboto Condensed</vt:lpstr>
      <vt:lpstr>Open Sans</vt:lpstr>
      <vt:lpstr>Arial</vt:lpstr>
      <vt:lpstr>Office Theme</vt:lpstr>
      <vt:lpstr>Class-Based Modeling</vt:lpstr>
      <vt:lpstr>Class diagram </vt:lpstr>
      <vt:lpstr>Elements of Class Diagram (Class Name)</vt:lpstr>
      <vt:lpstr>Elements of Class Diagram (Class Name) Cont.</vt:lpstr>
      <vt:lpstr>Elements of Class Diagram (Attributes)</vt:lpstr>
      <vt:lpstr>Elements of Class Diagram (Access Modifiers)</vt:lpstr>
      <vt:lpstr>Elements of Class Diagram (Operation)</vt:lpstr>
      <vt:lpstr>Generalization &amp; Specialization</vt:lpstr>
      <vt:lpstr>Generalization &amp; Specialization</vt:lpstr>
      <vt:lpstr>Link and Association Concepts</vt:lpstr>
      <vt:lpstr>Aggregation</vt:lpstr>
      <vt:lpstr>Composition</vt:lpstr>
      <vt:lpstr>Multiplicity</vt:lpstr>
      <vt:lpstr>Example Of Multiplicity</vt:lpstr>
      <vt:lpstr>Role Names or Association End Names </vt:lpstr>
      <vt:lpstr>PowerPoint Presentation</vt:lpstr>
      <vt:lpstr>PowerPoint Presentation</vt:lpstr>
      <vt:lpstr>PowerPoint Presentation</vt:lpstr>
      <vt:lpstr>Qualification/Qualified Associations</vt:lpstr>
      <vt:lpstr>PowerPoint Presentation</vt:lpstr>
      <vt:lpstr>PowerPoint Presentation</vt:lpstr>
      <vt:lpstr>Class Diagram Of Bank Management System</vt:lpstr>
      <vt:lpstr>Class Diagram Of Library Management System</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Hargeet Kaur</cp:lastModifiedBy>
  <cp:revision>1876</cp:revision>
  <dcterms:created xsi:type="dcterms:W3CDTF">2020-05-01T05:09:15Z</dcterms:created>
  <dcterms:modified xsi:type="dcterms:W3CDTF">2025-07-18T09:30:35Z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0x010100850D4EBEFF7470478324E53EDEEEB054</vt:lpwstr>
  </property>
</Properties>
</file>