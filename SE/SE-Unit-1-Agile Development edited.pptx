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304" r:id="rId27"/>
    <p:sldId id="305" r:id="rId28"/>
    <p:sldId id="306" r:id="rId29"/>
    <p:sldId id="302" r:id="rId30"/>
    <p:sldId id="278" r:id="rId31"/>
  </p:sldIdLst>
  <p:sldSz cx="12192000" cy="6858000"/>
  <p:notesSz cx="6858000" cy="9144000"/>
  <p:embeddedFontLst>
    <p:embeddedFont>
      <p:font typeface="Noto Sans Symbols" panose="020B0604020202020204" charset="0"/>
      <p:regular r:id="rId33"/>
      <p:bold r:id="rId34"/>
    </p:embeddedFont>
    <p:embeddedFont>
      <p:font typeface="Roboto Condensed" panose="02000000000000000000" pitchFamily="2" charset="0"/>
      <p:regular r:id="rId35"/>
      <p:bold r:id="rId36"/>
      <p:italic r:id="rId37"/>
      <p:boldItalic r:id="rId38"/>
    </p:embeddedFont>
    <p:embeddedFont>
      <p:font typeface="Roboto Condensed Light" panose="02000000000000000000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ivrsaoC0hN83Hhwnilz2gIKdrs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409A7D-F13F-4437-8714-1321FF24F505}" v="4" dt="2026-01-21T06:27:05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bleStyles" Target="tableStyles.xml"/><Relationship Id="rId50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52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customschemas.google.com/relationships/presentationmetadata" Target="meta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nit Gupta" userId="49bf7424-c6d5-47c8-8011-1d507b41ab65" providerId="ADAL" clId="{66DF5A38-D4D2-47BD-94C4-AF9F2597F878}"/>
    <pc:docChg chg="custSel addSld modSld">
      <pc:chgData name="Punit Gupta" userId="49bf7424-c6d5-47c8-8011-1d507b41ab65" providerId="ADAL" clId="{66DF5A38-D4D2-47BD-94C4-AF9F2597F878}" dt="2026-01-21T06:27:26.719" v="13" actId="478"/>
      <pc:docMkLst>
        <pc:docMk/>
      </pc:docMkLst>
      <pc:sldChg chg="addSp modSp new">
        <pc:chgData name="Punit Gupta" userId="49bf7424-c6d5-47c8-8011-1d507b41ab65" providerId="ADAL" clId="{66DF5A38-D4D2-47BD-94C4-AF9F2597F878}" dt="2026-01-21T06:26:28.252" v="2" actId="1076"/>
        <pc:sldMkLst>
          <pc:docMk/>
          <pc:sldMk cId="373187016" sldId="279"/>
        </pc:sldMkLst>
        <pc:picChg chg="add mod">
          <ac:chgData name="Punit Gupta" userId="49bf7424-c6d5-47c8-8011-1d507b41ab65" providerId="ADAL" clId="{66DF5A38-D4D2-47BD-94C4-AF9F2597F878}" dt="2026-01-21T06:26:28.252" v="2" actId="1076"/>
          <ac:picMkLst>
            <pc:docMk/>
            <pc:sldMk cId="373187016" sldId="279"/>
            <ac:picMk id="4" creationId="{BC5A787F-5E17-6C41-8EC1-0F61431DD71B}"/>
          </ac:picMkLst>
        </pc:picChg>
      </pc:sldChg>
      <pc:sldChg chg="addSp modSp new mod">
        <pc:chgData name="Punit Gupta" userId="49bf7424-c6d5-47c8-8011-1d507b41ab65" providerId="ADAL" clId="{66DF5A38-D4D2-47BD-94C4-AF9F2597F878}" dt="2026-01-21T06:26:47.529" v="5" actId="1076"/>
        <pc:sldMkLst>
          <pc:docMk/>
          <pc:sldMk cId="2431789337" sldId="280"/>
        </pc:sldMkLst>
        <pc:picChg chg="add mod">
          <ac:chgData name="Punit Gupta" userId="49bf7424-c6d5-47c8-8011-1d507b41ab65" providerId="ADAL" clId="{66DF5A38-D4D2-47BD-94C4-AF9F2597F878}" dt="2026-01-21T06:26:47.529" v="5" actId="1076"/>
          <ac:picMkLst>
            <pc:docMk/>
            <pc:sldMk cId="2431789337" sldId="280"/>
            <ac:picMk id="4" creationId="{04B9769B-0745-3197-FFF1-83150CFAB7CA}"/>
          </ac:picMkLst>
        </pc:picChg>
      </pc:sldChg>
      <pc:sldChg chg="new">
        <pc:chgData name="Punit Gupta" userId="49bf7424-c6d5-47c8-8011-1d507b41ab65" providerId="ADAL" clId="{66DF5A38-D4D2-47BD-94C4-AF9F2597F878}" dt="2026-01-21T06:26:49.895" v="6" actId="680"/>
        <pc:sldMkLst>
          <pc:docMk/>
          <pc:sldMk cId="3706277628" sldId="281"/>
        </pc:sldMkLst>
      </pc:sldChg>
      <pc:sldChg chg="add">
        <pc:chgData name="Punit Gupta" userId="49bf7424-c6d5-47c8-8011-1d507b41ab65" providerId="ADAL" clId="{66DF5A38-D4D2-47BD-94C4-AF9F2597F878}" dt="2026-01-21T06:27:05.847" v="7"/>
        <pc:sldMkLst>
          <pc:docMk/>
          <pc:sldMk cId="2531600804" sldId="302"/>
        </pc:sldMkLst>
      </pc:sldChg>
      <pc:sldChg chg="delSp modSp add mod setBg">
        <pc:chgData name="Punit Gupta" userId="49bf7424-c6d5-47c8-8011-1d507b41ab65" providerId="ADAL" clId="{66DF5A38-D4D2-47BD-94C4-AF9F2597F878}" dt="2026-01-21T06:27:15.276" v="11" actId="14100"/>
        <pc:sldMkLst>
          <pc:docMk/>
          <pc:sldMk cId="343754483" sldId="304"/>
        </pc:sldMkLst>
        <pc:grpChg chg="del">
          <ac:chgData name="Punit Gupta" userId="49bf7424-c6d5-47c8-8011-1d507b41ab65" providerId="ADAL" clId="{66DF5A38-D4D2-47BD-94C4-AF9F2597F878}" dt="2026-01-21T06:27:12.205" v="9" actId="478"/>
          <ac:grpSpMkLst>
            <pc:docMk/>
            <pc:sldMk cId="343754483" sldId="304"/>
            <ac:grpSpMk id="25" creationId="{B31C6A87-1B5C-E6ED-ACFD-95BE5958950D}"/>
          </ac:grpSpMkLst>
        </pc:grpChg>
        <pc:picChg chg="mod">
          <ac:chgData name="Punit Gupta" userId="49bf7424-c6d5-47c8-8011-1d507b41ab65" providerId="ADAL" clId="{66DF5A38-D4D2-47BD-94C4-AF9F2597F878}" dt="2026-01-21T06:27:15.276" v="11" actId="14100"/>
          <ac:picMkLst>
            <pc:docMk/>
            <pc:sldMk cId="343754483" sldId="304"/>
            <ac:picMk id="5" creationId="{DF467BEF-5D02-FBEE-DC3D-5ED825063800}"/>
          </ac:picMkLst>
        </pc:picChg>
        <pc:inkChg chg="del">
          <ac:chgData name="Punit Gupta" userId="49bf7424-c6d5-47c8-8011-1d507b41ab65" providerId="ADAL" clId="{66DF5A38-D4D2-47BD-94C4-AF9F2597F878}" dt="2026-01-21T06:27:12.205" v="9" actId="478"/>
          <ac:inkMkLst>
            <pc:docMk/>
            <pc:sldMk cId="343754483" sldId="304"/>
            <ac:inkMk id="2" creationId="{E5FE5743-BBB7-1121-8A99-801F9380AF34}"/>
          </ac:inkMkLst>
        </pc:inkChg>
        <pc:inkChg chg="del">
          <ac:chgData name="Punit Gupta" userId="49bf7424-c6d5-47c8-8011-1d507b41ab65" providerId="ADAL" clId="{66DF5A38-D4D2-47BD-94C4-AF9F2597F878}" dt="2026-01-21T06:27:12.205" v="9" actId="478"/>
          <ac:inkMkLst>
            <pc:docMk/>
            <pc:sldMk cId="343754483" sldId="304"/>
            <ac:inkMk id="4" creationId="{0F19F8E5-E557-F365-B0E3-AF2FAFE79A2D}"/>
          </ac:inkMkLst>
        </pc:inkChg>
        <pc:inkChg chg="del">
          <ac:chgData name="Punit Gupta" userId="49bf7424-c6d5-47c8-8011-1d507b41ab65" providerId="ADAL" clId="{66DF5A38-D4D2-47BD-94C4-AF9F2597F878}" dt="2026-01-21T06:27:12.205" v="9" actId="478"/>
          <ac:inkMkLst>
            <pc:docMk/>
            <pc:sldMk cId="343754483" sldId="304"/>
            <ac:inkMk id="6" creationId="{B81E33D2-7A23-3B0A-2E28-CE88D6BA3753}"/>
          </ac:inkMkLst>
        </pc:inkChg>
        <pc:inkChg chg="del">
          <ac:chgData name="Punit Gupta" userId="49bf7424-c6d5-47c8-8011-1d507b41ab65" providerId="ADAL" clId="{66DF5A38-D4D2-47BD-94C4-AF9F2597F878}" dt="2026-01-21T06:27:12.205" v="9" actId="478"/>
          <ac:inkMkLst>
            <pc:docMk/>
            <pc:sldMk cId="343754483" sldId="304"/>
            <ac:inkMk id="8" creationId="{64F90CC9-5CA6-AAD8-4A22-E61759600635}"/>
          </ac:inkMkLst>
        </pc:inkChg>
        <pc:inkChg chg="del">
          <ac:chgData name="Punit Gupta" userId="49bf7424-c6d5-47c8-8011-1d507b41ab65" providerId="ADAL" clId="{66DF5A38-D4D2-47BD-94C4-AF9F2597F878}" dt="2026-01-21T06:27:12.205" v="9" actId="478"/>
          <ac:inkMkLst>
            <pc:docMk/>
            <pc:sldMk cId="343754483" sldId="304"/>
            <ac:inkMk id="9" creationId="{A6C084AC-F003-CFA1-B234-1E194334A167}"/>
          </ac:inkMkLst>
        </pc:inkChg>
        <pc:inkChg chg="del">
          <ac:chgData name="Punit Gupta" userId="49bf7424-c6d5-47c8-8011-1d507b41ab65" providerId="ADAL" clId="{66DF5A38-D4D2-47BD-94C4-AF9F2597F878}" dt="2026-01-21T06:27:12.205" v="9" actId="478"/>
          <ac:inkMkLst>
            <pc:docMk/>
            <pc:sldMk cId="343754483" sldId="304"/>
            <ac:inkMk id="12" creationId="{DE513AD4-8555-FDA9-9994-DE018BE4890D}"/>
          </ac:inkMkLst>
        </pc:inkChg>
        <pc:inkChg chg="del">
          <ac:chgData name="Punit Gupta" userId="49bf7424-c6d5-47c8-8011-1d507b41ab65" providerId="ADAL" clId="{66DF5A38-D4D2-47BD-94C4-AF9F2597F878}" dt="2026-01-21T06:27:12.205" v="9" actId="478"/>
          <ac:inkMkLst>
            <pc:docMk/>
            <pc:sldMk cId="343754483" sldId="304"/>
            <ac:inkMk id="23" creationId="{3480F92B-7E9B-0982-5549-5B4C769192FD}"/>
          </ac:inkMkLst>
        </pc:inkChg>
        <pc:inkChg chg="del">
          <ac:chgData name="Punit Gupta" userId="49bf7424-c6d5-47c8-8011-1d507b41ab65" providerId="ADAL" clId="{66DF5A38-D4D2-47BD-94C4-AF9F2597F878}" dt="2026-01-21T06:27:12.205" v="9" actId="478"/>
          <ac:inkMkLst>
            <pc:docMk/>
            <pc:sldMk cId="343754483" sldId="304"/>
            <ac:inkMk id="26" creationId="{1FCD9C62-F819-2374-A7CB-00C19E4FB786}"/>
          </ac:inkMkLst>
        </pc:inkChg>
        <pc:inkChg chg="del">
          <ac:chgData name="Punit Gupta" userId="49bf7424-c6d5-47c8-8011-1d507b41ab65" providerId="ADAL" clId="{66DF5A38-D4D2-47BD-94C4-AF9F2597F878}" dt="2026-01-21T06:27:12.205" v="9" actId="478"/>
          <ac:inkMkLst>
            <pc:docMk/>
            <pc:sldMk cId="343754483" sldId="304"/>
            <ac:inkMk id="27" creationId="{21B10F2E-AF8A-46F4-89F4-A441283E42BA}"/>
          </ac:inkMkLst>
        </pc:inkChg>
      </pc:sldChg>
      <pc:sldChg chg="delSp add mod setBg">
        <pc:chgData name="Punit Gupta" userId="49bf7424-c6d5-47c8-8011-1d507b41ab65" providerId="ADAL" clId="{66DF5A38-D4D2-47BD-94C4-AF9F2597F878}" dt="2026-01-21T06:27:26.719" v="13" actId="478"/>
        <pc:sldMkLst>
          <pc:docMk/>
          <pc:sldMk cId="634035056" sldId="305"/>
        </pc:sldMkLst>
        <pc:grpChg chg="del">
          <ac:chgData name="Punit Gupta" userId="49bf7424-c6d5-47c8-8011-1d507b41ab65" providerId="ADAL" clId="{66DF5A38-D4D2-47BD-94C4-AF9F2597F878}" dt="2026-01-21T06:27:26.719" v="13" actId="478"/>
          <ac:grpSpMkLst>
            <pc:docMk/>
            <pc:sldMk cId="634035056" sldId="305"/>
            <ac:grpSpMk id="11" creationId="{A0B8BE44-1F96-91CA-003B-32DAE5CA0812}"/>
          </ac:grpSpMkLst>
        </pc:grpChg>
        <pc:inkChg chg="del">
          <ac:chgData name="Punit Gupta" userId="49bf7424-c6d5-47c8-8011-1d507b41ab65" providerId="ADAL" clId="{66DF5A38-D4D2-47BD-94C4-AF9F2597F878}" dt="2026-01-21T06:27:26.719" v="13" actId="478"/>
          <ac:inkMkLst>
            <pc:docMk/>
            <pc:sldMk cId="634035056" sldId="305"/>
            <ac:inkMk id="2" creationId="{36F22DDC-15AF-FDA2-EC5D-26A4A16D6CF0}"/>
          </ac:inkMkLst>
        </pc:inkChg>
        <pc:inkChg chg="del">
          <ac:chgData name="Punit Gupta" userId="49bf7424-c6d5-47c8-8011-1d507b41ab65" providerId="ADAL" clId="{66DF5A38-D4D2-47BD-94C4-AF9F2597F878}" dt="2026-01-21T06:27:26.719" v="13" actId="478"/>
          <ac:inkMkLst>
            <pc:docMk/>
            <pc:sldMk cId="634035056" sldId="305"/>
            <ac:inkMk id="6" creationId="{D77AEFC2-5C3F-0044-611E-DCA40710EC1C}"/>
          </ac:inkMkLst>
        </pc:inkChg>
        <pc:inkChg chg="del">
          <ac:chgData name="Punit Gupta" userId="49bf7424-c6d5-47c8-8011-1d507b41ab65" providerId="ADAL" clId="{66DF5A38-D4D2-47BD-94C4-AF9F2597F878}" dt="2026-01-21T06:27:26.719" v="13" actId="478"/>
          <ac:inkMkLst>
            <pc:docMk/>
            <pc:sldMk cId="634035056" sldId="305"/>
            <ac:inkMk id="7" creationId="{D2F7D212-038E-0545-098C-1D6B71010FF2}"/>
          </ac:inkMkLst>
        </pc:inkChg>
        <pc:inkChg chg="del">
          <ac:chgData name="Punit Gupta" userId="49bf7424-c6d5-47c8-8011-1d507b41ab65" providerId="ADAL" clId="{66DF5A38-D4D2-47BD-94C4-AF9F2597F878}" dt="2026-01-21T06:27:26.719" v="13" actId="478"/>
          <ac:inkMkLst>
            <pc:docMk/>
            <pc:sldMk cId="634035056" sldId="305"/>
            <ac:inkMk id="12" creationId="{543C2967-B3ED-7F06-4BA4-C47E98D8AECB}"/>
          </ac:inkMkLst>
        </pc:inkChg>
        <pc:inkChg chg="del">
          <ac:chgData name="Punit Gupta" userId="49bf7424-c6d5-47c8-8011-1d507b41ab65" providerId="ADAL" clId="{66DF5A38-D4D2-47BD-94C4-AF9F2597F878}" dt="2026-01-21T06:27:26.719" v="13" actId="478"/>
          <ac:inkMkLst>
            <pc:docMk/>
            <pc:sldMk cId="634035056" sldId="305"/>
            <ac:inkMk id="13" creationId="{8513A647-5C12-A62F-E64C-A5A6166990BB}"/>
          </ac:inkMkLst>
        </pc:inkChg>
        <pc:inkChg chg="del">
          <ac:chgData name="Punit Gupta" userId="49bf7424-c6d5-47c8-8011-1d507b41ab65" providerId="ADAL" clId="{66DF5A38-D4D2-47BD-94C4-AF9F2597F878}" dt="2026-01-21T06:27:26.719" v="13" actId="478"/>
          <ac:inkMkLst>
            <pc:docMk/>
            <pc:sldMk cId="634035056" sldId="305"/>
            <ac:inkMk id="14" creationId="{20E9C70E-D872-3556-93A8-71E35086BB20}"/>
          </ac:inkMkLst>
        </pc:inkChg>
      </pc:sldChg>
      <pc:sldChg chg="delSp add mod setBg">
        <pc:chgData name="Punit Gupta" userId="49bf7424-c6d5-47c8-8011-1d507b41ab65" providerId="ADAL" clId="{66DF5A38-D4D2-47BD-94C4-AF9F2597F878}" dt="2026-01-21T06:27:20.462" v="12" actId="478"/>
        <pc:sldMkLst>
          <pc:docMk/>
          <pc:sldMk cId="1149937294" sldId="306"/>
        </pc:sldMkLst>
        <pc:grpChg chg="del">
          <ac:chgData name="Punit Gupta" userId="49bf7424-c6d5-47c8-8011-1d507b41ab65" providerId="ADAL" clId="{66DF5A38-D4D2-47BD-94C4-AF9F2597F878}" dt="2026-01-21T06:27:20.462" v="12" actId="478"/>
          <ac:grpSpMkLst>
            <pc:docMk/>
            <pc:sldMk cId="1149937294" sldId="306"/>
            <ac:grpSpMk id="13" creationId="{517B3B8A-D137-F571-F850-994B45718D5A}"/>
          </ac:grpSpMkLst>
        </pc:grpChg>
        <pc:grpChg chg="del">
          <ac:chgData name="Punit Gupta" userId="49bf7424-c6d5-47c8-8011-1d507b41ab65" providerId="ADAL" clId="{66DF5A38-D4D2-47BD-94C4-AF9F2597F878}" dt="2026-01-21T06:27:20.462" v="12" actId="478"/>
          <ac:grpSpMkLst>
            <pc:docMk/>
            <pc:sldMk cId="1149937294" sldId="306"/>
            <ac:grpSpMk id="19" creationId="{5B8F4BF6-BC90-3C06-5C42-87FFC3EF1E0B}"/>
          </ac:grpSpMkLst>
        </pc:grpChg>
        <pc:grpChg chg="del">
          <ac:chgData name="Punit Gupta" userId="49bf7424-c6d5-47c8-8011-1d507b41ab65" providerId="ADAL" clId="{66DF5A38-D4D2-47BD-94C4-AF9F2597F878}" dt="2026-01-21T06:27:20.462" v="12" actId="478"/>
          <ac:grpSpMkLst>
            <pc:docMk/>
            <pc:sldMk cId="1149937294" sldId="306"/>
            <ac:grpSpMk id="52" creationId="{C5B9E09D-E5C8-44B1-4488-EDA2597502E7}"/>
          </ac:grpSpMkLst>
        </pc:grpChg>
        <pc:inkChg chg="del">
          <ac:chgData name="Punit Gupta" userId="49bf7424-c6d5-47c8-8011-1d507b41ab65" providerId="ADAL" clId="{66DF5A38-D4D2-47BD-94C4-AF9F2597F878}" dt="2026-01-21T06:27:20.462" v="12" actId="478"/>
          <ac:inkMkLst>
            <pc:docMk/>
            <pc:sldMk cId="1149937294" sldId="306"/>
            <ac:inkMk id="3" creationId="{38543894-45D0-7A25-6412-F11A4A3ABF0A}"/>
          </ac:inkMkLst>
        </pc:inkChg>
        <pc:inkChg chg="del">
          <ac:chgData name="Punit Gupta" userId="49bf7424-c6d5-47c8-8011-1d507b41ab65" providerId="ADAL" clId="{66DF5A38-D4D2-47BD-94C4-AF9F2597F878}" dt="2026-01-21T06:27:20.462" v="12" actId="478"/>
          <ac:inkMkLst>
            <pc:docMk/>
            <pc:sldMk cId="1149937294" sldId="306"/>
            <ac:inkMk id="16" creationId="{73B66E03-2EA8-2D79-3CC7-8EFEA2CC5D8D}"/>
          </ac:inkMkLst>
        </pc:inkChg>
        <pc:inkChg chg="del">
          <ac:chgData name="Punit Gupta" userId="49bf7424-c6d5-47c8-8011-1d507b41ab65" providerId="ADAL" clId="{66DF5A38-D4D2-47BD-94C4-AF9F2597F878}" dt="2026-01-21T06:27:20.462" v="12" actId="478"/>
          <ac:inkMkLst>
            <pc:docMk/>
            <pc:sldMk cId="1149937294" sldId="306"/>
            <ac:inkMk id="20" creationId="{68E32734-57BE-A2C2-CA16-606673A17C55}"/>
          </ac:inkMkLst>
        </pc:inkChg>
        <pc:inkChg chg="del">
          <ac:chgData name="Punit Gupta" userId="49bf7424-c6d5-47c8-8011-1d507b41ab65" providerId="ADAL" clId="{66DF5A38-D4D2-47BD-94C4-AF9F2597F878}" dt="2026-01-21T06:27:20.462" v="12" actId="478"/>
          <ac:inkMkLst>
            <pc:docMk/>
            <pc:sldMk cId="1149937294" sldId="306"/>
            <ac:inkMk id="23" creationId="{9CDB80E0-EFD7-40AB-6748-622BA50ABA9E}"/>
          </ac:inkMkLst>
        </pc:inkChg>
        <pc:inkChg chg="del">
          <ac:chgData name="Punit Gupta" userId="49bf7424-c6d5-47c8-8011-1d507b41ab65" providerId="ADAL" clId="{66DF5A38-D4D2-47BD-94C4-AF9F2597F878}" dt="2026-01-21T06:27:20.462" v="12" actId="478"/>
          <ac:inkMkLst>
            <pc:docMk/>
            <pc:sldMk cId="1149937294" sldId="306"/>
            <ac:inkMk id="28" creationId="{CDA79683-2CA2-B0A2-6356-9D1EA45098C7}"/>
          </ac:inkMkLst>
        </pc:inkChg>
        <pc:inkChg chg="del">
          <ac:chgData name="Punit Gupta" userId="49bf7424-c6d5-47c8-8011-1d507b41ab65" providerId="ADAL" clId="{66DF5A38-D4D2-47BD-94C4-AF9F2597F878}" dt="2026-01-21T06:27:20.462" v="12" actId="478"/>
          <ac:inkMkLst>
            <pc:docMk/>
            <pc:sldMk cId="1149937294" sldId="306"/>
            <ac:inkMk id="39" creationId="{8DAEC707-E8CC-A3E0-313D-F011A9C19D5B}"/>
          </ac:inkMkLst>
        </pc:inkChg>
        <pc:inkChg chg="del">
          <ac:chgData name="Punit Gupta" userId="49bf7424-c6d5-47c8-8011-1d507b41ab65" providerId="ADAL" clId="{66DF5A38-D4D2-47BD-94C4-AF9F2597F878}" dt="2026-01-21T06:27:20.462" v="12" actId="478"/>
          <ac:inkMkLst>
            <pc:docMk/>
            <pc:sldMk cId="1149937294" sldId="306"/>
            <ac:inkMk id="44" creationId="{B196E28B-543D-A696-7C2A-EA69E215C880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21:09:12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24575,'34'0'0,"27"0"0,22 0 0,21 0 0,13 0 0,11 0 0,4 0 0,-7 0 0,-4 0 0,-13 0 0,-21 0 0,-19 0 0,-16 0 0,-8 0 0,-2 0 0,-2 0 0,-3 0 0,-9 0-8191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21:09:15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24575,'123'0'0,"656"28"0,199 89 0,-922-111-120,247 19-1125,-274-25-5581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21:09:17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24575,'0'1'0,"0"0"0,0 0 0,1 0 0,-1 0 0,1-1 0,-1 1 0,1 0 0,-1 0 0,1 0 0,-1 0 0,1 0 0,0-1 0,0 1 0,-1 0 0,1-1 0,0 1 0,0 0 0,0-1 0,0 1 0,-1-1 0,1 1 0,0-1 0,2 1 0,29 9 0,-23-7 0,45 11 0,1-2 0,106 9 0,116-11 0,-234-10 0,567 0-178,-444-1-1009,-118 1-5639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21:09:21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14842 5572 24575,'1'-2'0,"-1"0"0,1 0 0,0 0 0,-1 1 0,1-1 0,0 0 0,0 0 0,1 0 0,-1 1 0,0-1 0,0 0 0,1 1 0,-1-1 0,3 0 0,12-19 0,-8 4 0,-1-1 0,-1-1 0,-1 1 0,0-1 0,4-38 0,-1-104 0,-11 88 0,-2 1 0,-25-120 0,-53-141 0,83 333 0,-228-706-547,62 213 437,136 397 110,-189-638 0,184 617 219,-6 2 0,-93-190 0,97 240-219,-2 2 0,-2 1 0,-4 3 0,-2 1 0,-2 3 0,-3 2 0,-2 2 0,-2 2 0,-69-45 0,15 18 0,-4 4 0,-159-75 0,-25 19-464,-347-99 0,-334-24-566,631 186 1030,-652-35 0,-1081 26 0,698 9-639,-1387-67-1839,2308 121 2384,-1042-10 1847,1488 20-1379,-1 2 0,1 0 0,0 1-1,-18 5 1,25-5-219,1 1-1,-1 1 1,1 0 0,0 0 0,1 0-1,-1 1 1,1 0 0,-1 0 0,-7 9-1,-16 17-154,1 2 0,-51 72 0,-38 86 0,106-170 0,-69 126 0,7 4 0,6 2 0,-88 294 0,92-197 0,-59 461 0,96-48 0,27-484 0,-4-92 0,-18 94 0,-3 43 0,12-96 0,0 14 0,12 522 0,4-334 0,1-267 0,23 125 0,0-5 0,-25-173 0,6 40 0,-6-48 0,-1 0 0,1 0 0,-1-1 0,1 1 0,0 0 0,-1-1 0,1 1 0,0-1 0,0 1 0,0-1 0,0 1 0,1-1 0,-1 0 0,0 1 0,1-1 0,-1 0 0,0 0 0,1 0 0,0 0 0,-1 0 0,1 0 0,-1-1 0,4 2 0,-5-2 0,1 0 0,0 0 0,0 0 0,0 0 0,-1 0 0,1 0 0,0 0 0,0 0 0,0 0 0,-1-1 0,1 1 0,0 0 0,0 0 0,-1-1 0,1 1 0,0 0 0,0-1 0,-1 1 0,1-1 0,-1 1 0,1-1 0,0 1 0,-1-1 0,1 0 0,-1 1 0,1-1 0,-1 0 0,1 0 0,8-25 0,-8 12 0,0 1 0,-1 0 0,-1-1 0,0 1 0,-1 0 0,0 0 0,-1 0 0,0 0 0,-6-14 0,-52-114 0,56 131 0,-18-37 0,-3 0 0,-1 2 0,-2 1 0,-2 1 0,-54-56 0,80 94 0,0 0 0,-1 0 0,1 1 0,-13-8 0,17 11 0,0 1 0,0-1 0,0 1 0,0-1 0,0 1 0,0-1 0,-1 1 0,1 0 0,0-1 0,0 1 0,0 0 0,-1 0 0,1 0 0,0 0 0,0 0 0,0 0 0,-1 0 0,1 1 0,0-1 0,0 0 0,0 1 0,0-1 0,0 1 0,-1-1 0,1 1 0,0-1 0,0 1 0,0 0 0,1 0 0,-1-1 0,0 1 0,0 0 0,0 0 0,0 0 0,1 0 0,-2 2 0,-3 7 0,0 1 0,1-1 0,0 1 0,1 0 0,1 0 0,-1 0 0,2 1 0,-1 13 0,0 98 0,2-113 0,2 33 0,1 1 0,3-1 0,1 0 0,2 0 0,2-1 0,2 0 0,33 71 0,-45-110 0,1 0 0,-1 0 0,1 0 0,0-1 0,0 1 0,0-1 0,0 1 0,0-1 0,0 0 0,1 0 0,-1 0 0,1 0 0,-1 0 0,1 0 0,0-1 0,0 1 0,0-1 0,0 0 0,0 0 0,0 0 0,0 0 0,0-1 0,0 1 0,0-1 0,1 1 0,-1-1 0,0 0 0,0-1 0,0 1 0,0-1 0,1 1 0,3-2 0,8-3 0,1-1 0,-1-1 0,0 0 0,-1-1 0,15-10 0,-21 13 0,99-69 0,166-151 0,-147 116 0,-69 54-1365,-43 39-5461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21:09:25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1034 24575,'5'-2'0,"0"0"0,-1 0 0,1 0 0,0 0 0,-1-1 0,1 0 0,-1 0 0,0 0 0,0 0 0,6-6 0,0 0 0,-4 4 0,0-1 0,0-1 0,0 1 0,-1-1 0,0 0 0,-1 0 0,1 0 0,-2-1 0,1 0 0,-1 1 0,0-1 0,4-17 0,0-8 0,4-68 0,-5 32 0,0 32 0,1 0 0,15-47 0,-17 68 0,2 0 0,0 1 0,0-1 0,2 1 0,0 1 0,0 0 0,16-17 0,9-7 0,2 3 0,1 1 0,1 1 0,2 3 0,2 1 0,0 2 0,47-22 0,-50 34 0,2 1 0,-1 1 0,2 3 0,43-5 0,-32 5 0,-13 4 0,0 2 0,71 3 0,-69 2 0,-1-2 0,64-9 0,-74 5 0,1 1 0,-1 2 0,1 2 0,33 2 0,124 25 0,-162-22 0,991 200-1741,-455-86 1020,-345-78 684,198 46-66,-403-84 195,0 2 1,0 0-1,-1 0 0,1 1 0,-1 1 1,-1 0-1,12 9 0,6 8 359,31 33 0,-14-12 94,250 219-127,128 121-419,-406-368-99,-12-12-27,0 0 1,0 0-1,-1 1 1,0 0-1,0 0 1,0 1-1,0-1 1,-1 1-1,3 7 1,-3 0-6700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21:09:30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24575,'1798'0'-1365,"-1774"0"-5461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21:10:2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2890 24575,'0'7'0,"1"-1"0,-1 0 0,2 0 0,-1 0 0,1 1 0,0-1 0,0-1 0,0 1 0,1 0 0,0-1 0,0 1 0,1-1 0,6 9 0,6 4 0,1-1 0,25 20 0,5 6 0,141 138 0,-177-170 0,1-1 0,0 0 0,1-1 0,0 0 0,0-1 0,28 12 0,0-5 0,48 12 0,-37-12 0,13 8 0,-42-14 0,1-1 0,40 9 0,61-1 0,245-2 0,545-15 0,-898 0 0,-1 0 0,0-1 0,1-1 0,-1-1 0,0 0 0,-1-1 0,24-11 0,101-60 0,-95 50 0,45-29 0,120-93 0,-154 101 0,-2-2 0,95-111 0,71-153 0,-123 166 0,-66 102 0,-1-1 0,-3-2 0,-2-1 0,-2-1 0,-3 0 0,-1-2 0,-3 0 0,18-104 0,19-393 0,-48 165 0,-7 364 0,-1-1 0,-1 1 0,-1 1 0,0-1 0,-2 0 0,-16-34 0,-71-106 0,72 129 0,-1 1 0,-2 1 0,-1 1 0,-1 1 0,-52-39 0,-166-94 0,-26 14 0,223 124 0,-1 2 0,-2 3 0,-92-21 0,86 31 0,-1 3 0,-101 5 0,73 1 0,-60-3 0,-136 5 0,247-1 0,0 3 0,-1 0 0,-34 13 0,-99 39 0,-347 167 0,474-203 0,1 1 0,1 3 0,-71 58 0,60-38 0,2 2 0,-48 60 0,42-38 0,4 1 0,2 3 0,4 1 0,3 3 0,-63 164 0,102-233 0,-96 264 0,83-225 0,2 1 0,-7 51 0,-4 14 0,20-96 0,-74 341 0,68-295 0,-6 62 0,16-109 0,0 0 0,2 0 0,0 0 0,1 0 0,5 23 0,0-14 0,1 1 0,1-2 0,1 1 0,1-2 0,26 44 0,17 9 0,119 134 0,-96-139 0,11 12 0,-86-81-68,1-1 0,-1 0-1,1 1 1,0-1 0,-1 0 0,1-1-1,0 1 1,0 0 0,1-1 0,-1 0-1,0 0 1,0 0 0,1 0 0,-1 0-1,0-1 1,1 1 0,-1-1-1,1 0 1,5 0 0,4-1-6758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12967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ec05b7cb4e_0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ec05b7cb4e_0_4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2ec05b7cb4e_0_4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1514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9968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6313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2248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6723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2170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9210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670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0070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7565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9026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8554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3117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2975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3631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1001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91883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84844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5637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ec05b7cb4e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ec05b7cb4e_0_4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2ec05b7cb4e_0_4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0348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ec05b7cb4e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ec05b7cb4e_0_4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2ec05b7cb4e_0_4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0423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ec05b7cb4e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ec05b7cb4e_0_4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g2ec05b7cb4e_0_4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01121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462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ec05b7cb4e_0_608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4" name="Google Shape;14;g2ec05b7cb4e_0_608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5" name="Google Shape;15;g2ec05b7cb4e_0_60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2ec05b7cb4e_0_612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8" name="Google Shape;18;g2ec05b7cb4e_0_6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2ec05b7cb4e_0_6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2ec05b7cb4e_0_61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g2ec05b7cb4e_0_6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2ec05b7cb4e_0_6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2ec05b7cb4e_0_61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6" name="Google Shape;26;g2ec05b7cb4e_0_619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ec05b7cb4e_0_62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2ec05b7cb4e_0_62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1" name="Google Shape;31;g2ec05b7cb4e_0_62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ec05b7cb4e_0_631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ec05b7cb4e_0_63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g2ec05b7cb4e_0_634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7" name="Google Shape;37;g2ec05b7cb4e_0_634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8" name="Google Shape;38;g2ec05b7cb4e_0_634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g2ec05b7cb4e_0_63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ec05b7cb4e_0_64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g2ec05b7cb4e_0_64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2ec05b7cb4e_0_643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5" name="Google Shape;45;g2ec05b7cb4e_0_64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2ec05b7cb4e_0_64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ec05b7cb4e_0_64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ec05b7cb4e_0_64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  <a:defRPr sz="6000" b="1">
                <a:solidFill>
                  <a:srgbClr val="1D306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g2ec05b7cb4e_0_64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A8A8A"/>
              </a:buClr>
              <a:buSzPts val="2000"/>
              <a:buNone/>
              <a:defRPr sz="2000">
                <a:solidFill>
                  <a:srgbClr val="8A8A8A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A8A8A"/>
              </a:buClr>
              <a:buSzPts val="1800"/>
              <a:buNone/>
              <a:defRPr sz="1800">
                <a:solidFill>
                  <a:srgbClr val="8A8A8A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BR">
  <p:cSld name="Title and Content - Logo on B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g2ec05b7cb4e_0_652"/>
          <p:cNvPicPr preferRelativeResize="0"/>
          <p:nvPr/>
        </p:nvPicPr>
        <p:blipFill rotWithShape="1">
          <a:blip r:embed="rId2">
            <a:alphaModFix/>
          </a:blip>
          <a:srcRect t="86739" r="1768" b="3534"/>
          <a:stretch/>
        </p:blipFill>
        <p:spPr>
          <a:xfrm>
            <a:off x="0" y="0"/>
            <a:ext cx="12192001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2ec05b7cb4e_0_65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300"/>
          </a:xfrm>
          <a:prstGeom prst="rect">
            <a:avLst/>
          </a:prstGeom>
          <a:solidFill>
            <a:srgbClr val="C0C0C0">
              <a:alpha val="49800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sz="3400" b="1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g2ec05b7cb4e_0_652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marL="914400" lvl="1" indent="-3556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BF2323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FF0000"/>
              </a:buClr>
              <a:buSzPts val="1600"/>
              <a:buChar char="●"/>
              <a:defRPr sz="1600">
                <a:solidFill>
                  <a:schemeClr val="dk1"/>
                </a:solidFill>
              </a:defRPr>
            </a:lvl4pPr>
            <a:lvl5pPr marL="2286000" lvl="4" indent="-33020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  <a:defRPr sz="1600">
                <a:solidFill>
                  <a:schemeClr val="dk1"/>
                </a:solidFill>
              </a:defRPr>
            </a:lvl5pPr>
            <a:lvl6pPr marL="2743200" lvl="5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cxnSp>
        <p:nvCxnSpPr>
          <p:cNvPr id="56" name="Google Shape;56;g2ec05b7cb4e_0_652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 - Red">
  <p:cSld name="1_Title Slide - Red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ec05b7cb4e_0_661"/>
          <p:cNvSpPr/>
          <p:nvPr/>
        </p:nvSpPr>
        <p:spPr>
          <a:xfrm rot="5400000">
            <a:off x="4309315" y="1717105"/>
            <a:ext cx="3461700" cy="29841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F2F2F2"/>
          </a:solidFill>
          <a:ln w="57150" cap="flat" cmpd="sng">
            <a:solidFill>
              <a:srgbClr val="FF0000"/>
            </a:solidFill>
            <a:prstDash val="lg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" name="Google Shape;59;g2ec05b7cb4e_0_661"/>
          <p:cNvSpPr txBox="1"/>
          <p:nvPr/>
        </p:nvSpPr>
        <p:spPr>
          <a:xfrm>
            <a:off x="5014038" y="2239638"/>
            <a:ext cx="20523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Thank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000" b="1" i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ABDE5-3549-4C05-912B-7D05E03A6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3777A-48AB-4775-9B0C-07A71A40D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89F22-6B6C-40A2-BD0B-6D8C8C613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3526D-28D8-440B-B245-10AFD32C2662}" type="datetimeFigureOut">
              <a:rPr lang="en-IE" smtClean="0"/>
              <a:t>21/01/2026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D607A-DBCF-4CA5-872A-C930E28FA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D6F66-4614-42B1-B14E-B08CC738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F20AF-78DE-4DF5-B4E8-95438411F22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1320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ec05b7cb4e_0_60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2ec05b7cb4e_0_60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1.png"/><Relationship Id="rId10" Type="http://schemas.openxmlformats.org/officeDocument/2006/relationships/image" Target="../media/image31.jp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0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380.png"/><Relationship Id="rId2" Type="http://schemas.openxmlformats.org/officeDocument/2006/relationships/image" Target="../media/image42.png"/><Relationship Id="rId16" Type="http://schemas.openxmlformats.org/officeDocument/2006/relationships/image" Target="../media/image140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5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370.png"/><Relationship Id="rId4" Type="http://schemas.openxmlformats.org/officeDocument/2006/relationships/image" Target="../media/image1340.png"/><Relationship Id="rId9" Type="http://schemas.openxmlformats.org/officeDocument/2006/relationships/customXml" Target="../ink/ink4.xml"/><Relationship Id="rId14" Type="http://schemas.openxmlformats.org/officeDocument/2006/relationships/image" Target="../media/image139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c05b7cb4e_0_475"/>
          <p:cNvSpPr/>
          <p:nvPr/>
        </p:nvSpPr>
        <p:spPr>
          <a:xfrm>
            <a:off x="508225" y="150725"/>
            <a:ext cx="11016900" cy="29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800" b="0" i="0" u="none" strike="noStrike" cap="none" dirty="0">
                <a:solidFill>
                  <a:srgbClr val="373737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Unit-</a:t>
            </a:r>
            <a:r>
              <a:rPr lang="en-IN" sz="4800" dirty="0">
                <a:solidFill>
                  <a:srgbClr val="373737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1</a:t>
            </a:r>
            <a:br>
              <a:rPr lang="en-IN" sz="1800" b="0" i="0" u="none" strike="noStrike" cap="none" dirty="0">
                <a:latin typeface="Arial"/>
                <a:ea typeface="Arial"/>
                <a:cs typeface="Arial"/>
              </a:rPr>
            </a:br>
            <a:r>
              <a:rPr lang="en-IN" sz="5000" b="1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Agile</a:t>
            </a:r>
            <a:r>
              <a:rPr lang="en-IN" sz="5000" b="1">
                <a:solidFill>
                  <a:srgbClr val="3737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Development</a:t>
            </a:r>
            <a:endParaRPr sz="3200" b="1" dirty="0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3400" b="1" dirty="0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400" b="1" dirty="0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6" name="Google Shape;66;g2ec05b7cb4e_0_475"/>
          <p:cNvSpPr txBox="1"/>
          <p:nvPr/>
        </p:nvSpPr>
        <p:spPr>
          <a:xfrm>
            <a:off x="425100" y="3625500"/>
            <a:ext cx="113418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>
                <a:solidFill>
                  <a:srgbClr val="3737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Reference Book:</a:t>
            </a:r>
            <a:endParaRPr sz="3000" b="1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>
                <a:solidFill>
                  <a:srgbClr val="0570A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Software Engineering -A Practitioner’s Approach (Seventh Edition) - Roger S. Pressman.</a:t>
            </a:r>
            <a:endParaRPr sz="3000" b="1">
              <a:solidFill>
                <a:srgbClr val="0570A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000" b="1">
                <a:solidFill>
                  <a:srgbClr val="37373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Chapter 3: Agile Development</a:t>
            </a:r>
            <a:endParaRPr sz="3000" b="1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solidFill>
                <a:srgbClr val="37373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2"/>
          <p:cNvCxnSpPr>
            <a:endCxn id="72" idx="0"/>
          </p:cNvCxnSpPr>
          <p:nvPr/>
        </p:nvCxnSpPr>
        <p:spPr>
          <a:xfrm>
            <a:off x="1191446" y="106"/>
            <a:ext cx="0" cy="6828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2"/>
          <p:cNvCxnSpPr/>
          <p:nvPr/>
        </p:nvCxnSpPr>
        <p:spPr>
          <a:xfrm>
            <a:off x="1191446" y="6092331"/>
            <a:ext cx="0" cy="1794387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" name="Google Shape;72;p2"/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solidFill>
            <a:schemeClr val="accent3"/>
          </a:solidFill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✓</a:t>
            </a:r>
            <a:endParaRPr sz="2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Looping</a:t>
            </a:r>
            <a:endParaRPr/>
          </a:p>
        </p:txBody>
      </p:sp>
      <p:cxnSp>
        <p:nvCxnSpPr>
          <p:cNvPr id="75" name="Google Shape;75;p2"/>
          <p:cNvCxnSpPr/>
          <p:nvPr/>
        </p:nvCxnSpPr>
        <p:spPr>
          <a:xfrm>
            <a:off x="1191446" y="1157468"/>
            <a:ext cx="0" cy="2465408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2"/>
          <p:cNvSpPr txBox="1"/>
          <p:nvPr/>
        </p:nvSpPr>
        <p:spPr>
          <a:xfrm>
            <a:off x="1458962" y="731706"/>
            <a:ext cx="9718500" cy="4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Outline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 is Agility? 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Agile Process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Agility Principles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Where agile methodology not work?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Noto Sans Symbols"/>
              <a:buChar char="▪"/>
            </a:pPr>
            <a:r>
              <a:rPr lang="en-IN" sz="24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Agile Process Models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Char char="•"/>
            </a:pPr>
            <a:r>
              <a:rPr lang="en-IN" sz="21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Extreme Programming (XP)</a:t>
            </a:r>
            <a:endParaRPr sz="2100">
              <a:solidFill>
                <a:srgbClr val="7F7F7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Char char="•"/>
            </a:pPr>
            <a:r>
              <a:rPr lang="en-IN" sz="2100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Scrum</a:t>
            </a:r>
            <a:endParaRPr sz="2100">
              <a:solidFill>
                <a:srgbClr val="7F7F7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Char char="•"/>
            </a:pPr>
            <a:r>
              <a:rPr lang="en-IN" sz="21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Adaptive Software Development (ASD)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Char char="•"/>
            </a:pPr>
            <a:r>
              <a:rPr lang="en-IN" sz="21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Dynamic Systems Development Method (DSDM)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Char char="•"/>
            </a:pPr>
            <a:r>
              <a:rPr lang="en-IN" sz="21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Feature Driven Development (FDD)</a:t>
            </a:r>
            <a:endParaRPr/>
          </a:p>
          <a:p>
            <a:pPr marL="1257300" marR="0" lvl="2" indent="-34290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100"/>
              <a:buFont typeface="Arial"/>
              <a:buChar char="•"/>
            </a:pPr>
            <a:r>
              <a:rPr lang="en-IN" sz="2100" b="0" i="0" u="none" strike="noStrike" cap="none">
                <a:solidFill>
                  <a:srgbClr val="7F7F7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Agile Modelling (AM)</a:t>
            </a:r>
            <a:endParaRPr/>
          </a:p>
          <a:p>
            <a:pPr marL="1257300" marR="0" lvl="2" indent="-190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7F7F7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1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1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Agility</a:t>
            </a:r>
            <a:endParaRPr/>
          </a:p>
        </p:txBody>
      </p:sp>
      <p:sp>
        <p:nvSpPr>
          <p:cNvPr id="82" name="Google Shape;82;p3"/>
          <p:cNvSpPr txBox="1">
            <a:spLocks noGrp="1"/>
          </p:cNvSpPr>
          <p:nvPr>
            <p:ph type="body" idx="1"/>
          </p:nvPr>
        </p:nvSpPr>
        <p:spPr>
          <a:xfrm>
            <a:off x="131175" y="2017300"/>
            <a:ext cx="11929500" cy="4436700"/>
          </a:xfrm>
          <a:prstGeom prst="rect">
            <a:avLst/>
          </a:prstGeom>
          <a:noFill/>
          <a:ln w="9525" cap="flat" cmpd="sng">
            <a:solidFill>
              <a:srgbClr val="BF23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778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The ability to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create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respond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</a:t>
            </a:r>
            <a:r>
              <a:rPr lang="en-IN" sz="26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in order to profit in an unstable global business environment.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The ability to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quickly re-prioritize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 of resources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when requirements, technology, and knowledge shift.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A very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fast response to sudden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market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changes</a:t>
            </a:r>
            <a:r>
              <a:rPr lang="en-IN" sz="26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and emerging threats by intensive customer interaction.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Use of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evolutionary, incremental,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iterative delivery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to converge on an optimal customer solution.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Maximizing </a:t>
            </a:r>
            <a:r>
              <a:rPr lang="en-IN" sz="2600" b="1">
                <a:latin typeface="Roboto Condensed"/>
                <a:ea typeface="Roboto Condensed"/>
                <a:cs typeface="Roboto Condensed"/>
                <a:sym typeface="Roboto Condensed"/>
              </a:rPr>
              <a:t>BUSINESS VALUE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with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right sized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just- enough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just-in-time processes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6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documentation</a:t>
            </a:r>
            <a:r>
              <a:rPr lang="en-IN" sz="26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 sz="2600">
              <a:solidFill>
                <a:srgbClr val="BF232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924446" y="341869"/>
            <a:ext cx="41440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Agility is </a:t>
            </a: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ability to move quickly and easily</a:t>
            </a:r>
            <a:r>
              <a:rPr lang="en-IN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28613" y="1021353"/>
            <a:ext cx="11501400" cy="685800"/>
          </a:xfrm>
          <a:prstGeom prst="wedgeRoundRectCallout">
            <a:avLst>
              <a:gd name="adj1" fmla="val -41423"/>
              <a:gd name="adj2" fmla="val -132233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is an ability of </a:t>
            </a:r>
            <a:r>
              <a:rPr lang="en-IN" sz="28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quickness</a:t>
            </a:r>
            <a:r>
              <a:rPr lang="en-IN" sz="2800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IN" sz="28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lightness</a:t>
            </a:r>
            <a:r>
              <a:rPr lang="en-IN" sz="2800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-IN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&amp; </a:t>
            </a:r>
            <a:r>
              <a:rPr lang="en-IN" sz="28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ease of movement</a:t>
            </a:r>
            <a:r>
              <a:rPr lang="en-IN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What is Agility? Cont.</a:t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7912" y="817841"/>
            <a:ext cx="3036759" cy="17819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91" name="Google Shape;91;p4"/>
          <p:cNvGrpSpPr/>
          <p:nvPr/>
        </p:nvGrpSpPr>
        <p:grpSpPr>
          <a:xfrm>
            <a:off x="87927" y="801677"/>
            <a:ext cx="3026744" cy="1798134"/>
            <a:chOff x="342889" y="1579518"/>
            <a:chExt cx="8240413" cy="4895478"/>
          </a:xfrm>
        </p:grpSpPr>
        <p:pic>
          <p:nvPicPr>
            <p:cNvPr id="92" name="Google Shape;92;p4" descr="Image result for effective communicati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42889" y="1641231"/>
              <a:ext cx="8240413" cy="48337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" name="Google Shape;93;p4"/>
            <p:cNvSpPr txBox="1"/>
            <p:nvPr/>
          </p:nvSpPr>
          <p:spPr>
            <a:xfrm>
              <a:off x="353704" y="1579518"/>
              <a:ext cx="6172201" cy="8525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Current Functionality</a:t>
              </a:r>
              <a:endParaRPr/>
            </a:p>
          </p:txBody>
        </p:sp>
        <p:sp>
          <p:nvSpPr>
            <p:cNvPr id="94" name="Google Shape;94;p4"/>
            <p:cNvSpPr txBox="1"/>
            <p:nvPr/>
          </p:nvSpPr>
          <p:spPr>
            <a:xfrm>
              <a:off x="3117312" y="5325070"/>
              <a:ext cx="5143501" cy="8525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Change Request</a:t>
              </a:r>
              <a:endParaRPr/>
            </a:p>
          </p:txBody>
        </p:sp>
      </p:grpSp>
      <p:sp>
        <p:nvSpPr>
          <p:cNvPr id="95" name="Google Shape;95;p4"/>
          <p:cNvSpPr/>
          <p:nvPr/>
        </p:nvSpPr>
        <p:spPr>
          <a:xfrm>
            <a:off x="4963678" y="842952"/>
            <a:ext cx="2422958" cy="1927298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7927" y="2684522"/>
            <a:ext cx="1969469" cy="1930318"/>
          </a:xfrm>
          <a:prstGeom prst="rect">
            <a:avLst/>
          </a:prstGeom>
          <a:solidFill>
            <a:srgbClr val="E8E8E8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110398" y="817841"/>
            <a:ext cx="1724605" cy="17819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279351" y="1107460"/>
            <a:ext cx="138531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Effective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response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change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4963679" y="2770250"/>
            <a:ext cx="2422958" cy="184459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123703" y="2871902"/>
            <a:ext cx="2137124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Effective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communication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among all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stakeholders</a:t>
            </a:r>
            <a:endParaRPr dirty="0"/>
          </a:p>
        </p:txBody>
      </p:sp>
      <p:pic>
        <p:nvPicPr>
          <p:cNvPr id="101" name="Google Shape;10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05432" y="958089"/>
            <a:ext cx="1698874" cy="16988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2057396" y="2684523"/>
            <a:ext cx="2777607" cy="19303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188936" y="2850504"/>
            <a:ext cx="2459376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Organizing a team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 that it is in control to perform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work</a:t>
            </a:r>
            <a:endParaRPr/>
          </a:p>
        </p:txBody>
      </p:sp>
      <p:pic>
        <p:nvPicPr>
          <p:cNvPr id="104" name="Google Shape;104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4488" y="2779064"/>
            <a:ext cx="1675748" cy="167574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94274" y="4725060"/>
            <a:ext cx="2814179" cy="1718283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106" name="Google Shape;106;p4"/>
          <p:cNvGrpSpPr/>
          <p:nvPr/>
        </p:nvGrpSpPr>
        <p:grpSpPr>
          <a:xfrm>
            <a:off x="751859" y="4741484"/>
            <a:ext cx="2220974" cy="1701859"/>
            <a:chOff x="1957151" y="2266238"/>
            <a:chExt cx="5662546" cy="4339021"/>
          </a:xfrm>
        </p:grpSpPr>
        <p:pic>
          <p:nvPicPr>
            <p:cNvPr id="107" name="Google Shape;107;p4" descr="Image result for customer in team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57151" y="2266238"/>
              <a:ext cx="5662546" cy="43390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4"/>
            <p:cNvSpPr txBox="1"/>
            <p:nvPr/>
          </p:nvSpPr>
          <p:spPr>
            <a:xfrm>
              <a:off x="2817603" y="5812961"/>
              <a:ext cx="3814128" cy="7741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800" b="1">
                  <a:solidFill>
                    <a:srgbClr val="C00000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Customer</a:t>
              </a:r>
              <a:endParaRPr/>
            </a:p>
          </p:txBody>
        </p:sp>
      </p:grpSp>
      <p:sp>
        <p:nvSpPr>
          <p:cNvPr id="109" name="Google Shape;109;p4"/>
          <p:cNvSpPr/>
          <p:nvPr/>
        </p:nvSpPr>
        <p:spPr>
          <a:xfrm>
            <a:off x="2908454" y="4725060"/>
            <a:ext cx="4478182" cy="171828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050111" y="5010554"/>
            <a:ext cx="208146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Drawing the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 onto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team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208856" y="5010554"/>
            <a:ext cx="203899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Eliminate the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“us and them”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attitude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2" name="Google Shape;112;p4"/>
          <p:cNvSpPr txBox="1"/>
          <p:nvPr/>
        </p:nvSpPr>
        <p:spPr>
          <a:xfrm rot="-5400000">
            <a:off x="-686884" y="5241387"/>
            <a:ext cx="219295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Development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</a:t>
            </a:r>
            <a:endParaRPr/>
          </a:p>
        </p:txBody>
      </p:sp>
      <p:cxnSp>
        <p:nvCxnSpPr>
          <p:cNvPr id="113" name="Google Shape;113;p4"/>
          <p:cNvCxnSpPr/>
          <p:nvPr/>
        </p:nvCxnSpPr>
        <p:spPr>
          <a:xfrm>
            <a:off x="5120280" y="4914900"/>
            <a:ext cx="0" cy="134140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4" name="Google Shape;114;p4"/>
          <p:cNvSpPr/>
          <p:nvPr/>
        </p:nvSpPr>
        <p:spPr>
          <a:xfrm>
            <a:off x="7497847" y="846992"/>
            <a:ext cx="4592553" cy="481194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497846" y="1388632"/>
            <a:ext cx="4592554" cy="427030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574047" y="936255"/>
            <a:ext cx="44909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Rapid and Incremental delivery of software</a:t>
            </a:r>
            <a:endParaRPr sz="2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17" name="Google Shape;117;p4"/>
          <p:cNvPicPr preferRelativeResize="0"/>
          <p:nvPr/>
        </p:nvPicPr>
        <p:blipFill rotWithShape="1">
          <a:blip r:embed="rId7">
            <a:alphaModFix/>
          </a:blip>
          <a:srcRect r="1411"/>
          <a:stretch/>
        </p:blipFill>
        <p:spPr>
          <a:xfrm>
            <a:off x="7571460" y="1669737"/>
            <a:ext cx="4429970" cy="129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 preferRelativeResize="0"/>
          <p:nvPr/>
        </p:nvPicPr>
        <p:blipFill rotWithShape="1">
          <a:blip r:embed="rId8">
            <a:alphaModFix/>
          </a:blip>
          <a:srcRect r="1666"/>
          <a:stretch/>
        </p:blipFill>
        <p:spPr>
          <a:xfrm>
            <a:off x="7696439" y="3851780"/>
            <a:ext cx="4265078" cy="14116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4"/>
          <p:cNvCxnSpPr/>
          <p:nvPr/>
        </p:nvCxnSpPr>
        <p:spPr>
          <a:xfrm>
            <a:off x="7637546" y="3441785"/>
            <a:ext cx="435118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Agile Process</a:t>
            </a:r>
            <a:endParaRPr/>
          </a:p>
        </p:txBody>
      </p:sp>
      <p:sp>
        <p:nvSpPr>
          <p:cNvPr id="125" name="Google Shape;125;p5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/>
              <a:t>Agile software process addresses </a:t>
            </a:r>
            <a:r>
              <a:rPr lang="en-IN" b="1"/>
              <a:t>few assumptions</a:t>
            </a: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126" name="Google Shape;126;p5"/>
          <p:cNvSpPr txBox="1"/>
          <p:nvPr/>
        </p:nvSpPr>
        <p:spPr>
          <a:xfrm>
            <a:off x="190499" y="3701975"/>
            <a:ext cx="11748951" cy="457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 agile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process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must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adapt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incrementally.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190498" y="4308622"/>
            <a:ext cx="11748951" cy="930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accomplish incremental adaptation, an agile team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requires customer feedback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(so that the appropriate adaptations can be made).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69050" y="2805346"/>
            <a:ext cx="11160988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Analysis</a:t>
            </a: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-IN" sz="24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</a:t>
            </a: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-IN" sz="24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construction</a:t>
            </a:r>
            <a:r>
              <a:rPr lang="en-IN" sz="24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testing</a:t>
            </a:r>
            <a:r>
              <a:rPr lang="en-IN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not</a:t>
            </a:r>
            <a:r>
              <a:rPr lang="en-IN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predictable</a:t>
            </a:r>
            <a:r>
              <a:rPr lang="en-IN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we might like.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69050" y="1464447"/>
            <a:ext cx="11160988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Difficulty in predicting changes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of requirements and customer priorities.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569050" y="2129860"/>
            <a:ext cx="11160988" cy="4616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many types of software;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</a:t>
            </a:r>
            <a:r>
              <a:rPr lang="en-IN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construction</a:t>
            </a:r>
            <a:r>
              <a:rPr lang="en-IN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interleaved</a:t>
            </a:r>
            <a:r>
              <a:rPr lang="en-IN" sz="2400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(mixed).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78992" y="2691992"/>
            <a:ext cx="1740105" cy="155001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Agility Principles</a:t>
            </a:r>
            <a:endParaRPr/>
          </a:p>
        </p:txBody>
      </p:sp>
      <p:sp>
        <p:nvSpPr>
          <p:cNvPr id="137" name="Google Shape;137;p6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778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Highest priority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is to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satisfy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the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through early &amp;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continuous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delivery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of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software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Welcome changing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requirements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Deliver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working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software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frequently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Businesspeople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developers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must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 together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Build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projects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around motivated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individuals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Emphasize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face-to-face conversation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Working software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is the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measure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of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progress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Continuous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attention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to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technical excellence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good design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Simplicity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– the art of maximizing the amount of work done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The best designs emerge from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self-organizing teams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2778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600"/>
              <a:buFont typeface="Noto Sans Symbols"/>
              <a:buChar char="🞂"/>
            </a:pP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 tunes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adjusts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its </a:t>
            </a:r>
            <a:r>
              <a:rPr lang="en-IN" sz="26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behaviour</a:t>
            </a:r>
            <a:r>
              <a:rPr lang="en-IN" sz="26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600">
                <a:latin typeface="Roboto Condensed"/>
                <a:ea typeface="Roboto Condensed"/>
                <a:cs typeface="Roboto Condensed"/>
                <a:sym typeface="Roboto Condensed"/>
              </a:rPr>
              <a:t>to become more effective</a:t>
            </a: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 sz="260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69333" y="1517054"/>
            <a:ext cx="2317340" cy="1408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69333" y="4521401"/>
            <a:ext cx="2544517" cy="9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Where agile methodology not work</a:t>
            </a:r>
            <a:endParaRPr/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0" y="990601"/>
            <a:ext cx="3765485" cy="257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23512" y="990601"/>
            <a:ext cx="3757893" cy="25703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7"/>
          <p:cNvCxnSpPr/>
          <p:nvPr/>
        </p:nvCxnSpPr>
        <p:spPr>
          <a:xfrm>
            <a:off x="4076685" y="999187"/>
            <a:ext cx="0" cy="533399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48" name="Google Shape;148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45798" y="990601"/>
            <a:ext cx="3752932" cy="2566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7"/>
          <p:cNvCxnSpPr/>
          <p:nvPr/>
        </p:nvCxnSpPr>
        <p:spPr>
          <a:xfrm>
            <a:off x="8108753" y="990601"/>
            <a:ext cx="0" cy="533399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" name="Google Shape;150;p7"/>
          <p:cNvSpPr/>
          <p:nvPr/>
        </p:nvSpPr>
        <p:spPr>
          <a:xfrm>
            <a:off x="300446" y="4078178"/>
            <a:ext cx="3553097" cy="1682541"/>
          </a:xfrm>
          <a:prstGeom prst="wedgeRoundRectCallout">
            <a:avLst>
              <a:gd name="adj1" fmla="val -36642"/>
              <a:gd name="adj2" fmla="val -95545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Project plan &amp; requirements are clear &amp; unlikely to change</a:t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320219" y="4078178"/>
            <a:ext cx="3553097" cy="1682541"/>
          </a:xfrm>
          <a:prstGeom prst="wedgeRoundRectCallout">
            <a:avLst>
              <a:gd name="adj1" fmla="val 13726"/>
              <a:gd name="adj2" fmla="val -85452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Unclear understanding of Agile Approach among Teams</a:t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8472219" y="4078179"/>
            <a:ext cx="3553097" cy="1682541"/>
          </a:xfrm>
          <a:prstGeom prst="wedgeRoundRectCallout">
            <a:avLst>
              <a:gd name="adj1" fmla="val 1226"/>
              <a:gd name="adj2" fmla="val -93215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Big Enterprises where team collaboration is tough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Extreme Programming (XP)</a:t>
            </a:r>
            <a:endParaRPr/>
          </a:p>
        </p:txBody>
      </p:sp>
      <p:sp>
        <p:nvSpPr>
          <p:cNvPr id="158" name="Google Shape;158;p8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/>
              <a:t>The most widely used approach to agile software development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/>
              <a:t>A variant of XP called </a:t>
            </a:r>
            <a:r>
              <a:rPr lang="en-IN" b="1">
                <a:solidFill>
                  <a:srgbClr val="C00000"/>
                </a:solidFill>
              </a:rPr>
              <a:t>Industrial XP (IXP) </a:t>
            </a:r>
            <a:r>
              <a:rPr lang="en-IN"/>
              <a:t>has been proposed to target process for large organizations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/>
              <a:t>It uses </a:t>
            </a:r>
            <a:r>
              <a:rPr lang="en-IN" b="1">
                <a:solidFill>
                  <a:srgbClr val="C00000"/>
                </a:solidFill>
              </a:rPr>
              <a:t>object-oriented approach </a:t>
            </a:r>
            <a:r>
              <a:rPr lang="en-IN"/>
              <a:t>as its preferred development model</a:t>
            </a: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286474" y="2611294"/>
            <a:ext cx="1832611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XP Values</a:t>
            </a:r>
            <a:endParaRPr/>
          </a:p>
        </p:txBody>
      </p:sp>
      <p:cxnSp>
        <p:nvCxnSpPr>
          <p:cNvPr id="160" name="Google Shape;160;p8"/>
          <p:cNvCxnSpPr/>
          <p:nvPr/>
        </p:nvCxnSpPr>
        <p:spPr>
          <a:xfrm>
            <a:off x="2107567" y="3072959"/>
            <a:ext cx="9819973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1" name="Google Shape;161;p8"/>
          <p:cNvSpPr txBox="1"/>
          <p:nvPr/>
        </p:nvSpPr>
        <p:spPr>
          <a:xfrm>
            <a:off x="190499" y="3171893"/>
            <a:ext cx="11737040" cy="336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Communication: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achieve effective communication, it </a:t>
            </a:r>
            <a:r>
              <a:rPr lang="en-IN" sz="24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emphasized close &amp; informal (verbal) collaboration</a:t>
            </a:r>
            <a:r>
              <a:rPr lang="en-IN" sz="24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between customers and developers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Simplicity: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restricts developers to </a:t>
            </a:r>
            <a:r>
              <a:rPr lang="en-IN" sz="24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</a:t>
            </a:r>
            <a:r>
              <a:rPr lang="en-IN" sz="2400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</a:t>
            </a:r>
            <a:r>
              <a:rPr lang="en-IN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</a:t>
            </a:r>
            <a:r>
              <a:rPr lang="en-IN" sz="24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mmediate needs</a:t>
            </a:r>
            <a:r>
              <a:rPr lang="en-IN" sz="24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not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for</a:t>
            </a:r>
            <a:r>
              <a:rPr lang="en-IN" sz="2400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future needs</a:t>
            </a:r>
            <a:endParaRPr>
              <a:solidFill>
                <a:schemeClr val="accent4"/>
              </a:solidFill>
            </a:endParaRPr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Feedback: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is derived</a:t>
            </a:r>
            <a:r>
              <a:rPr lang="en-IN" sz="2400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</a:t>
            </a:r>
            <a:r>
              <a:rPr lang="en-IN" sz="2400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three sources the</a:t>
            </a:r>
            <a:r>
              <a:rPr lang="en-IN" sz="24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implemented software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the </a:t>
            </a:r>
            <a:r>
              <a:rPr lang="en-IN" sz="24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</a:t>
            </a:r>
            <a:r>
              <a:rPr lang="en-IN" sz="24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4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other software team members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it uses </a:t>
            </a:r>
            <a:r>
              <a:rPr lang="en-IN" sz="24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Unit testing</a:t>
            </a:r>
            <a:r>
              <a:rPr lang="en-IN" sz="2400" b="1">
                <a:solidFill>
                  <a:schemeClr val="accen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primary testing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Courage: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demands courage (discipline), there is often significant pressure to design for future requirements, XP team </a:t>
            </a:r>
            <a:r>
              <a:rPr lang="en-IN" sz="2400" b="1">
                <a:solidFill>
                  <a:schemeClr val="accent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must have the discipline (courage) to design for today</a:t>
            </a:r>
            <a:endParaRPr>
              <a:solidFill>
                <a:schemeClr val="accent4"/>
              </a:solidFill>
            </a:endParaRPr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Respect: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XP team</a:t>
            </a:r>
            <a:r>
              <a:rPr lang="en-IN" sz="2400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respect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among </a:t>
            </a:r>
            <a:r>
              <a:rPr lang="en-IN" sz="24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members</a:t>
            </a:r>
            <a:endParaRPr>
              <a:solidFill>
                <a:srgbClr val="BF232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The XP Process</a:t>
            </a:r>
            <a:endParaRPr/>
          </a:p>
        </p:txBody>
      </p:sp>
      <p:pic>
        <p:nvPicPr>
          <p:cNvPr id="167" name="Google Shape;16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458" y="1985679"/>
            <a:ext cx="5684645" cy="450924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 txBox="1"/>
          <p:nvPr/>
        </p:nvSpPr>
        <p:spPr>
          <a:xfrm>
            <a:off x="0" y="784295"/>
            <a:ext cx="620034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considers four framework activities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-13446" y="1254334"/>
            <a:ext cx="626912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Planning </a:t>
            </a:r>
            <a:r>
              <a:rPr lang="en-IN" sz="2400">
                <a:solidFill>
                  <a:srgbClr val="BF232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Design </a:t>
            </a:r>
            <a:r>
              <a:rPr lang="en-IN" sz="2400">
                <a:solidFill>
                  <a:srgbClr val="BF232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3.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Coding </a:t>
            </a:r>
            <a:r>
              <a:rPr lang="en-IN" sz="2400">
                <a:solidFill>
                  <a:srgbClr val="BF232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 b="1">
                <a:solidFill>
                  <a:schemeClr val="accent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4.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Testing</a:t>
            </a:r>
            <a:endParaRPr/>
          </a:p>
        </p:txBody>
      </p:sp>
      <p:cxnSp>
        <p:nvCxnSpPr>
          <p:cNvPr id="170" name="Google Shape;170;p9"/>
          <p:cNvCxnSpPr/>
          <p:nvPr/>
        </p:nvCxnSpPr>
        <p:spPr>
          <a:xfrm>
            <a:off x="6200349" y="711201"/>
            <a:ext cx="68771" cy="58928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1" name="Google Shape;171;p9"/>
          <p:cNvSpPr/>
          <p:nvPr/>
        </p:nvSpPr>
        <p:spPr>
          <a:xfrm>
            <a:off x="6451595" y="862676"/>
            <a:ext cx="5422541" cy="5525686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451594" y="862675"/>
            <a:ext cx="5422541" cy="45720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Planning</a:t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6520365" y="1392973"/>
            <a:ext cx="5353769" cy="2923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Stories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Customers assigns value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(priority)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Developers assigns cost </a:t>
            </a:r>
            <a:r>
              <a:rPr lang="en-IN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(number of development weeks)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Project velocity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Computed at the end of first release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Number of stories implemented in first release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Estimates for future release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Guard against over-commitment</a:t>
            </a:r>
            <a:endParaRPr/>
          </a:p>
        </p:txBody>
      </p:sp>
      <p:pic>
        <p:nvPicPr>
          <p:cNvPr id="174" name="Google Shape;17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7836" y="4741765"/>
            <a:ext cx="2605981" cy="1484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The XP Process cont.</a:t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177114" y="787400"/>
            <a:ext cx="11805336" cy="23876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3006556" y="870104"/>
            <a:ext cx="8398044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Keep-it-Simple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(Design of extra functionality is discouraged)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Preparation of CRC card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work project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CRC cards identify and organize object-oriented classes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Spike Solutions (</a:t>
            </a:r>
            <a:r>
              <a:rPr lang="en-IN" sz="20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case of difficult design problem is encountered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Operational prototype intended to clear confusion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Refactoring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Modify internals of code, No observable change</a:t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 rot="-5400000">
            <a:off x="-743293" y="1707807"/>
            <a:ext cx="2387600" cy="54678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</a:t>
            </a:r>
            <a:endParaRPr/>
          </a:p>
        </p:txBody>
      </p:sp>
      <p:pic>
        <p:nvPicPr>
          <p:cNvPr id="183" name="Google Shape;18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1063" y="1575091"/>
            <a:ext cx="2045199" cy="117128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0"/>
          <p:cNvSpPr txBox="1"/>
          <p:nvPr/>
        </p:nvSpPr>
        <p:spPr>
          <a:xfrm>
            <a:off x="1065128" y="828752"/>
            <a:ext cx="16002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CRC card</a:t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171188" y="3225799"/>
            <a:ext cx="11811262" cy="200797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6" name="Google Shape;186;p10"/>
          <p:cNvSpPr/>
          <p:nvPr/>
        </p:nvSpPr>
        <p:spPr>
          <a:xfrm rot="-5400000">
            <a:off x="-556443" y="3953431"/>
            <a:ext cx="2007975" cy="552712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Coding</a:t>
            </a: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2962406" y="3263900"/>
            <a:ext cx="9020044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Develops</a:t>
            </a:r>
            <a:r>
              <a:rPr lang="en-IN" sz="20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series of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Unit test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stories included in current release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Complete code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perform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unit-test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to get immediate feedback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XP recommend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pair-programming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“Two heads are better than one”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Integrate code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with other team members, this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“continuous integration”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helps to avoid compatibility &amp; interfacing problems,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“smoke testing”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environment to uncover errors early</a:t>
            </a:r>
            <a:endParaRPr/>
          </a:p>
        </p:txBody>
      </p:sp>
      <p:pic>
        <p:nvPicPr>
          <p:cNvPr id="188" name="Google Shape;188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5128" y="3380296"/>
            <a:ext cx="1600200" cy="167762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0"/>
          <p:cNvSpPr/>
          <p:nvPr/>
        </p:nvSpPr>
        <p:spPr>
          <a:xfrm>
            <a:off x="171188" y="5338339"/>
            <a:ext cx="9372862" cy="1093811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1771642" y="5391769"/>
            <a:ext cx="7772408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Unit test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by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developers</a:t>
            </a:r>
            <a:r>
              <a:rPr lang="en-IN" sz="20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&amp; fix small problems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Acceptance tests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 Specified by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encourages regression testing strategy  whenever code is modified</a:t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 rot="-5400000">
            <a:off x="-96358" y="5611892"/>
            <a:ext cx="1093811" cy="54670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Testing</a:t>
            </a:r>
            <a:endParaRPr/>
          </a:p>
        </p:txBody>
      </p:sp>
      <p:pic>
        <p:nvPicPr>
          <p:cNvPr id="192" name="Google Shape;192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7467" y="5439399"/>
            <a:ext cx="907023" cy="907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71421" y="7497356"/>
            <a:ext cx="7429508" cy="4330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What is Scrum?</a:t>
            </a:r>
            <a:endParaRPr/>
          </a:p>
        </p:txBody>
      </p:sp>
      <p:pic>
        <p:nvPicPr>
          <p:cNvPr id="199" name="Google Shape;199;p11"/>
          <p:cNvPicPr preferRelativeResize="0"/>
          <p:nvPr/>
        </p:nvPicPr>
        <p:blipFill rotWithShape="1">
          <a:blip r:embed="rId3">
            <a:alphaModFix/>
          </a:blip>
          <a:srcRect t="20696"/>
          <a:stretch/>
        </p:blipFill>
        <p:spPr>
          <a:xfrm>
            <a:off x="183569" y="862249"/>
            <a:ext cx="4681538" cy="278448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200" name="Google Shape;200;p11"/>
          <p:cNvSpPr/>
          <p:nvPr/>
        </p:nvSpPr>
        <p:spPr>
          <a:xfrm>
            <a:off x="133350" y="3785657"/>
            <a:ext cx="4681538" cy="2316563"/>
          </a:xfrm>
          <a:prstGeom prst="wedgeRoundRectCallout">
            <a:avLst>
              <a:gd name="adj1" fmla="val -28"/>
              <a:gd name="adj2" fmla="val -71192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 scrum is a method of restarting play in rugby that involves players packing closely together with their heads down and attempting to gain possession of the ball.</a:t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5095093" y="862249"/>
            <a:ext cx="6849257" cy="45220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BF23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is a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lightweight process framework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5083350" y="1395064"/>
            <a:ext cx="6861000" cy="805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BF23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Lightweight means the </a:t>
            </a:r>
            <a:r>
              <a:rPr lang="en-IN" sz="22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overhead of the process is kept as small </a:t>
            </a:r>
            <a:r>
              <a:rPr lang="en-IN" sz="2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possible in order to maximize the productivity.</a:t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5454830" y="2678665"/>
            <a:ext cx="1747807" cy="11069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04" name="Google Shape;204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34794" y="2869453"/>
            <a:ext cx="1029056" cy="80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/>
          <p:nvPr/>
        </p:nvSpPr>
        <p:spPr>
          <a:xfrm>
            <a:off x="7315829" y="2720430"/>
            <a:ext cx="1747807" cy="10652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06" name="Google Shape;206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75802" y="2803375"/>
            <a:ext cx="827859" cy="87002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1"/>
          <p:cNvSpPr/>
          <p:nvPr/>
        </p:nvSpPr>
        <p:spPr>
          <a:xfrm>
            <a:off x="9588027" y="3924298"/>
            <a:ext cx="2022050" cy="1447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08" name="Google Shape;208;p11"/>
          <p:cNvPicPr preferRelativeResize="0"/>
          <p:nvPr/>
        </p:nvPicPr>
        <p:blipFill rotWithShape="1">
          <a:blip r:embed="rId6">
            <a:alphaModFix/>
          </a:blip>
          <a:srcRect t="12331" b="9583"/>
          <a:stretch/>
        </p:blipFill>
        <p:spPr>
          <a:xfrm>
            <a:off x="9707119" y="3924298"/>
            <a:ext cx="1854144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1"/>
          <p:cNvSpPr/>
          <p:nvPr/>
        </p:nvSpPr>
        <p:spPr>
          <a:xfrm rot="-5400000">
            <a:off x="8653809" y="4441044"/>
            <a:ext cx="1447800" cy="41430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</a:t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9594300" y="2378684"/>
            <a:ext cx="2022050" cy="1447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11" name="Google Shape;211;p11"/>
          <p:cNvSpPr/>
          <p:nvPr/>
        </p:nvSpPr>
        <p:spPr>
          <a:xfrm rot="-5400000">
            <a:off x="8660082" y="2895430"/>
            <a:ext cx="1447800" cy="41430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</a:t>
            </a:r>
            <a:endParaRPr/>
          </a:p>
        </p:txBody>
      </p:sp>
      <p:pic>
        <p:nvPicPr>
          <p:cNvPr id="212" name="Google Shape;212;p11"/>
          <p:cNvPicPr preferRelativeResize="0"/>
          <p:nvPr/>
        </p:nvPicPr>
        <p:blipFill rotWithShape="1">
          <a:blip r:embed="rId7">
            <a:alphaModFix/>
          </a:blip>
          <a:srcRect l="10234" t="9555" r="11778" b="9941"/>
          <a:stretch/>
        </p:blipFill>
        <p:spPr>
          <a:xfrm>
            <a:off x="9642517" y="2572436"/>
            <a:ext cx="1919288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1"/>
          <p:cNvSpPr/>
          <p:nvPr/>
        </p:nvSpPr>
        <p:spPr>
          <a:xfrm>
            <a:off x="5461398" y="2168478"/>
            <a:ext cx="1741239" cy="53216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 Backlog</a:t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7315829" y="2378684"/>
            <a:ext cx="1747807" cy="34166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 Owner</a:t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3425969" y="336944"/>
            <a:ext cx="87582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Scrum</a:t>
            </a:r>
            <a:r>
              <a:rPr lang="en-IN" sz="18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an agile process model which is used for </a:t>
            </a:r>
            <a:r>
              <a:rPr lang="en-IN" sz="18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developing</a:t>
            </a:r>
            <a:r>
              <a:rPr lang="en-IN" sz="18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18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complex software</a:t>
            </a:r>
            <a:r>
              <a:rPr lang="en-IN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systems.</a:t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5955708" y="3924298"/>
            <a:ext cx="3080611" cy="253458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17" name="Google Shape;217;p1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57503" y="4075176"/>
            <a:ext cx="2720137" cy="234920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1"/>
          <p:cNvSpPr/>
          <p:nvPr/>
        </p:nvSpPr>
        <p:spPr>
          <a:xfrm rot="-5400000">
            <a:off x="4444023" y="4946848"/>
            <a:ext cx="2534587" cy="48948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69696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Daily Scrum Meeting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Scrum framework at a glance</a:t>
            </a:r>
            <a:endParaRPr/>
          </a:p>
        </p:txBody>
      </p:sp>
      <p:pic>
        <p:nvPicPr>
          <p:cNvPr id="224" name="Google Shape;22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0730" y="2995089"/>
            <a:ext cx="924786" cy="92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712" y="2514600"/>
            <a:ext cx="914400" cy="960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3511" y="4036119"/>
            <a:ext cx="1029056" cy="80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2"/>
          <p:cNvPicPr preferRelativeResize="0"/>
          <p:nvPr/>
        </p:nvPicPr>
        <p:blipFill rotWithShape="1">
          <a:blip r:embed="rId6">
            <a:alphaModFix/>
          </a:blip>
          <a:srcRect l="6250" t="9374" r="4687" b="6251"/>
          <a:stretch/>
        </p:blipFill>
        <p:spPr>
          <a:xfrm>
            <a:off x="2664530" y="4036118"/>
            <a:ext cx="1076112" cy="80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18125" y="789540"/>
            <a:ext cx="1030952" cy="103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2"/>
          <p:cNvPicPr preferRelativeResize="0"/>
          <p:nvPr/>
        </p:nvPicPr>
        <p:blipFill rotWithShape="1">
          <a:blip r:embed="rId8">
            <a:alphaModFix/>
          </a:blip>
          <a:srcRect l="10234" t="9555" r="11778" b="9941"/>
          <a:stretch/>
        </p:blipFill>
        <p:spPr>
          <a:xfrm>
            <a:off x="10405782" y="3547246"/>
            <a:ext cx="1078339" cy="556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25920" y="910792"/>
            <a:ext cx="575720" cy="78944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2"/>
          <p:cNvSpPr/>
          <p:nvPr/>
        </p:nvSpPr>
        <p:spPr>
          <a:xfrm>
            <a:off x="75914" y="856300"/>
            <a:ext cx="299883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Inputs from Customers, Team, Managers</a:t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1031967" y="1648599"/>
            <a:ext cx="381000" cy="6172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7D4F0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1184367" y="1676400"/>
            <a:ext cx="381000" cy="6172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7D4F0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1336767" y="1744975"/>
            <a:ext cx="381000" cy="61722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7D4F07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650967" y="3440668"/>
            <a:ext cx="16341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 Owner</a:t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970455" y="4876800"/>
            <a:ext cx="11283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 Backlog</a:t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2403567" y="4867870"/>
            <a:ext cx="163256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 Planning Meeting</a:t>
            </a:r>
            <a:endParaRPr/>
          </a:p>
        </p:txBody>
      </p:sp>
      <p:pic>
        <p:nvPicPr>
          <p:cNvPr id="238" name="Google Shape;238;p1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13684" y="1627407"/>
            <a:ext cx="5382497" cy="3175407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2"/>
          <p:cNvSpPr/>
          <p:nvPr/>
        </p:nvSpPr>
        <p:spPr>
          <a:xfrm>
            <a:off x="4413519" y="4838546"/>
            <a:ext cx="105904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 Backlog</a:t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6373520" y="1710421"/>
            <a:ext cx="93863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Scrum Master</a:t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10196696" y="1807658"/>
            <a:ext cx="109103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Daily Scrum Meetings</a:t>
            </a:r>
            <a:endParaRPr/>
          </a:p>
        </p:txBody>
      </p:sp>
      <p:pic>
        <p:nvPicPr>
          <p:cNvPr id="242" name="Google Shape;242;p1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30334" y="2562177"/>
            <a:ext cx="818743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2"/>
          <p:cNvSpPr/>
          <p:nvPr/>
        </p:nvSpPr>
        <p:spPr>
          <a:xfrm>
            <a:off x="10066877" y="2943415"/>
            <a:ext cx="15009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 Review</a:t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10139107" y="4110173"/>
            <a:ext cx="15493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Finished Work</a:t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9855279" y="5544961"/>
            <a:ext cx="21170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 Retrospective</a:t>
            </a:r>
            <a:endParaRPr/>
          </a:p>
        </p:txBody>
      </p:sp>
      <p:pic>
        <p:nvPicPr>
          <p:cNvPr id="246" name="Google Shape;246;p12"/>
          <p:cNvPicPr preferRelativeResize="0"/>
          <p:nvPr/>
        </p:nvPicPr>
        <p:blipFill rotWithShape="1">
          <a:blip r:embed="rId12">
            <a:alphaModFix/>
          </a:blip>
          <a:srcRect b="42136"/>
          <a:stretch/>
        </p:blipFill>
        <p:spPr>
          <a:xfrm>
            <a:off x="10153053" y="4820098"/>
            <a:ext cx="1207061" cy="69845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2"/>
          <p:cNvSpPr/>
          <p:nvPr/>
        </p:nvSpPr>
        <p:spPr>
          <a:xfrm>
            <a:off x="3181205" y="951820"/>
            <a:ext cx="3153662" cy="1511444"/>
          </a:xfrm>
          <a:prstGeom prst="wedgeRoundRectCallout">
            <a:avLst>
              <a:gd name="adj1" fmla="val -47585"/>
              <a:gd name="adj2" fmla="val 84651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 Selects starting at top as much as it can commit to deliver by end of sprint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333016" y="5754820"/>
            <a:ext cx="3904232" cy="757219"/>
          </a:xfrm>
          <a:prstGeom prst="wedgeRoundRectCallout">
            <a:avLst>
              <a:gd name="adj1" fmla="val -19458"/>
              <a:gd name="adj2" fmla="val -82342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Prioritized list of what is required: features, bugs to fix...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6373520" y="5495002"/>
            <a:ext cx="3106656" cy="838582"/>
          </a:xfrm>
          <a:prstGeom prst="wedgeRoundRectCallout">
            <a:avLst>
              <a:gd name="adj1" fmla="val 22241"/>
              <a:gd name="adj2" fmla="val -143399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 end date and team deliverable do not change</a:t>
            </a:r>
            <a:endParaRPr/>
          </a:p>
        </p:txBody>
      </p:sp>
      <p:cxnSp>
        <p:nvCxnSpPr>
          <p:cNvPr id="250" name="Google Shape;250;p12"/>
          <p:cNvCxnSpPr>
            <a:stCxn id="238" idx="0"/>
          </p:cNvCxnSpPr>
          <p:nvPr/>
        </p:nvCxnSpPr>
        <p:spPr>
          <a:xfrm>
            <a:off x="7104933" y="1627407"/>
            <a:ext cx="720000" cy="329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51" name="Google Shape;251;p12"/>
          <p:cNvCxnSpPr>
            <a:stCxn id="228" idx="1"/>
          </p:cNvCxnSpPr>
          <p:nvPr/>
        </p:nvCxnSpPr>
        <p:spPr>
          <a:xfrm flipH="1">
            <a:off x="8986625" y="1305016"/>
            <a:ext cx="1231500" cy="699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Scrum cont.</a:t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172170" y="868214"/>
            <a:ext cx="2239886" cy="461624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Backlog</a:t>
            </a:r>
            <a:endParaRPr/>
          </a:p>
        </p:txBody>
      </p:sp>
      <p:cxnSp>
        <p:nvCxnSpPr>
          <p:cNvPr id="258" name="Google Shape;258;p13"/>
          <p:cNvCxnSpPr/>
          <p:nvPr/>
        </p:nvCxnSpPr>
        <p:spPr>
          <a:xfrm>
            <a:off x="1993263" y="1329879"/>
            <a:ext cx="9934276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9" name="Google Shape;259;p13"/>
          <p:cNvSpPr txBox="1"/>
          <p:nvPr/>
        </p:nvSpPr>
        <p:spPr>
          <a:xfrm>
            <a:off x="190499" y="1443094"/>
            <a:ext cx="11737040" cy="174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is a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prioritized list of project requirements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or features that must be provided to the customer.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items can be included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the backlog at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any time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product manager analyses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list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updates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priorities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 per the requirements.</a:t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167402" y="3208906"/>
            <a:ext cx="2653731" cy="461624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</a:t>
            </a:r>
            <a:endParaRPr/>
          </a:p>
        </p:txBody>
      </p:sp>
      <p:cxnSp>
        <p:nvCxnSpPr>
          <p:cNvPr id="261" name="Google Shape;261;p13"/>
          <p:cNvCxnSpPr/>
          <p:nvPr/>
        </p:nvCxnSpPr>
        <p:spPr>
          <a:xfrm>
            <a:off x="1988495" y="3696846"/>
            <a:ext cx="9934276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2" name="Google Shape;262;p13"/>
          <p:cNvSpPr txBox="1"/>
          <p:nvPr/>
        </p:nvSpPr>
        <p:spPr>
          <a:xfrm>
            <a:off x="185731" y="3810061"/>
            <a:ext cx="11737040" cy="174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These are 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 units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that are needed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achieve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the requirements mentioned in the backlogs.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Typically the sprints have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fixed duration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or time box (of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 to 4 weeks, 30 days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not introduced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during 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sprint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Thus sprints allow the team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members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stable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short-term environment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63" name="Google Shape;26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93715" y="1912629"/>
            <a:ext cx="1029056" cy="80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7495" y="4471441"/>
            <a:ext cx="1600716" cy="944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/>
          <p:nvPr/>
        </p:nvSpPr>
        <p:spPr>
          <a:xfrm>
            <a:off x="178738" y="814426"/>
            <a:ext cx="2586304" cy="461624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Scrum Meetings</a:t>
            </a:r>
            <a:endParaRPr/>
          </a:p>
        </p:txBody>
      </p:sp>
      <p:cxnSp>
        <p:nvCxnSpPr>
          <p:cNvPr id="270" name="Google Shape;270;p14"/>
          <p:cNvCxnSpPr/>
          <p:nvPr/>
        </p:nvCxnSpPr>
        <p:spPr>
          <a:xfrm>
            <a:off x="1993263" y="1276091"/>
            <a:ext cx="9934276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1" name="Google Shape;271;p14"/>
          <p:cNvSpPr txBox="1"/>
          <p:nvPr/>
        </p:nvSpPr>
        <p:spPr>
          <a:xfrm>
            <a:off x="190499" y="1389305"/>
            <a:ext cx="11737040" cy="5057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There are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15 minutes daily meetings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report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completed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activities,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obstacles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plan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next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activities.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Following are three questions that are mainly discussed during the meetings.</a:t>
            </a:r>
            <a:endParaRPr/>
          </a:p>
          <a:p>
            <a:pPr marL="923925" marR="0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oboto Condensed"/>
              <a:buAutoNum type="arabicPeriod"/>
            </a:pPr>
            <a:r>
              <a:rPr lang="en-IN" sz="20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</a:t>
            </a: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are the </a:t>
            </a:r>
            <a:r>
              <a:rPr lang="en-IN" sz="20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tasks done </a:t>
            </a: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since</a:t>
            </a:r>
            <a:r>
              <a:rPr lang="en-IN" sz="20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last meeting ?</a:t>
            </a:r>
            <a:endParaRPr/>
          </a:p>
          <a:p>
            <a:pPr marL="923925" marR="0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oboto Condensed"/>
              <a:buAutoNum type="arabicPeriod"/>
            </a:pPr>
            <a:r>
              <a:rPr lang="en-IN" sz="20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</a:t>
            </a: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are the </a:t>
            </a:r>
            <a:r>
              <a:rPr lang="en-IN" sz="20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issues</a:t>
            </a:r>
            <a:r>
              <a:rPr lang="en-IN" sz="2000" b="0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that team is </a:t>
            </a:r>
            <a:r>
              <a:rPr lang="en-IN" sz="20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facing ?</a:t>
            </a:r>
            <a:endParaRPr/>
          </a:p>
          <a:p>
            <a:pPr marL="923925" marR="0" lvl="1" indent="-4572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Roboto Condensed"/>
              <a:buAutoNum type="arabicPeriod"/>
            </a:pPr>
            <a:r>
              <a:rPr lang="en-IN" sz="2000" b="1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What</a:t>
            </a: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are the</a:t>
            </a:r>
            <a:r>
              <a:rPr lang="en-IN" sz="20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next activities</a:t>
            </a:r>
            <a:r>
              <a:rPr lang="en-IN" sz="2000" b="0" i="0" u="none" strike="noStrike" cap="non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that are </a:t>
            </a:r>
            <a:r>
              <a:rPr lang="en-IN" sz="2000" b="1" i="0" u="none" strike="noStrike" cap="none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planned?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scrum master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leads the meeting and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analyses the response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each team member.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Scrum meeting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helps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uncover potential problems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as early as possible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 leads to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“knowledge socialization”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&amp; promotes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“self-organizing team structure”</a:t>
            </a:r>
            <a:endParaRPr/>
          </a:p>
        </p:txBody>
      </p:sp>
      <p:pic>
        <p:nvPicPr>
          <p:cNvPr id="272" name="Google Shape;27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75325" y="2278802"/>
            <a:ext cx="1030952" cy="103095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4"/>
          <p:cNvSpPr/>
          <p:nvPr/>
        </p:nvSpPr>
        <p:spPr>
          <a:xfrm>
            <a:off x="172170" y="5054731"/>
            <a:ext cx="2993579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Demo</a:t>
            </a:r>
            <a:endParaRPr/>
          </a:p>
        </p:txBody>
      </p:sp>
      <p:cxnSp>
        <p:nvCxnSpPr>
          <p:cNvPr id="274" name="Google Shape;274;p14"/>
          <p:cNvCxnSpPr/>
          <p:nvPr/>
        </p:nvCxnSpPr>
        <p:spPr>
          <a:xfrm>
            <a:off x="1993263" y="5516396"/>
            <a:ext cx="9934276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5" name="Google Shape;275;p1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Scrum cont.</a:t>
            </a:r>
            <a:endParaRPr/>
          </a:p>
        </p:txBody>
      </p:sp>
      <p:sp>
        <p:nvSpPr>
          <p:cNvPr id="276" name="Google Shape;276;p14"/>
          <p:cNvSpPr txBox="1"/>
          <p:nvPr/>
        </p:nvSpPr>
        <p:spPr>
          <a:xfrm>
            <a:off x="227480" y="5605297"/>
            <a:ext cx="11737040" cy="930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Deliver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software increment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customer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Implemented functionalities are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demonstrated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the customer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Adaptive Software development (ASD)</a:t>
            </a:r>
            <a:endParaRPr/>
          </a:p>
        </p:txBody>
      </p:sp>
      <p:sp>
        <p:nvSpPr>
          <p:cNvPr id="282" name="Google Shape;282;p15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/>
              <a:t>This is a technique for building complex software systems using iterative approach.</a:t>
            </a:r>
            <a:endParaRPr/>
          </a:p>
          <a:p>
            <a:pPr marL="265113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/>
              <a:t>ASD focus on </a:t>
            </a:r>
            <a:r>
              <a:rPr lang="en-IN">
                <a:solidFill>
                  <a:srgbClr val="C00000"/>
                </a:solidFill>
              </a:rPr>
              <a:t>working in collaboration </a:t>
            </a:r>
            <a:r>
              <a:rPr lang="en-IN"/>
              <a:t>and </a:t>
            </a:r>
            <a:r>
              <a:rPr lang="en-IN">
                <a:solidFill>
                  <a:srgbClr val="C00000"/>
                </a:solidFill>
              </a:rPr>
              <a:t>team self-organization</a:t>
            </a:r>
            <a:r>
              <a:rPr lang="en-IN"/>
              <a:t>.</a:t>
            </a:r>
            <a:endParaRPr/>
          </a:p>
          <a:p>
            <a:pPr marL="809625" lvl="1" indent="-225425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  <a:p>
            <a:pPr marL="265113" lvl="0" indent="-112713" algn="just" rtl="0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endParaRPr/>
          </a:p>
        </p:txBody>
      </p:sp>
      <p:pic>
        <p:nvPicPr>
          <p:cNvPr id="283" name="Google Shape;28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391" y="3166766"/>
            <a:ext cx="3846139" cy="324751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5"/>
          <p:cNvSpPr/>
          <p:nvPr/>
        </p:nvSpPr>
        <p:spPr>
          <a:xfrm>
            <a:off x="131180" y="1940885"/>
            <a:ext cx="47163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ASD incorporates three phases </a:t>
            </a: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131180" y="2488659"/>
            <a:ext cx="560216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 Speculation, 2. Collaboration &amp; 3. Learning</a:t>
            </a:r>
            <a:endParaRPr/>
          </a:p>
        </p:txBody>
      </p:sp>
      <p:cxnSp>
        <p:nvCxnSpPr>
          <p:cNvPr id="286" name="Google Shape;286;p15"/>
          <p:cNvCxnSpPr/>
          <p:nvPr/>
        </p:nvCxnSpPr>
        <p:spPr>
          <a:xfrm>
            <a:off x="131180" y="1860203"/>
            <a:ext cx="11782914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7" name="Google Shape;287;p15"/>
          <p:cNvCxnSpPr/>
          <p:nvPr/>
        </p:nvCxnSpPr>
        <p:spPr>
          <a:xfrm>
            <a:off x="5961939" y="1917701"/>
            <a:ext cx="0" cy="4496583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8" name="Google Shape;288;p15"/>
          <p:cNvSpPr/>
          <p:nvPr/>
        </p:nvSpPr>
        <p:spPr>
          <a:xfrm>
            <a:off x="6172210" y="1917701"/>
            <a:ext cx="1832611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Speculation</a:t>
            </a:r>
            <a:endParaRPr/>
          </a:p>
        </p:txBody>
      </p:sp>
      <p:cxnSp>
        <p:nvCxnSpPr>
          <p:cNvPr id="289" name="Google Shape;289;p15"/>
          <p:cNvCxnSpPr/>
          <p:nvPr/>
        </p:nvCxnSpPr>
        <p:spPr>
          <a:xfrm>
            <a:off x="7993303" y="2379366"/>
            <a:ext cx="3826662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90" name="Google Shape;290;p15"/>
          <p:cNvSpPr txBox="1"/>
          <p:nvPr/>
        </p:nvSpPr>
        <p:spPr>
          <a:xfrm>
            <a:off x="6190539" y="2492581"/>
            <a:ext cx="5723555" cy="127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adaptive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cycle planning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conducted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this cycle planning mainly three types of information is used</a:t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7099496" y="3807899"/>
            <a:ext cx="4073176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Customer’s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mission statement</a:t>
            </a:r>
            <a:endParaRPr sz="21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7099496" y="4360000"/>
            <a:ext cx="4073176" cy="69249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Project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constraints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(Delivery date, budgets etc…)</a:t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7099496" y="5208444"/>
            <a:ext cx="4073176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Basic requirements </a:t>
            </a: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the project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Adaptive Software development (ASD) cont.</a:t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172170" y="868214"/>
            <a:ext cx="1832611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Collaboration</a:t>
            </a:r>
            <a:endParaRPr/>
          </a:p>
        </p:txBody>
      </p:sp>
      <p:cxnSp>
        <p:nvCxnSpPr>
          <p:cNvPr id="300" name="Google Shape;300;p16"/>
          <p:cNvCxnSpPr/>
          <p:nvPr/>
        </p:nvCxnSpPr>
        <p:spPr>
          <a:xfrm>
            <a:off x="1993263" y="1329879"/>
            <a:ext cx="4111702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1" name="Google Shape;301;p16"/>
          <p:cNvSpPr txBox="1"/>
          <p:nvPr/>
        </p:nvSpPr>
        <p:spPr>
          <a:xfrm>
            <a:off x="190499" y="1443093"/>
            <a:ext cx="5781282" cy="2106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this,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collaboration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among the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members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development team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is a key factor.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successful collaboration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coordination it is necessary to have following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qualities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every individual</a:t>
            </a:r>
            <a:endParaRPr/>
          </a:p>
        </p:txBody>
      </p:sp>
      <p:sp>
        <p:nvSpPr>
          <p:cNvPr id="302" name="Google Shape;302;p16"/>
          <p:cNvSpPr/>
          <p:nvPr/>
        </p:nvSpPr>
        <p:spPr>
          <a:xfrm>
            <a:off x="6617796" y="872699"/>
            <a:ext cx="1832611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Learning</a:t>
            </a:r>
            <a:endParaRPr/>
          </a:p>
        </p:txBody>
      </p:sp>
      <p:cxnSp>
        <p:nvCxnSpPr>
          <p:cNvPr id="303" name="Google Shape;303;p16"/>
          <p:cNvCxnSpPr/>
          <p:nvPr/>
        </p:nvCxnSpPr>
        <p:spPr>
          <a:xfrm>
            <a:off x="8438889" y="1334364"/>
            <a:ext cx="3448311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4" name="Google Shape;304;p16"/>
          <p:cNvSpPr txBox="1"/>
          <p:nvPr/>
        </p:nvSpPr>
        <p:spPr>
          <a:xfrm>
            <a:off x="6636125" y="1447579"/>
            <a:ext cx="5372099" cy="1887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Emphasize is on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learning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new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skills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techniques.</a:t>
            </a:r>
            <a:endParaRPr/>
          </a:p>
          <a:p>
            <a:pPr marL="265113" marR="0" lvl="0" indent="-2651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There are three ways by which the team members learn</a:t>
            </a:r>
            <a:endParaRPr/>
          </a:p>
        </p:txBody>
      </p:sp>
      <p:sp>
        <p:nvSpPr>
          <p:cNvPr id="305" name="Google Shape;305;p16"/>
          <p:cNvSpPr/>
          <p:nvPr/>
        </p:nvSpPr>
        <p:spPr>
          <a:xfrm>
            <a:off x="488576" y="3713570"/>
            <a:ext cx="5227713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Assist each other</a:t>
            </a: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without resentment (offense)</a:t>
            </a:r>
            <a:endParaRPr/>
          </a:p>
        </p:txBody>
      </p:sp>
      <p:sp>
        <p:nvSpPr>
          <p:cNvPr id="306" name="Google Shape;306;p16"/>
          <p:cNvSpPr/>
          <p:nvPr/>
        </p:nvSpPr>
        <p:spPr>
          <a:xfrm>
            <a:off x="488575" y="4270797"/>
            <a:ext cx="1516205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hard</a:t>
            </a:r>
            <a:endParaRPr/>
          </a:p>
        </p:txBody>
      </p:sp>
      <p:sp>
        <p:nvSpPr>
          <p:cNvPr id="307" name="Google Shape;307;p16"/>
          <p:cNvSpPr/>
          <p:nvPr/>
        </p:nvSpPr>
        <p:spPr>
          <a:xfrm>
            <a:off x="2168523" y="4283182"/>
            <a:ext cx="3547766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Posses</a:t>
            </a:r>
            <a:r>
              <a:rPr lang="en-IN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required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skill set</a:t>
            </a:r>
            <a:endParaRPr/>
          </a:p>
        </p:txBody>
      </p:sp>
      <p:sp>
        <p:nvSpPr>
          <p:cNvPr id="308" name="Google Shape;308;p16"/>
          <p:cNvSpPr/>
          <p:nvPr/>
        </p:nvSpPr>
        <p:spPr>
          <a:xfrm>
            <a:off x="488575" y="4889892"/>
            <a:ext cx="5227713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Communicate problems </a:t>
            </a: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help each other</a:t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488576" y="5447119"/>
            <a:ext cx="5227712" cy="4154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Criticize</a:t>
            </a:r>
            <a:r>
              <a:rPr lang="en-IN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without</a:t>
            </a:r>
            <a:r>
              <a:rPr lang="en-IN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any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hate</a:t>
            </a:r>
            <a:endParaRPr/>
          </a:p>
        </p:txBody>
      </p:sp>
      <p:sp>
        <p:nvSpPr>
          <p:cNvPr id="310" name="Google Shape;310;p16"/>
          <p:cNvSpPr/>
          <p:nvPr/>
        </p:nvSpPr>
        <p:spPr>
          <a:xfrm>
            <a:off x="6642846" y="3112519"/>
            <a:ext cx="5365378" cy="73866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Focus groups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feedback</a:t>
            </a:r>
            <a:r>
              <a:rPr lang="en-IN" sz="21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 the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end-users</a:t>
            </a: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is obtained.</a:t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6642846" y="3906666"/>
            <a:ext cx="5365378" cy="73866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Formal </a:t>
            </a: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technical review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review is conducted for better quality.</a:t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6642846" y="4701322"/>
            <a:ext cx="5365378" cy="10618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Postmortems</a:t>
            </a:r>
            <a:endParaRPr sz="2100" b="1">
              <a:solidFill>
                <a:srgbClr val="C0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Team analyses its own performance and makes appropriate improvements.</a:t>
            </a:r>
            <a:endParaRPr/>
          </a:p>
        </p:txBody>
      </p:sp>
      <p:cxnSp>
        <p:nvCxnSpPr>
          <p:cNvPr id="313" name="Google Shape;313;p16"/>
          <p:cNvCxnSpPr/>
          <p:nvPr/>
        </p:nvCxnSpPr>
        <p:spPr>
          <a:xfrm>
            <a:off x="6360460" y="747191"/>
            <a:ext cx="0" cy="5868762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Dynamic Systems Development Methods (DSDM)</a:t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236345" y="864205"/>
            <a:ext cx="1174498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Various phases of this life cycle model</a:t>
            </a:r>
            <a:endParaRPr/>
          </a:p>
        </p:txBody>
      </p:sp>
      <p:sp>
        <p:nvSpPr>
          <p:cNvPr id="320" name="Google Shape;320;p17"/>
          <p:cNvSpPr txBox="1"/>
          <p:nvPr/>
        </p:nvSpPr>
        <p:spPr>
          <a:xfrm>
            <a:off x="227475" y="1505778"/>
            <a:ext cx="11737200" cy="49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65113" marR="0" lvl="0" indent="-3032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Noto Sans Symbols"/>
              <a:buChar char="🞂"/>
            </a:pP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Feasibility study: By analysing the business requirements and constraints the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viability of the application is determined</a:t>
            </a:r>
            <a:endParaRPr sz="20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marR="0" lvl="0" indent="-3032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Noto Sans Symbols"/>
              <a:buChar char="🞂"/>
            </a:pP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Business study: The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functional</a:t>
            </a: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informational requirements </a:t>
            </a: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are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identified</a:t>
            </a: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then the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business value </a:t>
            </a: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the application is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determined</a:t>
            </a:r>
            <a:endParaRPr sz="20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marR="0" lvl="0" indent="-3032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Noto Sans Symbols"/>
              <a:buChar char="🞂"/>
            </a:pP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Functional model iteration: The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incremental approach </a:t>
            </a: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 adopted for development</a:t>
            </a:r>
            <a:endParaRPr sz="20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marR="0" lvl="0" indent="-3032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Noto Sans Symbols"/>
              <a:buChar char="🞂"/>
            </a:pP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 and build iteration: If possible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 and build activities </a:t>
            </a: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can be carried out in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parallel</a:t>
            </a:r>
            <a:endParaRPr sz="20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65113" marR="0" lvl="0" indent="-303213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Noto Sans Symbols"/>
              <a:buChar char="🞂"/>
            </a:pP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Implementation: The software </a:t>
            </a:r>
            <a:r>
              <a:rPr lang="en-IN" sz="3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increment</a:t>
            </a:r>
            <a:r>
              <a:rPr lang="en-IN" sz="30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is placed in the working environment</a:t>
            </a:r>
            <a:endParaRPr sz="20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Feature Driven Development (FDD)</a:t>
            </a:r>
            <a:endParaRPr/>
          </a:p>
        </p:txBody>
      </p:sp>
      <p:pic>
        <p:nvPicPr>
          <p:cNvPr id="326" name="Google Shape;32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742" y="1060824"/>
            <a:ext cx="8849503" cy="3700462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8"/>
          <p:cNvSpPr/>
          <p:nvPr/>
        </p:nvSpPr>
        <p:spPr>
          <a:xfrm>
            <a:off x="9386046" y="2312893"/>
            <a:ext cx="2528047" cy="2568389"/>
          </a:xfrm>
          <a:prstGeom prst="wedgeRoundRectCallout">
            <a:avLst>
              <a:gd name="adj1" fmla="val -67889"/>
              <a:gd name="adj2" fmla="val -93553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It is practical process model for </a:t>
            </a:r>
            <a:r>
              <a:rPr lang="en-IN" sz="24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object oriented software engineering</a:t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>
            <a:off x="524437" y="5447085"/>
            <a:ext cx="6293222" cy="738562"/>
          </a:xfrm>
          <a:prstGeom prst="wedgeRoundRectCallout">
            <a:avLst>
              <a:gd name="adj1" fmla="val -14906"/>
              <a:gd name="adj2" fmla="val -148689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FDD, the 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feature means client valued function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IN"/>
              <a:t>Feature Driven Development (FDD) cont.</a:t>
            </a:r>
            <a:endParaRPr/>
          </a:p>
        </p:txBody>
      </p:sp>
      <p:sp>
        <p:nvSpPr>
          <p:cNvPr id="334" name="Google Shape;334;p19"/>
          <p:cNvSpPr/>
          <p:nvPr/>
        </p:nvSpPr>
        <p:spPr>
          <a:xfrm>
            <a:off x="172170" y="868214"/>
            <a:ext cx="3740924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 Develop overall model</a:t>
            </a:r>
            <a:endParaRPr/>
          </a:p>
        </p:txBody>
      </p:sp>
      <p:cxnSp>
        <p:nvCxnSpPr>
          <p:cNvPr id="335" name="Google Shape;335;p19"/>
          <p:cNvCxnSpPr/>
          <p:nvPr/>
        </p:nvCxnSpPr>
        <p:spPr>
          <a:xfrm>
            <a:off x="1993263" y="1329879"/>
            <a:ext cx="4111702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6" name="Google Shape;336;p19"/>
          <p:cNvSpPr txBox="1"/>
          <p:nvPr/>
        </p:nvSpPr>
        <p:spPr>
          <a:xfrm>
            <a:off x="190499" y="1443094"/>
            <a:ext cx="5781282" cy="1232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high-level 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walkthrough of scope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detailed domain walkthrough are conducted to create overall models.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153841" y="2675966"/>
            <a:ext cx="3740924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 Build feature list</a:t>
            </a:r>
            <a:endParaRPr/>
          </a:p>
        </p:txBody>
      </p:sp>
      <p:cxnSp>
        <p:nvCxnSpPr>
          <p:cNvPr id="338" name="Google Shape;338;p19"/>
          <p:cNvCxnSpPr/>
          <p:nvPr/>
        </p:nvCxnSpPr>
        <p:spPr>
          <a:xfrm>
            <a:off x="1974934" y="3137631"/>
            <a:ext cx="4111702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9" name="Google Shape;339;p19"/>
          <p:cNvSpPr txBox="1"/>
          <p:nvPr/>
        </p:nvSpPr>
        <p:spPr>
          <a:xfrm>
            <a:off x="172170" y="3250846"/>
            <a:ext cx="5781282" cy="77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List of 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features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is created and expressed in the following form</a:t>
            </a:r>
            <a:endParaRPr/>
          </a:p>
        </p:txBody>
      </p:sp>
      <p:sp>
        <p:nvSpPr>
          <p:cNvPr id="340" name="Google Shape;340;p19"/>
          <p:cNvSpPr/>
          <p:nvPr/>
        </p:nvSpPr>
        <p:spPr>
          <a:xfrm>
            <a:off x="336176" y="4072133"/>
            <a:ext cx="5750460" cy="4001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9575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&lt;action&gt; </a:t>
            </a:r>
            <a:r>
              <a:rPr lang="en-IN" sz="20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&lt;result&gt; &lt;by for of to&gt; </a:t>
            </a:r>
            <a:r>
              <a:rPr lang="en-IN" sz="2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a(n) </a:t>
            </a:r>
            <a:r>
              <a:rPr lang="en-IN" sz="2000" b="1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&lt;object&gt;</a:t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341849" y="4518438"/>
            <a:ext cx="5763116" cy="38472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9575" marR="0" lvl="0" indent="-3429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Ex. “Display product-specifications of the product”</a:t>
            </a:r>
            <a:endParaRPr sz="19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135512" y="5134873"/>
            <a:ext cx="3740924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3. Plan by feature</a:t>
            </a:r>
            <a:endParaRPr/>
          </a:p>
        </p:txBody>
      </p:sp>
      <p:cxnSp>
        <p:nvCxnSpPr>
          <p:cNvPr id="343" name="Google Shape;343;p19"/>
          <p:cNvCxnSpPr/>
          <p:nvPr/>
        </p:nvCxnSpPr>
        <p:spPr>
          <a:xfrm>
            <a:off x="1956605" y="5596538"/>
            <a:ext cx="4111702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4" name="Google Shape;344;p19"/>
          <p:cNvSpPr txBox="1"/>
          <p:nvPr/>
        </p:nvSpPr>
        <p:spPr>
          <a:xfrm>
            <a:off x="153841" y="5709753"/>
            <a:ext cx="5781282" cy="87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After completing the feature list the 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development plan is created</a:t>
            </a:r>
            <a:endParaRPr/>
          </a:p>
        </p:txBody>
      </p:sp>
      <p:cxnSp>
        <p:nvCxnSpPr>
          <p:cNvPr id="345" name="Google Shape;345;p19"/>
          <p:cNvCxnSpPr/>
          <p:nvPr/>
        </p:nvCxnSpPr>
        <p:spPr>
          <a:xfrm>
            <a:off x="6360460" y="747191"/>
            <a:ext cx="0" cy="5868762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6" name="Google Shape;346;p19"/>
          <p:cNvSpPr/>
          <p:nvPr/>
        </p:nvSpPr>
        <p:spPr>
          <a:xfrm>
            <a:off x="6617796" y="872699"/>
            <a:ext cx="2768251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 by feature</a:t>
            </a:r>
            <a:endParaRPr/>
          </a:p>
        </p:txBody>
      </p:sp>
      <p:cxnSp>
        <p:nvCxnSpPr>
          <p:cNvPr id="347" name="Google Shape;347;p19"/>
          <p:cNvCxnSpPr/>
          <p:nvPr/>
        </p:nvCxnSpPr>
        <p:spPr>
          <a:xfrm>
            <a:off x="8438889" y="1334364"/>
            <a:ext cx="3448311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48" name="Google Shape;348;p19"/>
          <p:cNvSpPr txBox="1"/>
          <p:nvPr/>
        </p:nvSpPr>
        <p:spPr>
          <a:xfrm>
            <a:off x="6636125" y="1447579"/>
            <a:ext cx="5372099" cy="87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each feature the 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sequence diagram is created</a:t>
            </a:r>
            <a:endParaRPr/>
          </a:p>
        </p:txBody>
      </p:sp>
      <p:sp>
        <p:nvSpPr>
          <p:cNvPr id="349" name="Google Shape;349;p19"/>
          <p:cNvSpPr/>
          <p:nvPr/>
        </p:nvSpPr>
        <p:spPr>
          <a:xfrm>
            <a:off x="6615956" y="2324910"/>
            <a:ext cx="2768251" cy="461665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86333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Build by feature</a:t>
            </a:r>
            <a:endParaRPr/>
          </a:p>
        </p:txBody>
      </p:sp>
      <p:cxnSp>
        <p:nvCxnSpPr>
          <p:cNvPr id="350" name="Google Shape;350;p19"/>
          <p:cNvCxnSpPr/>
          <p:nvPr/>
        </p:nvCxnSpPr>
        <p:spPr>
          <a:xfrm>
            <a:off x="8437049" y="2786575"/>
            <a:ext cx="3448311" cy="0"/>
          </a:xfrm>
          <a:prstGeom prst="straightConnector1">
            <a:avLst/>
          </a:prstGeom>
          <a:noFill/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1" name="Google Shape;351;p19"/>
          <p:cNvSpPr txBox="1"/>
          <p:nvPr/>
        </p:nvSpPr>
        <p:spPr>
          <a:xfrm>
            <a:off x="6634285" y="2899790"/>
            <a:ext cx="5372099" cy="87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5113" marR="0" lvl="0" indent="-265113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Finally the 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class owner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develop the </a:t>
            </a:r>
            <a:r>
              <a:rPr lang="en-IN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actual code </a:t>
            </a:r>
            <a:r>
              <a:rPr lang="en-IN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 their classes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ec05b7cb4e_0_48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300"/>
          </a:xfrm>
          <a:prstGeom prst="rect">
            <a:avLst/>
          </a:prstGeom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Agile Modeling</a:t>
            </a:r>
            <a:endParaRPr/>
          </a:p>
        </p:txBody>
      </p:sp>
      <p:sp>
        <p:nvSpPr>
          <p:cNvPr id="358" name="Google Shape;358;g2ec05b7cb4e_0_481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There are many situations in which software engineers must build large, business critical systems. The scope and complexity of such systems must be modeled so that</a:t>
            </a:r>
            <a:endParaRPr sz="28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(1) All constituencies</a:t>
            </a:r>
            <a:r>
              <a:rPr lang="en-IN" sz="28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can better understand</a:t>
            </a: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 what needs to be accomplished.</a:t>
            </a:r>
            <a:endParaRPr sz="28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(2) The problem</a:t>
            </a:r>
            <a:r>
              <a:rPr lang="en-IN" sz="28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can be partitioned effectively</a:t>
            </a: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 among the people who must solve it.</a:t>
            </a:r>
            <a:endParaRPr sz="28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(3) Quality can be assessed as the</a:t>
            </a:r>
            <a:r>
              <a:rPr lang="en-IN" sz="28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system is being engineered and built.</a:t>
            </a:r>
            <a:endParaRPr sz="2800" b="1">
              <a:solidFill>
                <a:srgbClr val="BF232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endParaRPr sz="28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Various methods have been introduced throughout the years -These methods have merit, but they have proven to be difficult to apply and challenging to sustain (over many projects). Part of the problem is the </a:t>
            </a:r>
            <a:r>
              <a:rPr lang="en-IN" sz="28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“weight”</a:t>
            </a:r>
            <a:r>
              <a:rPr lang="en-IN" sz="2800" b="1">
                <a:latin typeface="Roboto Condensed"/>
                <a:ea typeface="Roboto Condensed"/>
                <a:cs typeface="Roboto Condensed"/>
                <a:sym typeface="Roboto Condensed"/>
              </a:rPr>
              <a:t> of these modeling methods. </a:t>
            </a:r>
            <a:endParaRPr sz="28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endParaRPr sz="28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ec05b7cb4e_0_48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300"/>
          </a:xfrm>
          <a:prstGeom prst="rect">
            <a:avLst/>
          </a:prstGeom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/>
              <a:t>Agile Modeling</a:t>
            </a:r>
            <a:endParaRPr/>
          </a:p>
        </p:txBody>
      </p:sp>
      <p:sp>
        <p:nvSpPr>
          <p:cNvPr id="365" name="Google Shape;365;g2ec05b7cb4e_0_489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900" b="1">
                <a:latin typeface="Roboto Condensed"/>
                <a:ea typeface="Roboto Condensed"/>
                <a:cs typeface="Roboto Condensed"/>
                <a:sym typeface="Roboto Condensed"/>
              </a:rPr>
              <a:t>“</a:t>
            </a:r>
            <a:r>
              <a:rPr lang="en-IN" sz="2900" b="1" i="1">
                <a:latin typeface="Roboto Condensed"/>
                <a:ea typeface="Roboto Condensed"/>
                <a:cs typeface="Roboto Condensed"/>
                <a:sym typeface="Roboto Condensed"/>
              </a:rPr>
              <a:t>Agile Modeling (AM) is a practice-based methodology for effective modeling and documentation of software-based systems. Simply put, Agile Modeling (AM) is a collection of values, principles, and practices for modeling software that can be applied on a software development project in an effective and light-weight manner. Agile models are more effective than traditional models because they are just barely good, they don’t have to be perfect.”</a:t>
            </a:r>
            <a:endParaRPr sz="2900" b="1" i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0"/>
              </a:spcAft>
              <a:buNone/>
            </a:pPr>
            <a:endParaRPr sz="29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IN" sz="2900" b="1">
                <a:latin typeface="Roboto Condensed"/>
                <a:ea typeface="Roboto Condensed"/>
                <a:cs typeface="Roboto Condensed"/>
                <a:sym typeface="Roboto Condensed"/>
              </a:rPr>
              <a:t>The agile modeling philosophy recognizes that an agile team must have the courage to make decisions that may cause it to </a:t>
            </a:r>
            <a:r>
              <a:rPr lang="en-IN" sz="29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reject a design and refactor</a:t>
            </a:r>
            <a:r>
              <a:rPr lang="en-IN" sz="2900" b="1">
                <a:latin typeface="Roboto Condensed"/>
                <a:ea typeface="Roboto Condensed"/>
                <a:cs typeface="Roboto Condensed"/>
                <a:sym typeface="Roboto Condensed"/>
              </a:rPr>
              <a:t> - </a:t>
            </a:r>
            <a:r>
              <a:rPr lang="en-IN" sz="2900" b="1">
                <a:solidFill>
                  <a:srgbClr val="BF232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might not have all the answers!</a:t>
            </a:r>
            <a:endParaRPr sz="2900" b="1">
              <a:solidFill>
                <a:srgbClr val="BF232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ec05b7cb4e_0_49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300"/>
          </a:xfrm>
          <a:prstGeom prst="rect">
            <a:avLst/>
          </a:prstGeom>
        </p:spPr>
        <p:txBody>
          <a:bodyPr spcFirstLastPara="1" wrap="square" lIns="216000" tIns="108000" rIns="216000" bIns="1080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Agile Modeling</a:t>
            </a:r>
            <a:endParaRPr/>
          </a:p>
        </p:txBody>
      </p:sp>
      <p:sp>
        <p:nvSpPr>
          <p:cNvPr id="372" name="Google Shape;372;g2ec05b7cb4e_0_497"/>
          <p:cNvSpPr txBox="1"/>
          <p:nvPr/>
        </p:nvSpPr>
        <p:spPr>
          <a:xfrm>
            <a:off x="780100" y="2139025"/>
            <a:ext cx="3255900" cy="610500"/>
          </a:xfrm>
          <a:prstGeom prst="rect">
            <a:avLst/>
          </a:prstGeom>
          <a:solidFill>
            <a:srgbClr val="BF2323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 with a purpose</a:t>
            </a:r>
            <a:endParaRPr sz="28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3" name="Google Shape;373;g2ec05b7cb4e_0_497"/>
          <p:cNvSpPr txBox="1"/>
          <p:nvPr/>
        </p:nvSpPr>
        <p:spPr>
          <a:xfrm>
            <a:off x="871450" y="3003675"/>
            <a:ext cx="3255900" cy="610500"/>
          </a:xfrm>
          <a:prstGeom prst="rect">
            <a:avLst/>
          </a:prstGeom>
          <a:solidFill>
            <a:srgbClr val="BF2323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 multiple models</a:t>
            </a:r>
            <a:endParaRPr sz="28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4" name="Google Shape;374;g2ec05b7cb4e_0_497"/>
          <p:cNvSpPr txBox="1"/>
          <p:nvPr/>
        </p:nvSpPr>
        <p:spPr>
          <a:xfrm>
            <a:off x="1395550" y="3885750"/>
            <a:ext cx="2025000" cy="610500"/>
          </a:xfrm>
          <a:prstGeom prst="rect">
            <a:avLst/>
          </a:prstGeom>
          <a:solidFill>
            <a:srgbClr val="BF2323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Travel light</a:t>
            </a:r>
            <a:endParaRPr sz="24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just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5" name="Google Shape;375;g2ec05b7cb4e_0_497"/>
          <p:cNvSpPr txBox="1"/>
          <p:nvPr/>
        </p:nvSpPr>
        <p:spPr>
          <a:xfrm>
            <a:off x="795250" y="4756275"/>
            <a:ext cx="4100700" cy="1147500"/>
          </a:xfrm>
          <a:prstGeom prst="rect">
            <a:avLst/>
          </a:prstGeom>
          <a:solidFill>
            <a:srgbClr val="BF2323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Content is more important </a:t>
            </a:r>
            <a:endParaRPr sz="28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 representation</a:t>
            </a:r>
            <a:endParaRPr sz="28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6" name="Google Shape;376;g2ec05b7cb4e_0_497"/>
          <p:cNvSpPr txBox="1"/>
          <p:nvPr/>
        </p:nvSpPr>
        <p:spPr>
          <a:xfrm>
            <a:off x="5937025" y="2154963"/>
            <a:ext cx="5913600" cy="610500"/>
          </a:xfrm>
          <a:prstGeom prst="rect">
            <a:avLst/>
          </a:prstGeom>
          <a:solidFill>
            <a:srgbClr val="BF2323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Know the models and the tools you use to create them</a:t>
            </a:r>
            <a:endParaRPr sz="28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7" name="Google Shape;377;g2ec05b7cb4e_0_497"/>
          <p:cNvSpPr txBox="1"/>
          <p:nvPr/>
        </p:nvSpPr>
        <p:spPr>
          <a:xfrm>
            <a:off x="7339150" y="3047550"/>
            <a:ext cx="2232300" cy="610500"/>
          </a:xfrm>
          <a:prstGeom prst="rect">
            <a:avLst/>
          </a:prstGeom>
          <a:solidFill>
            <a:srgbClr val="BF2323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Adapt locally</a:t>
            </a:r>
            <a:endParaRPr sz="2800" b="1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8" name="Google Shape;378;g2ec05b7cb4e_0_497"/>
          <p:cNvSpPr txBox="1"/>
          <p:nvPr/>
        </p:nvSpPr>
        <p:spPr>
          <a:xfrm>
            <a:off x="556225" y="1031075"/>
            <a:ext cx="112944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Modeling principles that make AM unique are :</a:t>
            </a:r>
            <a:endParaRPr sz="36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79" name="Google Shape;379;g2ec05b7cb4e_0_497"/>
          <p:cNvCxnSpPr/>
          <p:nvPr/>
        </p:nvCxnSpPr>
        <p:spPr>
          <a:xfrm>
            <a:off x="5379225" y="1702625"/>
            <a:ext cx="40800" cy="49044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0" name="Google Shape;380;g2ec05b7cb4e_0_497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500" cy="559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10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21AD-20CD-7D4B-E8D4-42F9D296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FD9AC-D637-7925-81FE-4C2EB72BF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4" descr="Scrum">
            <a:extLst>
              <a:ext uri="{FF2B5EF4-FFF2-40B4-BE49-F238E27FC236}">
                <a16:creationId xmlns:a16="http://schemas.microsoft.com/office/drawing/2014/main" id="{BC5A787F-5E17-6C41-8EC1-0F61431DD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6989" y="1123267"/>
            <a:ext cx="10905066" cy="5070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187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F755B-B6E9-25E3-1625-13179A22C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533E3-1498-06E6-EEE3-F09B36FC2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4B9769B-0745-3197-FFF1-83150CFAB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97" y="959690"/>
            <a:ext cx="10905066" cy="53980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1789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7583-29AD-C671-F462-D0DE29AA9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C7B22-C27D-F46A-3FD2-0D6B00237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277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467BEF-5D02-FBEE-DC3D-5ED8250638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718" y="667204"/>
            <a:ext cx="9983279" cy="496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4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274713-13B4-9632-34D5-AB8D61F4E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57259"/>
            <a:ext cx="10905066" cy="534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35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8A9625-FCD1-3FBC-C875-63B2CE99C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57259"/>
            <a:ext cx="10905066" cy="534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37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>
            <a:extLst>
              <a:ext uri="{FF2B5EF4-FFF2-40B4-BE49-F238E27FC236}">
                <a16:creationId xmlns:a16="http://schemas.microsoft.com/office/drawing/2014/main" id="{C65DEA4E-CD7B-3692-AE1D-0048D8D911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C2FCC9D9-5699-B48C-5A13-8D16090F8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54050E0-962E-CC79-2592-F88A2C75C45D}"/>
                  </a:ext>
                </a:extLst>
              </p14:cNvPr>
              <p14:cNvContentPartPr/>
              <p14:nvPr/>
            </p14:nvContentPartPr>
            <p14:xfrm>
              <a:off x="4446933" y="4779425"/>
              <a:ext cx="50868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54050E0-962E-CC79-2592-F88A2C75C4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38293" y="4770785"/>
                <a:ext cx="5263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1C82077-1A20-6206-5058-BD96B19B5D1D}"/>
                  </a:ext>
                </a:extLst>
              </p14:cNvPr>
              <p14:cNvContentPartPr/>
              <p14:nvPr/>
            </p14:nvContentPartPr>
            <p14:xfrm>
              <a:off x="6348813" y="5122505"/>
              <a:ext cx="816480" cy="63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1C82077-1A20-6206-5058-BD96B19B5D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39813" y="5113865"/>
                <a:ext cx="83412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AD85373-4359-9428-B777-47ECCFDDADCE}"/>
                  </a:ext>
                </a:extLst>
              </p14:cNvPr>
              <p14:cNvContentPartPr/>
              <p14:nvPr/>
            </p14:nvContentPartPr>
            <p14:xfrm>
              <a:off x="8946573" y="4343105"/>
              <a:ext cx="530280" cy="32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AD85373-4359-9428-B777-47ECCFDDADC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37933" y="4334465"/>
                <a:ext cx="5479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AB309B9-DA99-F0CF-D50C-A460925A7954}"/>
                  </a:ext>
                </a:extLst>
              </p14:cNvPr>
              <p14:cNvContentPartPr/>
              <p14:nvPr/>
            </p14:nvContentPartPr>
            <p14:xfrm>
              <a:off x="3416613" y="1589105"/>
              <a:ext cx="5372640" cy="2006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AB309B9-DA99-F0CF-D50C-A460925A79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07973" y="1580105"/>
                <a:ext cx="5390280" cy="20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209F13C-F8C7-3BC0-D450-14FA1CA1E7DA}"/>
                  </a:ext>
                </a:extLst>
              </p14:cNvPr>
              <p14:cNvContentPartPr/>
              <p14:nvPr/>
            </p14:nvContentPartPr>
            <p14:xfrm>
              <a:off x="3771933" y="3327185"/>
              <a:ext cx="1787760" cy="509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209F13C-F8C7-3BC0-D450-14FA1CA1E7D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63293" y="3318545"/>
                <a:ext cx="1805400" cy="52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4F99836-A9AE-7E7F-5367-425BF88E0953}"/>
                  </a:ext>
                </a:extLst>
              </p14:cNvPr>
              <p14:cNvContentPartPr/>
              <p14:nvPr/>
            </p14:nvContentPartPr>
            <p14:xfrm>
              <a:off x="9819573" y="4613465"/>
              <a:ext cx="65628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4F99836-A9AE-7E7F-5367-425BF88E095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810573" y="4604825"/>
                <a:ext cx="6739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33C60EA-78A0-EC41-EEF0-6FE567F6D469}"/>
                  </a:ext>
                </a:extLst>
              </p14:cNvPr>
              <p14:cNvContentPartPr/>
              <p14:nvPr/>
            </p14:nvContentPartPr>
            <p14:xfrm>
              <a:off x="6181773" y="3240425"/>
              <a:ext cx="1393560" cy="1259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33C60EA-78A0-EC41-EEF0-6FE567F6D46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72773" y="3231425"/>
                <a:ext cx="1411200" cy="127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1600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BF2323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4652D626EF27418F127E2176372956" ma:contentTypeVersion="0" ma:contentTypeDescription="Create a new document." ma:contentTypeScope="" ma:versionID="d16676a917884333940fadcd7011fb4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104746C-C815-4055-808F-2A1AF896BF3D}"/>
</file>

<file path=customXml/itemProps2.xml><?xml version="1.0" encoding="utf-8"?>
<ds:datastoreItem xmlns:ds="http://schemas.openxmlformats.org/officeDocument/2006/customXml" ds:itemID="{EA4A93AA-0C66-4F80-8584-39D8E4F4729C}"/>
</file>

<file path=customXml/itemProps3.xml><?xml version="1.0" encoding="utf-8"?>
<ds:datastoreItem xmlns:ds="http://schemas.openxmlformats.org/officeDocument/2006/customXml" ds:itemID="{D5CC71A7-95DD-453E-B987-BC93C12C1306}"/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1870</Words>
  <Application>Microsoft Office PowerPoint</Application>
  <PresentationFormat>Widescreen</PresentationFormat>
  <Paragraphs>241</Paragraphs>
  <Slides>30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Roboto Condensed Light</vt:lpstr>
      <vt:lpstr>Noto Sans Symbols</vt:lpstr>
      <vt:lpstr>Calibri</vt:lpstr>
      <vt:lpstr>Arial</vt:lpstr>
      <vt:lpstr>Roboto Condensed</vt:lpstr>
      <vt:lpstr>Simple Light</vt:lpstr>
      <vt:lpstr>PowerPoint Presentation</vt:lpstr>
      <vt:lpstr>PowerPoint Presentation</vt:lpstr>
      <vt:lpstr>Agility</vt:lpstr>
      <vt:lpstr>What is Agility? Cont.</vt:lpstr>
      <vt:lpstr>Agile Process</vt:lpstr>
      <vt:lpstr>Agility Principles</vt:lpstr>
      <vt:lpstr>Where agile methodology not work</vt:lpstr>
      <vt:lpstr>Extreme Programming (XP)</vt:lpstr>
      <vt:lpstr>The XP Process</vt:lpstr>
      <vt:lpstr>The XP Process cont.</vt:lpstr>
      <vt:lpstr>What is Scrum?</vt:lpstr>
      <vt:lpstr>Scrum framework at a glance</vt:lpstr>
      <vt:lpstr>Scrum cont.</vt:lpstr>
      <vt:lpstr>Scrum cont.</vt:lpstr>
      <vt:lpstr>Adaptive Software development (ASD)</vt:lpstr>
      <vt:lpstr>Adaptive Software development (ASD) cont.</vt:lpstr>
      <vt:lpstr>Dynamic Systems Development Methods (DSDM)</vt:lpstr>
      <vt:lpstr>Feature Driven Development (FDD)</vt:lpstr>
      <vt:lpstr>Feature Driven Development (FDD) cont.</vt:lpstr>
      <vt:lpstr>Agile Modeling</vt:lpstr>
      <vt:lpstr>Agile Modeling</vt:lpstr>
      <vt:lpstr>Agile Modeling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Punit Gupta</cp:lastModifiedBy>
  <cp:revision>13</cp:revision>
  <dcterms:created xsi:type="dcterms:W3CDTF">2020-05-01T05:09:15Z</dcterms:created>
  <dcterms:modified xsi:type="dcterms:W3CDTF">2026-01-21T06:27:27Z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0x010100954652D626EF27418F127E2176372956</vt:lpwstr>
  </property>
</Properties>
</file>