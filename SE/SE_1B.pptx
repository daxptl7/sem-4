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Roboto Condensed" panose="020B0604020202020204" charset="0"/>
      <p:regular r:id="rId30"/>
      <p:bold r:id="rId31"/>
      <p:italic r:id="rId32"/>
      <p:boldItalic r:id="rId33"/>
    </p:embeddedFont>
    <p:embeddedFont>
      <p:font typeface="Roboto Condensed Light" panose="020B0604020202020204" charset="0"/>
      <p:regular r:id="rId34"/>
      <p:bold r:id="rId35"/>
      <p:italic r:id="rId36"/>
      <p:boldItalic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XrasrD/XXaxq99I4LEUfZvll2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72A35-DF8A-9F5B-CD2C-EA69475B3F30}" v="39" dt="2024-09-02T08:05:46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customschemas.google.com/relationships/presentationmetadata" Target="metadata"/><Relationship Id="rId47" Type="http://schemas.microsoft.com/office/2015/10/relationships/revisionInfo" Target="revisionInfo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19671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007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627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355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c29513f3e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c29513f3e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ec29513f3e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8378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c29513f3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c29513f3e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ec29513f3e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7951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303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875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328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412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550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75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0630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019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328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4097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76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5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423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6921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242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ec29513f3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ec29513f3e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2ec29513f3e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243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387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4940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1311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30442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891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7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Red">
  <p:cSld name="Title Slide - Red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9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Blanck">
  <p:cSld name="Complete Blanc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Title and Content - Logo on B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1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body" idx="1"/>
          </p:nvPr>
        </p:nvSpPr>
        <p:spPr>
          <a:xfrm>
            <a:off x="131180" y="91886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" name="Google Shape;19;p31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2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131180" y="84958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4" name="Google Shape;24;p32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- Red">
  <p:cSld name="1_Title Slide - Re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/>
          </a:solidFill>
          <a:ln w="57150" cap="flat" cmpd="sng">
            <a:solidFill>
              <a:schemeClr val="accent6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27;p33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efault Color">
  <p:cSld name="Title Slide - Default Colo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TR">
  <p:cSld name="Title and Content - Logo on T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" name="Google Shape;32;p35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3" name="Google Shape;33;p35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"/>
          </p:nvPr>
        </p:nvSpPr>
        <p:spPr>
          <a:xfrm>
            <a:off x="131180" y="87729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6" name="Google Shape;36;p35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" name="Google Shape;37;p35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36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6"/>
          <p:cNvPicPr preferRelativeResize="0"/>
          <p:nvPr/>
        </p:nvPicPr>
        <p:blipFill rotWithShape="1">
          <a:blip r:embed="rId3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6"/>
          <p:cNvSpPr/>
          <p:nvPr/>
        </p:nvSpPr>
        <p:spPr>
          <a:xfrm>
            <a:off x="0" y="5905332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" name="Google Shape;46;p37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7" name="Google Shape;47;p37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" name="Google Shape;50;p3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1" name="Google Shape;51;p3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" name="Google Shape;54;p3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5" name="Google Shape;55;p3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lete Blanck">
  <p:cSld name="1_Complete Blanc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to Crop Circular Photo?</a:t>
            </a:r>
            <a:endParaRPr/>
          </a:p>
        </p:txBody>
      </p:sp>
      <p:sp>
        <p:nvSpPr>
          <p:cNvPr id="58" name="Google Shape;58;p40"/>
          <p:cNvSpPr>
            <a:spLocks noGrp="1"/>
          </p:cNvSpPr>
          <p:nvPr>
            <p:ph type="pic" idx="2"/>
          </p:nvPr>
        </p:nvSpPr>
        <p:spPr>
          <a:xfrm>
            <a:off x="4013200" y="1808163"/>
            <a:ext cx="3890962" cy="38909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roon">
  <p:cSld name="Title Slide - Maro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1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1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" name="Google Shape;62;p41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63" name="Google Shape;6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1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41"/>
          <p:cNvPicPr preferRelativeResize="0"/>
          <p:nvPr/>
        </p:nvPicPr>
        <p:blipFill rotWithShape="1">
          <a:blip r:embed="rId5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sz="4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425100" y="191450"/>
            <a:ext cx="10792800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4800"/>
              <a:buFont typeface="Roboto Condensed Light"/>
              <a:buNone/>
            </a:pPr>
            <a:r>
              <a:rPr lang="en-US" sz="4800" b="0" i="0" u="none" strike="noStrike" cap="none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Unit-</a:t>
            </a:r>
            <a:r>
              <a:rPr lang="en-US" sz="48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</a:t>
            </a:r>
            <a:r>
              <a:rPr lang="en-US" sz="6600" b="1" i="0" u="none" strike="noStrike" cap="none" dirty="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6600" b="1" i="0" u="none" strike="noStrike" cap="none" dirty="0">
                <a:latin typeface="Roboto Condensed"/>
                <a:ea typeface="Roboto Condensed"/>
                <a:cs typeface="Roboto Condensed"/>
              </a:rPr>
              <a:t/>
            </a:r>
            <a:br>
              <a:rPr lang="en-US" sz="6600" b="1" i="0" u="none" strike="noStrike" cap="none" dirty="0">
                <a:latin typeface="Roboto Condensed"/>
                <a:ea typeface="Roboto Condensed"/>
                <a:cs typeface="Roboto Condensed"/>
              </a:rPr>
            </a:br>
            <a:r>
              <a:rPr lang="en-US" sz="5400" b="1" i="0" u="none" strike="noStrike" cap="none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 </a:t>
            </a:r>
            <a:endParaRPr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buClr>
                <a:srgbClr val="363636"/>
              </a:buClr>
              <a:buSzPts val="5400"/>
            </a:pPr>
            <a:r>
              <a:rPr lang="en-US" sz="5400" b="1" i="0" u="none" strike="noStrike" cap="none" dirty="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Analysis </a:t>
            </a:r>
            <a:r>
              <a:rPr lang="en-US" sz="5400" b="1" i="0" u="none" strike="noStrike" cap="none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</a:t>
            </a:r>
            <a:r>
              <a:rPr lang="en-US" sz="5400" b="1" smtClean="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Specification</a:t>
            </a:r>
            <a:endParaRPr lang="en-US" sz="2900" b="1" dirty="0" err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767" y="3430115"/>
            <a:ext cx="11341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Reference Book: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570A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Engineering -A Practitioner’s Approach (Seventh Edition) - Roger S. Pressman.</a:t>
            </a:r>
            <a:endParaRPr sz="3000" b="1">
              <a:solidFill>
                <a:srgbClr val="0570A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Chapter 5:Understanding Requirements 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Requirements analysis is hard</a:t>
            </a:r>
            <a:endParaRPr/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7494" y="3620153"/>
            <a:ext cx="1231020" cy="1538776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338821" y="5158929"/>
            <a:ext cx="351472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"Fred" Brooks Jr. </a:t>
            </a:r>
            <a:r>
              <a:rPr lang="en-US" sz="1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an American computer architect, software engineer, and computer scientist, best known for managing the development of IBM's System/360 family of computers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48192" y="861197"/>
            <a:ext cx="3605349" cy="2779525"/>
          </a:xfrm>
          <a:prstGeom prst="wedgeRoundRectCallout">
            <a:avLst>
              <a:gd name="adj1" fmla="val -26138"/>
              <a:gd name="adj2" fmla="val 9592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“The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hardest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single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building a software system is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deciding what to build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No part of the work so cripples the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resulting system if done wrong.”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389123" y="5158929"/>
            <a:ext cx="29130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Capers Jones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an American specialist in software engineering methodologies</a:t>
            </a:r>
            <a:endParaRPr/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3849" y="3661291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4114802" y="861197"/>
            <a:ext cx="3187337" cy="2758956"/>
          </a:xfrm>
          <a:prstGeom prst="wedgeRoundRectCallout">
            <a:avLst>
              <a:gd name="adj1" fmla="val 12747"/>
              <a:gd name="adj2" fmla="val 98286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“The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seeds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major software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disasters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usually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sown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 three months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commencing the software project.”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628708" y="1472858"/>
            <a:ext cx="4284617" cy="1788792"/>
          </a:xfrm>
          <a:prstGeom prst="wedgeRoundRectCallout">
            <a:avLst>
              <a:gd name="adj1" fmla="val 41362"/>
              <a:gd name="adj2" fmla="val -6230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Tasks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techniques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lead to an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understanding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r>
              <a:rPr lang="en-US" sz="24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called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 engineering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564323" y="861197"/>
            <a:ext cx="4413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Requirement Engineering?</a:t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9953" y="3372457"/>
            <a:ext cx="2350414" cy="2397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252550" y="307693"/>
            <a:ext cx="11673900" cy="6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 u="sng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requirements </a:t>
            </a:r>
            <a:r>
              <a:rPr lang="en-US" sz="32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mean the high-level abstract requirements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Roboto Condensed"/>
              <a:buChar char="●"/>
            </a:pPr>
            <a:r>
              <a:rPr lang="en-US" sz="26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Often referred to as </a:t>
            </a:r>
            <a:r>
              <a:rPr lang="en-US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needs.</a:t>
            </a:r>
            <a:endParaRPr sz="26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Roboto Condensed"/>
              <a:buChar char="●"/>
            </a:pPr>
            <a:r>
              <a:rPr lang="en-US" sz="26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Such as what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activities that users must be able to perform using the system.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Roboto Condensed"/>
              <a:buChar char="●"/>
            </a:pPr>
            <a:r>
              <a:rPr lang="en-US" sz="26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requirements are generally documented in a User Requirements Document (URD) using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narrative text. 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Roboto Condensed"/>
              <a:buChar char="●"/>
            </a:pPr>
            <a:r>
              <a:rPr lang="en-US" sz="26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requirements are generally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signed off by the user</a:t>
            </a:r>
            <a:r>
              <a:rPr lang="en-US" sz="26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used as the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primary input for creating system requirements.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important and difficult step of designing a software product is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determining what the user actually wants it to do.</a:t>
            </a: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6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is because the user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often not able to communicate the entirety of their needs and wants, and the information they provide may also be incomplete, inaccurate and self-conflicting.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i="1" u="sng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c29513f3e_0_171"/>
          <p:cNvSpPr txBox="1"/>
          <p:nvPr/>
        </p:nvSpPr>
        <p:spPr>
          <a:xfrm>
            <a:off x="902200" y="237425"/>
            <a:ext cx="10704300" cy="61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sng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requirements </a:t>
            </a: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mean the detailed description of what the system should do.</a:t>
            </a:r>
            <a:endParaRPr sz="2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requirements are the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building blocks developers use to build the system. 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are the traditional “shall” statements that describe </a:t>
            </a:r>
            <a:r>
              <a:rPr lang="en-US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the system “shall do.” </a:t>
            </a:r>
            <a:endParaRPr sz="26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requirements are classified as either </a:t>
            </a:r>
            <a:r>
              <a:rPr lang="en-US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or supplemental requirements/non-functional requirements.  </a:t>
            </a:r>
            <a:endParaRPr sz="26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functional requirement specifies something that a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needs to perform their work. </a:t>
            </a: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example, a system may be required to enter and print cost estimates; this is a functional requirement.  </a:t>
            </a:r>
            <a:endParaRPr sz="26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Char char="●"/>
            </a:pPr>
            <a:r>
              <a:rPr lang="en-US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Supplemental or non-functional requirements are sometimes called </a:t>
            </a:r>
            <a:r>
              <a:rPr lang="en-US" sz="26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quality of service requirements.</a:t>
            </a:r>
            <a:endParaRPr sz="2600" b="1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2ec29513f3e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1275"/>
            <a:ext cx="11942376" cy="624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l="2327" t="3178" r="1133" b="7414"/>
          <a:stretch/>
        </p:blipFill>
        <p:spPr>
          <a:xfrm>
            <a:off x="-1" y="1"/>
            <a:ext cx="1219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Requirement Engineering</a:t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0" y="723802"/>
            <a:ext cx="5469253" cy="830997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</a:t>
            </a: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provides</a:t>
            </a:r>
            <a:r>
              <a:rPr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appropriate </a:t>
            </a: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mechanism</a:t>
            </a:r>
            <a:r>
              <a:rPr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</a:t>
            </a: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understanding</a:t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209518" y="1904412"/>
            <a:ext cx="50676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wants</a:t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209518" y="2532041"/>
            <a:ext cx="2164375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Analyzing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needs</a:t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2586958" y="2532041"/>
            <a:ext cx="269016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Assessing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feasibility</a:t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209518" y="3159670"/>
            <a:ext cx="50676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Negotiating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 reasonable solution</a:t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09518" y="3787299"/>
            <a:ext cx="50676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Specifying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solution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unambiguously</a:t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226146" y="4414928"/>
            <a:ext cx="5050971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Validating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specification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226147" y="5042555"/>
            <a:ext cx="505097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Managing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requirements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5471671" y="723802"/>
            <a:ext cx="6720329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 fall into two types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9211052" y="2181272"/>
            <a:ext cx="2632511" cy="1223437"/>
          </a:xfrm>
          <a:prstGeom prst="wedgeEllipseCallout">
            <a:avLst>
              <a:gd name="adj1" fmla="val -9356"/>
              <a:gd name="adj2" fmla="val 64762"/>
            </a:avLst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  <a:endParaRPr/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0075" y="3199002"/>
            <a:ext cx="3809247" cy="2871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5540442" y="6191980"/>
            <a:ext cx="6651558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Don't put what you want to do - before how you need to do it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240925" y="2134047"/>
            <a:ext cx="2743200" cy="1371600"/>
          </a:xfrm>
          <a:prstGeom prst="wedgeEllipseCallout">
            <a:avLst>
              <a:gd name="adj1" fmla="val 36396"/>
              <a:gd name="adj2" fmla="val 116163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Non-Functional requirements</a:t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5506056" y="1139301"/>
            <a:ext cx="3282220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5471671" y="711201"/>
            <a:ext cx="68771" cy="589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9"/>
          <p:cNvSpPr/>
          <p:nvPr/>
        </p:nvSpPr>
        <p:spPr>
          <a:xfrm>
            <a:off x="8788276" y="1139301"/>
            <a:ext cx="3403724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Non-Functional requirements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Functional requirements</a:t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188259" y="805330"/>
            <a:ext cx="6178177" cy="714187"/>
          </a:xfrm>
          <a:prstGeom prst="wedgeRoundRectCallout">
            <a:avLst>
              <a:gd name="adj1" fmla="val -39739"/>
              <a:gd name="adj2" fmla="val -79881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requirement which specifies </a:t>
            </a:r>
            <a:r>
              <a:rPr lang="en-US" sz="22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the system Should do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188259" y="1627093"/>
            <a:ext cx="6178177" cy="179289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functional requirement will describe a particular behavior of function of the system when certain conditions are met, for example: “Send email when a new customer signs up” or “Open a new account”.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188259" y="3472017"/>
            <a:ext cx="61781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Typical functional requirements 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88259" y="4074458"/>
            <a:ext cx="1619354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 Rules </a:t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188258" y="4535537"/>
            <a:ext cx="3273528" cy="64633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Transaction corrections, adjustments and cancellations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1972790" y="4074458"/>
            <a:ext cx="2574144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Administrative functions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4846470" y="5285939"/>
            <a:ext cx="1519966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Authentication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3365499" y="5743629"/>
            <a:ext cx="3000937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Authorization levels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3365499" y="6175919"/>
            <a:ext cx="3000937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Audit Tracking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188257" y="5286315"/>
            <a:ext cx="1896701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External Interfaces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2238936" y="5277928"/>
            <a:ext cx="2369559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Reporting Requirements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693045" y="4066155"/>
            <a:ext cx="1673391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Historical Data</a:t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3615763" y="4540520"/>
            <a:ext cx="2750673" cy="64633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Legal or Regulatory Requirements</a:t>
            </a:r>
            <a:endParaRPr/>
          </a:p>
        </p:txBody>
      </p:sp>
      <p:cxnSp>
        <p:nvCxnSpPr>
          <p:cNvPr id="148" name="Google Shape;148;p10"/>
          <p:cNvCxnSpPr/>
          <p:nvPr/>
        </p:nvCxnSpPr>
        <p:spPr>
          <a:xfrm>
            <a:off x="6616700" y="12700"/>
            <a:ext cx="0" cy="654525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0"/>
          <p:cNvSpPr/>
          <p:nvPr/>
        </p:nvSpPr>
        <p:spPr>
          <a:xfrm>
            <a:off x="6866964" y="805330"/>
            <a:ext cx="5120340" cy="714187"/>
          </a:xfrm>
          <a:prstGeom prst="wedgeRoundRectCallout">
            <a:avLst>
              <a:gd name="adj1" fmla="val -5819"/>
              <a:gd name="adj2" fmla="val -86994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requirement which specifies </a:t>
            </a:r>
            <a:r>
              <a:rPr lang="en-US" sz="21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the system performs a certain function</a:t>
            </a:r>
            <a:r>
              <a:rPr lang="en-US" sz="21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6866965" y="1613645"/>
            <a:ext cx="5120340" cy="18154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non-functional requirement will describe how a system should behave and what limits there are on its functionality.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6866963" y="3472017"/>
            <a:ext cx="5120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Typical non-functional requirements 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866964" y="3976604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Response time</a:t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6866964" y="4406477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Throughput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866964" y="4836350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Utilization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6866964" y="5266223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Static volumetric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6866964" y="5696096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Scalability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866964" y="6125971"/>
            <a:ext cx="174524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Capacity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8758317" y="3976604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Availability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8758317" y="4406477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Reliability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8758317" y="4836350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Recoverability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8758317" y="5266223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Maintainability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8758317" y="5696096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Serviceability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8758317" y="6125971"/>
            <a:ext cx="1527982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Security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0440276" y="3976604"/>
            <a:ext cx="1547028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Regulatory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10440276" y="4406477"/>
            <a:ext cx="1547028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Manageability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0440276" y="4836350"/>
            <a:ext cx="1547028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Environmental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0440276" y="5266223"/>
            <a:ext cx="1547028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Integrity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0440276" y="5696096"/>
            <a:ext cx="1548524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Usability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0440275" y="6125971"/>
            <a:ext cx="1547029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Interoperability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6814195" y="27447"/>
            <a:ext cx="518763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Non-functional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Library Management System</a:t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0" y="711201"/>
            <a:ext cx="6616699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 Requirements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6616699" y="711201"/>
            <a:ext cx="5575301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Non-function Requirements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98427" y="1308101"/>
            <a:ext cx="6416673" cy="445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Article: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New entries must be entered in database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Update Article: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Any changes in articles should be updated in case of update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Delete Article: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Wrong entry must be removed from system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Inquiry Members: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Inquiry all current enrolled members to view their details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Inquiry Issuance: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Inquiry all database articles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Check out Article: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issue any article must be checked out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Check In article: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After receiving any article system will reenter article by Checking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Inquiry waiting for approvals: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Librarian will generate all newly application which is in waiting list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Reserve Article: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use case is used to reserve any book with the name of librarian, it can be pledged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6718301" y="1308100"/>
            <a:ext cx="5372100" cy="487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Safety Requirements: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database may get crashed at any certain time due to virus or operating system failure. So, it is required to take the database backup.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Security Requirements: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are going to develop a secured database for the university. There are different categories of users namely teaching staff, administrator, library staff ,students etc., Depending upon the category of user the access rights are decided.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🞂"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Constraints: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development of the system will be constrained by the availability of required software such as database and development tools. The availability of these tools will be governed by</a:t>
            </a:r>
            <a:endParaRPr/>
          </a:p>
        </p:txBody>
      </p:sp>
      <p:cxnSp>
        <p:nvCxnSpPr>
          <p:cNvPr id="180" name="Google Shape;180;p11"/>
          <p:cNvCxnSpPr/>
          <p:nvPr/>
        </p:nvCxnSpPr>
        <p:spPr>
          <a:xfrm>
            <a:off x="6616700" y="711201"/>
            <a:ext cx="0" cy="588485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515525" y="154450"/>
            <a:ext cx="11237100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Feasibility studies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u="sng">
              <a:solidFill>
                <a:srgbClr val="B71B1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feasibility study is a short, focused study that should take place early in the RE process. It should answer three key questions: </a:t>
            </a: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Font typeface="Roboto Condensed"/>
              <a:buAutoNum type="arabicParenBoth"/>
            </a:pP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Does the system contribute to the overall objectives of the organization? </a:t>
            </a: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Condensed"/>
              <a:buNone/>
            </a:pP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Font typeface="Roboto Condensed"/>
              <a:buAutoNum type="arabicParenBoth"/>
            </a:pP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 the system be implemented within schedule and budget using current technology?</a:t>
            </a: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Font typeface="Roboto Condensed"/>
              <a:buAutoNum type="arabicParenBoth"/>
            </a:pP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the system be integrated with other systems that are used?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231F2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31F2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the answer to any of these questions is no, you should probably not go ahead with the project.</a:t>
            </a:r>
            <a:endParaRPr sz="2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Requirements Engineering Tasks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768714" y="931491"/>
            <a:ext cx="25527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Inception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981" y="1574649"/>
            <a:ext cx="1698401" cy="167717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 txBox="1"/>
          <p:nvPr/>
        </p:nvSpPr>
        <p:spPr>
          <a:xfrm>
            <a:off x="273414" y="931491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4064364" y="931491"/>
            <a:ext cx="36830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Elicitation </a:t>
            </a: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(Requirement Gathering)</a:t>
            </a:r>
            <a:endParaRPr/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4">
            <a:alphaModFix/>
          </a:blip>
          <a:srcRect t="8248" b="2626"/>
          <a:stretch/>
        </p:blipFill>
        <p:spPr>
          <a:xfrm>
            <a:off x="4709977" y="1434092"/>
            <a:ext cx="2039530" cy="18177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/>
        </p:nvSpPr>
        <p:spPr>
          <a:xfrm>
            <a:off x="3569064" y="931491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8526186" y="926920"/>
            <a:ext cx="342451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Elaboration</a:t>
            </a:r>
            <a:endParaRPr/>
          </a:p>
        </p:txBody>
      </p:sp>
      <p:pic>
        <p:nvPicPr>
          <p:cNvPr id="198" name="Google Shape;19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74200" y="1574649"/>
            <a:ext cx="1685706" cy="168570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 txBox="1"/>
          <p:nvPr/>
        </p:nvSpPr>
        <p:spPr>
          <a:xfrm>
            <a:off x="8028197" y="926920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273414" y="3335404"/>
            <a:ext cx="30480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Roughly define scope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273414" y="3847214"/>
            <a:ext cx="3048000" cy="19389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basic understanding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people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who want a solution,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nature of solution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desired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3569064" y="3335404"/>
            <a:ext cx="41783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requirements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3569064" y="3847214"/>
            <a:ext cx="4178300" cy="15696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practice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collecting the requirements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a system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customers and other stakeholders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8028196" y="3335404"/>
            <a:ext cx="3922503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Further define requirements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8028197" y="3847214"/>
            <a:ext cx="3922503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Expand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obtained from inception &amp; elicitation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028197" y="5098077"/>
            <a:ext cx="3922503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Creation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scenarios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extract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analysis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domain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entities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3441700" y="926920"/>
            <a:ext cx="0" cy="56899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12"/>
          <p:cNvCxnSpPr/>
          <p:nvPr/>
        </p:nvCxnSpPr>
        <p:spPr>
          <a:xfrm>
            <a:off x="7886700" y="914220"/>
            <a:ext cx="0" cy="56899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Requirements Engineering Tasks Cont.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711199" y="889000"/>
            <a:ext cx="2895601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Negotiation</a:t>
            </a:r>
            <a:endParaRPr/>
          </a:p>
        </p:txBody>
      </p:sp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961" y="1474700"/>
            <a:ext cx="1754777" cy="17240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215900" y="889000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215900" y="3322804"/>
            <a:ext cx="33909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Reconcile conflicts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215900" y="3860669"/>
            <a:ext cx="3390900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Agree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on a deliverable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is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realistic for developers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19" name="Google Shape;219;p13"/>
          <p:cNvCxnSpPr/>
          <p:nvPr/>
        </p:nvCxnSpPr>
        <p:spPr>
          <a:xfrm>
            <a:off x="3797300" y="914220"/>
            <a:ext cx="0" cy="56899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0" name="Google Shape;220;p13"/>
          <p:cNvSpPr txBox="1"/>
          <p:nvPr/>
        </p:nvSpPr>
        <p:spPr>
          <a:xfrm>
            <a:off x="4483100" y="889000"/>
            <a:ext cx="74041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Specification</a:t>
            </a:r>
            <a:endParaRPr/>
          </a:p>
        </p:txBody>
      </p:sp>
      <p:pic>
        <p:nvPicPr>
          <p:cNvPr id="221" name="Google Shape;22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4439" y="1555501"/>
            <a:ext cx="2026121" cy="1519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3"/>
          <p:cNvSpPr txBox="1"/>
          <p:nvPr/>
        </p:nvSpPr>
        <p:spPr>
          <a:xfrm>
            <a:off x="3987800" y="888999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3987800" y="3322804"/>
            <a:ext cx="78994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 analysis model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3987800" y="3860669"/>
            <a:ext cx="7899400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may be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written document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set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graphical models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formal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mathematical model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collection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scenarios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prototype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 collection of these</a:t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3987800" y="5161025"/>
            <a:ext cx="7899400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(Software Requirement Specification)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 document that is created when a detailed description of all aspects of software to build must be specified before starting of project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Requirements Engineering Tasks Cont.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685800" y="990600"/>
            <a:ext cx="54229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Validation</a:t>
            </a:r>
            <a:endParaRPr/>
          </a:p>
        </p:txBody>
      </p:sp>
      <p:pic>
        <p:nvPicPr>
          <p:cNvPr id="232" name="Google Shape;23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84" y="1630791"/>
            <a:ext cx="1771616" cy="177161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190500" y="990600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90500" y="3702738"/>
            <a:ext cx="5918200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Ensure quality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190500" y="4286935"/>
            <a:ext cx="5918200" cy="1200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Review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specification for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errors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ambiguities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omissions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(absence) and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conflicts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6916782" y="990600"/>
            <a:ext cx="508471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 Management</a:t>
            </a:r>
            <a:endParaRPr/>
          </a:p>
        </p:txBody>
      </p:sp>
      <p:pic>
        <p:nvPicPr>
          <p:cNvPr id="237" name="Google Shape;23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9100" y="1469886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/>
          <p:nvPr/>
        </p:nvSpPr>
        <p:spPr>
          <a:xfrm>
            <a:off x="6438900" y="990599"/>
            <a:ext cx="495300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7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6438900" y="3702738"/>
            <a:ext cx="5562600" cy="15696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 set of activities to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identify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 to requirements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(Umbrella Activities) at any time as the project proceeds.</a:t>
            </a:r>
            <a:endParaRPr/>
          </a:p>
        </p:txBody>
      </p:sp>
      <p:cxnSp>
        <p:nvCxnSpPr>
          <p:cNvPr id="240" name="Google Shape;240;p14"/>
          <p:cNvCxnSpPr/>
          <p:nvPr/>
        </p:nvCxnSpPr>
        <p:spPr>
          <a:xfrm>
            <a:off x="6286500" y="914220"/>
            <a:ext cx="0" cy="56899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Elicitation is the Hardest Part!</a:t>
            </a:r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body" idx="1"/>
          </p:nvPr>
        </p:nvSpPr>
        <p:spPr>
          <a:xfrm>
            <a:off x="131181" y="863444"/>
            <a:ext cx="5610714" cy="397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/>
              <a:t>Problems of scope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System </a:t>
            </a:r>
            <a:r>
              <a:rPr lang="en-US">
                <a:solidFill>
                  <a:srgbClr val="C00000"/>
                </a:solidFill>
              </a:rPr>
              <a:t>boundaries</a:t>
            </a:r>
            <a:r>
              <a:rPr lang="en-US"/>
              <a:t> are </a:t>
            </a:r>
            <a:r>
              <a:rPr lang="en-US">
                <a:solidFill>
                  <a:srgbClr val="C00000"/>
                </a:solidFill>
              </a:rPr>
              <a:t>ill-defined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Customers will </a:t>
            </a:r>
            <a:r>
              <a:rPr lang="en-US">
                <a:solidFill>
                  <a:srgbClr val="C00000"/>
                </a:solidFill>
              </a:rPr>
              <a:t>provide irrelevant information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/>
              <a:t>Problems of understanding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Customers </a:t>
            </a:r>
            <a:r>
              <a:rPr lang="en-US">
                <a:solidFill>
                  <a:srgbClr val="C00000"/>
                </a:solidFill>
              </a:rPr>
              <a:t>never know exactly </a:t>
            </a:r>
            <a:r>
              <a:rPr lang="en-US"/>
              <a:t>what they </a:t>
            </a:r>
            <a:r>
              <a:rPr lang="en-US">
                <a:solidFill>
                  <a:srgbClr val="C00000"/>
                </a:solidFill>
              </a:rPr>
              <a:t>want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Customers </a:t>
            </a:r>
            <a:r>
              <a:rPr lang="en-US">
                <a:solidFill>
                  <a:srgbClr val="C00000"/>
                </a:solidFill>
              </a:rPr>
              <a:t>don’t understand capabilities </a:t>
            </a:r>
            <a:r>
              <a:rPr lang="en-US"/>
              <a:t>and </a:t>
            </a:r>
            <a:r>
              <a:rPr lang="en-US">
                <a:solidFill>
                  <a:srgbClr val="C00000"/>
                </a:solidFill>
              </a:rPr>
              <a:t>limitations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Customers have </a:t>
            </a:r>
            <a:r>
              <a:rPr lang="en-US">
                <a:solidFill>
                  <a:srgbClr val="C00000"/>
                </a:solidFill>
              </a:rPr>
              <a:t>trouble</a:t>
            </a:r>
            <a:r>
              <a:rPr lang="en-US"/>
              <a:t> fully </a:t>
            </a:r>
            <a:r>
              <a:rPr lang="en-US">
                <a:solidFill>
                  <a:srgbClr val="C00000"/>
                </a:solidFill>
              </a:rPr>
              <a:t>communicating needs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/>
              <a:t>Problems of volatility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Requirements always change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pic>
        <p:nvPicPr>
          <p:cNvPr id="247" name="Google Shape;24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929" y="4993184"/>
            <a:ext cx="1465578" cy="14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5865" y="5215558"/>
            <a:ext cx="1141346" cy="10177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49" name="Google Shape;24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8569" y="4993184"/>
            <a:ext cx="1107141" cy="110714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/>
          <p:nvPr/>
        </p:nvSpPr>
        <p:spPr>
          <a:xfrm>
            <a:off x="6029901" y="26988"/>
            <a:ext cx="313258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Inception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5962650" y="1842314"/>
            <a:ext cx="5938838" cy="458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Identify</a:t>
            </a: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project 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stakeholders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are the folks we should be talking to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Recognize</a:t>
            </a: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multiple 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viewpoints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Stakeholders may have different (and conflicting) requirements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</a:t>
            </a: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toward 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It’s all about reconciling conflict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Ask the 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 questions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Who? What are the benefits? Another source?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the problem? What defines success? Other constraints?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I doing my job right?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5984085" y="854074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During the </a:t>
            </a: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initial project meetings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following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tasks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should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accomplished</a:t>
            </a:r>
            <a:endParaRPr/>
          </a:p>
        </p:txBody>
      </p:sp>
      <p:cxnSp>
        <p:nvCxnSpPr>
          <p:cNvPr id="253" name="Google Shape;253;p15"/>
          <p:cNvCxnSpPr/>
          <p:nvPr/>
        </p:nvCxnSpPr>
        <p:spPr>
          <a:xfrm>
            <a:off x="5830884" y="0"/>
            <a:ext cx="0" cy="6600815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Collaborative Elicitation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295836" y="4424082"/>
            <a:ext cx="4168588" cy="1815353"/>
          </a:xfrm>
          <a:prstGeom prst="wedgeRoundRectCallout">
            <a:avLst>
              <a:gd name="adj1" fmla="val 3488"/>
              <a:gd name="adj2" fmla="val -101321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One-on-one Q&amp;A sessions rarely succeed in practice;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collaborative strategies are more practical</a:t>
            </a:r>
            <a:endParaRPr/>
          </a:p>
        </p:txBody>
      </p:sp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048" y="980888"/>
            <a:ext cx="4369261" cy="2662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16"/>
          <p:cNvCxnSpPr/>
          <p:nvPr/>
        </p:nvCxnSpPr>
        <p:spPr>
          <a:xfrm>
            <a:off x="4755124" y="0"/>
            <a:ext cx="0" cy="6600815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2" name="Google Shape;262;p16"/>
          <p:cNvSpPr/>
          <p:nvPr/>
        </p:nvSpPr>
        <p:spPr>
          <a:xfrm>
            <a:off x="4981035" y="26988"/>
            <a:ext cx="470513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Elicitation</a:t>
            </a:r>
            <a:r>
              <a:rPr lang="en-US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</a:t>
            </a:r>
            <a:r>
              <a:rPr lang="en-US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products</a:t>
            </a:r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body" idx="1"/>
          </p:nvPr>
        </p:nvSpPr>
        <p:spPr>
          <a:xfrm>
            <a:off x="4898940" y="792629"/>
            <a:ext cx="718996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Collaborative elicitation should result in several </a:t>
            </a:r>
            <a:r>
              <a:rPr lang="en-US" sz="2200" b="1">
                <a:solidFill>
                  <a:srgbClr val="C00000"/>
                </a:solidFill>
              </a:rPr>
              <a:t>work products</a:t>
            </a:r>
            <a:endParaRPr sz="2200"/>
          </a:p>
        </p:txBody>
      </p:sp>
      <p:sp>
        <p:nvSpPr>
          <p:cNvPr id="264" name="Google Shape;264;p16"/>
          <p:cNvSpPr/>
          <p:nvPr/>
        </p:nvSpPr>
        <p:spPr>
          <a:xfrm>
            <a:off x="5060304" y="1331257"/>
            <a:ext cx="391164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bounded statement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scope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9090211" y="1331257"/>
            <a:ext cx="2783541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stakeholders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5060304" y="1917424"/>
            <a:ext cx="681344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description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environment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5060304" y="2503591"/>
            <a:ext cx="681344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constraints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5060304" y="3089758"/>
            <a:ext cx="413748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prototypes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developed</a:t>
            </a:r>
            <a:endParaRPr/>
          </a:p>
        </p:txBody>
      </p:sp>
      <p:pic>
        <p:nvPicPr>
          <p:cNvPr id="269" name="Google Shape;269;p16"/>
          <p:cNvPicPr preferRelativeResize="0"/>
          <p:nvPr/>
        </p:nvPicPr>
        <p:blipFill rotWithShape="1">
          <a:blip r:embed="rId4">
            <a:alphaModFix/>
          </a:blip>
          <a:srcRect l="8955" t="5555" r="7710" b="7406"/>
          <a:stretch/>
        </p:blipFill>
        <p:spPr>
          <a:xfrm>
            <a:off x="9519010" y="3106091"/>
            <a:ext cx="2596790" cy="2712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/>
          <p:nvPr/>
        </p:nvSpPr>
        <p:spPr>
          <a:xfrm>
            <a:off x="5060304" y="3675925"/>
            <a:ext cx="413748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set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cases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5060305" y="4259982"/>
            <a:ext cx="413748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Characterize how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users will interact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 the system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cases tie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together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Quality Function Deployment (QFD)</a:t>
            </a:r>
            <a:endParaRPr/>
          </a:p>
        </p:txBody>
      </p:sp>
      <p:sp>
        <p:nvSpPr>
          <p:cNvPr id="277" name="Google Shape;277;p17"/>
          <p:cNvSpPr txBox="1">
            <a:spLocks noGrp="1"/>
          </p:cNvSpPr>
          <p:nvPr>
            <p:ph type="body" idx="1"/>
          </p:nvPr>
        </p:nvSpPr>
        <p:spPr>
          <a:xfrm>
            <a:off x="131180" y="863445"/>
            <a:ext cx="11929641" cy="212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This is a technique that </a:t>
            </a:r>
            <a:r>
              <a:rPr lang="en-US" b="1">
                <a:solidFill>
                  <a:srgbClr val="C00000"/>
                </a:solidFill>
              </a:rPr>
              <a:t>translates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needs</a:t>
            </a:r>
            <a:r>
              <a:rPr lang="en-US"/>
              <a:t> of the </a:t>
            </a:r>
            <a:r>
              <a:rPr lang="en-US" b="1">
                <a:solidFill>
                  <a:srgbClr val="C00000"/>
                </a:solidFill>
              </a:rPr>
              <a:t>customer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into </a:t>
            </a:r>
            <a:r>
              <a:rPr lang="en-US" b="1">
                <a:solidFill>
                  <a:srgbClr val="C00000"/>
                </a:solidFill>
              </a:rPr>
              <a:t>technical requirements</a:t>
            </a:r>
            <a:r>
              <a:rPr lang="en-US"/>
              <a:t> for software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</a:t>
            </a:r>
            <a:r>
              <a:rPr lang="en-US" b="1">
                <a:solidFill>
                  <a:srgbClr val="C00000"/>
                </a:solidFill>
              </a:rPr>
              <a:t>emphasizes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an </a:t>
            </a:r>
            <a:r>
              <a:rPr lang="en-US">
                <a:solidFill>
                  <a:srgbClr val="C00000"/>
                </a:solidFill>
              </a:rPr>
              <a:t>understanding</a:t>
            </a:r>
            <a:r>
              <a:rPr lang="en-US"/>
              <a:t> of </a:t>
            </a:r>
            <a:r>
              <a:rPr lang="en-US" b="1">
                <a:solidFill>
                  <a:srgbClr val="C00000"/>
                </a:solidFill>
              </a:rPr>
              <a:t>what is valuable to the customer</a:t>
            </a:r>
            <a:r>
              <a:rPr lang="en-US"/>
              <a:t> and then deploys these values throughout the engineering process through functions, information, and tasks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</a:t>
            </a:r>
            <a:r>
              <a:rPr lang="en-US" b="1">
                <a:solidFill>
                  <a:srgbClr val="C00000"/>
                </a:solidFill>
              </a:rPr>
              <a:t>identifies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three types of </a:t>
            </a:r>
            <a:r>
              <a:rPr lang="en-US" b="1">
                <a:solidFill>
                  <a:srgbClr val="C00000"/>
                </a:solidFill>
              </a:rPr>
              <a:t>requirements</a:t>
            </a:r>
            <a:endParaRPr/>
          </a:p>
          <a:p>
            <a:pPr marL="1143000" lvl="2" indent="-114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25823" y="4825275"/>
            <a:ext cx="1163499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Exciting requirements: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requirements are for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go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beyond the customer's expectations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prove to be very satisfying when present</a:t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425823" y="3012141"/>
            <a:ext cx="11634998" cy="7694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 requirements: 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requirements are the </a:t>
            </a:r>
            <a:r>
              <a:rPr lang="en-US" sz="22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objectives and goals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stated for a product or system during meetings with the customer</a:t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425823" y="3934097"/>
            <a:ext cx="1163499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Expected requirements: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requirements are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implicit to the product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 system and may be so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fundamental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the customer does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explicitly state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The requirement analysis model</a:t>
            </a:r>
            <a:endParaRPr/>
          </a:p>
        </p:txBody>
      </p:sp>
      <p:pic>
        <p:nvPicPr>
          <p:cNvPr id="286" name="Google Shape;2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5367" y="1316990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135" y="1008245"/>
            <a:ext cx="1762391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4261" y="1223887"/>
            <a:ext cx="2097937" cy="146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/>
          <p:nvPr/>
        </p:nvSpPr>
        <p:spPr>
          <a:xfrm>
            <a:off x="2901951" y="1691465"/>
            <a:ext cx="1397720" cy="53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6916691" y="1723145"/>
            <a:ext cx="1272567" cy="53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1" name="Google Shape;291;p18"/>
          <p:cNvSpPr/>
          <p:nvPr/>
        </p:nvSpPr>
        <p:spPr>
          <a:xfrm rot="5400000">
            <a:off x="7457942" y="1930427"/>
            <a:ext cx="1077570" cy="2160074"/>
          </a:xfrm>
          <a:prstGeom prst="bentArrow">
            <a:avLst>
              <a:gd name="adj1" fmla="val 25000"/>
              <a:gd name="adj2" fmla="val 24232"/>
              <a:gd name="adj3" fmla="val 32683"/>
              <a:gd name="adj4" fmla="val 4375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901589" y="4422901"/>
            <a:ext cx="6709445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 a set of validation requirements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901591" y="3514983"/>
            <a:ext cx="6709443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Describe what the customer wants to built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901591" y="3970965"/>
            <a:ext cx="670944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Establish the foundation for the software design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8575587" y="3654211"/>
            <a:ext cx="2774479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Information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8575587" y="4168362"/>
            <a:ext cx="2774479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Function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8575587" y="4676476"/>
            <a:ext cx="2774479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Behaviors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 rot="-5400000">
            <a:off x="-60673" y="3922302"/>
            <a:ext cx="1370532" cy="553998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Purpose</a:t>
            </a:r>
            <a:endParaRPr/>
          </a:p>
        </p:txBody>
      </p:sp>
      <p:pic>
        <p:nvPicPr>
          <p:cNvPr id="299" name="Google Shape;29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8035" y="5350068"/>
            <a:ext cx="1143000" cy="11430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37924" y="5350068"/>
            <a:ext cx="1143000" cy="11430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1" name="Google Shape;30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07814" y="5350068"/>
            <a:ext cx="1143000" cy="11430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2" name="Google Shape;30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77704" y="5350068"/>
            <a:ext cx="1143000" cy="11430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3" name="Google Shape;30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7594" y="5350068"/>
            <a:ext cx="1143000" cy="11430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Analysis rule of Thumb</a:t>
            </a:r>
            <a:endParaRPr/>
          </a:p>
        </p:txBody>
      </p:sp>
      <p:sp>
        <p:nvSpPr>
          <p:cNvPr id="309" name="Google Shape;309;p19"/>
          <p:cNvSpPr txBox="1">
            <a:spLocks noGrp="1"/>
          </p:cNvSpPr>
          <p:nvPr>
            <p:ph type="body" idx="1"/>
          </p:nvPr>
        </p:nvSpPr>
        <p:spPr>
          <a:xfrm>
            <a:off x="183229" y="919836"/>
            <a:ext cx="4917558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Make </a:t>
            </a:r>
            <a:r>
              <a:rPr lang="en-US" b="1">
                <a:solidFill>
                  <a:srgbClr val="C00000"/>
                </a:solidFill>
              </a:rPr>
              <a:t>sure all points </a:t>
            </a:r>
            <a:r>
              <a:rPr lang="en-US"/>
              <a:t>of view are </a:t>
            </a:r>
            <a:r>
              <a:rPr lang="en-US" b="1">
                <a:solidFill>
                  <a:srgbClr val="C00000"/>
                </a:solidFill>
              </a:rPr>
              <a:t>covered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Every </a:t>
            </a:r>
            <a:r>
              <a:rPr lang="en-US" b="1">
                <a:solidFill>
                  <a:srgbClr val="C00000"/>
                </a:solidFill>
              </a:rPr>
              <a:t>element</a:t>
            </a:r>
            <a:r>
              <a:rPr lang="en-US"/>
              <a:t> should </a:t>
            </a:r>
            <a:r>
              <a:rPr lang="en-US" b="1">
                <a:solidFill>
                  <a:srgbClr val="C00000"/>
                </a:solidFill>
              </a:rPr>
              <a:t>add value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rgbClr val="C00000"/>
                </a:solidFill>
              </a:rPr>
              <a:t>Keep</a:t>
            </a:r>
            <a:r>
              <a:rPr lang="en-US"/>
              <a:t> it </a:t>
            </a:r>
            <a:r>
              <a:rPr lang="en-US" b="1">
                <a:solidFill>
                  <a:srgbClr val="C00000"/>
                </a:solidFill>
              </a:rPr>
              <a:t>simple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rgbClr val="C00000"/>
                </a:solidFill>
              </a:rPr>
              <a:t>Maintain</a:t>
            </a:r>
            <a:r>
              <a:rPr lang="en-US"/>
              <a:t> a high level of </a:t>
            </a:r>
            <a:r>
              <a:rPr lang="en-US" b="1">
                <a:solidFill>
                  <a:srgbClr val="C00000"/>
                </a:solidFill>
              </a:rPr>
              <a:t>abstraction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rgbClr val="C00000"/>
                </a:solidFill>
              </a:rPr>
              <a:t>Focus</a:t>
            </a:r>
            <a:r>
              <a:rPr lang="en-US"/>
              <a:t> on the </a:t>
            </a:r>
            <a:r>
              <a:rPr lang="en-US" b="1">
                <a:solidFill>
                  <a:srgbClr val="C00000"/>
                </a:solidFill>
              </a:rPr>
              <a:t>problem domain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rgbClr val="C00000"/>
                </a:solidFill>
              </a:rPr>
              <a:t>Minimize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system </a:t>
            </a:r>
            <a:r>
              <a:rPr lang="en-US" b="1">
                <a:solidFill>
                  <a:srgbClr val="C00000"/>
                </a:solidFill>
              </a:rPr>
              <a:t>coupling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rgbClr val="C00000"/>
                </a:solidFill>
              </a:rPr>
              <a:t>Model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should </a:t>
            </a:r>
            <a:r>
              <a:rPr lang="en-US" b="1">
                <a:solidFill>
                  <a:srgbClr val="C00000"/>
                </a:solidFill>
              </a:rPr>
              <a:t>provide value to all stakeholders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6851824" y="1263765"/>
            <a:ext cx="3886200" cy="3886200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11" name="Google Shape;311;p19"/>
          <p:cNvCxnSpPr>
            <a:stCxn id="310" idx="0"/>
            <a:endCxn id="310" idx="4"/>
          </p:cNvCxnSpPr>
          <p:nvPr/>
        </p:nvCxnSpPr>
        <p:spPr>
          <a:xfrm>
            <a:off x="8794924" y="1263765"/>
            <a:ext cx="0" cy="388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2" name="Google Shape;312;p19"/>
          <p:cNvCxnSpPr>
            <a:stCxn id="310" idx="2"/>
            <a:endCxn id="310" idx="6"/>
          </p:cNvCxnSpPr>
          <p:nvPr/>
        </p:nvCxnSpPr>
        <p:spPr>
          <a:xfrm>
            <a:off x="6851824" y="3206865"/>
            <a:ext cx="3886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3" name="Google Shape;313;p19"/>
          <p:cNvSpPr/>
          <p:nvPr/>
        </p:nvSpPr>
        <p:spPr>
          <a:xfrm>
            <a:off x="7930598" y="2342539"/>
            <a:ext cx="1728652" cy="1728652"/>
          </a:xfrm>
          <a:prstGeom prst="ellipse">
            <a:avLst/>
          </a:prstGeom>
          <a:gradFill>
            <a:gsLst>
              <a:gs pos="0">
                <a:srgbClr val="D8A6A4"/>
              </a:gs>
              <a:gs pos="50000">
                <a:srgbClr val="D29896"/>
              </a:gs>
              <a:gs pos="100000">
                <a:srgbClr val="CF8583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8032924" y="2859483"/>
            <a:ext cx="15199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5888113" y="882764"/>
            <a:ext cx="2269931" cy="170146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5884782" y="922233"/>
            <a:ext cx="239428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Scenario-based Models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e.g.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Stories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9446503" y="959643"/>
            <a:ext cx="2138690" cy="16420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9446503" y="999111"/>
            <a:ext cx="206140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Models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e.g.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diagrams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 diagrams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5886962" y="3845333"/>
            <a:ext cx="2300055" cy="170146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5923973" y="3884802"/>
            <a:ext cx="218575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Behavioral Models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e.g.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diagrams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Sequence diagrams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9444128" y="3791546"/>
            <a:ext cx="2138690" cy="17014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9578920" y="3911696"/>
            <a:ext cx="1943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Flow Models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e.g.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DFDs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models</a:t>
            </a:r>
            <a:endParaRPr/>
          </a:p>
        </p:txBody>
      </p:sp>
      <p:cxnSp>
        <p:nvCxnSpPr>
          <p:cNvPr id="323" name="Google Shape;323;p19"/>
          <p:cNvCxnSpPr/>
          <p:nvPr/>
        </p:nvCxnSpPr>
        <p:spPr>
          <a:xfrm>
            <a:off x="5277974" y="0"/>
            <a:ext cx="0" cy="660412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4" name="Google Shape;324;p19"/>
          <p:cNvSpPr/>
          <p:nvPr/>
        </p:nvSpPr>
        <p:spPr>
          <a:xfrm>
            <a:off x="5337852" y="32156"/>
            <a:ext cx="662553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Elements of the Requirements Model</a:t>
            </a:r>
            <a:endParaRPr/>
          </a:p>
        </p:txBody>
      </p:sp>
      <p:pic>
        <p:nvPicPr>
          <p:cNvPr id="325" name="Google Shape;3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5026" y="4621988"/>
            <a:ext cx="1835552" cy="1835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Elements of the Requirements Model Cont.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176059" y="1373074"/>
            <a:ext cx="5855623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Describe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from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user's point of view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scenarios that are depicted (stated) in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cases 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activity diagrams</a:t>
            </a:r>
            <a:endParaRPr sz="2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176059" y="850774"/>
            <a:ext cx="4074748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Scenario-based elements</a:t>
            </a:r>
            <a:endParaRPr/>
          </a:p>
        </p:txBody>
      </p:sp>
      <p:cxnSp>
        <p:nvCxnSpPr>
          <p:cNvPr id="333" name="Google Shape;333;p20"/>
          <p:cNvCxnSpPr/>
          <p:nvPr/>
        </p:nvCxnSpPr>
        <p:spPr>
          <a:xfrm>
            <a:off x="2684286" y="1312439"/>
            <a:ext cx="3313098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4" name="Google Shape;334;p20"/>
          <p:cNvSpPr/>
          <p:nvPr/>
        </p:nvSpPr>
        <p:spPr>
          <a:xfrm>
            <a:off x="176059" y="2510002"/>
            <a:ext cx="4074748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Class-based elements</a:t>
            </a:r>
            <a:endParaRPr/>
          </a:p>
        </p:txBody>
      </p:sp>
      <p:cxnSp>
        <p:nvCxnSpPr>
          <p:cNvPr id="335" name="Google Shape;335;p20"/>
          <p:cNvCxnSpPr/>
          <p:nvPr/>
        </p:nvCxnSpPr>
        <p:spPr>
          <a:xfrm>
            <a:off x="2684286" y="2971667"/>
            <a:ext cx="3313098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6" name="Google Shape;336;p20"/>
          <p:cNvSpPr/>
          <p:nvPr/>
        </p:nvSpPr>
        <p:spPr>
          <a:xfrm>
            <a:off x="176059" y="3045786"/>
            <a:ext cx="577062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Identify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 classes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manipulated by the actors, the attributes of these classes, and how they interact with one another; which utilize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diagrams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do this.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474682" y="4661655"/>
            <a:ext cx="1741386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 Diagram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474682" y="5004861"/>
            <a:ext cx="1741386" cy="1476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39" name="Google Shape;33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171" y="5005717"/>
            <a:ext cx="1475430" cy="147543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0"/>
          <p:cNvSpPr txBox="1"/>
          <p:nvPr/>
        </p:nvSpPr>
        <p:spPr>
          <a:xfrm>
            <a:off x="2375356" y="4661655"/>
            <a:ext cx="1565010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Activity Diagram</a:t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2375356" y="5004861"/>
            <a:ext cx="1565010" cy="1476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42" name="Google Shape;34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4971" y="5091983"/>
            <a:ext cx="1282692" cy="128269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0"/>
          <p:cNvSpPr txBox="1"/>
          <p:nvPr/>
        </p:nvSpPr>
        <p:spPr>
          <a:xfrm>
            <a:off x="4090564" y="4661655"/>
            <a:ext cx="1443470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Diagram</a:t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4090564" y="5000209"/>
            <a:ext cx="1443470" cy="14809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45" name="Google Shape;345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842" y="5052794"/>
            <a:ext cx="1330532" cy="1330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20"/>
          <p:cNvCxnSpPr/>
          <p:nvPr/>
        </p:nvCxnSpPr>
        <p:spPr>
          <a:xfrm>
            <a:off x="6138583" y="711201"/>
            <a:ext cx="0" cy="589292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7" name="Google Shape;347;p20"/>
          <p:cNvSpPr/>
          <p:nvPr/>
        </p:nvSpPr>
        <p:spPr>
          <a:xfrm>
            <a:off x="6294487" y="1305839"/>
            <a:ext cx="5644964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diagrams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represent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of the system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events that cause the system to change state, and the actions that are taken as a result of a particular event. This can also be applied to each class in the system.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6294487" y="783539"/>
            <a:ext cx="4074748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Behavioral elements</a:t>
            </a:r>
            <a:endParaRPr/>
          </a:p>
        </p:txBody>
      </p:sp>
      <p:cxnSp>
        <p:nvCxnSpPr>
          <p:cNvPr id="349" name="Google Shape;349;p20"/>
          <p:cNvCxnSpPr/>
          <p:nvPr/>
        </p:nvCxnSpPr>
        <p:spPr>
          <a:xfrm>
            <a:off x="8837012" y="1245204"/>
            <a:ext cx="3102439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0" name="Google Shape;350;p20"/>
          <p:cNvSpPr/>
          <p:nvPr/>
        </p:nvSpPr>
        <p:spPr>
          <a:xfrm>
            <a:off x="6294487" y="3040970"/>
            <a:ext cx="4074748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Flow-oriented elements</a:t>
            </a:r>
            <a:endParaRPr/>
          </a:p>
        </p:txBody>
      </p:sp>
      <p:cxnSp>
        <p:nvCxnSpPr>
          <p:cNvPr id="351" name="Google Shape;351;p20"/>
          <p:cNvCxnSpPr/>
          <p:nvPr/>
        </p:nvCxnSpPr>
        <p:spPr>
          <a:xfrm>
            <a:off x="8752009" y="3502635"/>
            <a:ext cx="318744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2" name="Google Shape;352;p20"/>
          <p:cNvSpPr/>
          <p:nvPr/>
        </p:nvSpPr>
        <p:spPr>
          <a:xfrm>
            <a:off x="6294486" y="3576754"/>
            <a:ext cx="564496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flow diagrams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show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input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data that comes into a system, what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functions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applied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that data to do transformations, and what resulting </a:t>
            </a:r>
            <a:r>
              <a:rPr lang="en-US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output</a:t>
            </a:r>
            <a:r>
              <a:rPr lang="en-US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data are produced.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 rot="-5400000">
            <a:off x="6143408" y="5456257"/>
            <a:ext cx="1311116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Flow Diagram</a:t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7174530" y="5170031"/>
            <a:ext cx="1308300" cy="131111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5" name="Google Shape;355;p20"/>
          <p:cNvSpPr txBox="1"/>
          <p:nvPr/>
        </p:nvSpPr>
        <p:spPr>
          <a:xfrm rot="-5400000">
            <a:off x="9624044" y="4856532"/>
            <a:ext cx="1161723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Diagram</a:t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10574237" y="4645002"/>
            <a:ext cx="1365214" cy="11617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57" name="Google Shape;357;p20"/>
          <p:cNvPicPr preferRelativeResize="0"/>
          <p:nvPr/>
        </p:nvPicPr>
        <p:blipFill rotWithShape="1">
          <a:blip r:embed="rId6">
            <a:alphaModFix/>
          </a:blip>
          <a:srcRect t="7030" b="10382"/>
          <a:stretch/>
        </p:blipFill>
        <p:spPr>
          <a:xfrm>
            <a:off x="10716007" y="4768953"/>
            <a:ext cx="1109641" cy="91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0"/>
          <p:cNvPicPr preferRelativeResize="0"/>
          <p:nvPr/>
        </p:nvPicPr>
        <p:blipFill rotWithShape="1">
          <a:blip r:embed="rId7">
            <a:alphaModFix/>
          </a:blip>
          <a:srcRect t="8824" b="5883"/>
          <a:stretch/>
        </p:blipFill>
        <p:spPr>
          <a:xfrm>
            <a:off x="7297005" y="5436146"/>
            <a:ext cx="1039710" cy="886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Analysis Modeling Approaches</a:t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827892" y="927848"/>
            <a:ext cx="3625863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Structured Analysis</a:t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827893" y="1389513"/>
            <a:ext cx="3625862" cy="198693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892431" y="1437460"/>
            <a:ext cx="356132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Models data elements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Attributes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Relationships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Models processes that transform data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7738512" y="927848"/>
            <a:ext cx="3613113" cy="4616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 Oriented Analysis</a:t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7738512" y="1389512"/>
            <a:ext cx="3613113" cy="198693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7858861" y="1419684"/>
            <a:ext cx="349276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analysis classes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Processes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Models class  collaborations</a:t>
            </a:r>
            <a:endParaRPr/>
          </a:p>
        </p:txBody>
      </p:sp>
      <p:pic>
        <p:nvPicPr>
          <p:cNvPr id="370" name="Google Shape;3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9908" y="3008853"/>
            <a:ext cx="1556209" cy="158225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/>
          <p:nvPr/>
        </p:nvSpPr>
        <p:spPr>
          <a:xfrm>
            <a:off x="706601" y="5014295"/>
            <a:ext cx="10917141" cy="666777"/>
          </a:xfrm>
          <a:prstGeom prst="wedgeRoundRectCallout">
            <a:avLst>
              <a:gd name="adj1" fmla="val 456"/>
              <a:gd name="adj2" fmla="val -117174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Techniques from both approaches are typically used in practice.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 rot="10800000">
            <a:off x="6595825" y="2109440"/>
            <a:ext cx="1139780" cy="970615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3" name="Google Shape;373;p21"/>
          <p:cNvSpPr/>
          <p:nvPr/>
        </p:nvSpPr>
        <p:spPr>
          <a:xfrm rot="10800000" flipH="1">
            <a:off x="4453755" y="2109440"/>
            <a:ext cx="1170602" cy="970615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ec29513f3e_0_8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73737"/>
                </a:solidFill>
              </a:rPr>
              <a:t>List of documentation &amp; manuals</a:t>
            </a:r>
            <a:endParaRPr/>
          </a:p>
        </p:txBody>
      </p:sp>
      <p:grpSp>
        <p:nvGrpSpPr>
          <p:cNvPr id="380" name="Google Shape;380;g2ec29513f3e_0_81"/>
          <p:cNvGrpSpPr/>
          <p:nvPr/>
        </p:nvGrpSpPr>
        <p:grpSpPr>
          <a:xfrm>
            <a:off x="201123" y="817583"/>
            <a:ext cx="6551648" cy="5323567"/>
            <a:chOff x="522963" y="5063"/>
            <a:chExt cx="6551648" cy="5323567"/>
          </a:xfrm>
        </p:grpSpPr>
        <p:sp>
          <p:nvSpPr>
            <p:cNvPr id="381" name="Google Shape;381;g2ec29513f3e_0_81"/>
            <p:cNvSpPr/>
            <p:nvPr/>
          </p:nvSpPr>
          <p:spPr>
            <a:xfrm>
              <a:off x="3725929" y="4784234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g2ec29513f3e_0_81"/>
            <p:cNvSpPr txBox="1"/>
            <p:nvPr/>
          </p:nvSpPr>
          <p:spPr>
            <a:xfrm>
              <a:off x="3873708" y="4924511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2ec29513f3e_0_81"/>
            <p:cNvSpPr/>
            <p:nvPr/>
          </p:nvSpPr>
          <p:spPr>
            <a:xfrm>
              <a:off x="3725929" y="4481755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g2ec29513f3e_0_81"/>
            <p:cNvSpPr txBox="1"/>
            <p:nvPr/>
          </p:nvSpPr>
          <p:spPr>
            <a:xfrm>
              <a:off x="3873708" y="4622032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2ec29513f3e_0_81"/>
            <p:cNvSpPr/>
            <p:nvPr/>
          </p:nvSpPr>
          <p:spPr>
            <a:xfrm>
              <a:off x="1437359" y="2717442"/>
              <a:ext cx="317400" cy="2066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g2ec29513f3e_0_81"/>
            <p:cNvSpPr txBox="1"/>
            <p:nvPr/>
          </p:nvSpPr>
          <p:spPr>
            <a:xfrm>
              <a:off x="1543824" y="3698562"/>
              <a:ext cx="104700" cy="10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2ec29513f3e_0_81"/>
            <p:cNvSpPr/>
            <p:nvPr/>
          </p:nvSpPr>
          <p:spPr>
            <a:xfrm>
              <a:off x="3699800" y="3574317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g2ec29513f3e_0_81"/>
            <p:cNvSpPr txBox="1"/>
            <p:nvPr/>
          </p:nvSpPr>
          <p:spPr>
            <a:xfrm>
              <a:off x="3847579" y="3714594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2ec29513f3e_0_81"/>
            <p:cNvSpPr/>
            <p:nvPr/>
          </p:nvSpPr>
          <p:spPr>
            <a:xfrm>
              <a:off x="3699800" y="3271838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g2ec29513f3e_0_81"/>
            <p:cNvSpPr txBox="1"/>
            <p:nvPr/>
          </p:nvSpPr>
          <p:spPr>
            <a:xfrm>
              <a:off x="3847579" y="3412115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2ec29513f3e_0_81"/>
            <p:cNvSpPr/>
            <p:nvPr/>
          </p:nvSpPr>
          <p:spPr>
            <a:xfrm>
              <a:off x="1437359" y="2717442"/>
              <a:ext cx="317400" cy="85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g2ec29513f3e_0_81"/>
            <p:cNvSpPr txBox="1"/>
            <p:nvPr/>
          </p:nvSpPr>
          <p:spPr>
            <a:xfrm>
              <a:off x="1573255" y="3123035"/>
              <a:ext cx="45600" cy="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2ec29513f3e_0_81"/>
            <p:cNvSpPr/>
            <p:nvPr/>
          </p:nvSpPr>
          <p:spPr>
            <a:xfrm>
              <a:off x="3664480" y="2364400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g2ec29513f3e_0_81"/>
            <p:cNvSpPr txBox="1"/>
            <p:nvPr/>
          </p:nvSpPr>
          <p:spPr>
            <a:xfrm>
              <a:off x="3812259" y="2504677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2ec29513f3e_0_81"/>
            <p:cNvSpPr/>
            <p:nvPr/>
          </p:nvSpPr>
          <p:spPr>
            <a:xfrm>
              <a:off x="3664480" y="2061921"/>
              <a:ext cx="317400" cy="30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g2ec29513f3e_0_81"/>
            <p:cNvSpPr txBox="1"/>
            <p:nvPr/>
          </p:nvSpPr>
          <p:spPr>
            <a:xfrm>
              <a:off x="3812259" y="2202198"/>
              <a:ext cx="21900" cy="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2ec29513f3e_0_81"/>
            <p:cNvSpPr/>
            <p:nvPr/>
          </p:nvSpPr>
          <p:spPr>
            <a:xfrm>
              <a:off x="1437359" y="2364400"/>
              <a:ext cx="317400" cy="353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g2ec29513f3e_0_81"/>
            <p:cNvSpPr txBox="1"/>
            <p:nvPr/>
          </p:nvSpPr>
          <p:spPr>
            <a:xfrm>
              <a:off x="1584230" y="2529051"/>
              <a:ext cx="23700" cy="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2ec29513f3e_0_81"/>
            <p:cNvSpPr/>
            <p:nvPr/>
          </p:nvSpPr>
          <p:spPr>
            <a:xfrm>
              <a:off x="3716722" y="852004"/>
              <a:ext cx="317400" cy="605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g2ec29513f3e_0_81"/>
            <p:cNvSpPr txBox="1"/>
            <p:nvPr/>
          </p:nvSpPr>
          <p:spPr>
            <a:xfrm>
              <a:off x="3858383" y="1137403"/>
              <a:ext cx="34200" cy="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2ec29513f3e_0_81"/>
            <p:cNvSpPr/>
            <p:nvPr/>
          </p:nvSpPr>
          <p:spPr>
            <a:xfrm>
              <a:off x="3716722" y="806284"/>
              <a:ext cx="317400" cy="9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g2ec29513f3e_0_81"/>
            <p:cNvSpPr txBox="1"/>
            <p:nvPr/>
          </p:nvSpPr>
          <p:spPr>
            <a:xfrm>
              <a:off x="3867526" y="844067"/>
              <a:ext cx="15900" cy="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2ec29513f3e_0_81"/>
            <p:cNvSpPr/>
            <p:nvPr/>
          </p:nvSpPr>
          <p:spPr>
            <a:xfrm>
              <a:off x="3716722" y="247046"/>
              <a:ext cx="317400" cy="605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g2ec29513f3e_0_81"/>
            <p:cNvSpPr txBox="1"/>
            <p:nvPr/>
          </p:nvSpPr>
          <p:spPr>
            <a:xfrm>
              <a:off x="3858383" y="532445"/>
              <a:ext cx="34200" cy="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2ec29513f3e_0_81"/>
            <p:cNvSpPr/>
            <p:nvPr/>
          </p:nvSpPr>
          <p:spPr>
            <a:xfrm>
              <a:off x="1437359" y="852004"/>
              <a:ext cx="317400" cy="186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g2ec29513f3e_0_81"/>
            <p:cNvSpPr txBox="1"/>
            <p:nvPr/>
          </p:nvSpPr>
          <p:spPr>
            <a:xfrm>
              <a:off x="1548794" y="1737417"/>
              <a:ext cx="94500" cy="9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2ec29513f3e_0_81"/>
            <p:cNvSpPr/>
            <p:nvPr/>
          </p:nvSpPr>
          <p:spPr>
            <a:xfrm rot="-5400000">
              <a:off x="-293487" y="2260188"/>
              <a:ext cx="2547300" cy="914400"/>
            </a:xfrm>
            <a:prstGeom prst="rect">
              <a:avLst/>
            </a:prstGeom>
            <a:solidFill>
              <a:srgbClr val="B02020">
                <a:alpha val="800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g2ec29513f3e_0_81"/>
            <p:cNvSpPr txBox="1"/>
            <p:nvPr/>
          </p:nvSpPr>
          <p:spPr>
            <a:xfrm rot="-5400000">
              <a:off x="-293487" y="2260188"/>
              <a:ext cx="25473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Documentation Manuals</a:t>
              </a:r>
              <a:endParaRPr/>
            </a:p>
          </p:txBody>
        </p:sp>
        <p:sp>
          <p:nvSpPr>
            <p:cNvPr id="409" name="Google Shape;409;g2ec29513f3e_0_81"/>
            <p:cNvSpPr/>
            <p:nvPr/>
          </p:nvSpPr>
          <p:spPr>
            <a:xfrm>
              <a:off x="1754841" y="408667"/>
              <a:ext cx="1962000" cy="8868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g2ec29513f3e_0_81"/>
            <p:cNvSpPr txBox="1"/>
            <p:nvPr/>
          </p:nvSpPr>
          <p:spPr>
            <a:xfrm>
              <a:off x="1754841" y="408667"/>
              <a:ext cx="1962000" cy="8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50" tIns="13950" rIns="13950" bIns="13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Analysis / Specification</a:t>
              </a:r>
              <a:endParaRPr/>
            </a:p>
          </p:txBody>
        </p:sp>
        <p:sp>
          <p:nvSpPr>
            <p:cNvPr id="411" name="Google Shape;411;g2ec29513f3e_0_81"/>
            <p:cNvSpPr/>
            <p:nvPr/>
          </p:nvSpPr>
          <p:spPr>
            <a:xfrm>
              <a:off x="4034204" y="5063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g2ec29513f3e_0_81"/>
            <p:cNvSpPr txBox="1"/>
            <p:nvPr/>
          </p:nvSpPr>
          <p:spPr>
            <a:xfrm>
              <a:off x="4034204" y="5063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Formal Specification</a:t>
              </a:r>
              <a:endParaRPr/>
            </a:p>
          </p:txBody>
        </p:sp>
        <p:sp>
          <p:nvSpPr>
            <p:cNvPr id="413" name="Google Shape;413;g2ec29513f3e_0_81"/>
            <p:cNvSpPr/>
            <p:nvPr/>
          </p:nvSpPr>
          <p:spPr>
            <a:xfrm>
              <a:off x="4034204" y="610021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g2ec29513f3e_0_81"/>
            <p:cNvSpPr txBox="1"/>
            <p:nvPr/>
          </p:nvSpPr>
          <p:spPr>
            <a:xfrm>
              <a:off x="4034204" y="610021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Context Diagram</a:t>
              </a:r>
              <a:endParaRPr/>
            </a:p>
          </p:txBody>
        </p:sp>
        <p:sp>
          <p:nvSpPr>
            <p:cNvPr id="415" name="Google Shape;415;g2ec29513f3e_0_81"/>
            <p:cNvSpPr/>
            <p:nvPr/>
          </p:nvSpPr>
          <p:spPr>
            <a:xfrm>
              <a:off x="4034204" y="1214979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g2ec29513f3e_0_81"/>
            <p:cNvSpPr txBox="1"/>
            <p:nvPr/>
          </p:nvSpPr>
          <p:spPr>
            <a:xfrm>
              <a:off x="4034204" y="1214979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Flow Diagram</a:t>
              </a:r>
              <a:endParaRPr/>
            </a:p>
          </p:txBody>
        </p:sp>
        <p:sp>
          <p:nvSpPr>
            <p:cNvPr id="417" name="Google Shape;417;g2ec29513f3e_0_81"/>
            <p:cNvSpPr/>
            <p:nvPr/>
          </p:nvSpPr>
          <p:spPr>
            <a:xfrm>
              <a:off x="1754841" y="2122417"/>
              <a:ext cx="1909500" cy="4839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g2ec29513f3e_0_81"/>
            <p:cNvSpPr txBox="1"/>
            <p:nvPr/>
          </p:nvSpPr>
          <p:spPr>
            <a:xfrm>
              <a:off x="1754841" y="2122417"/>
              <a:ext cx="19095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50" tIns="13950" rIns="13950" bIns="13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Design</a:t>
              </a:r>
              <a:endParaRPr/>
            </a:p>
          </p:txBody>
        </p:sp>
        <p:sp>
          <p:nvSpPr>
            <p:cNvPr id="419" name="Google Shape;419;g2ec29513f3e_0_81"/>
            <p:cNvSpPr/>
            <p:nvPr/>
          </p:nvSpPr>
          <p:spPr>
            <a:xfrm>
              <a:off x="3981963" y="1819938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g2ec29513f3e_0_81"/>
            <p:cNvSpPr txBox="1"/>
            <p:nvPr/>
          </p:nvSpPr>
          <p:spPr>
            <a:xfrm>
              <a:off x="3981963" y="1819938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Charts</a:t>
              </a:r>
              <a:endParaRPr/>
            </a:p>
          </p:txBody>
        </p:sp>
        <p:sp>
          <p:nvSpPr>
            <p:cNvPr id="421" name="Google Shape;421;g2ec29513f3e_0_81"/>
            <p:cNvSpPr/>
            <p:nvPr/>
          </p:nvSpPr>
          <p:spPr>
            <a:xfrm>
              <a:off x="3981963" y="2424896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g2ec29513f3e_0_81"/>
            <p:cNvSpPr txBox="1"/>
            <p:nvPr/>
          </p:nvSpPr>
          <p:spPr>
            <a:xfrm>
              <a:off x="3981963" y="2424896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 Diagram</a:t>
              </a:r>
              <a:endParaRPr/>
            </a:p>
          </p:txBody>
        </p:sp>
        <p:sp>
          <p:nvSpPr>
            <p:cNvPr id="423" name="Google Shape;423;g2ec29513f3e_0_81"/>
            <p:cNvSpPr/>
            <p:nvPr/>
          </p:nvSpPr>
          <p:spPr>
            <a:xfrm>
              <a:off x="1754841" y="3332334"/>
              <a:ext cx="1944900" cy="4839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g2ec29513f3e_0_81"/>
            <p:cNvSpPr txBox="1"/>
            <p:nvPr/>
          </p:nvSpPr>
          <p:spPr>
            <a:xfrm>
              <a:off x="1754841" y="3332334"/>
              <a:ext cx="19449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50" tIns="13950" rIns="13950" bIns="13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Implementation</a:t>
              </a:r>
              <a:endParaRPr/>
            </a:p>
          </p:txBody>
        </p:sp>
        <p:sp>
          <p:nvSpPr>
            <p:cNvPr id="425" name="Google Shape;425;g2ec29513f3e_0_81"/>
            <p:cNvSpPr/>
            <p:nvPr/>
          </p:nvSpPr>
          <p:spPr>
            <a:xfrm>
              <a:off x="4017283" y="3029855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g2ec29513f3e_0_81"/>
            <p:cNvSpPr txBox="1"/>
            <p:nvPr/>
          </p:nvSpPr>
          <p:spPr>
            <a:xfrm>
              <a:off x="4017283" y="3029855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 Code Listings</a:t>
              </a:r>
              <a:endParaRPr/>
            </a:p>
          </p:txBody>
        </p:sp>
        <p:sp>
          <p:nvSpPr>
            <p:cNvPr id="427" name="Google Shape;427;g2ec29513f3e_0_81"/>
            <p:cNvSpPr/>
            <p:nvPr/>
          </p:nvSpPr>
          <p:spPr>
            <a:xfrm>
              <a:off x="4017283" y="3634813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g2ec29513f3e_0_81"/>
            <p:cNvSpPr txBox="1"/>
            <p:nvPr/>
          </p:nvSpPr>
          <p:spPr>
            <a:xfrm>
              <a:off x="4017283" y="3634813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Cross-Reference Listings</a:t>
              </a:r>
              <a:endParaRPr/>
            </a:p>
          </p:txBody>
        </p:sp>
        <p:sp>
          <p:nvSpPr>
            <p:cNvPr id="429" name="Google Shape;429;g2ec29513f3e_0_81"/>
            <p:cNvSpPr/>
            <p:nvPr/>
          </p:nvSpPr>
          <p:spPr>
            <a:xfrm>
              <a:off x="1754841" y="4542250"/>
              <a:ext cx="1971000" cy="4839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g2ec29513f3e_0_81"/>
            <p:cNvSpPr txBox="1"/>
            <p:nvPr/>
          </p:nvSpPr>
          <p:spPr>
            <a:xfrm>
              <a:off x="1754841" y="4542250"/>
              <a:ext cx="19710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950" tIns="13950" rIns="13950" bIns="13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Testing</a:t>
              </a:r>
              <a:endParaRPr/>
            </a:p>
          </p:txBody>
        </p:sp>
        <p:sp>
          <p:nvSpPr>
            <p:cNvPr id="431" name="Google Shape;431;g2ec29513f3e_0_81"/>
            <p:cNvSpPr/>
            <p:nvPr/>
          </p:nvSpPr>
          <p:spPr>
            <a:xfrm>
              <a:off x="4043411" y="4239771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g2ec29513f3e_0_81"/>
            <p:cNvSpPr txBox="1"/>
            <p:nvPr/>
          </p:nvSpPr>
          <p:spPr>
            <a:xfrm>
              <a:off x="4043411" y="4239771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 Data</a:t>
              </a:r>
              <a:endParaRPr/>
            </a:p>
          </p:txBody>
        </p:sp>
        <p:sp>
          <p:nvSpPr>
            <p:cNvPr id="433" name="Google Shape;433;g2ec29513f3e_0_81"/>
            <p:cNvSpPr/>
            <p:nvPr/>
          </p:nvSpPr>
          <p:spPr>
            <a:xfrm>
              <a:off x="4043411" y="4844730"/>
              <a:ext cx="3031200" cy="483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g2ec29513f3e_0_81"/>
            <p:cNvSpPr txBox="1"/>
            <p:nvPr/>
          </p:nvSpPr>
          <p:spPr>
            <a:xfrm>
              <a:off x="4043411" y="4844730"/>
              <a:ext cx="3031200" cy="4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 Results</a:t>
              </a:r>
              <a:endParaRPr/>
            </a:p>
          </p:txBody>
        </p:sp>
      </p:grpSp>
      <p:grpSp>
        <p:nvGrpSpPr>
          <p:cNvPr id="435" name="Google Shape;435;g2ec29513f3e_0_81"/>
          <p:cNvGrpSpPr/>
          <p:nvPr/>
        </p:nvGrpSpPr>
        <p:grpSpPr>
          <a:xfrm>
            <a:off x="7695894" y="1067362"/>
            <a:ext cx="4323012" cy="4864090"/>
            <a:chOff x="402654" y="2122"/>
            <a:chExt cx="4323012" cy="4864090"/>
          </a:xfrm>
        </p:grpSpPr>
        <p:sp>
          <p:nvSpPr>
            <p:cNvPr id="436" name="Google Shape;436;g2ec29513f3e_0_81"/>
            <p:cNvSpPr/>
            <p:nvPr/>
          </p:nvSpPr>
          <p:spPr>
            <a:xfrm>
              <a:off x="2703110" y="2021214"/>
              <a:ext cx="291900" cy="1881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7" name="Google Shape;437;g2ec29513f3e_0_81"/>
            <p:cNvSpPr/>
            <p:nvPr/>
          </p:nvSpPr>
          <p:spPr>
            <a:xfrm>
              <a:off x="2703110" y="2021214"/>
              <a:ext cx="258300" cy="606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8" name="Google Shape;438;g2ec29513f3e_0_81"/>
            <p:cNvSpPr/>
            <p:nvPr/>
          </p:nvSpPr>
          <p:spPr>
            <a:xfrm>
              <a:off x="2418211" y="737099"/>
              <a:ext cx="1005000" cy="29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56769"/>
                  </a:lnTo>
                  <a:lnTo>
                    <a:pt x="120000" y="56769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9" name="Google Shape;439;g2ec29513f3e_0_81"/>
            <p:cNvSpPr/>
            <p:nvPr/>
          </p:nvSpPr>
          <p:spPr>
            <a:xfrm>
              <a:off x="593288" y="1959557"/>
              <a:ext cx="216300" cy="2487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0" name="Google Shape;440;g2ec29513f3e_0_81"/>
            <p:cNvSpPr/>
            <p:nvPr/>
          </p:nvSpPr>
          <p:spPr>
            <a:xfrm>
              <a:off x="593288" y="1959557"/>
              <a:ext cx="184500" cy="1463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1" name="Google Shape;441;g2ec29513f3e_0_81"/>
            <p:cNvSpPr/>
            <p:nvPr/>
          </p:nvSpPr>
          <p:spPr>
            <a:xfrm>
              <a:off x="593288" y="1959557"/>
              <a:ext cx="184500" cy="548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D09C9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2" name="Google Shape;442;g2ec29513f3e_0_81"/>
            <p:cNvSpPr/>
            <p:nvPr/>
          </p:nvSpPr>
          <p:spPr>
            <a:xfrm>
              <a:off x="1355824" y="737099"/>
              <a:ext cx="1062300" cy="277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53170"/>
                  </a:lnTo>
                  <a:lnTo>
                    <a:pt x="0" y="5317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C16C69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3" name="Google Shape;443;g2ec29513f3e_0_81"/>
            <p:cNvSpPr/>
            <p:nvPr/>
          </p:nvSpPr>
          <p:spPr>
            <a:xfrm>
              <a:off x="778124" y="2122"/>
              <a:ext cx="3280200" cy="735000"/>
            </a:xfrm>
            <a:prstGeom prst="rect">
              <a:avLst/>
            </a:prstGeom>
            <a:solidFill>
              <a:srgbClr val="B02020">
                <a:alpha val="800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g2ec29513f3e_0_81"/>
            <p:cNvSpPr txBox="1"/>
            <p:nvPr/>
          </p:nvSpPr>
          <p:spPr>
            <a:xfrm>
              <a:off x="778124" y="2122"/>
              <a:ext cx="3280200" cy="7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Documentation Manuals</a:t>
              </a:r>
              <a:endParaRPr/>
            </a:p>
          </p:txBody>
        </p:sp>
        <p:sp>
          <p:nvSpPr>
            <p:cNvPr id="445" name="Google Shape;445;g2ec29513f3e_0_81"/>
            <p:cNvSpPr/>
            <p:nvPr/>
          </p:nvSpPr>
          <p:spPr>
            <a:xfrm>
              <a:off x="402654" y="1014244"/>
              <a:ext cx="1906200" cy="9453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g2ec29513f3e_0_81"/>
            <p:cNvSpPr txBox="1"/>
            <p:nvPr/>
          </p:nvSpPr>
          <p:spPr>
            <a:xfrm>
              <a:off x="402654" y="1014244"/>
              <a:ext cx="1906200" cy="94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User Manuals</a:t>
              </a:r>
              <a:endParaRPr/>
            </a:p>
          </p:txBody>
        </p:sp>
        <p:sp>
          <p:nvSpPr>
            <p:cNvPr id="447" name="Google Shape;447;g2ec29513f3e_0_81"/>
            <p:cNvSpPr/>
            <p:nvPr/>
          </p:nvSpPr>
          <p:spPr>
            <a:xfrm>
              <a:off x="777900" y="2182674"/>
              <a:ext cx="1547700" cy="6510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g2ec29513f3e_0_81"/>
            <p:cNvSpPr txBox="1"/>
            <p:nvPr/>
          </p:nvSpPr>
          <p:spPr>
            <a:xfrm>
              <a:off x="777900" y="2182674"/>
              <a:ext cx="1547700" cy="6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System Overview</a:t>
              </a:r>
              <a:endParaRPr/>
            </a:p>
          </p:txBody>
        </p:sp>
        <p:sp>
          <p:nvSpPr>
            <p:cNvPr id="449" name="Google Shape;449;g2ec29513f3e_0_81"/>
            <p:cNvSpPr/>
            <p:nvPr/>
          </p:nvSpPr>
          <p:spPr>
            <a:xfrm>
              <a:off x="777900" y="2953003"/>
              <a:ext cx="1604100" cy="940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g2ec29513f3e_0_81"/>
            <p:cNvSpPr txBox="1"/>
            <p:nvPr/>
          </p:nvSpPr>
          <p:spPr>
            <a:xfrm>
              <a:off x="777900" y="2953003"/>
              <a:ext cx="1604100" cy="9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Beginner’s Guide Tutorials</a:t>
              </a:r>
              <a:endParaRPr/>
            </a:p>
          </p:txBody>
        </p:sp>
        <p:sp>
          <p:nvSpPr>
            <p:cNvPr id="451" name="Google Shape;451;g2ec29513f3e_0_81"/>
            <p:cNvSpPr/>
            <p:nvPr/>
          </p:nvSpPr>
          <p:spPr>
            <a:xfrm>
              <a:off x="809446" y="4028312"/>
              <a:ext cx="1548900" cy="8379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g2ec29513f3e_0_81"/>
            <p:cNvSpPr txBox="1"/>
            <p:nvPr/>
          </p:nvSpPr>
          <p:spPr>
            <a:xfrm>
              <a:off x="809446" y="4028312"/>
              <a:ext cx="1548900" cy="83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Reference Guide</a:t>
              </a:r>
              <a:endParaRPr/>
            </a:p>
          </p:txBody>
        </p:sp>
        <p:sp>
          <p:nvSpPr>
            <p:cNvPr id="453" name="Google Shape;453;g2ec29513f3e_0_81"/>
            <p:cNvSpPr/>
            <p:nvPr/>
          </p:nvSpPr>
          <p:spPr>
            <a:xfrm>
              <a:off x="2523122" y="1030017"/>
              <a:ext cx="1800000" cy="991200"/>
            </a:xfrm>
            <a:prstGeom prst="rect">
              <a:avLst/>
            </a:prstGeom>
            <a:solidFill>
              <a:srgbClr val="B02020">
                <a:alpha val="69800"/>
              </a:srgbClr>
            </a:solidFill>
            <a:ln w="254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g2ec29513f3e_0_81"/>
            <p:cNvSpPr txBox="1"/>
            <p:nvPr/>
          </p:nvSpPr>
          <p:spPr>
            <a:xfrm>
              <a:off x="2523122" y="1030017"/>
              <a:ext cx="18000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Operational Manuals</a:t>
              </a:r>
              <a:endParaRPr/>
            </a:p>
          </p:txBody>
        </p:sp>
        <p:sp>
          <p:nvSpPr>
            <p:cNvPr id="455" name="Google Shape;455;g2ec29513f3e_0_81"/>
            <p:cNvSpPr/>
            <p:nvPr/>
          </p:nvSpPr>
          <p:spPr>
            <a:xfrm>
              <a:off x="2961275" y="2260449"/>
              <a:ext cx="1760400" cy="733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g2ec29513f3e_0_81"/>
            <p:cNvSpPr txBox="1"/>
            <p:nvPr/>
          </p:nvSpPr>
          <p:spPr>
            <a:xfrm>
              <a:off x="2961275" y="2260449"/>
              <a:ext cx="1760400" cy="73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Installation Guide</a:t>
              </a:r>
              <a:endParaRPr/>
            </a:p>
          </p:txBody>
        </p:sp>
        <p:sp>
          <p:nvSpPr>
            <p:cNvPr id="457" name="Google Shape;457;g2ec29513f3e_0_81"/>
            <p:cNvSpPr/>
            <p:nvPr/>
          </p:nvSpPr>
          <p:spPr>
            <a:xfrm>
              <a:off x="2994966" y="3301610"/>
              <a:ext cx="1730700" cy="12018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B020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g2ec29513f3e_0_81"/>
            <p:cNvSpPr txBox="1"/>
            <p:nvPr/>
          </p:nvSpPr>
          <p:spPr>
            <a:xfrm>
              <a:off x="2994966" y="3301610"/>
              <a:ext cx="1730700" cy="12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System Administration Guide</a:t>
              </a:r>
              <a:endParaRPr/>
            </a:p>
          </p:txBody>
        </p:sp>
      </p:grpSp>
      <p:cxnSp>
        <p:nvCxnSpPr>
          <p:cNvPr id="459" name="Google Shape;459;g2ec29513f3e_0_81"/>
          <p:cNvCxnSpPr/>
          <p:nvPr/>
        </p:nvCxnSpPr>
        <p:spPr>
          <a:xfrm>
            <a:off x="7275960" y="698040"/>
            <a:ext cx="0" cy="5924400"/>
          </a:xfrm>
          <a:prstGeom prst="straightConnector1">
            <a:avLst/>
          </a:prstGeom>
          <a:noFill/>
          <a:ln w="38150" cap="flat" cmpd="sng">
            <a:solidFill>
              <a:srgbClr val="0077B3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SRS (Software Requirements Specification)</a:t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191588" y="1015489"/>
            <a:ext cx="11808824" cy="1052285"/>
          </a:xfrm>
          <a:prstGeom prst="wedgeRoundRectCallout">
            <a:avLst>
              <a:gd name="adj1" fmla="val -40730"/>
              <a:gd name="adj2" fmla="val -101117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Requirement Specification (SRS) is 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 that completely describes what the proposed software should do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 describing how software will do it.</a:t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191588" y="2318274"/>
            <a:ext cx="1180882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also helping the clients to understand their own needs.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191588" y="2936310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Contains</a:t>
            </a:r>
            <a:endParaRPr/>
          </a:p>
        </p:txBody>
      </p:sp>
      <p:cxnSp>
        <p:nvCxnSpPr>
          <p:cNvPr id="468" name="Google Shape;468;p22"/>
          <p:cNvCxnSpPr/>
          <p:nvPr/>
        </p:nvCxnSpPr>
        <p:spPr>
          <a:xfrm>
            <a:off x="2076994" y="3397975"/>
            <a:ext cx="9923418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9" name="Google Shape;469;p22"/>
          <p:cNvSpPr/>
          <p:nvPr/>
        </p:nvSpPr>
        <p:spPr>
          <a:xfrm>
            <a:off x="191588" y="3582639"/>
            <a:ext cx="5556069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 information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description</a:t>
            </a: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5908354" y="3582639"/>
            <a:ext cx="6092057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detailed functional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description</a:t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191588" y="4203088"/>
            <a:ext cx="1180882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representation of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behaviour</a:t>
            </a: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191588" y="4823536"/>
            <a:ext cx="1180882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indication of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performance requirements and design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constraints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196511" y="5443984"/>
            <a:ext cx="858441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Appropriate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validation criteria</a:t>
            </a:r>
            <a:endParaRPr/>
          </a:p>
        </p:txBody>
      </p:sp>
      <p:sp>
        <p:nvSpPr>
          <p:cNvPr id="474" name="Google Shape;474;p22"/>
          <p:cNvSpPr/>
          <p:nvPr/>
        </p:nvSpPr>
        <p:spPr>
          <a:xfrm>
            <a:off x="191587" y="6039929"/>
            <a:ext cx="8589341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information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suitable to requirements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Characteristics of a Good SRS</a:t>
            </a:r>
            <a:endParaRPr/>
          </a:p>
        </p:txBody>
      </p:sp>
      <p:sp>
        <p:nvSpPr>
          <p:cNvPr id="480" name="Google Shape;480;p23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211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SRS should be </a:t>
            </a:r>
            <a:r>
              <a:rPr lang="en-US" b="1">
                <a:solidFill>
                  <a:srgbClr val="C00000"/>
                </a:solidFill>
              </a:rPr>
              <a:t>accurate, complete, efficient, and of high quality, </a:t>
            </a:r>
            <a:r>
              <a:rPr lang="en-US"/>
              <a:t>so that it does not affect the entire project plan.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An SRS is </a:t>
            </a:r>
            <a:r>
              <a:rPr lang="en-US" b="1">
                <a:solidFill>
                  <a:srgbClr val="C00000"/>
                </a:solidFill>
              </a:rPr>
              <a:t>said to be of high quality when </a:t>
            </a:r>
            <a:r>
              <a:rPr lang="en-US"/>
              <a:t>the developer and user </a:t>
            </a:r>
            <a:r>
              <a:rPr lang="en-US" b="1">
                <a:solidFill>
                  <a:srgbClr val="C00000"/>
                </a:solidFill>
              </a:rPr>
              <a:t>easily understand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the prepared document.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Characteristics of a Good SRS: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481" name="Google Shape;481;p23"/>
          <p:cNvSpPr/>
          <p:nvPr/>
        </p:nvSpPr>
        <p:spPr>
          <a:xfrm>
            <a:off x="272270" y="2978331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Correct</a:t>
            </a:r>
            <a:endParaRPr/>
          </a:p>
        </p:txBody>
      </p:sp>
      <p:cxnSp>
        <p:nvCxnSpPr>
          <p:cNvPr id="482" name="Google Shape;482;p23"/>
          <p:cNvCxnSpPr/>
          <p:nvPr/>
        </p:nvCxnSpPr>
        <p:spPr>
          <a:xfrm>
            <a:off x="2157676" y="3439996"/>
            <a:ext cx="2205318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3" name="Google Shape;483;p23"/>
          <p:cNvSpPr txBox="1"/>
          <p:nvPr/>
        </p:nvSpPr>
        <p:spPr>
          <a:xfrm>
            <a:off x="272270" y="3592239"/>
            <a:ext cx="4090724" cy="10973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correct when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user requirements are stated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 requirements document.</a:t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4620363" y="2978331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Unambiguous</a:t>
            </a:r>
            <a:endParaRPr/>
          </a:p>
        </p:txBody>
      </p:sp>
      <p:cxnSp>
        <p:nvCxnSpPr>
          <p:cNvPr id="485" name="Google Shape;485;p23"/>
          <p:cNvCxnSpPr/>
          <p:nvPr/>
        </p:nvCxnSpPr>
        <p:spPr>
          <a:xfrm>
            <a:off x="6505769" y="3439996"/>
            <a:ext cx="1318885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6" name="Google Shape;486;p23"/>
          <p:cNvSpPr txBox="1"/>
          <p:nvPr/>
        </p:nvSpPr>
        <p:spPr>
          <a:xfrm>
            <a:off x="4620363" y="3592239"/>
            <a:ext cx="3204291" cy="15009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unambiguous when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every stated requirement has only one interpretation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8115830" y="2978331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</a:t>
            </a:r>
            <a:endParaRPr/>
          </a:p>
        </p:txBody>
      </p:sp>
      <p:cxnSp>
        <p:nvCxnSpPr>
          <p:cNvPr id="488" name="Google Shape;488;p23"/>
          <p:cNvCxnSpPr/>
          <p:nvPr/>
        </p:nvCxnSpPr>
        <p:spPr>
          <a:xfrm>
            <a:off x="10001236" y="3439996"/>
            <a:ext cx="183371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9" name="Google Shape;489;p23"/>
          <p:cNvSpPr txBox="1"/>
          <p:nvPr/>
        </p:nvSpPr>
        <p:spPr>
          <a:xfrm>
            <a:off x="8115831" y="3553050"/>
            <a:ext cx="3719118" cy="15401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complete when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requirements clearly define what the software is required to do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272270" y="4815682"/>
            <a:ext cx="4090724" cy="11148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Note that there is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specified tool or procedure to assure the correctness</a:t>
            </a:r>
            <a:r>
              <a:rPr lang="en-US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SRS.</a:t>
            </a:r>
            <a:endParaRPr/>
          </a:p>
        </p:txBody>
      </p:sp>
      <p:cxnSp>
        <p:nvCxnSpPr>
          <p:cNvPr id="491" name="Google Shape;491;p23"/>
          <p:cNvCxnSpPr/>
          <p:nvPr/>
        </p:nvCxnSpPr>
        <p:spPr>
          <a:xfrm>
            <a:off x="4514563" y="2978331"/>
            <a:ext cx="0" cy="348778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2" name="Google Shape;492;p23"/>
          <p:cNvCxnSpPr/>
          <p:nvPr/>
        </p:nvCxnSpPr>
        <p:spPr>
          <a:xfrm>
            <a:off x="7988388" y="2996261"/>
            <a:ext cx="0" cy="348778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Characteristics of a Good SRS Cont.</a:t>
            </a:r>
            <a:endParaRPr/>
          </a:p>
        </p:txBody>
      </p:sp>
      <p:sp>
        <p:nvSpPr>
          <p:cNvPr id="498" name="Google Shape;498;p24"/>
          <p:cNvSpPr/>
          <p:nvPr/>
        </p:nvSpPr>
        <p:spPr>
          <a:xfrm>
            <a:off x="167766" y="899587"/>
            <a:ext cx="4443421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Ranked for Importance/Stability</a:t>
            </a:r>
            <a:endParaRPr/>
          </a:p>
        </p:txBody>
      </p:sp>
      <p:cxnSp>
        <p:nvCxnSpPr>
          <p:cNvPr id="499" name="Google Shape;499;p24"/>
          <p:cNvCxnSpPr/>
          <p:nvPr/>
        </p:nvCxnSpPr>
        <p:spPr>
          <a:xfrm>
            <a:off x="2053173" y="1361252"/>
            <a:ext cx="4844017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0" name="Google Shape;500;p24"/>
          <p:cNvSpPr txBox="1"/>
          <p:nvPr/>
        </p:nvSpPr>
        <p:spPr>
          <a:xfrm>
            <a:off x="167768" y="1461244"/>
            <a:ext cx="6729422" cy="11121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requirements are not equally important, hence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each requirement is identified to make differences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among other requirements.</a:t>
            </a: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7270151" y="899587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Modifiable</a:t>
            </a:r>
            <a:endParaRPr sz="24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02" name="Google Shape;502;p24"/>
          <p:cNvCxnSpPr/>
          <p:nvPr/>
        </p:nvCxnSpPr>
        <p:spPr>
          <a:xfrm>
            <a:off x="9155557" y="1361252"/>
            <a:ext cx="284660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3" name="Google Shape;503;p24"/>
          <p:cNvSpPr txBox="1"/>
          <p:nvPr/>
        </p:nvSpPr>
        <p:spPr>
          <a:xfrm>
            <a:off x="7270151" y="1513494"/>
            <a:ext cx="4732007" cy="1752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requirements of the user can change, hence requirements document should be created in such a manner that those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 can be modified easily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504" name="Google Shape;504;p24"/>
          <p:cNvSpPr/>
          <p:nvPr/>
        </p:nvSpPr>
        <p:spPr>
          <a:xfrm>
            <a:off x="167767" y="3745315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Traceable</a:t>
            </a:r>
            <a:endParaRPr sz="24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05" name="Google Shape;505;p24"/>
          <p:cNvCxnSpPr/>
          <p:nvPr/>
        </p:nvCxnSpPr>
        <p:spPr>
          <a:xfrm>
            <a:off x="2053173" y="4206980"/>
            <a:ext cx="185262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6" name="Google Shape;506;p24"/>
          <p:cNvSpPr txBox="1"/>
          <p:nvPr/>
        </p:nvSpPr>
        <p:spPr>
          <a:xfrm>
            <a:off x="167768" y="4320034"/>
            <a:ext cx="3868656" cy="20938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traceable when the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source of each requirement is clear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facilitates the reference of each requirement in future.</a:t>
            </a:r>
            <a:endParaRPr/>
          </a:p>
        </p:txBody>
      </p:sp>
      <p:sp>
        <p:nvSpPr>
          <p:cNvPr id="507" name="Google Shape;507;p24"/>
          <p:cNvSpPr txBox="1"/>
          <p:nvPr/>
        </p:nvSpPr>
        <p:spPr>
          <a:xfrm>
            <a:off x="151453" y="2642923"/>
            <a:ext cx="6745738" cy="7504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Stability implies the probability of changes</a:t>
            </a:r>
            <a:r>
              <a:rPr lang="en-US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 requirement in future.</a:t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4178065" y="3745315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Verifiable</a:t>
            </a:r>
            <a:endParaRPr sz="24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09" name="Google Shape;509;p24"/>
          <p:cNvCxnSpPr/>
          <p:nvPr/>
        </p:nvCxnSpPr>
        <p:spPr>
          <a:xfrm>
            <a:off x="6063471" y="4206980"/>
            <a:ext cx="207200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0" name="Google Shape;510;p24"/>
          <p:cNvSpPr txBox="1"/>
          <p:nvPr/>
        </p:nvSpPr>
        <p:spPr>
          <a:xfrm>
            <a:off x="4178066" y="4320034"/>
            <a:ext cx="3957406" cy="20938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verifiable when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specified requirements can be verified with a cost-effective process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check whether the final software meets those requirements.</a:t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8407742" y="3745315"/>
            <a:ext cx="1885406" cy="46166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Consistent</a:t>
            </a:r>
            <a:endParaRPr sz="24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12" name="Google Shape;512;p24"/>
          <p:cNvCxnSpPr/>
          <p:nvPr/>
        </p:nvCxnSpPr>
        <p:spPr>
          <a:xfrm>
            <a:off x="10293148" y="4206980"/>
            <a:ext cx="172489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3" name="Google Shape;513;p24"/>
          <p:cNvSpPr txBox="1"/>
          <p:nvPr/>
        </p:nvSpPr>
        <p:spPr>
          <a:xfrm>
            <a:off x="8407742" y="4320034"/>
            <a:ext cx="3610297" cy="14864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SRS is consistent when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subsets of individual requirements defined do not conflict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each other.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14" name="Google Shape;514;p24"/>
          <p:cNvCxnSpPr/>
          <p:nvPr/>
        </p:nvCxnSpPr>
        <p:spPr>
          <a:xfrm>
            <a:off x="7096398" y="899587"/>
            <a:ext cx="0" cy="24938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5" name="Google Shape;515;p24"/>
          <p:cNvCxnSpPr/>
          <p:nvPr/>
        </p:nvCxnSpPr>
        <p:spPr>
          <a:xfrm>
            <a:off x="151453" y="3523129"/>
            <a:ext cx="1185070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6" name="Google Shape;516;p24"/>
          <p:cNvCxnSpPr/>
          <p:nvPr/>
        </p:nvCxnSpPr>
        <p:spPr>
          <a:xfrm>
            <a:off x="4036424" y="3745315"/>
            <a:ext cx="0" cy="266861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7" name="Google Shape;517;p24"/>
          <p:cNvCxnSpPr/>
          <p:nvPr/>
        </p:nvCxnSpPr>
        <p:spPr>
          <a:xfrm>
            <a:off x="8263283" y="3745315"/>
            <a:ext cx="0" cy="266861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Problems Without SRS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131179" y="971265"/>
            <a:ext cx="11929641" cy="775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 developing the SRS document,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would not be properly implemented</a:t>
            </a:r>
            <a:r>
              <a:rPr lang="en-US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according to customer needs.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developers would not know whether what they are developing is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exactly is required by the customer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 SRS, it will be very difficult for the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maintenance engineers to understand the functionality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system.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will be very difficult for 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document writers to write the users’ manuals properly</a:t>
            </a:r>
            <a:r>
              <a:rPr lang="en-US" sz="24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 understanding the SRS.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Standard Template for writing SRS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125186" y="820783"/>
            <a:ext cx="5570220" cy="512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Introduction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1.1 Purpose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1.2 Document Conventions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1.3 Intended Audience and Reading Suggestions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1.4 Project Scope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1.5 References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Overall Description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2.1 Product Perspective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2.2 Product Features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2.3 User Classes and Characteristics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2.4 Operating Environment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2.5 Design and Implementation Constraints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2.6 User Documentation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2.7 Assumptions and Dependencies</a:t>
            </a:r>
            <a:endParaRPr/>
          </a:p>
          <a:p>
            <a:pPr marL="457200" marR="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0" name="Google Shape;530;p26"/>
          <p:cNvSpPr txBox="1">
            <a:spLocks noGrp="1"/>
          </p:cNvSpPr>
          <p:nvPr>
            <p:ph type="body" idx="1"/>
          </p:nvPr>
        </p:nvSpPr>
        <p:spPr>
          <a:xfrm>
            <a:off x="6303917" y="820783"/>
            <a:ext cx="6040483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3. System Features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3.1 System Feature 1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3.2 System Feature 2 (and so on)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4. External Interface Requirements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4.1 User Interfaces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4.2 Hardware Interfaces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4.3 Software Interfaces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4.4 Communications Interfaces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5. Other Non-functional Requirements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5.1 Performance Requirements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5.2 Safety Requirements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5.3 Security Requirements</a:t>
            </a:r>
            <a:endParaRPr/>
          </a:p>
          <a:p>
            <a:pPr marL="45720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5.4 Software Quality Attributes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6. Other Requirements</a:t>
            </a:r>
            <a:endParaRPr/>
          </a:p>
        </p:txBody>
      </p:sp>
      <p:sp>
        <p:nvSpPr>
          <p:cNvPr id="531" name="Google Shape;531;p26"/>
          <p:cNvSpPr/>
          <p:nvPr/>
        </p:nvSpPr>
        <p:spPr>
          <a:xfrm>
            <a:off x="343989" y="6118496"/>
            <a:ext cx="91396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Appendix A: Glossary | Appendix B: Analysis Models | Appendix C: Issues List</a:t>
            </a:r>
            <a:endParaRPr sz="2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32" name="Google Shape;532;p26"/>
          <p:cNvCxnSpPr/>
          <p:nvPr/>
        </p:nvCxnSpPr>
        <p:spPr>
          <a:xfrm>
            <a:off x="5912288" y="711201"/>
            <a:ext cx="0" cy="5232398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0" ma:contentTypeDescription="Create a new document." ma:contentTypeScope="" ma:versionID="d16676a917884333940fadcd7011fb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95223A-16DD-4B8E-A225-D4957552D336}"/>
</file>

<file path=customXml/itemProps2.xml><?xml version="1.0" encoding="utf-8"?>
<ds:datastoreItem xmlns:ds="http://schemas.openxmlformats.org/officeDocument/2006/customXml" ds:itemID="{842C466A-3E45-4953-9CF3-C070345297C7}"/>
</file>

<file path=customXml/itemProps3.xml><?xml version="1.0" encoding="utf-8"?>
<ds:datastoreItem xmlns:ds="http://schemas.openxmlformats.org/officeDocument/2006/customXml" ds:itemID="{E1FED59E-C020-4AE8-B5BF-68F1E2D5C7F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Microsoft Office PowerPoint</Application>
  <PresentationFormat>Widescreen</PresentationFormat>
  <Paragraphs>337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Roboto Condensed</vt:lpstr>
      <vt:lpstr>Roboto Condensed Light</vt:lpstr>
      <vt:lpstr>Calibri</vt:lpstr>
      <vt:lpstr>Arial</vt:lpstr>
      <vt:lpstr>Noto Sans Symbols</vt:lpstr>
      <vt:lpstr>Office Theme</vt:lpstr>
      <vt:lpstr>PowerPoint Presentation</vt:lpstr>
      <vt:lpstr>Requirements analysis is hard</vt:lpstr>
      <vt:lpstr>PowerPoint Presentation</vt:lpstr>
      <vt:lpstr>PowerPoint Presentation</vt:lpstr>
      <vt:lpstr>PowerPoint Presentation</vt:lpstr>
      <vt:lpstr>PowerPoint Presentation</vt:lpstr>
      <vt:lpstr>Requirement Engineering</vt:lpstr>
      <vt:lpstr>Functional requirements</vt:lpstr>
      <vt:lpstr>Library Management System</vt:lpstr>
      <vt:lpstr>PowerPoint Presentation</vt:lpstr>
      <vt:lpstr>Requirements Engineering Tasks</vt:lpstr>
      <vt:lpstr>Requirements Engineering Tasks Cont.</vt:lpstr>
      <vt:lpstr>Requirements Engineering Tasks Cont.</vt:lpstr>
      <vt:lpstr>Elicitation is the Hardest Part!</vt:lpstr>
      <vt:lpstr>Collaborative Elicitation</vt:lpstr>
      <vt:lpstr>Quality Function Deployment (QFD)</vt:lpstr>
      <vt:lpstr>The requirement analysis model</vt:lpstr>
      <vt:lpstr>Analysis rule of Thumb</vt:lpstr>
      <vt:lpstr>Elements of the Requirements Model Cont.</vt:lpstr>
      <vt:lpstr>Analysis Modeling Approaches</vt:lpstr>
      <vt:lpstr>List of documentation &amp; manuals</vt:lpstr>
      <vt:lpstr>SRS (Software Requirements Specification)</vt:lpstr>
      <vt:lpstr>Characteristics of a Good SRS</vt:lpstr>
      <vt:lpstr>Characteristics of a Good SRS Cont.</vt:lpstr>
      <vt:lpstr>Problems Without SRS</vt:lpstr>
      <vt:lpstr>Standard Template for writing SRS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8</cp:revision>
  <dcterms:created xsi:type="dcterms:W3CDTF">2020-05-01T05:09:15Z</dcterms:created>
  <dcterms:modified xsi:type="dcterms:W3CDTF">2025-07-18T08:25:18Z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0x010100954652D626EF27418F127E2176372956</vt:lpwstr>
  </property>
</Properties>
</file>